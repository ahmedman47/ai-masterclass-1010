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98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21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E9C46A">
              <a:alpha val="12000"/>
            </a:srgbClr>
          </a:solidFill>
          <a:ln w="12700">
            <a:solidFill>
              <a:srgbClr val="E9C46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Measures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Median · Mode · Std Dev · Min / Max · Count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41148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BrainerX — Data Science Workshop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Dataset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Statistics?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have 1,000 students' scores. You can't read them all.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give us a way to SUMMARIZE the whole dataset in a few numbers.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192024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01168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2011680"/>
            <a:ext cx="1920240" cy="4114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↔️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2468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is it?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Dev, Range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201168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2011680"/>
            <a:ext cx="1920240" cy="4114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08576" y="2468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08576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201168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2011680"/>
            <a:ext cx="192024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#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9984" y="2468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9984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tell the full story of your data without reading every single row.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Mean (Average)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 together, then divide by how many values there 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84048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Sum of all values ÷ Number of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70, 80, 90, 60,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Sum = 400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Mean = 400 ÷ 5 = 80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the Mean?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5727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ONE number that represents the whole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40864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compare groups — e.g. did females average higher than males?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054096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999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most widely understood measure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767328"/>
            <a:ext cx="201168" cy="20116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712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most charts and reports automatically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4398264"/>
            <a:ext cx="374904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08965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Watch out!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3754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(very high/low scores) can pull the mean up or down and give a misleading picture.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mean row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Median (Middle Value)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values from smallest to largest. The median is the one in the middle.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6583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65960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" y="1965960"/>
            <a:ext cx="6583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" y="1965960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65376" y="1965960"/>
            <a:ext cx="658368" cy="5303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65376" y="1965960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15184" y="1965960"/>
            <a:ext cx="6583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15184" y="1965960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64992" y="1965960"/>
            <a:ext cx="6583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1965960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59152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Median = 80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the median is shown as the 50% row in df.describe()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the Median?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627632"/>
            <a:ext cx="201168" cy="201168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727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affected by outliers — more reliable when data is skewed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340864"/>
            <a:ext cx="201168" cy="201168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2860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one student scored 0, the mean drops unfairly — the median stays accurate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054096"/>
            <a:ext cx="201168" cy="201168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9992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comparing fairly between groups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767328"/>
            <a:ext cx="201168" cy="201168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71246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mean ≠ median → the data is skewed — a useful warning sign!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50% row  =  Median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Mode (Most Frequent)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appears most often in the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530352" cy="3657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375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52728" y="2438400"/>
            <a:ext cx="530352" cy="8534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33375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14579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02536" y="1920240"/>
            <a:ext cx="530352" cy="137160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2536" y="33375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02536" y="162763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52344" y="2377440"/>
            <a:ext cx="530352" cy="9144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33375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2344" y="208483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02152" y="2987040"/>
            <a:ext cx="530352" cy="3048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33375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02152" y="269443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Grade C is the Mode (most students got it)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the Mode?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627632"/>
            <a:ext cx="201168" cy="2011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5727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most COMMON outcome in your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340864"/>
            <a:ext cx="201168" cy="2011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2860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categorical data (gender, grade, race group)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54096"/>
            <a:ext cx="201168" cy="2011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9992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the 'typical' student — what grade do most students get?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67328"/>
            <a:ext cx="201168" cy="2011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71246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distorted by outliers at all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df['grade'].value_counts()  →  most frequent = Mode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Standard Deviation (Spread)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far, on average, are students' scores from the mean? A measure of spread.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— Low Std Dev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548640" cy="310896"/>
          </a:xfrm>
          <a:prstGeom prst="ellipse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4086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52728" y="2340864"/>
            <a:ext cx="548640" cy="310896"/>
          </a:xfrm>
          <a:prstGeom prst="ellipse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34086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56816" y="2340864"/>
            <a:ext cx="548640" cy="310896"/>
          </a:xfrm>
          <a:prstGeom prst="ellipse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234086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60904" y="2340864"/>
            <a:ext cx="548640" cy="310896"/>
          </a:xfrm>
          <a:prstGeom prst="ellipse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234086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4992" y="2340864"/>
            <a:ext cx="548640" cy="310896"/>
          </a:xfrm>
          <a:prstGeom prst="ellipse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34086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≈ 1.5 → everyone near the mean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4023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291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 — High Std Dev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548640" cy="310896"/>
          </a:xfrm>
          <a:prstGeom prst="ellipse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9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52728" y="3639312"/>
            <a:ext cx="548640" cy="310896"/>
          </a:xfrm>
          <a:prstGeom prst="ellipse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3639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56816" y="3639312"/>
            <a:ext cx="548640" cy="310896"/>
          </a:xfrm>
          <a:prstGeom prst="ellipse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56816" y="3639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60904" y="3639312"/>
            <a:ext cx="548640" cy="310896"/>
          </a:xfrm>
          <a:prstGeom prst="ellipse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3639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639312"/>
            <a:ext cx="548640" cy="310896"/>
          </a:xfrm>
          <a:prstGeom prst="ellipse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6393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≈ 20 → very mixed levels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96012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Std Dev?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1600200"/>
            <a:ext cx="182880" cy="182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1536192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alone can be misleading — std dev reveals the full picture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2221992"/>
            <a:ext cx="182880" cy="182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157984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std → students are all at a similar level (consistent class)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46320" y="2843784"/>
            <a:ext cx="182880" cy="182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779776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std → very mixed class — some need extra help, others are advanced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46320" y="3465576"/>
            <a:ext cx="182880" cy="182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40156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spot outliers — a score 2+ std devs from the mean is unusual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846320" y="4087368"/>
            <a:ext cx="182880" cy="182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402336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comparing two classes with the same mean but different spreads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576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std row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Min &amp; Max (The Extremes)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6400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 in the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443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struggled the most.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05840"/>
            <a:ext cx="393192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05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MAX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91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617720" y="2633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in the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9443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performing student.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841248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877056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→ Min &amp; Max instantly show the RANGE of the data. They reveal if someone scored 0 (data error?) or 100 (top achiever). Combined with the mean, they help you understand if the class is clustered tightly or spread over a wide range.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min and max rows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Percentiles: 25%, 50%, 75%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split the sorted data into 4 equal parts, showing where students fall across the range.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755648" cy="59436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4203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25%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(scored &lt; 63)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1755648" cy="5943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54203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25%–50%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 to 73)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23360" y="1874520"/>
            <a:ext cx="1755648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54203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50%–75%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(73 to 82)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1874520"/>
            <a:ext cx="2761488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542032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(scored &gt; 82)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84832" y="1874520"/>
            <a:ext cx="0" cy="5943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14813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13632" y="1874520"/>
            <a:ext cx="0" cy="5943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4813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42432" y="1874520"/>
            <a:ext cx="0" cy="5943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14813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Percentiles?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They tell you how any one student compares to the whole class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a student is at the 75th percentile → they scored better than 75% of students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gap between 25% and 75% (called the IQR) shows the middle spread of the class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in boxplots — the most popular chart for score comparisons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25%, 50%, 75% rows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Count (How Many Values?)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2560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the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1000 per 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all equal → no missing data)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45720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005840"/>
            <a:ext cx="45720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Count matter?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201168" cy="20116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how many non-empty (non-null) values exist in each column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350008"/>
            <a:ext cx="201168" cy="20116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042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 &lt; total rows → you have MISSING DATA — a big red flag!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008376"/>
            <a:ext cx="201168" cy="20116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96265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counts per column means some columns have more gaps than others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666744"/>
            <a:ext cx="201168" cy="20116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6210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FIRST thing to check before any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→  count row    |    df.isnull().sum()  for missing values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df.describe()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60120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960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math_score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0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reading_score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960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writing_score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82880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3716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13716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773936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1773936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1773936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773936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176272"/>
            <a:ext cx="1828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217627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0" y="217627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17627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578608"/>
            <a:ext cx="1828800" cy="384048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2578608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0" y="2578608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2578608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980944"/>
            <a:ext cx="182880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29809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29809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35040" y="29809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383280"/>
            <a:ext cx="182880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94560" y="3383280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14800" y="3383280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35040" y="3383280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3785616"/>
            <a:ext cx="182880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94560" y="37856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114800" y="37856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035040" y="37856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4187952"/>
            <a:ext cx="1828800" cy="384048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194560" y="4187952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9456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114800" y="4187952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035040" y="4187952"/>
            <a:ext cx="1828800" cy="38404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909560" y="1371600"/>
            <a:ext cx="109728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65008" y="1371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065008" y="160934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non-empty values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909560" y="2057400"/>
            <a:ext cx="109728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65008" y="2057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065008" y="229514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909560" y="2743200"/>
            <a:ext cx="109728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65008" y="2743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065008" y="298094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the scores are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909560" y="3429000"/>
            <a:ext cx="109728" cy="50292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65008" y="3429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065008" y="366674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and highest score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909560" y="4114800"/>
            <a:ext cx="109728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65008" y="4114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/ 50% / 75%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065008" y="435254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Quartiles — class distribution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df.describe() after loading any dataset — it gives you all 7 measures instantly!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Measure?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data, no extreme outliers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Example: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of the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Avoid when: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are extreme outliers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743200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60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 or outliers present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Example: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student scored 0 unfairly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Avoid when: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a precise average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960120"/>
            <a:ext cx="2743200" cy="59436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960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or repeated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Example: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grade in the class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Avoid when: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precise numerical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→ report all three. The differences between them tell the most interesting story.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114800" cy="41148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E9C46A">
              <a:alpha val="10000"/>
            </a:srgbClr>
          </a:solidFill>
          <a:ln w="12700">
            <a:solidFill>
              <a:srgbClr val="E9C46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Tells a Different Story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85800" cy="411480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Are there missing values?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85800" cy="411480"/>
          </a:xfrm>
          <a:prstGeom prst="rect">
            <a:avLst/>
          </a:prstGeom>
          <a:solidFill>
            <a:srgbClr val="94D2BD">
              <a:alpha val="8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typical score?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685800" cy="411480"/>
          </a:xfrm>
          <a:prstGeom prst="rect">
            <a:avLst/>
          </a:prstGeom>
          <a:solidFill>
            <a:srgbClr val="E9C46A">
              <a:alpha val="8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98448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middle score (no outlier bias)?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685800" cy="411480"/>
          </a:xfrm>
          <a:prstGeom prst="rect">
            <a:avLst/>
          </a:prstGeom>
          <a:solidFill>
            <a:srgbClr val="EE6C4D">
              <a:alpha val="80000"/>
            </a:srgbClr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98448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most common grade?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737360"/>
            <a:ext cx="685800" cy="411480"/>
          </a:xfrm>
          <a:prstGeom prst="rect">
            <a:avLst/>
          </a:prstGeom>
          <a:solidFill>
            <a:srgbClr val="94D2BD">
              <a:alpha val="8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37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96128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mixed are the students' levels?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685800" cy="411480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96128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full range of scores?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685800" cy="411480"/>
          </a:xfrm>
          <a:prstGeom prst="rect">
            <a:avLst/>
          </a:prstGeom>
          <a:solidFill>
            <a:srgbClr val="E9C46A">
              <a:alpha val="8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/ 75%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96128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do the lower and upper halves start?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df.describe()  →  you get ALL of these in one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Microsoft Office PowerPoint</Application>
  <PresentationFormat>On-screen Show (16:9)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We Use Statistical Measures — Data Analysis Workshop</dc:title>
  <dc:subject>PptxGenJS Presentation</dc:subject>
  <dc:creator>PptxGenJS</dc:creator>
  <cp:lastModifiedBy>ahmed mansouri</cp:lastModifiedBy>
  <cp:revision>3</cp:revision>
  <dcterms:created xsi:type="dcterms:W3CDTF">2026-03-14T11:32:06Z</dcterms:created>
  <dcterms:modified xsi:type="dcterms:W3CDTF">2026-03-26T21:50:57Z</dcterms:modified>
</cp:coreProperties>
</file>
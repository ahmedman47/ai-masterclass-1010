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46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00C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017520" cy="3017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320040"/>
            <a:ext cx="1645920" cy="34747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20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 ·  Decision Trees  ·  Bagging  ·  Feature Importance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9611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353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Trees to Forests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 — why many trees beat 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9611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9611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05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28032" y="1353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Random Forest Works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645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Bagging, bootstrapping &amp; random subsets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2199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31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8912" y="2679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2971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n_estimators, max_depth, max_features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2199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2199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331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28032" y="2679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8032" y="2971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matter most?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4787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4787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38912" y="4005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in Python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" y="4297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implementation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54787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4787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28032" y="4005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28032" y="4297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RF — and when NOT 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Recap: Decision Trees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0F2040"/>
          </a:solidFill>
          <a:ln w="25400">
            <a:solidFill>
              <a:srgbClr val="00C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96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point. Ask the most informative question about the data.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35808" y="16916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828800"/>
          </a:xfrm>
          <a:prstGeom prst="rect">
            <a:avLst/>
          </a:prstGeom>
          <a:solidFill>
            <a:srgbClr val="0F2040"/>
          </a:solidFill>
          <a:ln w="254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96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Nodes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internal node asks another yes/no question, splitting the data further.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61888" y="16916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828800"/>
          </a:xfrm>
          <a:prstGeom prst="rect">
            <a:avLst/>
          </a:prstGeom>
          <a:solidFill>
            <a:srgbClr val="0F2040"/>
          </a:solidFill>
          <a:ln w="25400">
            <a:solidFill>
              <a:srgbClr val="00D9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743200" cy="384048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996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decisions. Each leaf gives a class label or predicted value.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8595360" cy="658368"/>
          </a:xfrm>
          <a:prstGeom prst="rect">
            <a:avLst/>
          </a:prstGeom>
          <a:solidFill>
            <a:srgbClr val="1A0A20"/>
          </a:solidFill>
          <a:ln w="19050">
            <a:solidFill>
              <a:srgbClr val="9B3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Problem with a Single Tree: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64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deep tree OVERFITS — it memorizes training data noise and performs poorly on new data. It's brittle: small changes in training data create completely different trees!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8595360" cy="685800"/>
          </a:xfrm>
          <a:prstGeom prst="rect">
            <a:avLst/>
          </a:prstGeom>
          <a:solidFill>
            <a:srgbClr val="0A2010"/>
          </a:solidFill>
          <a:ln w="19050">
            <a:solidFill>
              <a:srgbClr val="00D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Solution — Random Forest: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41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MANY trees, each on a different random sample of data, and combine their predictions. Errors cancel out — accuracy goes up!  "The wisdom of crowds."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Random Forest?  The Core Idea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8595360" cy="566928"/>
          </a:xfrm>
          <a:prstGeom prst="rect">
            <a:avLst/>
          </a:prstGeom>
          <a:solidFill>
            <a:srgbClr val="0F20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74520" y="93268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500 experts instead of 1. Even if each expert is sometimes wrong, the majority vote is almost always right.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builds hundreds of decision trees on random data subsets, then combines their answers into one final, robust prediction.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2011680" cy="2926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737360"/>
            <a:ext cx="640080" cy="64008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" y="25146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953512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random samples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replacement from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data → N slightly different datasets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0428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23160" y="1600200"/>
            <a:ext cx="2011680" cy="2926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737360"/>
            <a:ext cx="640080" cy="6400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32888" y="25146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Many Trees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32888" y="2953512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one decision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bootstrapped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each tree is different!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5312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1600200"/>
            <a:ext cx="2011680" cy="2926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57800" y="1737360"/>
            <a:ext cx="640080" cy="640080"/>
          </a:xfrm>
          <a:prstGeom prst="ellipse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81728" y="25146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Feature Split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81728" y="2953512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node, only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√p random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(not all). Reduces correlation.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0196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20840" y="1600200"/>
            <a:ext cx="2011680" cy="2926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06640" y="1737360"/>
            <a:ext cx="640080" cy="640080"/>
          </a:xfrm>
          <a:prstGeom prst="ellipse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30568" y="25146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Predictions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30568" y="2953512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→ majority vote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→ average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is more accurate!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Bootstrap AGGregatING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02336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Bootstrapping?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dataset of N rows by sampling the ORIGINAL dataset with replacement. Some rows appear multiple times, some don't appear at all (~37% left out each time).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402336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66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Aggregating?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tree predictions: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Classification → majority vote (most common class)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Regression → mean of all predictions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090672"/>
            <a:ext cx="402336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9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Out-of-Bag (OOB) Score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 of samples not used per tree = free validation set! OOB score estimates generalization without a separate test split.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868680"/>
            <a:ext cx="4206240" cy="4114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32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(N rows)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1280160"/>
            <a:ext cx="36576" cy="566928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874520"/>
            <a:ext cx="1097280" cy="822960"/>
          </a:xfrm>
          <a:prstGeom prst="rect">
            <a:avLst/>
          </a:prstGeom>
          <a:solidFill>
            <a:srgbClr val="0F2040"/>
          </a:solidFill>
          <a:ln w="19050">
            <a:solidFill>
              <a:srgbClr val="00C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(Tree 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10528" y="1280160"/>
            <a:ext cx="36576" cy="566928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3328" y="1874520"/>
            <a:ext cx="1097280" cy="822960"/>
          </a:xfrm>
          <a:prstGeom prst="rect">
            <a:avLst/>
          </a:prstGeom>
          <a:solidFill>
            <a:srgbClr val="0F2040"/>
          </a:solidFill>
          <a:ln w="1905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53328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(Tree 2)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0416" y="1280160"/>
            <a:ext cx="36576" cy="566928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43216" y="1874520"/>
            <a:ext cx="1097280" cy="822960"/>
          </a:xfrm>
          <a:prstGeom prst="rect">
            <a:avLst/>
          </a:prstGeom>
          <a:solidFill>
            <a:srgbClr val="0F2040"/>
          </a:solidFill>
          <a:ln w="19050">
            <a:solidFill>
              <a:srgbClr val="00D9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43216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(Tree 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2926080"/>
            <a:ext cx="36576" cy="50292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3912" y="2926080"/>
            <a:ext cx="36576" cy="50292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9752" y="2926080"/>
            <a:ext cx="36576" cy="50292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429000"/>
            <a:ext cx="3291840" cy="548640"/>
          </a:xfrm>
          <a:prstGeom prst="rect">
            <a:avLst/>
          </a:prstGeom>
          <a:solidFill>
            <a:srgbClr val="0A2510"/>
          </a:solidFill>
          <a:ln w="25400">
            <a:solidFill>
              <a:srgbClr val="00D9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49300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Final Prediction (Majority Vote / Average)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 — Tuning Random Forest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7132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41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52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trees in the forest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978408"/>
            <a:ext cx="14630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9966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More trees = better accuracy &amp; stability, but slower. Usually plateau after 200–500. Start with 100, increase if needed.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859536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73352"/>
            <a:ext cx="54864" cy="7132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46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depth of each tree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1783080"/>
            <a:ext cx="14630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8013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None (unlimited)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0" y="17647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None lets trees grow until pure leaves (risk of overfit). Set 5–20 to control complexity. Tune with cross-validation.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478024"/>
            <a:ext cx="859536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78024"/>
            <a:ext cx="54864" cy="71323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551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features considered at each split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0" y="2587752"/>
            <a:ext cx="14630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6060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√p (classification)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06240" y="25694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'sqrt' = √total features — the key randomness! Lower → more diverse trees. Try 'sqrt', 'log2', or a fraction like 0.5.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282696"/>
            <a:ext cx="859536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82696"/>
            <a:ext cx="54864" cy="713232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355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" y="3666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 needed to split a node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0" y="3392424"/>
            <a:ext cx="14630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4107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0" y="33741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Increase (e.g. 5–20) to prevent trees from splitting on tiny groups — reduces overfitting on noisy data.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087368"/>
            <a:ext cx="859536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087368"/>
            <a:ext cx="54864" cy="713232"/>
          </a:xfrm>
          <a:prstGeom prst="rect">
            <a:avLst/>
          </a:prstGeom>
          <a:solidFill>
            <a:srgbClr val="9B60D0"/>
          </a:solidFill>
          <a:ln w="12700">
            <a:solidFill>
              <a:srgbClr val="9B6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6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oob_score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" y="4471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out-of-bag samples to evaluate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0" y="4197096"/>
            <a:ext cx="14630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9B6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215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6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False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06240" y="4178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Set True for a FREE generalization estimate without a separate validation set. Very useful in practice!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Which Features Matter Most?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gives every feature an importance score — a huge advantage over KNN!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335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353312"/>
            <a:ext cx="4937760" cy="274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353312"/>
            <a:ext cx="1678838" cy="2743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9078" y="1353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47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865376"/>
            <a:ext cx="4937760" cy="274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865376"/>
            <a:ext cx="1086307" cy="2743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6547" y="1865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3591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377440"/>
            <a:ext cx="4937760" cy="274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2377440"/>
            <a:ext cx="888797" cy="274320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9037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8712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2889504"/>
            <a:ext cx="4937760" cy="274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2889504"/>
            <a:ext cx="641909" cy="274320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2149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383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Yrs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401568"/>
            <a:ext cx="4937760" cy="274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3401568"/>
            <a:ext cx="395021" cy="274320"/>
          </a:xfrm>
          <a:prstGeom prst="rect">
            <a:avLst/>
          </a:prstGeom>
          <a:solidFill>
            <a:srgbClr val="9B60D0"/>
          </a:solidFill>
          <a:ln w="12700">
            <a:solidFill>
              <a:srgbClr val="9B6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15261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895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Accounts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3913632"/>
            <a:ext cx="4937760" cy="274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3913632"/>
            <a:ext cx="246888" cy="274320"/>
          </a:xfrm>
          <a:prstGeom prst="rect">
            <a:avLst/>
          </a:prstGeom>
          <a:solidFill>
            <a:srgbClr val="4080D0"/>
          </a:solidFill>
          <a:ln w="12700">
            <a:solidFill>
              <a:srgbClr val="408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67128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8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1234440"/>
            <a:ext cx="24231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1234440"/>
            <a:ext cx="54864" cy="10972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1325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calculated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65392" y="1618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measure how much impurity (Gini) is reduced. Average across all trees. Higher reduction = more important feature.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2468880"/>
            <a:ext cx="24231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0" y="2468880"/>
            <a:ext cx="54864" cy="10972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powerful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5392" y="28529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shows which inputs drive predictions. Use to remove irrelevant features and speed up inference.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3703320"/>
            <a:ext cx="24231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0" y="3703320"/>
            <a:ext cx="54864" cy="1097280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watch for bias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65392" y="40873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with many unique values (high cardinality) can appear artificially important. Use Permutation Importance for robust results.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in Python — scikit-learn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5303520" cy="4023360"/>
          </a:xfrm>
          <a:prstGeom prst="rect">
            <a:avLst/>
          </a:prstGeom>
          <a:solidFill>
            <a:srgbClr val="060E1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6527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3670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Split data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6687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81965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9705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2140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Scale features (good practice, less critical for RF)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27228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4231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scaler.fit_transform(X_train)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57403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 = scaler.transform(X_test)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72491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8757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Train the model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026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RandomForestClassifier(n_estimators=200, max_depth=10,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1775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oob_score=True, random_state=42)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3284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rf.fit(X_train, y_train)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4792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63016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Evaluate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7810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print(f'Test Accuracy : {rf.score(X_test, y_test):.2f}')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9319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print(f'OOB Score     : {rf.oob_score_:.2f}')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0827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233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Feature importance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38454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importances = rf.feature_importances_   # array of scores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60720" y="868680"/>
            <a:ext cx="306324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60720" y="868680"/>
            <a:ext cx="54864" cy="8686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5312" y="960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n_estimators=200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25312" y="12527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— good balance of accuracy &amp; speed.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0720" y="1856232"/>
            <a:ext cx="306324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60720" y="1856232"/>
            <a:ext cx="54864" cy="8686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5312" y="19476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25312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depth to prevent overfitting. Tune per dataset.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60720" y="2843784"/>
            <a:ext cx="306324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60720" y="2843784"/>
            <a:ext cx="54864" cy="868680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25312" y="29352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oob_score=True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25312" y="32278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validation — no separate split needed. Compare to test accuracy.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60720" y="3831336"/>
            <a:ext cx="306324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60720" y="3831336"/>
            <a:ext cx="54864" cy="868680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39227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feature_importances_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25312" y="421538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scores 0→1 summing to 1.0. Higher = more important.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 KNN — Head-to-Head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2103120" cy="347472"/>
          </a:xfrm>
          <a:prstGeom prst="rect">
            <a:avLst/>
          </a:prstGeom>
          <a:solidFill>
            <a:srgbClr val="0A18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7782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841248"/>
            <a:ext cx="3108960" cy="347472"/>
          </a:xfrm>
          <a:prstGeom prst="rect">
            <a:avLst/>
          </a:prstGeom>
          <a:solidFill>
            <a:srgbClr val="00C8E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8778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841248"/>
            <a:ext cx="3108960" cy="347472"/>
          </a:xfrm>
          <a:prstGeom prst="rect">
            <a:avLst/>
          </a:prstGeom>
          <a:solidFill>
            <a:srgbClr val="1A206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8778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210312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252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1188720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22529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1188720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22529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(lazy learner)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536192"/>
            <a:ext cx="210312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572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Speed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1536192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5727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1536192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5727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O(n·d)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883664"/>
            <a:ext cx="210312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920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1883664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19202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77840" y="1883664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9202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(stores all data)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231136"/>
            <a:ext cx="210312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2677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(general)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23160" y="2231136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✅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2231136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2578608"/>
            <a:ext cx="210312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6151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Data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23160" y="2578608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61518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(with care)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77840" y="2578608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61518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must impute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2926080"/>
            <a:ext cx="210312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9626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Needed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23160" y="2926080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29626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✅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77840" y="2926080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29626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critical!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273552"/>
            <a:ext cx="210312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310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23160" y="3273552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3101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✅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577840" y="3273552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33101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621024"/>
            <a:ext cx="210312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657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423160" y="3621024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14600" y="3657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577840" y="3621024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657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(intuitive)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3968496"/>
            <a:ext cx="210312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005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High Dimensions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423160" y="3968496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14600" y="40050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✅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577840" y="3968496"/>
            <a:ext cx="3108960" cy="347472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40050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(curse of dim.)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74320" y="4315968"/>
            <a:ext cx="210312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3525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423160" y="4315968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14600" y="43525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classification/regression tasks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577840" y="4315968"/>
            <a:ext cx="3108960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43525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datasets, baselines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Advantages &amp; Disadvantages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44168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44168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17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 Accuracy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best off-the-shelf algorithms. Often beats single trees, logistic regression, and KNN without tuning.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57400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130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 to Overfitting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2386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many trees cancels out individual overfitting — works well even with deep trees.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70632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70632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8437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Feature Scaling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30998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Distance-based? Not here. Features at any scale work fine — no normalization needed!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83864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83864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570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 Importance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8912" y="38130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WHICH features drive predictions — invaluable for business insights and feature selection.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97096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97096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2702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Handles Missing Data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8912" y="4526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handle some missing values; handles mixed data types (numerical + categorical) well.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344168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344168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417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Slow to Predict at Scale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73752" y="1673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trees × all features = slow inference for real-time applications with tight latency requirements.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057400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057400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130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Memory Hungry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73752" y="2386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N trees in memory. Can be large for 500+ trees on high-dimensional data.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770632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770632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28437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Less Interpretable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73752" y="30998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easily explain a single prediction (use SHAP values for explainability).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483864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483864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5570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Slow on Sparse Data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73752" y="38130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very high-dimensional sparse data (e.g. raw text). SVM or neural nets may be better.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4197096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4197096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42702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May Overfit on Noise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73752" y="4526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unlimited depth and small datasets, still prone to memorizing noise despite bagging.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 — When Should You Use Random Forest?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4114800" cy="365760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Random Forest when: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350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Dataset has 1,000 to 1,000,000 rows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883664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385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Mix of numerical &amp; categorical 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487168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420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 need a strong baseline quickly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455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 importance insights are needed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694176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490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Noisy data or some missing values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297680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525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Non-linear patterns in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841248"/>
            <a:ext cx="4114800" cy="36576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41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Random Forest when: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350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Data is hundreds of millions of rows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1883664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9385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Real-time prediction &lt; 10ms required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487168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5420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Highly sparse data (e.g. bag-of-words NLP)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090672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1455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Full model explainability is legally required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3694176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7490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GPU acceleration is a must (use XGBoost/NN)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4297680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3525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Sequential/temporal patterns in data → LSTM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84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45920" y="48406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best all-purpose 'first serious model' after KNN. It often wins Kaggle competitions and production ML pipelines with minimal tuning. Try it before XGBoost or Neural Networks.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—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54864" cy="11704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32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= many weak learners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100s of decision trees, each on a random data/feature subset. Errors cancel out → higher accuracy than any single tree.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54864" cy="11704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932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82312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prevents overfitting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2312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sampling + aggregation (majority vote/average) gives Random Forest its robustness. ~37% of each sample is left as a free OOB validation set.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39696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39696"/>
            <a:ext cx="54864" cy="117043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311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8912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needed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28712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KNN, Random Forest is distance-free. Raw feature values work fine. But still encode categoricals and handle missing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139696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139696"/>
            <a:ext cx="54864" cy="1170432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2311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82312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n_estimators &amp; max_depth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2312" y="28712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 = more stable (plateau after ~500). Limit max_depth to control complexity. Use oob_score for cheap evaluation.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50592" y="3438144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50592" y="3438144"/>
            <a:ext cx="54864" cy="1170432"/>
          </a:xfrm>
          <a:prstGeom prst="rect">
            <a:avLst/>
          </a:prstGeom>
          <a:solidFill>
            <a:srgbClr val="9B60D0"/>
          </a:solidFill>
          <a:ln w="12700">
            <a:solidFill>
              <a:srgbClr val="9B6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15184" y="35295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6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615184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is a bonus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15184" y="4169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ranking of every input feature. Use it for data understanding, feature selection, and stakeholder explanations.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A2510"/>
          </a:solidFill>
          <a:ln w="25400">
            <a:solidFill>
              <a:srgbClr val="00D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365760"/>
            <a:ext cx="2560320" cy="25603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25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work!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Random Forest.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1812</TotalTime>
  <Words>1734</Words>
  <Application>Microsoft Office PowerPoint</Application>
  <PresentationFormat>On-screen Show (16:9)</PresentationFormat>
  <Paragraphs>258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 — AI Master Class</dc:title>
  <dc:subject>PptxGenJS Presentation</dc:subject>
  <dc:creator>PptxGenJS</dc:creator>
  <cp:lastModifiedBy>ahmed mansouri</cp:lastModifiedBy>
  <cp:revision>4</cp:revision>
  <dcterms:created xsi:type="dcterms:W3CDTF">2026-03-27T13:37:46Z</dcterms:created>
  <dcterms:modified xsi:type="dcterms:W3CDTF">2026-04-02T23:06:58Z</dcterms:modified>
</cp:coreProperties>
</file>
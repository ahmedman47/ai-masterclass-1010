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7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-457200"/>
            <a:ext cx="4114800" cy="59436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0" y="0"/>
            <a:ext cx="2743200" cy="51435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0" y="27432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731520"/>
            <a:ext cx="320040" cy="3200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23760" y="1371600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0" y="1920240"/>
            <a:ext cx="365760" cy="3657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0" y="256032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411480"/>
            <a:ext cx="201168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114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MACHINE LEARNING  //  SESSION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9144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41732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Model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2402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C300"/>
                </a:solidFill>
                <a:latin typeface="Calibri"/>
              </a:rPr>
              <a:t>&amp;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54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B"/>
                </a:solidFill>
                <a:latin typeface="Calibri"/>
              </a:rPr>
              <a:t>KNN  ·  Decision Trees  ·  Random Forest  ·  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A complete deep-dive into Machine Learning classification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188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ML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Where model training fits in the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057400"/>
            <a:ext cx="54864" cy="7498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1031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 / Test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Why we split data and how to do it correctly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54864" cy="7498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3017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79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Accuracy, Precision, Recall, F1, Confusion Matrix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88620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K-Nearest Neighbors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Concept, math, choosing K, pros &amp; cons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79" y="11430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79" y="1143000"/>
            <a:ext cx="54864" cy="7498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19471" y="1188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399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Decision Trees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399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How trees split, Gini impurity, visualization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79" y="20574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79" y="2057400"/>
            <a:ext cx="54864" cy="7498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19471" y="21031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79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399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399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Ensemble learning, bagging, feature importance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79" y="29718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79" y="2971800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19471" y="3017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399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Boosting, learning rate, why it wins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79" y="3886200"/>
            <a:ext cx="416052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79" y="388620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1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399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 Comparison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399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How to choose the best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Machine Learning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Where does model training fit? Let's zoom out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1168" y="1051560"/>
            <a:ext cx="116128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Data
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53896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3896" y="1051560"/>
            <a:ext cx="116128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3896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6624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06624" y="1051560"/>
            <a:ext cx="116128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06624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6624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9352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59352" y="1051560"/>
            <a:ext cx="1161288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59352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✂️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Train/Test
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12080" y="1051560"/>
            <a:ext cx="1161288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Model
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64808" y="1051560"/>
            <a:ext cx="1161288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8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17536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17536" y="1051560"/>
            <a:ext cx="1161288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17536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36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1005840"/>
            <a:ext cx="1252728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12080" y="1051560"/>
            <a:ext cx="116128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212080" y="1051560"/>
            <a:ext cx="1161288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12080" y="1097280"/>
            <a:ext cx="1161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1508760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C300"/>
                </a:solidFill>
                <a:latin typeface="Calibri"/>
              </a:rPr>
              <a:t>Model
Training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651760"/>
            <a:ext cx="8595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74320" y="2788920"/>
            <a:ext cx="27432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74320" y="2788920"/>
            <a:ext cx="274320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79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✅ Already 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79" y="3218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Data Collection, EDA, Cleaning,
Encoding, Scaling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788920"/>
            <a:ext cx="27432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00400" y="2788920"/>
            <a:ext cx="274320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3756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🎯 TODAY'S FOCUS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3218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Train/Test Split, Model Training,
Evaluation &amp; Comparison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788920"/>
            <a:ext cx="27432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26480" y="2788920"/>
            <a:ext cx="2743200" cy="64008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6364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🔮 Coming Next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218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Hyperparameter Tuning,
Cross-Validation,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Train / Test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The golden rule: never evaluate a model on data it has already seen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8595360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6446520" cy="123444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20840" y="1024128"/>
            <a:ext cx="214884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024128"/>
            <a:ext cx="54864" cy="1234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1155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TRAINING SET  —  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63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  <a:latin typeface="Calibri"/>
              </a:rPr>
              <a:t>≈ 668 passengers used to teach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115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TEST  —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63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≈ 223 unseen
passengers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23160"/>
            <a:ext cx="4069080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423160"/>
            <a:ext cx="406908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87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📚 Real-Life Analogy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16352"/>
            <a:ext cx="37490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Think of it like preparing for an exam: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• Training set = the practice problems you study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• Test set = the REAL exam questions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• If you memorize answers instead of learning, you'll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  fail the real exam → this is called OVERFITTING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2423160"/>
            <a:ext cx="4343400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26280" y="2423160"/>
            <a:ext cx="4343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48716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⚠️ Key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816352"/>
            <a:ext cx="39776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✅  random_state=42 → same split every run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✅  stratify=y → same class % in both sets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✅  Fit scaler on train only → no data leakage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❌  Never test on training data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❌  Never 'look at' test data during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13632"/>
            <a:ext cx="8595360" cy="82296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977639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onsolas"/>
              </a:rPr>
              <a:t>X_train, X_test, y_train, y_test = train_test_split(X, y,  test_size=0.25,  random_state=42,  stratify=y)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Metrics — The Confusion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Before we build models, we need to know how to MEASURE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15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A9BBB"/>
                </a:solidFill>
                <a:latin typeface="Calibri"/>
              </a:rPr>
              <a:t>Predicted: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115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A9BBB"/>
                </a:solidFill>
                <a:latin typeface="Calibri"/>
              </a:rPr>
              <a:t>Predicted: 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73736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8A9BBB"/>
                </a:solidFill>
                <a:latin typeface="Calibri"/>
              </a:rPr>
              <a:t>Actual: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265176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8A9BBB"/>
                </a:solidFill>
                <a:latin typeface="Calibri"/>
              </a:rPr>
              <a:t>Actual: 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463040"/>
            <a:ext cx="1280160" cy="868680"/>
          </a:xfrm>
          <a:prstGeom prst="rect">
            <a:avLst/>
          </a:prstGeom>
          <a:solidFill>
            <a:srgbClr val="0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88720" y="1463040"/>
            <a:ext cx="1280160" cy="50292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1508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79"/>
                </a:solidFill>
                <a:latin typeface="Calibri"/>
              </a:rPr>
              <a:t>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True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2032" y="1463040"/>
            <a:ext cx="1280160" cy="868680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42032" y="1463040"/>
            <a:ext cx="1280160" cy="50292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42032" y="1508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4B5C"/>
                </a:solidFill>
                <a:latin typeface="Calibri"/>
              </a:rPr>
              <a:t>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False 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386584"/>
            <a:ext cx="1280160" cy="868680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88720" y="2386584"/>
            <a:ext cx="128016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243230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  <a:latin typeface="Calibri"/>
              </a:rPr>
              <a:t>FN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980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False Negative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42032" y="2386584"/>
            <a:ext cx="1280160" cy="868680"/>
          </a:xfrm>
          <a:prstGeom prst="rect">
            <a:avLst/>
          </a:prstGeom>
          <a:solidFill>
            <a:srgbClr val="0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42032" y="2386584"/>
            <a:ext cx="1280160" cy="50292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42032" y="243230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79"/>
                </a:solidFill>
                <a:latin typeface="Calibri"/>
              </a:rPr>
              <a:t>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27980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True Positive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960120"/>
            <a:ext cx="4754880" cy="868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0" y="96012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15968" y="996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5326" y="996696"/>
            <a:ext cx="64291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 dirty="0">
                <a:solidFill>
                  <a:srgbClr val="00B4D8"/>
                </a:solidFill>
                <a:latin typeface="Calibri"/>
              </a:rPr>
              <a:t>82.5%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12893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(TP + TN) / 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15270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Overall correct predictions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1938528"/>
            <a:ext cx="4754880" cy="868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14800" y="1938528"/>
            <a:ext cx="54864" cy="8686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15968" y="197510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7854" y="19751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 dirty="0">
                <a:solidFill>
                  <a:srgbClr val="FFC300"/>
                </a:solidFill>
                <a:latin typeface="Calibri"/>
              </a:rPr>
              <a:t>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22677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TP / (TP + FP)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25054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Of predicted survivors: how many did survive?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916936"/>
            <a:ext cx="4754880" cy="868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14800" y="2916936"/>
            <a:ext cx="54864" cy="868680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15968" y="29535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9"/>
                </a:solidFill>
                <a:latin typeface="Calibri"/>
              </a:rPr>
              <a:t>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7854" y="295351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D679"/>
                </a:solidFill>
                <a:latin typeface="Calibri"/>
              </a:rPr>
              <a:t>72%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3246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TP / (TP + FN)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34838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Of actual survivors: how many did we catch?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3895344"/>
            <a:ext cx="4754880" cy="868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114800" y="3895344"/>
            <a:ext cx="54864" cy="868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3931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F1-Score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7854" y="393192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C00"/>
                </a:solidFill>
                <a:latin typeface="Calibri"/>
              </a:rPr>
              <a:t>76%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4224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2 × (P × R) / (P + 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5968" y="4462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Harmonic mean of Precision and 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Precision vs Recall — The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Understanding when each metric matters most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4114800" cy="3291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C300"/>
                </a:solidFill>
                <a:latin typeface="Calibri"/>
              </a:rPr>
              <a:t>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onsolas"/>
              </a:rPr>
              <a:t>TP / (TP + 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3657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"Of all the people I predicted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 survived — how many actually did?"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High Precision = Few False Alarms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 	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Example: Spam filter</a:t>
            </a:r>
            <a:endParaRPr lang="en-US"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You don't want to mark real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emails as spam (avoid FP).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→ Prioritize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51560"/>
            <a:ext cx="4206240" cy="3291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1051560"/>
            <a:ext cx="420624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111556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6D679"/>
                </a:solidFill>
                <a:latin typeface="Calibri"/>
              </a:rPr>
              <a:t> Recall  (Sensitivity)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5179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onsolas"/>
              </a:rPr>
              <a:t>TP / (TP + FN)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28800"/>
            <a:ext cx="374903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"Of all the people who actually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 survived — how many did I catch?"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High Recall = Few Missed Cases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	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Example: Cancer screening</a:t>
            </a:r>
            <a:endParaRPr lang="en-US"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You don't want to MISS a sick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patient (avoid FN).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→ Prioritize 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34840"/>
            <a:ext cx="8595360" cy="512064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528122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 F1-Score combines both: F1 = 2 × (Precision × Recall) / (Precision + Recall)  —  Use F1 when you care equally about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K-Nearest Neighbors (KNN)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"Tell me who your neighbors are, and I'll tell you who you are"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05840"/>
            <a:ext cx="4114800" cy="3200400"/>
          </a:xfrm>
          <a:prstGeom prst="rect">
            <a:avLst/>
          </a:prstGeom>
          <a:solidFill>
            <a:srgbClr val="0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43584" y="2999232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83663" y="2359152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23744" y="2724912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17904" y="3639311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9504" y="2176272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57984" y="4005072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46704" y="3273552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" y="2084832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60704" y="4370832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21024" y="1993391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03904" y="3639311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72384" y="4370832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78224" y="2907792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" y="3547872"/>
            <a:ext cx="219456" cy="219456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20240" y="3127248"/>
            <a:ext cx="329184" cy="32918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20240" y="31089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1051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300"/>
                </a:solidFill>
                <a:latin typeface="Calibri"/>
              </a:rPr>
              <a:t>K=3 nearest: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358275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2 survived (🔵) + 1 not (🔴)
→ PREDICT: Survived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87647"/>
            <a:ext cx="16459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46935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Survived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716247"/>
            <a:ext cx="164592" cy="164592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69795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B5C"/>
                </a:solidFill>
                <a:latin typeface="Calibri"/>
              </a:rPr>
              <a:t>Not Survived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23576"/>
            <a:ext cx="164592" cy="1645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92655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300"/>
                </a:solidFill>
                <a:latin typeface="Calibri"/>
              </a:rPr>
              <a:t>New passenger (to predict)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051560"/>
            <a:ext cx="4343400" cy="78638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0" y="1051560"/>
            <a:ext cx="54864" cy="7863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09160" y="10881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Step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1380743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Calculate the distance from the new point to ALL training points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1984248"/>
            <a:ext cx="4343400" cy="78638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0" y="1984248"/>
            <a:ext cx="54864" cy="7863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09160" y="20208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Step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231343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Sort by distance → pick the K closest (K=5 by default)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916936"/>
            <a:ext cx="4343400" cy="78638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0" y="2916936"/>
            <a:ext cx="54864" cy="7863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9160" y="29535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3246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Count votes: majority class among K neighbors wins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849624"/>
            <a:ext cx="4343400" cy="78638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3849624"/>
            <a:ext cx="54864" cy="7863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09160" y="3886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Step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1788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Output the predicted class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4773168"/>
            <a:ext cx="4343400" cy="256032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KNN — Choosing K &amp; Key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8595360" cy="6400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6060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2606040" cy="6400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B5C"/>
                </a:solidFill>
                <a:latin typeface="Calibri"/>
              </a:rPr>
              <a:t>K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024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Extreme
Overfitting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A9BBB"/>
                </a:solidFill>
                <a:latin typeface="Calibri"/>
              </a:rPr>
              <a:t>Memorizes every
training point.
Noisy, unstable.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914400"/>
            <a:ext cx="26060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914400"/>
            <a:ext cx="260604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78" y="1005840"/>
            <a:ext cx="1280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6D679"/>
                </a:solidFill>
                <a:latin typeface="Calibri"/>
              </a:rPr>
              <a:t>K = 5
(typical)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024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Good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2166" y="190042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A9BBB"/>
                </a:solidFill>
                <a:latin typeface="Calibri"/>
              </a:rPr>
              <a:t>Generalizes well.
Stable predictions.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914400"/>
            <a:ext cx="260604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914400"/>
            <a:ext cx="26060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0058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Calibri"/>
              </a:rPr>
              <a:t>K =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024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Extreme
Underfitting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Ignores local
patterns. Too
simple.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→  Smaller K = more complex boundary = overfitting    |    Larger K = smoother = underfitting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00400"/>
            <a:ext cx="4114800" cy="16459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200400"/>
            <a:ext cx="411480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2644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9"/>
                </a:solidFill>
                <a:latin typeface="Calibri"/>
              </a:rPr>
              <a:t>✅  Advantages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58520"/>
            <a:ext cx="37490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Simple and intuitive to understand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No training phase — just stores data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Works well with small datasets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Naturally handles multi-class problems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200400"/>
            <a:ext cx="4206240" cy="16459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3200400"/>
            <a:ext cx="4206240" cy="6400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32644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B5C"/>
                </a:solidFill>
                <a:latin typeface="Calibri"/>
              </a:rPr>
              <a:t>❌  Disadvantages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672697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Slow at prediction (calculates ALL distances)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Needs feature scaling (sensitive to magnitude)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Fails with high-dimensional data (curse)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Calibri"/>
              </a:rPr>
              <a:t>• Memory-intensive — stores entire dataset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Decision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A flowchart of yes/no questions that leads to a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60120"/>
            <a:ext cx="3108960" cy="56692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1005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Is Sex = female?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256032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568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 Pclass = 1 or 2?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920240"/>
            <a:ext cx="256032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0" y="192024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9568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 Age &lt; 10?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813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B5C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926080"/>
            <a:ext cx="1280160" cy="457200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" y="2971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✅ Survived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5786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926080"/>
            <a:ext cx="1463040" cy="457200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38528" y="29260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❌ Did Not
Survive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578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B5C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926080"/>
            <a:ext cx="1371600" cy="457200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13248" y="29718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✅ Survived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5786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926080"/>
            <a:ext cx="1371600" cy="457200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168" y="29260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❌ Did Not
Survive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578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B5C"/>
                </a:solidFill>
                <a:latin typeface="Calibr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66160"/>
            <a:ext cx="8595360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3566160"/>
            <a:ext cx="859536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6301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How does the tree decide WHERE to split?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05072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The tree tries every possible split and picks the one that creates the PUREST groups (best separates survivors from non-survivors).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It uses GINI IMPURITY to measure purity:   Gini = 1 − Σ(pᵢ²)      →  Gini = 0 means perfectly pure (all one class)   |   Gini = 0.5 means totally mixed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Gini Impurity — How Trees Make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The algorithm finds the split that minimizes Gini impurity in child nodes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onsolas"/>
              </a:rPr>
              <a:t>Gini(node) = 1 − [ p(survived)² + p(not survived)²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2743200" cy="2697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274320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7647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9"/>
                </a:solidFill>
                <a:latin typeface="Calibri"/>
              </a:rPr>
              <a:t>Pure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305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  <a:latin typeface="Calibri"/>
              </a:rPr>
              <a:t>50 survived,
0 not survived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78608"/>
            <a:ext cx="2560320" cy="59436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Gini = 1 − [(1.0)² + (0.0)²]
Gini = 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218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9"/>
                </a:solidFill>
                <a:latin typeface="Calibri"/>
              </a:rPr>
              <a:t>✅ Perfect split!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566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100% survived → no mixing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691640"/>
            <a:ext cx="2743200" cy="2697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17647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B5C"/>
                </a:solidFill>
                <a:latin typeface="Calibri"/>
              </a:rPr>
              <a:t>Mixed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1305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  <a:latin typeface="Calibri"/>
              </a:rPr>
              <a:t>25 survived,
25 not survived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578608"/>
            <a:ext cx="2560320" cy="59436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Gini = 1 − [(0.5)² + (0.5)²]
Gini =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218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B5C"/>
                </a:solidFill>
                <a:latin typeface="Calibri"/>
              </a:rPr>
              <a:t>❌ Worst possible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566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50/50 → maximum impurity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691640"/>
            <a:ext cx="2743200" cy="2697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1691640"/>
            <a:ext cx="274320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17647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Partial 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1305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  <a:latin typeface="Calibri"/>
              </a:rPr>
              <a:t>40 survived,
10 not survived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578608"/>
            <a:ext cx="2560320" cy="59436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Gini = 1 − [(0.8)² + (0.2)²]
Gini = 0.32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218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🔶 Acceptable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566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Mostly one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4480560"/>
            <a:ext cx="54864" cy="5486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Key Hyperparameters:   max_depth — limits tree depth (prevents overfitting)  |  min_samples_leaf — min samples per leaf  |  random_state — reproducibility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Overfitting vs Underfitting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The most important concept in machine learning — every model must balance these 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743200" cy="3520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07899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Underfitting
(High Bias)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276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Model is TOO SIMPLE.
Doesn't learn enough from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2221992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Low accuracy on BOTH train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6060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Model ignores important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9900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Happens with small trees or large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7413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Fix: increase model 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33087"/>
            <a:ext cx="2560320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4160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00"/>
                </a:solidFill>
                <a:latin typeface="Consolas"/>
              </a:rPr>
              <a:t>Training: 60%   Test: 58%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1005840"/>
            <a:ext cx="2743200" cy="3520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18688" y="1005840"/>
            <a:ext cx="274320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55848" y="107899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79"/>
                </a:solidFill>
                <a:latin typeface="Calibri"/>
              </a:rPr>
              <a:t>Good Fit
(Just Right)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16276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Model captures real patterns.
Generalizes to new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2103120"/>
            <a:ext cx="256032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55848" y="2221992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High accuracy on training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6060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High (similar) accuracy 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29900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The GOAL we're always aiming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8" y="337413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Fix: hyperparameter tuning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4133087"/>
            <a:ext cx="2560320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55848" y="4160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D679"/>
                </a:solidFill>
                <a:latin typeface="Consolas"/>
              </a:rPr>
              <a:t>Training: 85%   Test: 83%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1005840"/>
            <a:ext cx="2743200" cy="3520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63056" y="1005840"/>
            <a:ext cx="2743200" cy="6400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0216" y="107899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B5C"/>
                </a:solidFill>
                <a:latin typeface="Calibri"/>
              </a:rPr>
              <a:t>Overfitting
(High Variance)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16276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Model is TOO COMPLEX.
Memorizes training data.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2103120"/>
            <a:ext cx="2560320" cy="54864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0216" y="2221992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Very high train 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26060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Much lower test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29900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Happens with deep/full trees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337413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Fix: regularization, max_depth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4133087"/>
            <a:ext cx="2560320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0216" y="4160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B5C"/>
                </a:solidFill>
                <a:latin typeface="Consolas"/>
              </a:rPr>
              <a:t>Training: 99%   Test: 72%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←  More Complex Model 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"The wisdom of the crowd" — combining many imperfect trees into one powerful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05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Training Data (891 passengers)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005840"/>
            <a:ext cx="3291840" cy="34747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0424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Training Data (891 passengers)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3898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↓  bootstrap
   sample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2286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Tree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Random subset
of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517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→ Survived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3898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↓  bootstrap
   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828800"/>
            <a:ext cx="228600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1828800"/>
            <a:ext cx="228600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Tree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267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Random subset
of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6517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B5C"/>
                </a:solidFill>
                <a:latin typeface="Calibri"/>
              </a:rPr>
              <a:t>→ Did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3898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  <a:latin typeface="Calibri"/>
              </a:rPr>
              <a:t>↓  bootstrap
   sample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228600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828800"/>
            <a:ext cx="228600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9"/>
                </a:solidFill>
                <a:latin typeface="Calibri"/>
              </a:rPr>
              <a:t>Tree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267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  <a:latin typeface="Calibri"/>
              </a:rPr>
              <a:t>Random subset
of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517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→ Survived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↓  Majority Vote (2 Survived : 1 Not)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200400"/>
            <a:ext cx="3291840" cy="47548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718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✅  Final Prediction: SURVIVED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22191"/>
            <a:ext cx="411480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822191"/>
            <a:ext cx="4114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8862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🌲 Bootstrap Sampling (Bagging)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2452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Each tree trains on a random sample WITH replacement from the training data. Some rows are selected twice, others not at all. This creates DIVERSE trees.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822191"/>
            <a:ext cx="420624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63440" y="3822191"/>
            <a:ext cx="420624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0" y="38862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🎲 Random Feature Selection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22452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At each split, only a RANDOM SUBSET of features is considered (typically √n features). This forces diversity between trees and prevents any one feature from dominating.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Random Forest — Feature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A powerful bonus: Random Forest tells us WHICH features matter most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473" y="1005840"/>
            <a:ext cx="5029200" cy="3474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45367" y="10424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 dirty="0">
                <a:solidFill>
                  <a:srgbClr val="FFFFFF"/>
                </a:solidFill>
                <a:latin typeface="Calibri"/>
              </a:rPr>
              <a:t>Sex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825" y="10424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C300"/>
                </a:solidFill>
                <a:latin typeface="Calibri"/>
              </a:rPr>
              <a:t>28.5%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473" y="1472184"/>
            <a:ext cx="405865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-45367" y="15087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 dirty="0">
                <a:solidFill>
                  <a:srgbClr val="FFFFFF"/>
                </a:solidFill>
                <a:latin typeface="Calibri"/>
              </a:rPr>
              <a:t>Fare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2277" y="1508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23.0%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473" y="1938528"/>
            <a:ext cx="3441031" cy="347472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-45367" y="197510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4656" y="1975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19.5%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473" y="2404872"/>
            <a:ext cx="2294021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-45367" y="244144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Pclass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7646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13.0%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473" y="2871216"/>
            <a:ext cx="1147010" cy="347472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-45367" y="290779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SibSp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0635" y="2907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  <a:latin typeface="Calibri"/>
              </a:rPr>
              <a:t>6.5%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473" y="3337560"/>
            <a:ext cx="882315" cy="347472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-45367" y="337413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Parch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5940" y="33741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  <a:latin typeface="Calibri"/>
              </a:rPr>
              <a:t>5.0%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473" y="3803904"/>
            <a:ext cx="529389" cy="347472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-45367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Embarked_S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014" y="3840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  <a:latin typeface="Calibri"/>
              </a:rPr>
              <a:t>3.0%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473" y="4270248"/>
            <a:ext cx="264694" cy="347472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-45367" y="430682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Embarked_Q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319" y="43068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  <a:latin typeface="Calibri"/>
              </a:rPr>
              <a:t>1.5%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472184"/>
            <a:ext cx="2926080" cy="3511295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0" y="1473672"/>
            <a:ext cx="292608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1536192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C300"/>
                </a:solidFill>
                <a:latin typeface="Calibri"/>
              </a:rPr>
              <a:t>How to Read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1938528"/>
            <a:ext cx="2648925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Sex (28.5%):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→ Most important! Gender was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   the #1 survival predictor</a:t>
            </a:r>
          </a:p>
          <a:p>
            <a:pPr algn="l">
              <a:spcAft>
                <a:spcPts val="200"/>
              </a:spcAft>
            </a:pPr>
            <a:endParaRPr sz="10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Fare (23%):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→ Richer passengers had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   much higher survival rates</a:t>
            </a:r>
          </a:p>
          <a:p>
            <a:pPr algn="l">
              <a:spcAft>
                <a:spcPts val="200"/>
              </a:spcAft>
            </a:pPr>
            <a:endParaRPr sz="10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Age (19.5%):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→ 'Women and children first'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   policy shows in the data</a:t>
            </a:r>
          </a:p>
          <a:p>
            <a:pPr algn="l">
              <a:spcAft>
                <a:spcPts val="200"/>
              </a:spcAft>
            </a:pPr>
            <a:endParaRPr sz="10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📌 Low importance features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   (Embarked) barely helped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   the model — we could drop</a:t>
            </a:r>
          </a:p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Calibri"/>
              </a:rPr>
              <a:t>   them to simplify.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XGBoost — Extreme Gradient Boosting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Build trees SEQUENTIALLY — each tree fixes the errors of the previous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965960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19659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Tree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81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Predicts based
on raw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965960"/>
            <a:ext cx="181051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0299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Errors = 89
passengers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39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0591" y="1005840"/>
            <a:ext cx="1965960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50591" y="1005840"/>
            <a:ext cx="196596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42032" y="10789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Tree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1481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Focuses on what
Tree 1 got wrong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3744" y="1965960"/>
            <a:ext cx="1810512" cy="457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42032" y="20299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Errors = 47
passengers wrong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1005840"/>
            <a:ext cx="1965960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26864" y="1005840"/>
            <a:ext cx="196596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18303" y="10789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9"/>
                </a:solidFill>
                <a:latin typeface="Calibri"/>
              </a:rPr>
              <a:t>Tree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3" y="1481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Focuses on what
Trees 1+2 missed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0016" y="1965960"/>
            <a:ext cx="1810512" cy="45720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18303" y="20299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Errors = 28
passengers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3136" y="1005840"/>
            <a:ext cx="1965960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03136" y="1005840"/>
            <a:ext cx="196596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94575" y="10789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Tree N
(100 total)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5" y="1481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Keeps correcting
residual errors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76288" y="1965960"/>
            <a:ext cx="1810512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94575" y="202996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Errors = 18
passengers wrong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34640"/>
            <a:ext cx="8595360" cy="47548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8895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Final Prediction = Weighted Sum of ALL 100 Trees  →  Much more accurate than any single tree!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56432"/>
            <a:ext cx="2011680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" y="3456432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3538728"/>
            <a:ext cx="1920240" cy="292608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3566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nsolas"/>
              </a:rPr>
              <a:t>n_estimators=100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87705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Number of trees to build
More = better but slower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87168" y="3456432"/>
            <a:ext cx="2011680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87168" y="3456432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32887" y="3538728"/>
            <a:ext cx="1920240" cy="292608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60320" y="3566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nsolas"/>
              </a:rPr>
              <a:t>max_depth=3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8608" y="387705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How deep each tree is
Shallow trees = less overfit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0016" y="3456432"/>
            <a:ext cx="2011680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700016" y="3456432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45736" y="3538728"/>
            <a:ext cx="1920240" cy="292608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73168" y="3566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nsolas"/>
              </a:rPr>
              <a:t>learning_rate=0.1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5" y="387705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How much each tree corrects
Lower = more careful, often better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12864" y="3456432"/>
            <a:ext cx="2011680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12864" y="3456432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58583" y="3538728"/>
            <a:ext cx="1920240" cy="292608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86016" y="3566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nsolas"/>
              </a:rPr>
              <a:t>random_state=42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04303" y="387705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Reproducibility seed
Same result every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Random Forest vs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Both are ensemble methods — but they work very differently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2743200" cy="4389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743200" cy="43891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960120"/>
            <a:ext cx="2743200" cy="438912"/>
          </a:xfrm>
          <a:prstGeom prst="rect">
            <a:avLst/>
          </a:prstGeom>
          <a:solidFill>
            <a:srgbClr val="3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A9BBB"/>
                </a:solidFill>
                <a:latin typeface="Calibri"/>
              </a:rPr>
              <a:t>Aspect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🌳 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C00"/>
                </a:solidFill>
                <a:latin typeface="Calibri"/>
              </a:rPr>
              <a:t>⚡ 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63040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0" y="1463040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1536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536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Bagging (parallel trees)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536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  <a:latin typeface="Calibri"/>
              </a:rPr>
              <a:t>Boosting (sequential trees)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75104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0" y="1975104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1975104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048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Tree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Deep trees (low bias)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  <a:latin typeface="Calibri"/>
              </a:rPr>
              <a:t>Shallow trees (stumps)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87168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2487168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2487168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560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Fast training (parallel)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560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  <a:latin typeface="Calibri"/>
              </a:rPr>
              <a:t>Slower (sequential)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99232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0" y="2999232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0" y="2999232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3072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Overfitting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0723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Resistant by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0723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  <a:latin typeface="Calibri"/>
              </a:rPr>
              <a:t>Can overfit → tune carefully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511296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0" y="3511296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26480" y="3511296"/>
            <a:ext cx="27432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3584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Best for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3584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Noisy data, fast experiments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584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  <a:latin typeface="Calibri"/>
              </a:rPr>
              <a:t>High accuracy competitions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023360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0" y="4023360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4023360"/>
            <a:ext cx="2743200" cy="457200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096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B"/>
                </a:solidFill>
                <a:latin typeface="Calibri"/>
              </a:rPr>
              <a:t>Titanic acc.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096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~81.6%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096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  <a:latin typeface="Calibri"/>
              </a:rPr>
              <a:t>~82.5%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67258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💡 Practical tip: Start with Random Forest (faster, simpler), then try XGBoost to squeeze out extra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Feature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Why not all features start equal — and how we fix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8595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15568"/>
            <a:ext cx="4114800" cy="2148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4114800" cy="6400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B5C"/>
                </a:solidFill>
                <a:latin typeface="Calibri"/>
              </a:rPr>
              <a:t>❌  The Problem (Before Scaling)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Age range:  0  →  80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Fare range: 0  →  512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When KNN calculates distance: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dist = √( Δage² + Δfare² )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Fare is 6× larger → it DOMINATES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the distance calculation completely.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Age becomes almost invisible!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115568"/>
            <a:ext cx="4160520" cy="2148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1115568"/>
            <a:ext cx="416052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1188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9"/>
                </a:solidFill>
                <a:latin typeface="Calibri"/>
              </a:rPr>
              <a:t>✅  The Solution (After Scaling)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572768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StandardScaler transforms to: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Mean = 0,  Std Dev = 1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Age:  22 → (22-29.7)/14.5  = -0.53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Fare:  7 → (7-32.2)/49.7   = -0.51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Now both contribute EQUALLY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to the distance calculation.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Fair competition!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01568"/>
            <a:ext cx="4114800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401568"/>
            <a:ext cx="4114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655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StandardScaler  (Z-score normalization)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Formula:  z = (x − mean) / std_dev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Output:   mean=0, std=1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Use when: data roughly follows normal distribution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Best for: KNN, SVM, Logistic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3401568"/>
            <a:ext cx="4160520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9160" y="3401568"/>
            <a:ext cx="416052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34655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MinMaxScaler  (Min-Max normalization)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8404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Formula:  x' = (x − min) / (max − min)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Output:   range [0, 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Use when: data has a known fixed range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Best for: Neural Networks, image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4B5C"/>
                </a:solidFill>
                <a:latin typeface="Calibri"/>
              </a:rPr>
              <a:t>⚠️  Data Leakage — A Critical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The most common mistake beginners make — it silently inflates your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114800" cy="3017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114800" cy="6400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B5C"/>
                </a:solidFill>
                <a:latin typeface="Calibri"/>
              </a:rPr>
              <a:t>❌  WRONG — Data Leakage!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481328"/>
            <a:ext cx="3931920" cy="1389888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4B5C"/>
                </a:solidFill>
                <a:latin typeface="Consolas"/>
              </a:rPr>
              <a:t>scaler = StandardScaler()</a:t>
            </a:r>
          </a:p>
          <a:p>
            <a:pPr algn="l">
              <a:spcAft>
                <a:spcPts val="200"/>
              </a:spcAft>
            </a:pPr>
            <a:endParaRPr sz="1000" b="0">
              <a:solidFill>
                <a:srgbClr val="FF4B5C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4B5C"/>
                </a:solidFill>
                <a:latin typeface="Consolas"/>
              </a:rPr>
              <a:t># FIT on ALL data (WRONG!)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4B5C"/>
                </a:solidFill>
                <a:latin typeface="Consolas"/>
              </a:rPr>
              <a:t>X_scaled = scaler.fit_transform(X)</a:t>
            </a:r>
          </a:p>
          <a:p>
            <a:pPr algn="l">
              <a:spcAft>
                <a:spcPts val="200"/>
              </a:spcAft>
            </a:pPr>
            <a:endParaRPr sz="1000" b="0">
              <a:solidFill>
                <a:srgbClr val="FF4B5C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4B5C"/>
                </a:solidFill>
                <a:latin typeface="Consolas"/>
              </a:rPr>
              <a:t># Now split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4B5C"/>
                </a:solidFill>
                <a:latin typeface="Consolas"/>
              </a:rPr>
              <a:t>X_train, X_test = train_test_split(X_scaled)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Why is this wrong?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The scaler has already SEEN the test data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when computing the mean and std.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It's like giving answers before the exam!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Your reported accuracy is unrealistically high.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206240" cy="3017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206240" cy="6400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0789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79"/>
                </a:solidFill>
                <a:latin typeface="Calibri"/>
              </a:rPr>
              <a:t>✅  CORRECT — No Leakage!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1481328"/>
            <a:ext cx="4023360" cy="1389888"/>
          </a:xfrm>
          <a:prstGeom prst="rect">
            <a:avLst/>
          </a:prstGeom>
          <a:solidFill>
            <a:srgbClr val="051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508760"/>
            <a:ext cx="3931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# Split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X_train, X_test = train_test_split(X)</a:t>
            </a:r>
          </a:p>
          <a:p>
            <a:pPr algn="l">
              <a:spcAft>
                <a:spcPts val="200"/>
              </a:spcAft>
            </a:pPr>
            <a:endParaRPr sz="1000" b="0">
              <a:solidFill>
                <a:srgbClr val="06D679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scaler = StandardScaler()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# Fit on train ONLY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X_train = scaler.fit_transform(X_train)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# Apply to test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6D679"/>
                </a:solidFill>
                <a:latin typeface="Consolas"/>
              </a:rPr>
              <a:t>X_test  = scaler.transform(X_test)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4436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Why is this correct?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The scaler only learns from training data.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The test data is truly 'unseen' during training.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Your accuracy reflects REAL performance.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33087"/>
            <a:ext cx="8595360" cy="77724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187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🔑  THE GOLDEN RULE: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224528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NEVER fit any transformer (scaler, encoder, imputer) on test data. Always fit on train, then ONLY transform the 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Comparison — Titanic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How did our 4 models perform on the same test set?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3242"/>
            <a:ext cx="320040" cy="230867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4892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4D8"/>
                </a:solidFill>
                <a:latin typeface="Calibri"/>
              </a:rPr>
              <a:t>79%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763694"/>
            <a:ext cx="320040" cy="2168225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48937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C300"/>
                </a:solidFill>
                <a:latin typeface="Calibri"/>
              </a:rPr>
              <a:t>74%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2456" y="1792955"/>
            <a:ext cx="320040" cy="21389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62456" y="1518635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D679"/>
                </a:solidFill>
                <a:latin typeface="Calibri"/>
              </a:rPr>
              <a:t>73%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92224" y="1778325"/>
            <a:ext cx="320040" cy="215359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92224" y="1504005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8C00"/>
                </a:solidFill>
                <a:latin typeface="Calibri"/>
              </a:rPr>
              <a:t>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050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KNN
(K=5)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50208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39" y="1570573"/>
            <a:ext cx="320040" cy="236134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06039" y="1296253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4D8"/>
                </a:solidFill>
                <a:latin typeface="Calibri"/>
              </a:rPr>
              <a:t>81%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7" y="1702247"/>
            <a:ext cx="320040" cy="22296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35807" y="1427927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C300"/>
                </a:solidFill>
                <a:latin typeface="Calibri"/>
              </a:rPr>
              <a:t>76%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5575" y="1760768"/>
            <a:ext cx="320040" cy="2171151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65575" y="14864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D679"/>
                </a:solidFill>
                <a:latin typeface="Calibri"/>
              </a:rPr>
              <a:t>74%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95344" y="1731507"/>
            <a:ext cx="320040" cy="22004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95344" y="1457187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8C00"/>
                </a:solidFill>
                <a:latin typeface="Calibri"/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39" y="40050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300"/>
                </a:solidFill>
                <a:latin typeface="Calibri"/>
              </a:rPr>
              <a:t>Decision
Tree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3950208"/>
            <a:ext cx="173736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09159" y="1544238"/>
            <a:ext cx="320040" cy="238768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59" y="126991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4D8"/>
                </a:solidFill>
                <a:latin typeface="Calibri"/>
              </a:rPr>
              <a:t>82%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7" y="1567647"/>
            <a:ext cx="320040" cy="23642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38927" y="1293327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C300"/>
                </a:solidFill>
                <a:latin typeface="Calibri"/>
              </a:rPr>
              <a:t>81%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68696" y="1860255"/>
            <a:ext cx="320040" cy="20716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68696" y="1585935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D679"/>
                </a:solidFill>
                <a:latin typeface="Calibri"/>
              </a:rPr>
              <a:t>71%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98464" y="1725655"/>
            <a:ext cx="320040" cy="22062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98464" y="1451335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8C00"/>
                </a:solidFill>
                <a:latin typeface="Calibri"/>
              </a:rPr>
              <a:t>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40050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79"/>
                </a:solidFill>
                <a:latin typeface="Calibri"/>
              </a:rPr>
              <a:t>Random
Forest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59" y="3950208"/>
            <a:ext cx="173736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12279" y="1517904"/>
            <a:ext cx="320040" cy="2414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79" y="124358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4D8"/>
                </a:solidFill>
                <a:latin typeface="Calibri"/>
              </a:rPr>
              <a:t>82%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7" y="1479864"/>
            <a:ext cx="320040" cy="2452055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42047" y="120554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C300"/>
                </a:solidFill>
                <a:latin typeface="Calibri"/>
              </a:rPr>
              <a:t>84%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1815" y="1892442"/>
            <a:ext cx="320040" cy="2039477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71815" y="161812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D679"/>
                </a:solidFill>
                <a:latin typeface="Calibri"/>
              </a:rPr>
              <a:t>70%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01583" y="1705173"/>
            <a:ext cx="320040" cy="222674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01583" y="1430853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8C00"/>
                </a:solidFill>
                <a:latin typeface="Calibri"/>
              </a:rPr>
              <a:t>76%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79" y="40050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Calibri"/>
              </a:rPr>
              <a:t>XGBoost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79" y="3950208"/>
            <a:ext cx="17373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11480" y="1009809"/>
            <a:ext cx="8321040" cy="36576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32520" y="1453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B"/>
                </a:solidFill>
                <a:latin typeface="Calibri"/>
              </a:rPr>
              <a:t>80%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407408"/>
            <a:ext cx="22860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8952" y="4389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4407408"/>
            <a:ext cx="228600" cy="1645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62072" y="4389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300"/>
                </a:solidFill>
                <a:latin typeface="Calibri"/>
              </a:rPr>
              <a:t>Precision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59" y="4407408"/>
            <a:ext cx="228600" cy="164592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65192" y="4389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79"/>
                </a:solidFill>
                <a:latin typeface="Calibri"/>
              </a:rPr>
              <a:t>Recall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79" y="4407408"/>
            <a:ext cx="228600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68312" y="4389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C00"/>
                </a:solidFill>
                <a:latin typeface="Calibri"/>
              </a:rPr>
              <a:t>F1-Score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74320" y="4663440"/>
            <a:ext cx="85953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Choose the Right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There is no single 'best' algorithm — it depends on your 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24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143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033272"/>
            <a:ext cx="320040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1051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Small (&lt;1K rows)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3075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→  KNN or Decision Tree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033272"/>
            <a:ext cx="329184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10515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Large (&gt;100K)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3075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alibri"/>
              </a:rPr>
              <a:t>→  XGBoost or Random Forest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9293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19476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Interpretability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837944"/>
            <a:ext cx="320040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40280" y="18562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Need to EXPLAIN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1122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→  Decision Tree (visual)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837944"/>
            <a:ext cx="329184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0" y="18562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Just need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1122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alibri"/>
              </a:rPr>
              <a:t>→  XGBoost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7340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27523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Speed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642616"/>
            <a:ext cx="320040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40280" y="26609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Need fast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29169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→  Random Forest (parallel)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642616"/>
            <a:ext cx="329184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40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Can wait for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9169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alibri"/>
              </a:rPr>
              <a:t>→  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1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35570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Feature Scaling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447288"/>
            <a:ext cx="320040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40280" y="34655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No time to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37216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→  Tree-based models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3447288"/>
            <a:ext cx="329184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77840" y="34655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Willing to 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7216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alibri"/>
              </a:rPr>
              <a:t>→  KNN (requires scaling)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343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61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Priority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4251960"/>
            <a:ext cx="320040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40280" y="42702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High Recall critical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526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→  Tune any model for recall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251960"/>
            <a:ext cx="3291840" cy="566928"/>
          </a:xfrm>
          <a:prstGeom prst="rect">
            <a:avLst/>
          </a:prstGeom>
          <a:solidFill>
            <a:srgbClr val="0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77840" y="42702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B"/>
                </a:solidFill>
                <a:latin typeface="Calibri"/>
              </a:rPr>
              <a:t>If:  High Precision needed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5262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alibri"/>
              </a:rPr>
              <a:t>→  Tune threshold or cost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4736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Session Summary —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  <a:latin typeface="Calibri"/>
              </a:rPr>
              <a:t>Everything you need to remember from today's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4864" cy="6675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424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Train/Test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350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split(test=0.25, stratify=y)  |  NEVER test on training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54864" cy="66751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19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Confusion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122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TN / FP / FN / TP  |  Accuracy, Precision, Recall,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54864" cy="6675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KNN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89503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Distance to K neighbors → majority vote  |  Needs scaling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3756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337560"/>
            <a:ext cx="54864" cy="66751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3741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667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Yes/No questions on features  |  Uses Gini impurity to 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1480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114800"/>
            <a:ext cx="54864" cy="667512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151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Overfit/Underfit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439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max_depth, min_samples_leaf → control complexity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00584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1005840"/>
            <a:ext cx="54864" cy="6675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10424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Random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13350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50-100 trees + bootstrap + random features → majority vote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78308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63440" y="1783080"/>
            <a:ext cx="54864" cy="6675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0" y="1819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  <a:latin typeface="Calibri"/>
              </a:rP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1122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Sequential trees, each fixes last errors  |  learning_rate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56032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63440" y="2560320"/>
            <a:ext cx="54864" cy="667512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Feature Scaling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2889503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fit_transform(X_train)  +  transform(X_test)  |  NO leakage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337560"/>
            <a:ext cx="4206240" cy="66751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63440" y="3337560"/>
            <a:ext cx="54864" cy="66751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0" y="33741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Model Selection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6667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B"/>
                </a:solidFill>
                <a:latin typeface="Calibri"/>
              </a:rPr>
              <a:t>XGBoost best accuracy  |  Tree models best interpretability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4856</TotalTime>
  <Words>2692</Words>
  <Application>Microsoft Office PowerPoint</Application>
  <PresentationFormat>On-screen Show (16:9)</PresentationFormat>
  <Paragraphs>506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mansouri</cp:lastModifiedBy>
  <cp:revision>3</cp:revision>
  <dcterms:created xsi:type="dcterms:W3CDTF">2013-01-27T09:14:16Z</dcterms:created>
  <dcterms:modified xsi:type="dcterms:W3CDTF">2026-03-26T22:13:42Z</dcterms:modified>
  <cp:category/>
</cp:coreProperties>
</file>
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8" r:id="rId22"/>
    <p:sldId id="281" r:id="rId23"/>
    <p:sldId id="282" r:id="rId2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6445C7-B3E7-4C0E-A600-DC85FB73C91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7C20C1-096C-416B-AC5C-567DAD6D0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340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7C20C1-096C-416B-AC5C-567DAD6D0C0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872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0" y="-731520"/>
            <a:ext cx="3200400" cy="320040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502920"/>
            <a:ext cx="2286000" cy="411480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AI MASTERCLASS  •  SESSION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FFFFFF"/>
                </a:solidFill>
                <a:latin typeface="Arial Black"/>
              </a:rPr>
              <a:t>DATA, EDA &amp;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3B9FE8"/>
                </a:solidFill>
                <a:latin typeface="Arial Black"/>
              </a:rPr>
              <a:t>DATA CLEANING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3C5FD"/>
                </a:solidFill>
                <a:latin typeface="Calibri"/>
              </a:rPr>
              <a:t>Understanding your data before building AI models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60807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  <a:latin typeface="Calibri"/>
              </a:rPr>
              <a:t>Mansouri Ahmed  |  BrainerX School, Constantine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080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64748B"/>
                </a:solidFill>
                <a:latin typeface="Calibri"/>
              </a:rPr>
              <a:t>Session 02  •  Data &amp; EDA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83480"/>
            <a:ext cx="1828800" cy="438912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98348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4983480"/>
            <a:ext cx="1828800" cy="4389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60320" y="498348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4983480"/>
            <a:ext cx="1828800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0" y="498348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CLEANING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 Black"/>
              </a:rPr>
              <a:t>WHAT WE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9144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02920" cy="914400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502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 Black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2529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WHAT IS DATA?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664208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  <a:latin typeface="Calibri"/>
              </a:rPr>
              <a:t>WWWWW-H Framework — Who, What, When, Where, Why, 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67712"/>
            <a:ext cx="11430000" cy="9144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267712"/>
            <a:ext cx="502920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267712"/>
            <a:ext cx="502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 Black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30428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EDA — EXPLORATORY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743200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  <a:latin typeface="Calibri"/>
              </a:rPr>
              <a:t>Visualise before modelling. Univariate &amp; Multivariate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46704"/>
            <a:ext cx="11430000" cy="9144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346704"/>
            <a:ext cx="502920" cy="914400"/>
          </a:xfrm>
          <a:prstGeom prst="rect">
            <a:avLst/>
          </a:prstGeom>
          <a:solidFill>
            <a:srgbClr val="3B9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3346704"/>
            <a:ext cx="502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 Black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832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VISUALIZATION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822191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  <a:latin typeface="Calibri"/>
              </a:rPr>
              <a:t>Matplotlib &amp; Seaborn — when to use each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25696"/>
            <a:ext cx="11430000" cy="9144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4425696"/>
            <a:ext cx="50292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4425696"/>
            <a:ext cx="502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 Black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46227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DATA CLEANING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901183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  <a:latin typeface="Calibri"/>
              </a:rPr>
              <a:t>Missing values, wrong types, duplicates, outliers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504688"/>
            <a:ext cx="11430000" cy="9144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5504688"/>
            <a:ext cx="50292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5504688"/>
            <a:ext cx="502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 Black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54126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HANDS-ON EXERCISES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980175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  <a:latin typeface="Calibri"/>
              </a:rPr>
              <a:t>Real datasets: Online Retail, Titanic, medical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1A5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274320" y="4754880"/>
            <a:ext cx="2286000" cy="2286000"/>
          </a:xfrm>
          <a:prstGeom prst="ellipse">
            <a:avLst/>
          </a:prstGeom>
          <a:solidFill>
            <a:srgbClr val="1A5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 i="0">
                <a:solidFill>
                  <a:srgbClr val="1A5FBB"/>
                </a:solidFill>
                <a:latin typeface="Arial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840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Arial Black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1031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 Black"/>
              </a:rPr>
              <a:t>WHAT IS DATA?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3063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93C5FD"/>
                </a:solidFill>
                <a:latin typeface="Calibri"/>
              </a:rPr>
              <a:t>The raw material of all AI systems.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703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  <a:latin typeface="Calibri"/>
              </a:rPr>
              <a:t>Before writing a single line of Python,
you must understand your data deeply.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WHAT IS DATA?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1005840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6128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Data is any recorded information that can be processed, analysed, and used to make decisions or train AI models.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317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2743200" cy="502920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35915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📊  STRUCTURED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71800"/>
            <a:ext cx="2468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0F172A"/>
                </a:solidFill>
                <a:latin typeface="Calibri"/>
              </a:rPr>
              <a:t>Tables, spreadsheets, databases.
Rows &amp; columns. Easy to process.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3317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1840" y="2331720"/>
            <a:ext cx="274320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80" y="235915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📝  UNSTRUCTURED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971800"/>
            <a:ext cx="2468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 dirty="0">
                <a:solidFill>
                  <a:srgbClr val="0F172A"/>
                </a:solidFill>
                <a:latin typeface="Calibri"/>
              </a:rPr>
              <a:t>Text, images, audio, video.
No fixed format. Harder to process.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3317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2331720"/>
            <a:ext cx="274320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235915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⏱️  TIME SERIES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971800"/>
            <a:ext cx="2468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0F172A"/>
                </a:solidFill>
                <a:latin typeface="Calibri"/>
              </a:rPr>
              <a:t>Data ordered by time.
Stock prices, weather, sensors.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23317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0" y="2331720"/>
            <a:ext cx="274320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35440" y="235915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🌐  SPATIAL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971800"/>
            <a:ext cx="2468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0F172A"/>
                </a:solidFill>
                <a:latin typeface="Calibri"/>
              </a:rPr>
              <a:t>Location-based data.
GPS, maps, geographic info.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6692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</a:rPr>
              <a:t>Every app you use generates data — your clicks, your location, your voice, your 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THE WWWWW-H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  <a:latin typeface="Calibri"/>
              </a:rPr>
              <a:t>Before analysing any dataset, always ask these 6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657600" cy="219456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657600" cy="475488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1271016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 Black"/>
              </a:rPr>
              <a:t>WHO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80136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Who collected this data?
Who are the subjects?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65176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93C5FD"/>
                </a:solidFill>
                <a:latin typeface="Calibri"/>
              </a:rPr>
              <a:t>e.g. A hospital, a company, a government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234440"/>
            <a:ext cx="3657600" cy="219456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59" y="1234440"/>
            <a:ext cx="3657600" cy="4754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399" y="1271016"/>
            <a:ext cx="1280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FFFFFF"/>
                </a:solidFill>
                <a:latin typeface="Arial Black"/>
              </a:rPr>
              <a:t>WHAT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180136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What information is stored?
What do the columns mean?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65176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93C5FD"/>
                </a:solidFill>
                <a:latin typeface="Calibri"/>
              </a:rPr>
              <a:t>e.g. Age, price, GPS coordinates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234440"/>
            <a:ext cx="3657600" cy="219456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83879" y="1234440"/>
            <a:ext cx="365760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18" y="1271016"/>
            <a:ext cx="12419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FFFFFF"/>
                </a:solidFill>
                <a:latin typeface="Arial Black"/>
              </a:rPr>
              <a:t>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7" y="180136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What time period does it cover?
Is it still relevant?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7" y="265176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93C5FD"/>
                </a:solidFill>
                <a:latin typeface="Calibri"/>
              </a:rPr>
              <a:t>e.g. 2009–2011, last 30 days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703320"/>
            <a:ext cx="3657600" cy="219456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3703320"/>
            <a:ext cx="365760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78" y="3739896"/>
            <a:ext cx="14173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FFFFFF"/>
                </a:solidFill>
                <a:latin typeface="Arial Black"/>
              </a:rPr>
              <a:t>WHERE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427024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Where was it collected?
Geographic or system origin?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512064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93C5FD"/>
                </a:solidFill>
                <a:latin typeface="Calibri"/>
              </a:rPr>
              <a:t>e.g. UK-based company, global customers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59" y="3703320"/>
            <a:ext cx="3657600" cy="219456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51959" y="3703320"/>
            <a:ext cx="3657600" cy="4754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43399" y="3739896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 Black"/>
              </a:rPr>
              <a:t>WHY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8" y="427024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What was the purpose?
Why does this data exist?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2064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93C5FD"/>
                </a:solidFill>
                <a:latin typeface="Calibri"/>
              </a:rPr>
              <a:t>e.g. Inventory management, fraud detection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3703320"/>
            <a:ext cx="3657600" cy="219456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83879" y="3703320"/>
            <a:ext cx="3657600" cy="475488"/>
          </a:xfrm>
          <a:prstGeom prst="rect">
            <a:avLst/>
          </a:prstGeom>
          <a:solidFill>
            <a:srgbClr val="3B9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75319" y="3739896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 Black"/>
              </a:rPr>
              <a:t>HOW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3607" y="427024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How was it collected?
Manual entry, sensors, scraping?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3607" y="512064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93C5FD"/>
                </a:solidFill>
                <a:latin typeface="Calibri"/>
              </a:rPr>
              <a:t>e.g. Sales system logs, IoT sensors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rial Black"/>
              </a:rPr>
              <a:t>EXERCISE — ONLINE RETAIL 2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3840480" cy="5303520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📦 Online Retail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3C5FD"/>
                </a:solidFill>
                <a:latin typeface="Calibri"/>
              </a:rPr>
              <a:t>Kaggle / UCI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Real UK e-commerce data
Dec 2009 – Dec 2011
541,909 rows × 8 columns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832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9FE8"/>
                </a:solidFill>
                <a:latin typeface="Calibri"/>
              </a:rPr>
              <a:t>InvoiceNo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383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Invoice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3016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9FE8"/>
                </a:solidFill>
                <a:latin typeface="Calibri"/>
              </a:rPr>
              <a:t>StockCode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6301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Product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77056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9FE8"/>
                </a:solidFill>
                <a:latin typeface="Calibri"/>
              </a:rPr>
              <a:t>Description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8770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Product 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2394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9FE8"/>
                </a:solidFill>
                <a:latin typeface="Calibri"/>
              </a:rPr>
              <a:t>Quantity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12394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Units ordered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708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9FE8"/>
                </a:solidFill>
                <a:latin typeface="Calibri"/>
              </a:rPr>
              <a:t>InvoiceDate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3708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Date &amp;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177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9FE8"/>
                </a:solidFill>
                <a:latin typeface="Calibri"/>
              </a:rPr>
              <a:t>UnitPrice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617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Price per unit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6460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9FE8"/>
                </a:solidFill>
                <a:latin typeface="Calibri"/>
              </a:rPr>
              <a:t>CustomerID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86460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Anonymized 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111496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9FE8"/>
                </a:solidFill>
                <a:latin typeface="Calibri"/>
              </a:rPr>
              <a:t>Country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1114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Customer country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1143000"/>
            <a:ext cx="594360" cy="658368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34840" y="1197864"/>
            <a:ext cx="594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 Black"/>
              </a:rPr>
              <a:t>WHO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4920" y="1143000"/>
            <a:ext cx="6766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12080" y="123444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0F172A"/>
                </a:solidFill>
                <a:latin typeface="Calibri"/>
              </a:rPr>
              <a:t>An online retail company (UK-based)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34840" y="2029967"/>
            <a:ext cx="594360" cy="65836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34840" y="2084831"/>
            <a:ext cx="594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 Black"/>
              </a:rPr>
              <a:t>WHAT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74920" y="2029967"/>
            <a:ext cx="6766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12080" y="2121408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0F172A"/>
                </a:solidFill>
                <a:latin typeface="Calibri"/>
              </a:rPr>
              <a:t>Each row = line-item in an invoice. InvoiceNo, Quantity, UnitPrice, CustomerID…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840" y="2916936"/>
            <a:ext cx="594360" cy="6583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34840" y="2971800"/>
            <a:ext cx="594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 Black"/>
              </a:rPr>
              <a:t>WHEN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74920" y="2916936"/>
            <a:ext cx="6766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12080" y="3008376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0F172A"/>
                </a:solidFill>
                <a:latin typeface="Calibri"/>
              </a:rPr>
              <a:t>December 2009 to December 2011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34840" y="3803904"/>
            <a:ext cx="594360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34840" y="3858768"/>
            <a:ext cx="594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 Black"/>
              </a:rPr>
              <a:t>WHERE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74920" y="3803904"/>
            <a:ext cx="6766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212080" y="3895344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0F172A"/>
                </a:solidFill>
                <a:latin typeface="Calibri"/>
              </a:rPr>
              <a:t>UK business — but customers are global worldwide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34840" y="4690872"/>
            <a:ext cx="594360" cy="6583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434840" y="4745736"/>
            <a:ext cx="594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 Black"/>
              </a:rPr>
              <a:t>WHY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74920" y="4690872"/>
            <a:ext cx="6766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212080" y="4782312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0F172A"/>
                </a:solidFill>
                <a:latin typeface="Calibri"/>
              </a:rPr>
              <a:t>Inventory management, accounting, and order tracking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34840" y="5577840"/>
            <a:ext cx="594360" cy="658368"/>
          </a:xfrm>
          <a:prstGeom prst="rect">
            <a:avLst/>
          </a:prstGeom>
          <a:solidFill>
            <a:srgbClr val="3B9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34840" y="5632703"/>
            <a:ext cx="594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 Black"/>
              </a:rPr>
              <a:t>HOW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74920" y="5577840"/>
            <a:ext cx="6766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212080" y="5669279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0F172A"/>
                </a:solidFill>
                <a:latin typeface="Calibri"/>
              </a:rPr>
              <a:t>Extracted from sales system logs automatically — reduces human error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274320" y="4754880"/>
            <a:ext cx="2286000" cy="2286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 i="0">
                <a:solidFill>
                  <a:srgbClr val="7C3AED"/>
                </a:solidFill>
                <a:latin typeface="Arial Black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840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Arial Black"/>
              </a:rPr>
              <a:t>EDA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01168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EXPLORATORY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9718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4B5FD"/>
                </a:solidFill>
                <a:latin typeface="Calibri"/>
              </a:rPr>
              <a:t>"Look at your data before you model it."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61188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CBD5E1"/>
                </a:solidFill>
                <a:latin typeface="Calibri"/>
              </a:rPr>
              <a:t>EDA is the practice of using statistics
and visualisations to understand your
data's structure, patterns, and problems.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WHY DO EDA BEFORE MODELLING?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502920" cy="868680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502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143000"/>
            <a:ext cx="10972800" cy="8686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18872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👁️ See What Numbers Can't Show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60020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  <a:latin typeface="Calibri"/>
              </a:rPr>
              <a:t>A correlation of 0.5 tells you little. A scatter plot tells you everything. Patterns, clusters, anomalies — only visible visually.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240280"/>
            <a:ext cx="502920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2240280"/>
            <a:ext cx="502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240280"/>
            <a:ext cx="10972800" cy="8686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228600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🧠 Build Intuition About Your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69748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  <a:latin typeface="Calibri"/>
              </a:rPr>
              <a:t>You need to KNOW your data — its range, its gaps, its outliers — before you trust any model trained on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337560"/>
            <a:ext cx="50292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3337560"/>
            <a:ext cx="502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337560"/>
            <a:ext cx="10972800" cy="8686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3383279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🧹 Guide Data Cleaning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79476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  <a:latin typeface="Calibri"/>
              </a:rPr>
              <a:t>EDA reveals WHERE the problems are: missing values, wrong types, duplicates, impossible values. Clean what matters first.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434840"/>
            <a:ext cx="502920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4434840"/>
            <a:ext cx="502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4434840"/>
            <a:ext cx="10972800" cy="8686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4480559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✅ Support Better 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89204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  <a:latin typeface="Calibri"/>
              </a:rPr>
              <a:t>Which features actually matter? EDA tells you. Don't spend hours engineering useless variables.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532120"/>
            <a:ext cx="502920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5532120"/>
            <a:ext cx="502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5532120"/>
            <a:ext cx="10972800" cy="8686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1560" y="557784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📖 Tell a Story With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98932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  <a:latin typeface="Calibri"/>
              </a:rPr>
              <a:t>Good data science is storytelling. EDA gives you the evidence. Every chart is a sentence in your story.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UNIVARIATE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0" y="164592"/>
            <a:ext cx="274320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0" y="16459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One variable at a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11521440" cy="5943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  <a:latin typeface="Calibri"/>
              </a:rPr>
              <a:t>📌  Analyse ONE variable at a time to understand its distribution, range, and typical values.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874519"/>
            <a:ext cx="56235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874519"/>
            <a:ext cx="5623560" cy="457200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" y="192938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📊 HISTOGRAM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44144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Shows the distribution of a numeric variable — how values are spread across ranges.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175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→  Age distribution of 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91839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→  Price distribution of 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6616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→  Income distribution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874519"/>
            <a:ext cx="56235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874519"/>
            <a:ext cx="562356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73368" y="192938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📈 LINE CHART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44144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Shows how a variable changes over time — essential for time-series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0175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→  Daily website visitors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291839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→  Monthly sales revenue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56616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→  Stock price history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114800"/>
            <a:ext cx="56235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4114800"/>
            <a:ext cx="562356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9768" y="4169663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📦 BOX PLOT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468172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Shows median, quartiles, and outliers at a glance — great for comparing groups.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2578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→  Salary by department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532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→  Score by student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8064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→  Height by age group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114800"/>
            <a:ext cx="56235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63640" y="4114800"/>
            <a:ext cx="562356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73368" y="4169663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📉 BAR CHART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468172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Compares counts or values across categories — the most common chart.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2578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→  Sales by country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532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→  Number of orders per day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8064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→  Customers per age group</a:t>
            </a:r>
          </a:p>
        </p:txBody>
      </p:sp>
      <p:pic>
        <p:nvPicPr>
          <p:cNvPr id="37" name="Picture 36" descr="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2" y="2745998"/>
            <a:ext cx="2212264" cy="1523198"/>
          </a:xfrm>
          <a:prstGeom prst="rect">
            <a:avLst/>
          </a:prstGeom>
        </p:spPr>
      </p:pic>
      <p:pic>
        <p:nvPicPr>
          <p:cNvPr id="38" name="Picture 37" descr="bar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5036" y="5052171"/>
            <a:ext cx="2519553" cy="1734775"/>
          </a:xfrm>
          <a:prstGeom prst="rect">
            <a:avLst/>
          </a:prstGeom>
        </p:spPr>
      </p:pic>
      <p:pic>
        <p:nvPicPr>
          <p:cNvPr id="67" name="Picture 66" descr="box_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1476" y="4998027"/>
            <a:ext cx="2184070" cy="1759389"/>
          </a:xfrm>
          <a:prstGeom prst="rect">
            <a:avLst/>
          </a:prstGeom>
        </p:spPr>
      </p:pic>
      <p:pic>
        <p:nvPicPr>
          <p:cNvPr id="68" name="Picture 67" descr="line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3763" y="2814062"/>
            <a:ext cx="2014837" cy="16230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MULTIVARIATE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8778240" y="164592"/>
            <a:ext cx="3017520" cy="502920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0" y="16459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Discovering relationships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11521440" cy="5943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  <a:latin typeface="Calibri"/>
              </a:rPr>
              <a:t>📌  Analyse TWO or more variables together to find relationships, patterns, and correlations.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828800"/>
            <a:ext cx="56235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828800"/>
            <a:ext cx="5623560" cy="457200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" y="188366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🔵 SCATTER PLOT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377440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Plots two numeric variables against each other. Reveals correlation direction and strength.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907791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1E6ECC"/>
                </a:solidFill>
                <a:latin typeface="Calibri"/>
              </a:rPr>
              <a:t>Use when: checking if variable A increases as B increases.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340156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📌 Ad spend vs Revenue / Height vs Weight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6235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62356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3368" y="188366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🌡️ CORRELATION HEATMAP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377440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Shows correlation between ALL numeric variables at once. Values from -1 to +1.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907791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1E6ECC"/>
                </a:solidFill>
                <a:latin typeface="Calibri"/>
              </a:rPr>
              <a:t>+1 = perfect positive / -1 = perfect negative / 0 = no correlation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40156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📌 eCommerce metrics / Financial indicators</a:t>
            </a:r>
          </a:p>
        </p:txBody>
      </p:sp>
      <p:pic>
        <p:nvPicPr>
          <p:cNvPr id="33" name="Picture 32" descr="scatter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752" y="4160520"/>
            <a:ext cx="3455774" cy="2379385"/>
          </a:xfrm>
          <a:prstGeom prst="rect">
            <a:avLst/>
          </a:prstGeom>
        </p:spPr>
      </p:pic>
      <p:pic>
        <p:nvPicPr>
          <p:cNvPr id="34" name="Picture 33" descr="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300" y="4280885"/>
            <a:ext cx="3302526" cy="22738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rial Black"/>
              </a:rPr>
              <a:t>WHICH CHART TO USE? — QUICK DECISION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029200" cy="475488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79" y="102412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YOUR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1005840"/>
            <a:ext cx="4114800" cy="475488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0" y="102412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BEST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9555480" y="1005840"/>
            <a:ext cx="2194560" cy="475488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46919" y="102412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536192"/>
            <a:ext cx="5029200" cy="566928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94960" y="1536192"/>
            <a:ext cx="4114800" cy="566928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555480" y="1536192"/>
            <a:ext cx="2194560" cy="566928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" y="1645919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How is this variable distributed?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04688" y="1645919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9FE8"/>
                </a:solidFill>
                <a:latin typeface="Calibri"/>
              </a:rPr>
              <a:t>Histogram / Box Plot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1664207"/>
            <a:ext cx="1920240" cy="3291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92640" y="1664207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Univariate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167128"/>
            <a:ext cx="5029200" cy="5669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94960" y="2167128"/>
            <a:ext cx="4114800" cy="5669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555480" y="2167128"/>
            <a:ext cx="2194560" cy="5669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8" y="2276856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How does this value change over time?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04688" y="2276856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9FE8"/>
                </a:solidFill>
                <a:latin typeface="Calibri"/>
              </a:rPr>
              <a:t>Line Chart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2295144"/>
            <a:ext cx="1920240" cy="3291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92640" y="229514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Univariate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798063"/>
            <a:ext cx="5029200" cy="566928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394960" y="2798063"/>
            <a:ext cx="4114800" cy="566928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555480" y="2798063"/>
            <a:ext cx="2194560" cy="566928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9768" y="2907791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How many items are in each category?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04688" y="2907791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9FE8"/>
                </a:solidFill>
                <a:latin typeface="Calibri"/>
              </a:rPr>
              <a:t>Bar Chart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92640" y="2926079"/>
            <a:ext cx="1920240" cy="3291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92640" y="2926079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Univariate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429000"/>
            <a:ext cx="5029200" cy="5669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394960" y="3429000"/>
            <a:ext cx="4114800" cy="5669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555480" y="3429000"/>
            <a:ext cx="2194560" cy="5669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9768" y="3538728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Is there a relationship between A and B?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04688" y="3538728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9FE8"/>
                </a:solidFill>
                <a:latin typeface="Calibri"/>
              </a:rPr>
              <a:t>Scatter Plot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92640" y="3557016"/>
            <a:ext cx="192024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92640" y="355701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Bivariate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059935"/>
            <a:ext cx="5029200" cy="566928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394960" y="4059935"/>
            <a:ext cx="4114800" cy="566928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555480" y="4059935"/>
            <a:ext cx="2194560" cy="566928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29768" y="4169663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How correlated are ALL my features?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04688" y="4169663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9FE8"/>
                </a:solidFill>
                <a:latin typeface="Calibri"/>
              </a:rPr>
              <a:t>Correlation Heatmap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92640" y="4187951"/>
            <a:ext cx="1920240" cy="32918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692640" y="4187951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Multivariate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4690872"/>
            <a:ext cx="5029200" cy="5669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394960" y="4690872"/>
            <a:ext cx="4114800" cy="5669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555480" y="4690872"/>
            <a:ext cx="2194560" cy="5669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29768" y="480060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How do distributions differ by group?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04688" y="4800600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9FE8"/>
                </a:solidFill>
                <a:latin typeface="Calibri"/>
              </a:rPr>
              <a:t>Grouped Box Plot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92640" y="4818888"/>
            <a:ext cx="1920240" cy="32918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692640" y="481888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Multivariate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5321807"/>
            <a:ext cx="5029200" cy="566928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394960" y="5321807"/>
            <a:ext cx="4114800" cy="566928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555480" y="5321807"/>
            <a:ext cx="2194560" cy="566928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29768" y="5431536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Compare 3 numeric variables at once?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04688" y="5431536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9FE8"/>
                </a:solidFill>
                <a:latin typeface="Calibri"/>
              </a:rPr>
              <a:t>Bubble Chart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92640" y="5449823"/>
            <a:ext cx="1920240" cy="32918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2640" y="5449823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Multivariate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5952744"/>
            <a:ext cx="5029200" cy="5669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394960" y="5952744"/>
            <a:ext cx="4114800" cy="5669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9555480" y="5952744"/>
            <a:ext cx="2194560" cy="5669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29768" y="606247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What proportion does each category have?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04688" y="6062472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9FE8"/>
                </a:solidFill>
                <a:latin typeface="Calibri"/>
              </a:rPr>
              <a:t>Pie / Donut Chart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92640" y="6080759"/>
            <a:ext cx="1920240" cy="3291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692640" y="6080759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Univariate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✏️  EXERCISE — PICK THE RIGHT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3C5FD"/>
                </a:solidFill>
                <a:latin typeface="Calibri"/>
              </a:rPr>
              <a:t>For each scenario below, decide which chart type to use and why.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502920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00200"/>
            <a:ext cx="7680960" cy="804672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728216"/>
            <a:ext cx="7406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 retail store wants to know which age group makes up the largest portion of its customers.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0" y="1600200"/>
            <a:ext cx="3246120" cy="804672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32520" y="1728216"/>
            <a:ext cx="2971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B9FE8"/>
                </a:solidFill>
                <a:latin typeface="Calibri"/>
              </a:rPr>
              <a:t>✅ Histogram / Bar Chart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606040"/>
            <a:ext cx="502920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2606040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606040"/>
            <a:ext cx="7680960" cy="804672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2734056"/>
            <a:ext cx="7406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You need to show how daily website visitors changed over the past year.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0" y="2606040"/>
            <a:ext cx="3246120" cy="804672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32520" y="2734056"/>
            <a:ext cx="2971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B9FE8"/>
                </a:solidFill>
                <a:latin typeface="Calibri"/>
              </a:rPr>
              <a:t>✅ Line Chart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611880"/>
            <a:ext cx="502920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3611880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3611880"/>
            <a:ext cx="7680960" cy="804672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3739896"/>
            <a:ext cx="7406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An economist analyses the link between inflation, unemployment, and GDP growth.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3611880"/>
            <a:ext cx="3246120" cy="804672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32520" y="3739896"/>
            <a:ext cx="2971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B9FE8"/>
                </a:solidFill>
                <a:latin typeface="Calibri"/>
              </a:rPr>
              <a:t>✅ Scatter Plot + Correlation Heatmap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617720"/>
            <a:ext cx="502920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4617720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4617720"/>
            <a:ext cx="7680960" cy="804672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4745736"/>
            <a:ext cx="7406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You need to check whether most employees earn similar salaries or if there are big outliers.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4617720"/>
            <a:ext cx="3246120" cy="804672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32520" y="4745736"/>
            <a:ext cx="2971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B9FE8"/>
                </a:solidFill>
                <a:latin typeface="Calibri"/>
              </a:rPr>
              <a:t>✅ Box Plot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623560"/>
            <a:ext cx="502920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5623560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5623560"/>
            <a:ext cx="7680960" cy="804672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5840" y="5751576"/>
            <a:ext cx="7406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You want to check if higher ad spend leads to higher revenue (monthly data).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95360" y="5623560"/>
            <a:ext cx="3246120" cy="804672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32520" y="5751576"/>
            <a:ext cx="2971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B9FE8"/>
                </a:solidFill>
                <a:latin typeface="Calibri"/>
              </a:rPr>
              <a:t>✅ Scatter Plot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rial Black"/>
              </a:rPr>
              <a:t>VISUALIZATION TOOLS — MATPLOTLIB &amp; SEABORN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557784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577840" cy="594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33856"/>
            <a:ext cx="5212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 Black"/>
              </a:rPr>
              <a:t>MATPLOTLIB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Foundation &amp; Full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128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6ECC"/>
                </a:solidFill>
                <a:latin typeface="Calibri"/>
              </a:rPr>
              <a:t>"The Swiss Army knife of Python plotting."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889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✅ Full low-level control over every element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729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✅ Works with NumPy arrays and lists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57015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✅ Excellent for custom layouts and subplots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41063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✅ Best for annotated, publication-ready charts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3251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⚠️ More verbose — more lines of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091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⚠️ Statistical plots need manual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3218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6ECC"/>
                </a:solidFill>
                <a:latin typeface="Courier New"/>
              </a:rPr>
              <a:t>import matplotlib.pyplot as plt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6509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6ECC"/>
                </a:solidFill>
                <a:latin typeface="Courier New"/>
              </a:rPr>
              <a:t>plt.plot(x, y)  /  plt.bar(x, y)  /  plt.hist(x)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097280"/>
            <a:ext cx="557784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1097280"/>
            <a:ext cx="5577840" cy="5943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1133856"/>
            <a:ext cx="5212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 Black"/>
              </a:rPr>
              <a:t>SEABORN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7556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Built on Matplotlib — Statistical Focus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2128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6ECC"/>
                </a:solidFill>
                <a:latin typeface="Calibri"/>
              </a:rPr>
              <a:t>"Beautiful statistical charts with less code."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7889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✅ High-level statistical visualisations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1729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✅ Works natively with Pandas DataFrames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557015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✅ Beautiful defaults — less styling needed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941063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✅ Heatmaps, violin plots, pair plots built-in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3251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⚠️ Less flexible for custom chart layouts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7091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⚠️ Must understand its opinionated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3218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91B2"/>
                </a:solidFill>
                <a:latin typeface="Courier New"/>
              </a:rPr>
              <a:t>import seaborn as sns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6509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891B2"/>
                </a:solidFill>
                <a:latin typeface="Courier New"/>
              </a:rPr>
              <a:t>sns.heatmap(df.corr())  /  sns.boxplot(x, y)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1097280"/>
            <a:ext cx="320040" cy="5349240"/>
          </a:xfrm>
          <a:prstGeom prst="rect">
            <a:avLst/>
          </a:prstGeom>
          <a:solidFill>
            <a:srgbClr val="F1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0" y="3520440"/>
            <a:ext cx="320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4748B"/>
                </a:solidFill>
                <a:latin typeface="Arial Black"/>
              </a:rPr>
              <a:t>VS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274320" y="4754880"/>
            <a:ext cx="2286000" cy="22860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 i="0">
                <a:solidFill>
                  <a:srgbClr val="059669"/>
                </a:solidFill>
                <a:latin typeface="Arial Black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840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 Black"/>
              </a:rPr>
              <a:t>CLEAN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01168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 Black"/>
              </a:rPr>
              <a:t>DATA CLEANING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9260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A7F3D0"/>
                </a:solidFill>
                <a:latin typeface="Calibri"/>
              </a:rPr>
              <a:t>"Clean data = trustworthy AI."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566160"/>
            <a:ext cx="5486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CBD5E1"/>
                </a:solidFill>
                <a:latin typeface="Calibri"/>
              </a:rPr>
              <a:t>Garbage in, garbage out.
No matter how good your model is,
dirty data produces wrong predictions.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WHAT IS DATA CLEANING?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1521440" cy="822960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170432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Data cleaning is the process of detecting and correcting errors, inconsistencies, or missing information in a dataset — to make it accurate, consistent, and ready for analysis or ML.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148840"/>
            <a:ext cx="2788920" cy="425196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2148840"/>
            <a:ext cx="2788920" cy="640080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2203704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5856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MISSING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71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6ECC"/>
                </a:solidFill>
                <a:latin typeface="Calibri"/>
              </a:rPr>
              <a:t>PROBLEM: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64408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Empty cells that most ML models
cannot handle.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605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FIX: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53128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7F3D0"/>
                </a:solidFill>
                <a:latin typeface="Courier New"/>
              </a:rPr>
              <a:t>Fill with mean/median
or remove the row.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148840"/>
            <a:ext cx="2788920" cy="425196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91840" y="2148840"/>
            <a:ext cx="278892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83280" y="2203704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225856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INCORRECT TYPES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971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B5CF6"/>
                </a:solidFill>
                <a:latin typeface="Calibri"/>
              </a:rPr>
              <a:t>PROBLEM: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264408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Numbers stored as text. Dates as
strings. Wrong format.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1605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FIX: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453128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7F3D0"/>
                </a:solidFill>
                <a:latin typeface="Courier New"/>
              </a:rPr>
              <a:t>Convert: df['col'].astype(float)
pd.to_datetime()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148840"/>
            <a:ext cx="2788920" cy="425196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3640" y="2148840"/>
            <a:ext cx="278892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79" y="2203704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59" y="225856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DUPLICATES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971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PROBLEM: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264408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Same row appears multiple times —
distorts training data.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1605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FIX: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453128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7F3D0"/>
                </a:solidFill>
                <a:latin typeface="Courier New"/>
              </a:rPr>
              <a:t>df.drop_duplicates()
Keep first occurrence.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2148840"/>
            <a:ext cx="2788920" cy="425196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235440" y="2148840"/>
            <a:ext cx="278892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26880" y="2203704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225856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OUTLIERS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2971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  <a:latin typeface="Calibri"/>
              </a:rPr>
              <a:t>PROBLEM: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3264408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Values far outside normal range —
may be errors or special cases.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41605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FIX: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4453128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7F3D0"/>
                </a:solidFill>
                <a:latin typeface="Courier New"/>
              </a:rPr>
              <a:t>Investigate first.
Cap, transform, or remove.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rial Black"/>
              </a:rPr>
              <a:t>MISSING VALUES — HOW TO HANDLE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4114800" cy="5349240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9FE8"/>
                </a:solidFill>
                <a:latin typeface="Calibri"/>
              </a:rPr>
              <a:t>WHY DOES DATA GO MISSING?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37360"/>
            <a:ext cx="109728" cy="502920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7647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Survey not filled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029967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User skipped a question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41448"/>
            <a:ext cx="109728" cy="502920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246887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Sensor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73405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IoT device stopped transmitting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145536"/>
            <a:ext cx="109728" cy="502920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31729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 entry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43814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Human forgot to fill the field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849624"/>
            <a:ext cx="109728" cy="502920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" y="387705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System migration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1422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Old records lost during transfer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553712"/>
            <a:ext cx="109728" cy="502920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" y="45811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Private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4846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User opted out of sharing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257800"/>
            <a:ext cx="109728" cy="502920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" y="52852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Not applicable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55504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Field doesn't apply to this row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1097280"/>
            <a:ext cx="7178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709160" y="1097280"/>
            <a:ext cx="411480" cy="1691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09160" y="1097280"/>
            <a:ext cx="411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118872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DROP THE ROW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1627631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Best when: very few rows missing,
missing at random, enough data left.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2194560"/>
            <a:ext cx="6492240" cy="43891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49240" y="2249424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6ECC"/>
                </a:solidFill>
                <a:latin typeface="Courier New"/>
              </a:rPr>
              <a:t>df.dropna(subset=['Age'])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2971800"/>
            <a:ext cx="7178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709160" y="2971800"/>
            <a:ext cx="411480" cy="1691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09160" y="2971800"/>
            <a:ext cx="411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0" y="306324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FILL WITH MEAN / MEDIAN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57800" y="3502152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Best when: numeric column,
data is roughly symmetric.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12080" y="4069080"/>
            <a:ext cx="6492240" cy="43891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49240" y="4123944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6ECC"/>
                </a:solidFill>
                <a:latin typeface="Courier New"/>
              </a:rPr>
              <a:t>df['Age'].fillna(df['Age'].mean())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09160" y="4846320"/>
            <a:ext cx="7178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709160" y="4846320"/>
            <a:ext cx="411480" cy="1691640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09160" y="4846320"/>
            <a:ext cx="411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57800" y="5040399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0F172A"/>
                </a:solidFill>
                <a:latin typeface="Calibri"/>
              </a:rPr>
              <a:t>FILL WITH MODE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57800" y="5376672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64748B"/>
                </a:solidFill>
                <a:latin typeface="Calibri"/>
              </a:rPr>
              <a:t>Best when: categorical column,
one value is dominant.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80" y="5943600"/>
            <a:ext cx="6492240" cy="43891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49240" y="5998464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6ECC"/>
                </a:solidFill>
                <a:latin typeface="Courier New"/>
              </a:rPr>
              <a:t>df['City'].fillna(df['City'].mode()[0])</a:t>
            </a:r>
          </a:p>
        </p:txBody>
      </p:sp>
      <p:pic>
        <p:nvPicPr>
          <p:cNvPr id="46" name="Picture 45" descr="missing_val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3562" y="3074622"/>
            <a:ext cx="2903783" cy="1394556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4572000" y="4753012"/>
            <a:ext cx="7360920" cy="20116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709160" y="4725020"/>
            <a:ext cx="7178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6ECC"/>
                </a:solidFill>
                <a:latin typeface="Calibri"/>
              </a:rPr>
              <a:t>Missing values visualised — Online Retail 2 Dataset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rial Black"/>
              </a:rPr>
              <a:t>DUPLICATES &amp; INCORRECT DATA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562356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62356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3385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 Black"/>
              </a:rPr>
              <a:t>👥  DUPLICATES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What are they?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Rows that are identical or nearly identical — caused by data entry errors, system bugs, or merging datasets multiple times.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346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Why dangerous?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004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A model trained on duplicates will overfit to repeated data points, resulting in inflated performance metrics.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22191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How to detect &amp; remove: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251960"/>
            <a:ext cx="5212080" cy="34747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288536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6ECC"/>
                </a:solidFill>
                <a:latin typeface="Courier New"/>
              </a:rPr>
              <a:t>df.duplicated().sum()      # count dups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654296"/>
            <a:ext cx="5212080" cy="34747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690872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6ECC"/>
                </a:solidFill>
                <a:latin typeface="Courier New"/>
              </a:rPr>
              <a:t>df[df.duplicated()]        # see dups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056632"/>
            <a:ext cx="5212080" cy="34747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509320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6ECC"/>
                </a:solidFill>
                <a:latin typeface="Courier New"/>
              </a:rPr>
              <a:t>df.drop_duplicates()       # remove 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458968"/>
            <a:ext cx="5212080" cy="34747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5495544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6ECC"/>
                </a:solidFill>
                <a:latin typeface="Courier New"/>
              </a:rPr>
              <a:t>df.drop_duplicates(['email'])  # by col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097280"/>
            <a:ext cx="562356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1097280"/>
            <a:ext cx="5623560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113385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 Black"/>
              </a:rPr>
              <a:t>🔤  INCORRECT DATA TYPES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7830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Common type problems: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21284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❌ Price stored as $99.99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441448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String with $ symbol — can't compute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67004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❌ Date as '2023-01-15'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898648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String — can't sort or do time math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12724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❌ 'True'/'False' as strings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355848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Should be boolean — comparisons fail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58444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❌ ID stored as float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813048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CustomerID 1234.0 — comparison issues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0690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Fix it with: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4526280"/>
            <a:ext cx="5303520" cy="347472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46520" y="4562856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ourier New"/>
              </a:rPr>
              <a:t>df['price'] = df['price'].str.replace('$','').astype(float)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4928616"/>
            <a:ext cx="5303520" cy="347472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46520" y="4965192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ourier New"/>
              </a:rPr>
              <a:t>df['date']  = pd.to_datetime(df['date'])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5330952"/>
            <a:ext cx="5303520" cy="347472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46520" y="5367528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ourier New"/>
              </a:rPr>
              <a:t>df['active']= df['active'].map({'True':True,'False':False})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5733288"/>
            <a:ext cx="5303520" cy="347472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46520" y="5769864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ourier New"/>
              </a:rPr>
              <a:t>df['id']    = df['id'].astype(int)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rial Black"/>
              </a:rPr>
              <a:t>OUTLIERS — DETECT, DECIDE, HANDLE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1521440" cy="64008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064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78350F"/>
                </a:solidFill>
                <a:latin typeface="Calibri"/>
              </a:rPr>
              <a:t>⚠️  An outlier is a data point that falls far outside the normal range. It might be a genuine extreme value, a typo, or a sensor error. Always investigate before removing.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374903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920240"/>
            <a:ext cx="3749039" cy="502920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" y="1975104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VISUAL METHOD
Box Plot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560320"/>
            <a:ext cx="3520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The box plot's whiskers extend to 1.5 × IQR. Any point beyond the whiskers is flagged as an outlier.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61188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1E6ECC"/>
                </a:solidFill>
                <a:latin typeface="Calibri"/>
              </a:rPr>
              <a:t>📌 Use first — always visualise before computing.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" y="4160520"/>
            <a:ext cx="3593592" cy="2194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425196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6ECC"/>
                </a:solidFill>
                <a:latin typeface="Courier New"/>
              </a:rPr>
              <a:t>sns.boxplot(data=df, x='salary')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1920240"/>
            <a:ext cx="374903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79" y="1920240"/>
            <a:ext cx="3749039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07407" y="1975104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Z-SCORE 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7" y="2560320"/>
            <a:ext cx="3520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Z-score measures how many standard deviations a value is from the mean. Values with |Z| &gt; 3 are considered outliers.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7" y="361188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10B981"/>
                </a:solidFill>
                <a:latin typeface="Calibri"/>
              </a:rPr>
              <a:t>📌 Works best with normally distributed data.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0831" y="4160520"/>
            <a:ext cx="3593592" cy="2194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34840" y="425196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6ECC"/>
                </a:solidFill>
                <a:latin typeface="Courier New"/>
              </a:rPr>
              <a:t>from scipy import stats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63600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6ECC"/>
                </a:solidFill>
                <a:latin typeface="Courier New"/>
              </a:rPr>
              <a:t>df[np.abs(stats.zscore(df['salary'])) &gt; 3]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19" y="1920240"/>
            <a:ext cx="374903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75319" y="1920240"/>
            <a:ext cx="3749039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85047" y="1975104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IQR METHOD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7" y="2560320"/>
            <a:ext cx="3520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IQR = Q3 − Q1 (middle 50% of data).
Lower fence = Q1 − 1.5×IQR
Upper fence = Q3 + 1.5×IQR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7" y="361188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F59E0B"/>
                </a:solidFill>
                <a:latin typeface="Calibri"/>
              </a:rPr>
              <a:t>📌 Most robust method — works for skewed data too.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48471" y="4160520"/>
            <a:ext cx="3593592" cy="2194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0" y="425196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6ECC"/>
                </a:solidFill>
                <a:latin typeface="Courier New"/>
              </a:rPr>
              <a:t>Q1=df['col'].quantile(0.25)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63600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6ECC"/>
                </a:solidFill>
                <a:latin typeface="Courier New"/>
              </a:rPr>
              <a:t>Q3=df['col'].quantile(0.75)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020056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6ECC"/>
                </a:solidFill>
                <a:latin typeface="Courier New"/>
              </a:rPr>
              <a:t>IQR=Q3-Q1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404104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6ECC"/>
                </a:solidFill>
                <a:latin typeface="Courier New"/>
              </a:rPr>
              <a:t>df[(df['col']&gt;Q1-1.5*IQR)&amp;(df['col']&lt;Q3+1.5*IQR)]</a:t>
            </a:r>
          </a:p>
        </p:txBody>
      </p:sp>
      <p:pic>
        <p:nvPicPr>
          <p:cNvPr id="32" name="Picture 31" descr="outlier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67" y="4809038"/>
            <a:ext cx="2973666" cy="1537603"/>
          </a:xfrm>
          <a:prstGeom prst="rect">
            <a:avLst/>
          </a:prstGeom>
        </p:spPr>
      </p:pic>
      <p:pic>
        <p:nvPicPr>
          <p:cNvPr id="33" name="Picture 32" descr="outlier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804" y="5076534"/>
            <a:ext cx="2871216" cy="11998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THE DATA CLEANING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743200" cy="20574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02920" cy="2057400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143000"/>
            <a:ext cx="5029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8016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LOAD &amp; INSPECT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01368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B9FE8"/>
                </a:solidFill>
                <a:latin typeface="Courier New"/>
              </a:rPr>
              <a:t>df.shape / df.info() / df.head()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67128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B9FE8"/>
                </a:solidFill>
                <a:latin typeface="Courier New"/>
              </a:rPr>
              <a:t>df.describe() / df.dtypes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36392" y="2011680"/>
            <a:ext cx="73152" cy="34747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90672" y="2084832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143000"/>
            <a:ext cx="2743200" cy="20574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1143000"/>
            <a:ext cx="502920" cy="2057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6120" y="1143000"/>
            <a:ext cx="5029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128016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FIND MISSING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801368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B9FE8"/>
                </a:solidFill>
                <a:latin typeface="Courier New"/>
              </a:rPr>
              <a:t>df.isnull().sum()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167128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B9FE8"/>
                </a:solidFill>
                <a:latin typeface="Courier New"/>
              </a:rPr>
              <a:t>df.isnull().mean() * 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2472" y="2011680"/>
            <a:ext cx="73152" cy="34747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16752" y="2084832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143000"/>
            <a:ext cx="2743200" cy="20574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1143000"/>
            <a:ext cx="502920" cy="2057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72200" y="1143000"/>
            <a:ext cx="5029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128016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HANDLE MISSING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1801368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B9FE8"/>
                </a:solidFill>
                <a:latin typeface="Courier New"/>
              </a:rPr>
              <a:t>dropna() / fillna(mean)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167128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B9FE8"/>
                </a:solidFill>
                <a:latin typeface="Courier New"/>
              </a:rPr>
              <a:t>fillna(mode) / forward fill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88552" y="2011680"/>
            <a:ext cx="73152" cy="34747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42832" y="2084832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98280" y="1143000"/>
            <a:ext cx="2743200" cy="20574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098280" y="1143000"/>
            <a:ext cx="502920" cy="2057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98280" y="1143000"/>
            <a:ext cx="5029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128016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FIX DATA TYPES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1801368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B9FE8"/>
                </a:solidFill>
                <a:latin typeface="Courier New"/>
              </a:rPr>
              <a:t>astype() / pd.to_datetime()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167128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B9FE8"/>
                </a:solidFill>
                <a:latin typeface="Courier New"/>
              </a:rPr>
              <a:t>str.replace() / map()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520440"/>
            <a:ext cx="2743200" cy="20574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20040" y="3520440"/>
            <a:ext cx="502920" cy="2057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0040" y="3520440"/>
            <a:ext cx="5029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365760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REMOVE DUPLICATES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178808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B9FE8"/>
                </a:solidFill>
                <a:latin typeface="Courier New"/>
              </a:rPr>
              <a:t>df.duplicated().sum()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544568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B9FE8"/>
                </a:solidFill>
                <a:latin typeface="Courier New"/>
              </a:rPr>
              <a:t>df.drop_duplicates()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36392" y="4389120"/>
            <a:ext cx="73152" cy="34747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090672" y="4462272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46120" y="3520440"/>
            <a:ext cx="2743200" cy="20574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246120" y="3520440"/>
            <a:ext cx="502920" cy="2057400"/>
          </a:xfrm>
          <a:prstGeom prst="rect">
            <a:avLst/>
          </a:prstGeom>
          <a:solidFill>
            <a:srgbClr val="3B9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246120" y="3520440"/>
            <a:ext cx="5029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365760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DETECT OUTLIERS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0" y="4178808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B9FE8"/>
                </a:solidFill>
                <a:latin typeface="Courier New"/>
              </a:rPr>
              <a:t>sns.boxplot() / Z-score / IQR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0" y="4544568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B9FE8"/>
                </a:solidFill>
                <a:latin typeface="Courier New"/>
              </a:rPr>
              <a:t>Investigate → cap or remove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62472" y="4389120"/>
            <a:ext cx="73152" cy="34747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16752" y="4462272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3520440"/>
            <a:ext cx="2743200" cy="20574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172200" y="3520440"/>
            <a:ext cx="502920" cy="2057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72200" y="3520440"/>
            <a:ext cx="5029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0" y="365760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VALIDATE &amp; SAVE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4178808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B9FE8"/>
                </a:solidFill>
                <a:latin typeface="Courier New"/>
              </a:rPr>
              <a:t>df.info() / df.describe() again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0" y="4544568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B9FE8"/>
                </a:solidFill>
                <a:latin typeface="Courier New"/>
              </a:rPr>
              <a:t>df.to_csv('clean_data.csv')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" y="626364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  <a:latin typeface="Calibri"/>
              </a:rPr>
              <a:t>→ Always run df.info() and df.describe() BEFORE and AFTER cleaning to compare.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rial Black"/>
              </a:rPr>
              <a:t>BEFORE vs AFTER — DATA CLEANING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539496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3385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❌  BEFORE CLEANING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72768"/>
            <a:ext cx="1325880" cy="585216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59" y="160020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ourier New"/>
              </a:rPr>
              <a:t>date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1664207" y="1572768"/>
            <a:ext cx="1325880" cy="585216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09928" y="160020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ourier New"/>
              </a:rPr>
              <a:t>category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08376" y="1572768"/>
            <a:ext cx="1325880" cy="585216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54096" y="160020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ourier New"/>
              </a:rPr>
              <a:t>price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2544" y="1572768"/>
            <a:ext cx="1325880" cy="585216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98264" y="160020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ourier New"/>
              </a:rPr>
              <a:t>rating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194560"/>
            <a:ext cx="1325880" cy="58521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59" y="2221992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Courier New"/>
              </a:rPr>
              <a:t>04/01/2023 PM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64207" y="2194560"/>
            <a:ext cx="1325880" cy="58521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09928" y="2221992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ourier New"/>
              </a:rPr>
              <a:t>Electrncs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08376" y="2194560"/>
            <a:ext cx="1325880" cy="58521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54096" y="2221992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Courier New"/>
              </a:rPr>
              <a:t>twenty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52544" y="2194560"/>
            <a:ext cx="1325880" cy="58521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98264" y="2221992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ourier New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816352"/>
            <a:ext cx="1325880" cy="585216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59" y="2843784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ourier New"/>
              </a:rPr>
              <a:t>2023-04-02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64207" y="2816352"/>
            <a:ext cx="1325880" cy="585216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709928" y="2843784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ourier New"/>
              </a:rPr>
              <a:t>Books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08376" y="2816352"/>
            <a:ext cx="1325880" cy="585216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054096" y="2843784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ourier New"/>
              </a:rPr>
              <a:t>$34.35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52544" y="2816352"/>
            <a:ext cx="1325880" cy="585216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98264" y="2843784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ourier New"/>
              </a:rPr>
              <a:t>5  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438144"/>
            <a:ext cx="1325880" cy="58521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59" y="3465576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ourier New"/>
              </a:rPr>
              <a:t>2023/04/03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64207" y="3438144"/>
            <a:ext cx="1325880" cy="58521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709928" y="3465576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ourier New"/>
              </a:rPr>
              <a:t>Clothing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08376" y="3438144"/>
            <a:ext cx="1325880" cy="58521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054096" y="3465576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ourier New"/>
              </a:rPr>
              <a:t>49.99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52544" y="3438144"/>
            <a:ext cx="1325880" cy="58521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98264" y="3465576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Courier New"/>
              </a:rPr>
              <a:t>4 stars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059936"/>
            <a:ext cx="1325880" cy="585216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59" y="4087368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ourier New"/>
              </a:rPr>
              <a:t>03-04-2023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64207" y="4059936"/>
            <a:ext cx="1325880" cy="585216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709928" y="4087368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Courier New"/>
              </a:rPr>
              <a:t>Fod←Typo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08376" y="4059936"/>
            <a:ext cx="1325880" cy="585216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054096" y="4087368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ourier New"/>
              </a:rPr>
              <a:t>9.99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52544" y="4059936"/>
            <a:ext cx="1325880" cy="585216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398264" y="4087368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Courier New"/>
              </a:rPr>
              <a:t>10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681728"/>
            <a:ext cx="1325880" cy="58521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5759" y="470916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ourier New"/>
              </a:rPr>
              <a:t>2023-04-05T...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64207" y="4681728"/>
            <a:ext cx="1325880" cy="58521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709928" y="470916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ourier New"/>
              </a:rPr>
              <a:t>Furniture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08376" y="4681728"/>
            <a:ext cx="1325880" cy="58521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054096" y="470916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Courier New"/>
              </a:rPr>
              <a:t>20€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52544" y="4681728"/>
            <a:ext cx="1325880" cy="58521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398264" y="470916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ourier New"/>
              </a:rPr>
              <a:t>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1097280"/>
            <a:ext cx="557784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00800" y="113385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✅  AFTER CLEANING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63640" y="1572768"/>
            <a:ext cx="1371600" cy="585216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309359" y="16002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ourier New"/>
              </a:rPr>
              <a:t>date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53527" y="1572768"/>
            <a:ext cx="1371600" cy="585216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699248" y="16002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ourier New"/>
              </a:rPr>
              <a:t>category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43416" y="1572768"/>
            <a:ext cx="1371600" cy="585216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089136" y="16002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ourier New"/>
              </a:rPr>
              <a:t>price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433304" y="1572768"/>
            <a:ext cx="1371600" cy="585216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479024" y="16002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ourier New"/>
              </a:rPr>
              <a:t>rating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63640" y="2194560"/>
            <a:ext cx="1371600" cy="58521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309359" y="222199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7F3D0"/>
                </a:solidFill>
                <a:latin typeface="Courier New"/>
              </a:rPr>
              <a:t>2023-04-01 12:00:00+00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653527" y="2194560"/>
            <a:ext cx="1371600" cy="58521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699248" y="222199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7F3D0"/>
                </a:solidFill>
                <a:latin typeface="Courier New"/>
              </a:rPr>
              <a:t>Electronics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043416" y="2194560"/>
            <a:ext cx="1371600" cy="58521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089136" y="222199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7F3D0"/>
                </a:solidFill>
                <a:latin typeface="Courier New"/>
              </a:rPr>
              <a:t>199.99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433304" y="2194560"/>
            <a:ext cx="1371600" cy="58521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479024" y="222199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7F3D0"/>
                </a:solidFill>
                <a:latin typeface="Courier New"/>
              </a:rPr>
              <a:t>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63640" y="2816352"/>
            <a:ext cx="1371600" cy="585216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309359" y="2843784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7F3D0"/>
                </a:solidFill>
                <a:latin typeface="Courier New"/>
              </a:rPr>
              <a:t>2023-04-02 00:00:00+00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653527" y="2816352"/>
            <a:ext cx="1371600" cy="585216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699248" y="2843784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7F3D0"/>
                </a:solidFill>
                <a:latin typeface="Courier New"/>
              </a:rPr>
              <a:t>Books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043416" y="2816352"/>
            <a:ext cx="1371600" cy="585216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089136" y="2843784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7F3D0"/>
                </a:solidFill>
                <a:latin typeface="Courier New"/>
              </a:rPr>
              <a:t>20.0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433304" y="2816352"/>
            <a:ext cx="1371600" cy="585216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0479024" y="2843784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7F3D0"/>
                </a:solidFill>
                <a:latin typeface="Courier New"/>
              </a:rPr>
              <a:t>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263640" y="3438144"/>
            <a:ext cx="1371600" cy="58521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309359" y="3465576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7F3D0"/>
                </a:solidFill>
                <a:latin typeface="Courier New"/>
              </a:rPr>
              <a:t>2023-04-03 00:00:00+00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53527" y="3438144"/>
            <a:ext cx="1371600" cy="58521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699248" y="3465576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7F3D0"/>
                </a:solidFill>
                <a:latin typeface="Courier New"/>
              </a:rPr>
              <a:t>Clothing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043416" y="3438144"/>
            <a:ext cx="1371600" cy="58521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089136" y="3465576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7F3D0"/>
                </a:solidFill>
                <a:latin typeface="Courier New"/>
              </a:rPr>
              <a:t>49.99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433304" y="3438144"/>
            <a:ext cx="1371600" cy="58521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0479024" y="3465576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7F3D0"/>
                </a:solidFill>
                <a:latin typeface="Courier New"/>
              </a:rPr>
              <a:t>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263640" y="4059936"/>
            <a:ext cx="1371600" cy="585216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309359" y="408736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7F3D0"/>
                </a:solidFill>
                <a:latin typeface="Courier New"/>
              </a:rPr>
              <a:t>2023-04-04 00:00:00+00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653527" y="4059936"/>
            <a:ext cx="1371600" cy="585216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699248" y="408736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7F3D0"/>
                </a:solidFill>
                <a:latin typeface="Courier New"/>
              </a:rPr>
              <a:t>Food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043416" y="4059936"/>
            <a:ext cx="1371600" cy="585216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089136" y="408736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7F3D0"/>
                </a:solidFill>
                <a:latin typeface="Courier New"/>
              </a:rPr>
              <a:t>9.99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433304" y="4059936"/>
            <a:ext cx="1371600" cy="585216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0479024" y="408736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7F3D0"/>
                </a:solidFill>
                <a:latin typeface="Courier New"/>
              </a:rPr>
              <a:t>5 (capped)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263640" y="4681728"/>
            <a:ext cx="1371600" cy="58521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309359" y="470916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7F3D0"/>
                </a:solidFill>
                <a:latin typeface="Courier New"/>
              </a:rPr>
              <a:t>2023-04-05 08:00:00+00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653527" y="4681728"/>
            <a:ext cx="1371600" cy="58521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699248" y="470916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7F3D0"/>
                </a:solidFill>
                <a:latin typeface="Courier New"/>
              </a:rPr>
              <a:t>Furniture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043416" y="4681728"/>
            <a:ext cx="1371600" cy="58521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089136" y="470916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7F3D0"/>
                </a:solidFill>
                <a:latin typeface="Courier New"/>
              </a:rPr>
              <a:t>20.0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433304" y="4681728"/>
            <a:ext cx="1371600" cy="58521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10479024" y="470916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7F3D0"/>
                </a:solidFill>
                <a:latin typeface="Courier New"/>
              </a:rPr>
              <a:t>5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20040" y="5715000"/>
            <a:ext cx="11521440" cy="713232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02920" y="5806440"/>
            <a:ext cx="11064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B9FE8"/>
                </a:solidFill>
                <a:latin typeface="Calibri"/>
              </a:rPr>
              <a:t>🔑  Key rule: Uniform date format / Numeric prices (float) / Consistent categories / Ratings capped at valid range / No extra whitespace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SESSION 02 — 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5623560" cy="15544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02920" cy="1554480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298448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6ECC"/>
                </a:solidFill>
                <a:latin typeface="Calibri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Every AI project starts with data. Always apply the WWWWW-H framework to understand your dataset before touching the code.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188720"/>
            <a:ext cx="5623560" cy="15544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188720"/>
            <a:ext cx="502920" cy="1554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0" y="1298448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Calibri"/>
              </a:rPr>
              <a:t>EDA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73736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Never skip exploratory analysis. Visualise distributions, find patterns, and detect anomalies BEFORE modelling.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926080"/>
            <a:ext cx="5623560" cy="15544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2926080"/>
            <a:ext cx="502920" cy="1554480"/>
          </a:xfrm>
          <a:prstGeom prst="rect">
            <a:avLst/>
          </a:prstGeom>
          <a:solidFill>
            <a:srgbClr val="3B9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035808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9FE8"/>
                </a:solidFill>
                <a:latin typeface="Calibri"/>
              </a:rPr>
              <a:t>CHART CHOICE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Match your chart to your question. Distribution → Histogram. Trend → Line. Relationship → Scatter. All features → Heatmap.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926080"/>
            <a:ext cx="5623560" cy="15544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2926080"/>
            <a:ext cx="502920" cy="1554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0" y="3035808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CLEANING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47472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Dirty data = wrong AI. Handle missing values, fix data types, remove duplicates, and investigate outliers every time.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663440"/>
            <a:ext cx="5623560" cy="15544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4663440"/>
            <a:ext cx="502920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773168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12079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Always follow the 7-step cleaning pipeline: Load → Inspect → Missing → Types → Duplicates → Outliers → Validate.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663440"/>
            <a:ext cx="5623560" cy="15544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63640" y="4663440"/>
            <a:ext cx="502920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0" y="4773168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Calibri"/>
              </a:rPr>
              <a:t>MINDSET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212079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80% of real AI work is data preparation, not modelling. Master this and you are already better than most beginners.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Black"/>
              </a:rPr>
              <a:t>CHART GALLERY — ALL 6 ESSENTIAL PLOTS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3749039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3749039" cy="384048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13385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HISTOGRAM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517904"/>
            <a:ext cx="3602736" cy="1572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79" y="3163824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Calibri"/>
              </a:rPr>
              <a:t>Distribution of one
numeric variable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078992"/>
            <a:ext cx="3749039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79" y="1078992"/>
            <a:ext cx="3749039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19" y="113385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BAR CHART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1" y="1517904"/>
            <a:ext cx="3602736" cy="15727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89119" y="3163824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Calibri"/>
              </a:rPr>
              <a:t>Compare categories
or groups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19" y="1078992"/>
            <a:ext cx="3749039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19" y="1078992"/>
            <a:ext cx="3749039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59" y="113385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LINE CHART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1" y="1517904"/>
            <a:ext cx="3602736" cy="15727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66759" y="3163824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Calibri"/>
              </a:rPr>
              <a:t>Trend over time
(time series data)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867911"/>
            <a:ext cx="3749039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3867911"/>
            <a:ext cx="3749039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79" y="3922775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BOX PLOT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4306823"/>
            <a:ext cx="3602736" cy="157276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79" y="5952744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Calibri"/>
              </a:rPr>
              <a:t>Distribution +
outlier detection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79" y="3867911"/>
            <a:ext cx="3749039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7679" y="3867911"/>
            <a:ext cx="3749039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9119" y="3922775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SCATTER PLOT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0831" y="4306823"/>
            <a:ext cx="3602736" cy="15727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9119" y="5952744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Calibri"/>
              </a:rPr>
              <a:t>Relationship between
two numeric variables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19" y="3867911"/>
            <a:ext cx="3749039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75319" y="3867911"/>
            <a:ext cx="3749039" cy="3840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66759" y="3922775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HEATMAP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8471" y="4306823"/>
            <a:ext cx="3602736" cy="157276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366759" y="5952744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Calibri"/>
              </a:rPr>
              <a:t>Correlation between
all variables at once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YOUR DATASET FOR THIS SESSION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7498079" cy="52578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7498079" cy="548640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1978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 Black"/>
              </a:rPr>
              <a:t>Online Retail II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9FE8"/>
                </a:solidFill>
                <a:latin typeface="Courier New"/>
              </a:rPr>
              <a:t>kaggle.com/datasets/mashlyn/online-retail-ii-uci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395728"/>
            <a:ext cx="1645920" cy="548640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" y="2468880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2395728"/>
            <a:ext cx="5532120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40280" y="248716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UCI Machine Learning Repository / Kaggle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81528"/>
            <a:ext cx="1645920" cy="548640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" y="3154680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3081528"/>
            <a:ext cx="5532120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40280" y="317296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1,067,371 real transactions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767328"/>
            <a:ext cx="1645920" cy="548640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" y="3840480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Columns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3767328"/>
            <a:ext cx="5532120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40280" y="385876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8 columns: InvoiceNo, StockCode, Description, Quantity, InvoiceDate, UnitPrice, CustomerID, Country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453128"/>
            <a:ext cx="1645920" cy="548640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" y="4526280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Period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03120" y="4453128"/>
            <a:ext cx="5532120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240280" y="454456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December 2009 – December 2011 (2 full years)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138928"/>
            <a:ext cx="1645920" cy="548640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8912" y="5212080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Origin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5138928"/>
            <a:ext cx="5532120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240280" y="523036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UK-based online gift retailer — customers worldwide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824728"/>
            <a:ext cx="1645920" cy="548640"/>
          </a:xfrm>
          <a:prstGeom prst="rect">
            <a:avLst/>
          </a:prstGeom>
          <a:solidFill>
            <a:srgbClr val="1E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8912" y="5897880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Why perfect?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5824728"/>
            <a:ext cx="5532120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240280" y="591616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Contains ALL data issues: missing CustomerID, negative quantities, duplicates, outliers in price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2440" y="1143000"/>
            <a:ext cx="3767328" cy="52578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92440" y="1143000"/>
            <a:ext cx="3767328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75320" y="1197864"/>
            <a:ext cx="3401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HOW TO DOWNLOAD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83879" y="1828800"/>
            <a:ext cx="475488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83879" y="1828800"/>
            <a:ext cx="4754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1874519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Go to kaggle.com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221284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C5FD"/>
                </a:solidFill>
                <a:latin typeface="Calibri"/>
              </a:rPr>
              <a:t>Create a free account if you don't have one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83879" y="2715768"/>
            <a:ext cx="475488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83879" y="2715768"/>
            <a:ext cx="4754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2761487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Search for: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3099815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C5FD"/>
                </a:solidFill>
                <a:latin typeface="Calibri"/>
              </a:rPr>
              <a:t>Online Retail II UCI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83879" y="3602736"/>
            <a:ext cx="475488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83879" y="3602736"/>
            <a:ext cx="4754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3648456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Click Download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2520" y="398678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C5FD"/>
                </a:solidFill>
                <a:latin typeface="Calibri"/>
              </a:rPr>
              <a:t>Download the .xlsx file (~45MB)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83879" y="4489704"/>
            <a:ext cx="475488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183879" y="4489704"/>
            <a:ext cx="4754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2520" y="453542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Open Jupyter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487375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C5FD"/>
                </a:solidFill>
                <a:latin typeface="Calibri"/>
              </a:rPr>
              <a:t>Load with pandas read_excel()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83879" y="5376672"/>
            <a:ext cx="475488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183879" y="5376672"/>
            <a:ext cx="4754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Black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32520" y="54223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Start exploring!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32520" y="576072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C5FD"/>
                </a:solidFill>
                <a:latin typeface="Calibri"/>
              </a:rPr>
              <a:t>Run df.info() and df.describe()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6473952"/>
            <a:ext cx="11521440" cy="320040"/>
          </a:xfrm>
          <a:prstGeom prst="rect">
            <a:avLst/>
          </a:prstGeom>
          <a:solidFill>
            <a:srgbClr val="05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9FE8"/>
                </a:solidFill>
                <a:latin typeface="Courier New"/>
              </a:rPr>
              <a:t>import pandas as pd    df = pd.read_excel('online_retail_II.xlsx', sheet_name='Year 2009-2010')    print(df.shape)    df.head()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1843</TotalTime>
  <Words>2787</Words>
  <Application>Microsoft Office PowerPoint</Application>
  <PresentationFormat>Custom</PresentationFormat>
  <Paragraphs>465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Arial Black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ahmed mansouri</cp:lastModifiedBy>
  <cp:revision>7</cp:revision>
  <dcterms:created xsi:type="dcterms:W3CDTF">2013-01-27T09:14:16Z</dcterms:created>
  <dcterms:modified xsi:type="dcterms:W3CDTF">2026-03-26T21:52:32Z</dcterms:modified>
  <cp:category/>
</cp:coreProperties>
</file>
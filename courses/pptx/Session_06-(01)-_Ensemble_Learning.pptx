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snapToGrid="0" snapToObjects="1">
      <p:cViewPr varScale="1">
        <p:scale>
          <a:sx n="108" d="100"/>
          <a:sy n="108" d="100"/>
        </p:scale>
        <p:origin x="14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0" y="0"/>
            <a:ext cx="3657600" cy="514350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23960" y="0"/>
            <a:ext cx="320040"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0" y="274320"/>
            <a:ext cx="502920" cy="50292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75120" y="822960"/>
            <a:ext cx="320040" cy="32004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06640" y="365760"/>
            <a:ext cx="256032" cy="25603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32320" y="1645920"/>
            <a:ext cx="411480" cy="4114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2194560"/>
            <a:ext cx="274320" cy="27432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0" y="1828800"/>
            <a:ext cx="347472" cy="34747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0" y="2834640"/>
            <a:ext cx="292608" cy="29260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498079" y="3200400"/>
            <a:ext cx="228600" cy="2286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 y="384048"/>
            <a:ext cx="2377440" cy="30175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402336"/>
            <a:ext cx="2331720" cy="207749"/>
          </a:xfrm>
          <a:prstGeom prst="rect">
            <a:avLst/>
          </a:prstGeom>
          <a:noFill/>
        </p:spPr>
        <p:txBody>
          <a:bodyPr wrap="square">
            <a:spAutoFit/>
          </a:bodyPr>
          <a:lstStyle/>
          <a:p>
            <a:pPr algn="ctr"/>
            <a:r>
              <a:rPr sz="750" b="1" i="0" dirty="0">
                <a:solidFill>
                  <a:srgbClr val="0F1B2D"/>
                </a:solidFill>
                <a:latin typeface="Arial"/>
              </a:rPr>
              <a:t>BRAINERX  ·  AI MASTERCLASS    </a:t>
            </a:r>
          </a:p>
        </p:txBody>
      </p:sp>
      <p:sp>
        <p:nvSpPr>
          <p:cNvPr id="16" name="TextBox 15"/>
          <p:cNvSpPr txBox="1"/>
          <p:nvPr/>
        </p:nvSpPr>
        <p:spPr>
          <a:xfrm>
            <a:off x="411480" y="1417320"/>
            <a:ext cx="5303520" cy="1005840"/>
          </a:xfrm>
          <a:prstGeom prst="rect">
            <a:avLst/>
          </a:prstGeom>
          <a:noFill/>
        </p:spPr>
        <p:txBody>
          <a:bodyPr wrap="square">
            <a:spAutoFit/>
          </a:bodyPr>
          <a:lstStyle/>
          <a:p>
            <a:pPr algn="l"/>
            <a:r>
              <a:rPr sz="5800" b="1" i="0" dirty="0">
                <a:solidFill>
                  <a:srgbClr val="FFFFFF"/>
                </a:solidFill>
                <a:latin typeface="Arial Black"/>
              </a:rPr>
              <a:t>Ensemble</a:t>
            </a:r>
          </a:p>
        </p:txBody>
      </p:sp>
      <p:sp>
        <p:nvSpPr>
          <p:cNvPr id="17" name="TextBox 16"/>
          <p:cNvSpPr txBox="1"/>
          <p:nvPr/>
        </p:nvSpPr>
        <p:spPr>
          <a:xfrm>
            <a:off x="411480" y="2286000"/>
            <a:ext cx="5303520" cy="868680"/>
          </a:xfrm>
          <a:prstGeom prst="rect">
            <a:avLst/>
          </a:prstGeom>
          <a:noFill/>
        </p:spPr>
        <p:txBody>
          <a:bodyPr wrap="square">
            <a:spAutoFit/>
          </a:bodyPr>
          <a:lstStyle/>
          <a:p>
            <a:pPr algn="l"/>
            <a:r>
              <a:rPr sz="5200" b="1" i="0">
                <a:solidFill>
                  <a:srgbClr val="39D353"/>
                </a:solidFill>
                <a:latin typeface="Arial Black"/>
              </a:rPr>
              <a:t>Learning</a:t>
            </a:r>
          </a:p>
        </p:txBody>
      </p:sp>
      <p:sp>
        <p:nvSpPr>
          <p:cNvPr id="18" name="TextBox 17"/>
          <p:cNvSpPr txBox="1"/>
          <p:nvPr/>
        </p:nvSpPr>
        <p:spPr>
          <a:xfrm>
            <a:off x="411480" y="3291840"/>
            <a:ext cx="5303520" cy="365760"/>
          </a:xfrm>
          <a:prstGeom prst="rect">
            <a:avLst/>
          </a:prstGeom>
          <a:noFill/>
        </p:spPr>
        <p:txBody>
          <a:bodyPr wrap="square">
            <a:spAutoFit/>
          </a:bodyPr>
          <a:lstStyle/>
          <a:p>
            <a:pPr algn="l"/>
            <a:r>
              <a:rPr sz="1150" b="0" i="0">
                <a:solidFill>
                  <a:srgbClr val="7A92B8"/>
                </a:solidFill>
                <a:latin typeface="Calibri"/>
              </a:rPr>
              <a:t>Classification Metrics  ·  Decision Trees  ·  Random Forest  ·  XGBoost</a:t>
            </a:r>
          </a:p>
        </p:txBody>
      </p:sp>
      <p:sp>
        <p:nvSpPr>
          <p:cNvPr id="19" name="Rectangle 18"/>
          <p:cNvSpPr/>
          <p:nvPr/>
        </p:nvSpPr>
        <p:spPr>
          <a:xfrm>
            <a:off x="411480" y="3218688"/>
            <a:ext cx="4572000" cy="4572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a:t>
            </a:r>
          </a:p>
        </p:txBody>
      </p:sp>
      <p:sp>
        <p:nvSpPr>
          <p:cNvPr id="6" name="TextBox 5"/>
          <p:cNvSpPr txBox="1"/>
          <p:nvPr/>
        </p:nvSpPr>
        <p:spPr>
          <a:xfrm>
            <a:off x="274320" y="164592"/>
            <a:ext cx="8229600" cy="457200"/>
          </a:xfrm>
          <a:prstGeom prst="rect">
            <a:avLst/>
          </a:prstGeom>
          <a:noFill/>
        </p:spPr>
        <p:txBody>
          <a:bodyPr wrap="square">
            <a:spAutoFit/>
          </a:bodyPr>
          <a:lstStyle/>
          <a:p>
            <a:pPr algn="l"/>
            <a:r>
              <a:rPr sz="3000" b="1" i="0">
                <a:solidFill>
                  <a:srgbClr val="FFFFFF"/>
                </a:solidFill>
                <a:latin typeface="Calibri"/>
              </a:rPr>
              <a:t>What We'll Cover Today</a:t>
            </a:r>
          </a:p>
        </p:txBody>
      </p:sp>
      <p:sp>
        <p:nvSpPr>
          <p:cNvPr id="7" name="TextBox 6"/>
          <p:cNvSpPr txBox="1"/>
          <p:nvPr/>
        </p:nvSpPr>
        <p:spPr>
          <a:xfrm>
            <a:off x="274320" y="640080"/>
            <a:ext cx="8229600" cy="274320"/>
          </a:xfrm>
          <a:prstGeom prst="rect">
            <a:avLst/>
          </a:prstGeom>
          <a:noFill/>
        </p:spPr>
        <p:txBody>
          <a:bodyPr wrap="square">
            <a:spAutoFit/>
          </a:bodyPr>
          <a:lstStyle/>
          <a:p>
            <a:pPr algn="l"/>
            <a:r>
              <a:rPr sz="1100" b="0" i="0">
                <a:solidFill>
                  <a:srgbClr val="7A92B8"/>
                </a:solidFill>
                <a:latin typeface="Calibri"/>
              </a:rPr>
              <a:t>A full deep-dive into classification evaluation, trees, and ensemble methods</a:t>
            </a:r>
          </a:p>
        </p:txBody>
      </p:sp>
      <p:sp>
        <p:nvSpPr>
          <p:cNvPr id="8" name="Rectangle 7"/>
          <p:cNvSpPr/>
          <p:nvPr/>
        </p:nvSpPr>
        <p:spPr>
          <a:xfrm>
            <a:off x="274320" y="10972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97280"/>
            <a:ext cx="50292" cy="77724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52144"/>
            <a:ext cx="548640" cy="384048"/>
          </a:xfrm>
          <a:prstGeom prst="rect">
            <a:avLst/>
          </a:prstGeom>
          <a:noFill/>
        </p:spPr>
        <p:txBody>
          <a:bodyPr wrap="square">
            <a:spAutoFit/>
          </a:bodyPr>
          <a:lstStyle/>
          <a:p>
            <a:pPr algn="l"/>
            <a:r>
              <a:rPr sz="1700" b="1" i="0">
                <a:solidFill>
                  <a:srgbClr val="00C2CB"/>
                </a:solidFill>
                <a:latin typeface="Calibri"/>
              </a:rPr>
              <a:t>01</a:t>
            </a:r>
          </a:p>
        </p:txBody>
      </p:sp>
      <p:sp>
        <p:nvSpPr>
          <p:cNvPr id="11" name="TextBox 10"/>
          <p:cNvSpPr txBox="1"/>
          <p:nvPr/>
        </p:nvSpPr>
        <p:spPr>
          <a:xfrm>
            <a:off x="1051560" y="1152144"/>
            <a:ext cx="3200400" cy="292608"/>
          </a:xfrm>
          <a:prstGeom prst="rect">
            <a:avLst/>
          </a:prstGeom>
          <a:noFill/>
        </p:spPr>
        <p:txBody>
          <a:bodyPr wrap="square">
            <a:spAutoFit/>
          </a:bodyPr>
          <a:lstStyle/>
          <a:p>
            <a:pPr algn="l"/>
            <a:r>
              <a:rPr sz="1250" b="1" i="0">
                <a:solidFill>
                  <a:srgbClr val="FFFFFF"/>
                </a:solidFill>
                <a:latin typeface="Calibri"/>
              </a:rPr>
              <a:t>Classification Evaluation</a:t>
            </a:r>
          </a:p>
        </p:txBody>
      </p:sp>
      <p:sp>
        <p:nvSpPr>
          <p:cNvPr id="12" name="TextBox 11"/>
          <p:cNvSpPr txBox="1"/>
          <p:nvPr/>
        </p:nvSpPr>
        <p:spPr>
          <a:xfrm>
            <a:off x="1051560" y="1481328"/>
            <a:ext cx="3200400" cy="347472"/>
          </a:xfrm>
          <a:prstGeom prst="rect">
            <a:avLst/>
          </a:prstGeom>
          <a:noFill/>
        </p:spPr>
        <p:txBody>
          <a:bodyPr wrap="square">
            <a:spAutoFit/>
          </a:bodyPr>
          <a:lstStyle/>
          <a:p>
            <a:pPr algn="l"/>
            <a:r>
              <a:rPr sz="900" b="0" i="0">
                <a:solidFill>
                  <a:srgbClr val="7A92B8"/>
                </a:solidFill>
                <a:latin typeface="Calibri"/>
              </a:rPr>
              <a:t>Confusion Matrix, Precision, Recall, F1-Score — how to measure a model</a:t>
            </a:r>
          </a:p>
        </p:txBody>
      </p:sp>
      <p:sp>
        <p:nvSpPr>
          <p:cNvPr id="13" name="Rectangle 12"/>
          <p:cNvSpPr/>
          <p:nvPr/>
        </p:nvSpPr>
        <p:spPr>
          <a:xfrm>
            <a:off x="274320" y="20116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011680"/>
            <a:ext cx="50292" cy="77724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 y="2066544"/>
            <a:ext cx="548640" cy="384048"/>
          </a:xfrm>
          <a:prstGeom prst="rect">
            <a:avLst/>
          </a:prstGeom>
          <a:noFill/>
        </p:spPr>
        <p:txBody>
          <a:bodyPr wrap="square">
            <a:spAutoFit/>
          </a:bodyPr>
          <a:lstStyle/>
          <a:p>
            <a:pPr algn="l"/>
            <a:r>
              <a:rPr sz="1700" b="1" i="0">
                <a:solidFill>
                  <a:srgbClr val="39D353"/>
                </a:solidFill>
                <a:latin typeface="Calibri"/>
              </a:rPr>
              <a:t>02</a:t>
            </a:r>
          </a:p>
        </p:txBody>
      </p:sp>
      <p:sp>
        <p:nvSpPr>
          <p:cNvPr id="16" name="TextBox 15"/>
          <p:cNvSpPr txBox="1"/>
          <p:nvPr/>
        </p:nvSpPr>
        <p:spPr>
          <a:xfrm>
            <a:off x="1051560" y="2066544"/>
            <a:ext cx="3200400" cy="292608"/>
          </a:xfrm>
          <a:prstGeom prst="rect">
            <a:avLst/>
          </a:prstGeom>
          <a:noFill/>
        </p:spPr>
        <p:txBody>
          <a:bodyPr wrap="square">
            <a:spAutoFit/>
          </a:bodyPr>
          <a:lstStyle/>
          <a:p>
            <a:pPr algn="l"/>
            <a:r>
              <a:rPr sz="1250" b="1" i="0">
                <a:solidFill>
                  <a:srgbClr val="FFFFFF"/>
                </a:solidFill>
                <a:latin typeface="Calibri"/>
              </a:rPr>
              <a:t>Decision Trees</a:t>
            </a:r>
          </a:p>
        </p:txBody>
      </p:sp>
      <p:sp>
        <p:nvSpPr>
          <p:cNvPr id="17" name="TextBox 16"/>
          <p:cNvSpPr txBox="1"/>
          <p:nvPr/>
        </p:nvSpPr>
        <p:spPr>
          <a:xfrm>
            <a:off x="1051560" y="2395728"/>
            <a:ext cx="3200400" cy="347472"/>
          </a:xfrm>
          <a:prstGeom prst="rect">
            <a:avLst/>
          </a:prstGeom>
          <a:noFill/>
        </p:spPr>
        <p:txBody>
          <a:bodyPr wrap="square">
            <a:spAutoFit/>
          </a:bodyPr>
          <a:lstStyle/>
          <a:p>
            <a:pPr algn="l"/>
            <a:r>
              <a:rPr sz="900" b="0" i="0">
                <a:solidFill>
                  <a:srgbClr val="7A92B8"/>
                </a:solidFill>
                <a:latin typeface="Calibri"/>
              </a:rPr>
              <a:t>How trees think, Gini Impurity, Entropy, manual construction step-by-step</a:t>
            </a:r>
          </a:p>
        </p:txBody>
      </p:sp>
      <p:sp>
        <p:nvSpPr>
          <p:cNvPr id="18" name="Rectangle 17"/>
          <p:cNvSpPr/>
          <p:nvPr/>
        </p:nvSpPr>
        <p:spPr>
          <a:xfrm>
            <a:off x="274320" y="29260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926080"/>
            <a:ext cx="50292" cy="7772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 y="2980944"/>
            <a:ext cx="548640" cy="384048"/>
          </a:xfrm>
          <a:prstGeom prst="rect">
            <a:avLst/>
          </a:prstGeom>
          <a:noFill/>
        </p:spPr>
        <p:txBody>
          <a:bodyPr wrap="square">
            <a:spAutoFit/>
          </a:bodyPr>
          <a:lstStyle/>
          <a:p>
            <a:pPr algn="l"/>
            <a:r>
              <a:rPr sz="1700" b="1" i="0">
                <a:solidFill>
                  <a:srgbClr val="FFC400"/>
                </a:solidFill>
                <a:latin typeface="Calibri"/>
              </a:rPr>
              <a:t>03</a:t>
            </a:r>
          </a:p>
        </p:txBody>
      </p:sp>
      <p:sp>
        <p:nvSpPr>
          <p:cNvPr id="21" name="TextBox 20"/>
          <p:cNvSpPr txBox="1"/>
          <p:nvPr/>
        </p:nvSpPr>
        <p:spPr>
          <a:xfrm>
            <a:off x="1051560" y="2980944"/>
            <a:ext cx="3200400" cy="292608"/>
          </a:xfrm>
          <a:prstGeom prst="rect">
            <a:avLst/>
          </a:prstGeom>
          <a:noFill/>
        </p:spPr>
        <p:txBody>
          <a:bodyPr wrap="square">
            <a:spAutoFit/>
          </a:bodyPr>
          <a:lstStyle/>
          <a:p>
            <a:pPr algn="l"/>
            <a:r>
              <a:rPr sz="1250" b="1" i="0">
                <a:solidFill>
                  <a:srgbClr val="FFFFFF"/>
                </a:solidFill>
                <a:latin typeface="Calibri"/>
              </a:rPr>
              <a:t>Overfitting &amp; Variance</a:t>
            </a:r>
          </a:p>
        </p:txBody>
      </p:sp>
      <p:sp>
        <p:nvSpPr>
          <p:cNvPr id="22" name="TextBox 21"/>
          <p:cNvSpPr txBox="1"/>
          <p:nvPr/>
        </p:nvSpPr>
        <p:spPr>
          <a:xfrm>
            <a:off x="1051560" y="3310128"/>
            <a:ext cx="3200400" cy="347472"/>
          </a:xfrm>
          <a:prstGeom prst="rect">
            <a:avLst/>
          </a:prstGeom>
          <a:noFill/>
        </p:spPr>
        <p:txBody>
          <a:bodyPr wrap="square">
            <a:spAutoFit/>
          </a:bodyPr>
          <a:lstStyle/>
          <a:p>
            <a:pPr algn="l"/>
            <a:r>
              <a:rPr sz="900" b="0" i="0">
                <a:solidFill>
                  <a:srgbClr val="7A92B8"/>
                </a:solidFill>
                <a:latin typeface="Calibri"/>
              </a:rPr>
              <a:t>Why trees fail alone and why we need ensemble methods</a:t>
            </a:r>
          </a:p>
        </p:txBody>
      </p:sp>
      <p:sp>
        <p:nvSpPr>
          <p:cNvPr id="23" name="Rectangle 22"/>
          <p:cNvSpPr/>
          <p:nvPr/>
        </p:nvSpPr>
        <p:spPr>
          <a:xfrm>
            <a:off x="274320" y="38404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840480"/>
            <a:ext cx="50292" cy="77724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8912" y="3895344"/>
            <a:ext cx="548640" cy="384048"/>
          </a:xfrm>
          <a:prstGeom prst="rect">
            <a:avLst/>
          </a:prstGeom>
          <a:noFill/>
        </p:spPr>
        <p:txBody>
          <a:bodyPr wrap="square">
            <a:spAutoFit/>
          </a:bodyPr>
          <a:lstStyle/>
          <a:p>
            <a:pPr algn="l"/>
            <a:r>
              <a:rPr sz="1700" b="1" i="0">
                <a:solidFill>
                  <a:srgbClr val="FF4D88"/>
                </a:solidFill>
                <a:latin typeface="Calibri"/>
              </a:rPr>
              <a:t>04</a:t>
            </a:r>
          </a:p>
        </p:txBody>
      </p:sp>
      <p:sp>
        <p:nvSpPr>
          <p:cNvPr id="26" name="TextBox 25"/>
          <p:cNvSpPr txBox="1"/>
          <p:nvPr/>
        </p:nvSpPr>
        <p:spPr>
          <a:xfrm>
            <a:off x="1051560" y="3895344"/>
            <a:ext cx="3200400" cy="292608"/>
          </a:xfrm>
          <a:prstGeom prst="rect">
            <a:avLst/>
          </a:prstGeom>
          <a:noFill/>
        </p:spPr>
        <p:txBody>
          <a:bodyPr wrap="square">
            <a:spAutoFit/>
          </a:bodyPr>
          <a:lstStyle/>
          <a:p>
            <a:pPr algn="l"/>
            <a:r>
              <a:rPr sz="1250" b="1" i="0">
                <a:solidFill>
                  <a:srgbClr val="FFFFFF"/>
                </a:solidFill>
                <a:latin typeface="Calibri"/>
              </a:rPr>
              <a:t>Ensemble Learning</a:t>
            </a:r>
          </a:p>
        </p:txBody>
      </p:sp>
      <p:sp>
        <p:nvSpPr>
          <p:cNvPr id="27" name="TextBox 26"/>
          <p:cNvSpPr txBox="1"/>
          <p:nvPr/>
        </p:nvSpPr>
        <p:spPr>
          <a:xfrm>
            <a:off x="1051560" y="4224528"/>
            <a:ext cx="3200400" cy="347472"/>
          </a:xfrm>
          <a:prstGeom prst="rect">
            <a:avLst/>
          </a:prstGeom>
          <a:noFill/>
        </p:spPr>
        <p:txBody>
          <a:bodyPr wrap="square">
            <a:spAutoFit/>
          </a:bodyPr>
          <a:lstStyle/>
          <a:p>
            <a:pPr algn="l"/>
            <a:r>
              <a:rPr sz="900" b="0" i="0">
                <a:solidFill>
                  <a:srgbClr val="7A92B8"/>
                </a:solidFill>
                <a:latin typeface="Calibri"/>
              </a:rPr>
              <a:t>Bagging, Boosting, Stacking — the three pillars</a:t>
            </a:r>
          </a:p>
        </p:txBody>
      </p:sp>
      <p:sp>
        <p:nvSpPr>
          <p:cNvPr id="28" name="Rectangle 27"/>
          <p:cNvSpPr/>
          <p:nvPr/>
        </p:nvSpPr>
        <p:spPr>
          <a:xfrm>
            <a:off x="4754880" y="10972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54880" y="1097280"/>
            <a:ext cx="50292" cy="77724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19472" y="1152144"/>
            <a:ext cx="548640" cy="384048"/>
          </a:xfrm>
          <a:prstGeom prst="rect">
            <a:avLst/>
          </a:prstGeom>
          <a:noFill/>
        </p:spPr>
        <p:txBody>
          <a:bodyPr wrap="square">
            <a:spAutoFit/>
          </a:bodyPr>
          <a:lstStyle/>
          <a:p>
            <a:pPr algn="l"/>
            <a:r>
              <a:rPr sz="1700" b="1" i="0">
                <a:solidFill>
                  <a:srgbClr val="00C2CB"/>
                </a:solidFill>
                <a:latin typeface="Calibri"/>
              </a:rPr>
              <a:t>05</a:t>
            </a:r>
          </a:p>
        </p:txBody>
      </p:sp>
      <p:sp>
        <p:nvSpPr>
          <p:cNvPr id="31" name="TextBox 30"/>
          <p:cNvSpPr txBox="1"/>
          <p:nvPr/>
        </p:nvSpPr>
        <p:spPr>
          <a:xfrm>
            <a:off x="5532120" y="1152144"/>
            <a:ext cx="3200400" cy="292608"/>
          </a:xfrm>
          <a:prstGeom prst="rect">
            <a:avLst/>
          </a:prstGeom>
          <a:noFill/>
        </p:spPr>
        <p:txBody>
          <a:bodyPr wrap="square">
            <a:spAutoFit/>
          </a:bodyPr>
          <a:lstStyle/>
          <a:p>
            <a:pPr algn="l"/>
            <a:r>
              <a:rPr sz="1250" b="1" i="0">
                <a:solidFill>
                  <a:srgbClr val="FFFFFF"/>
                </a:solidFill>
                <a:latin typeface="Calibri"/>
              </a:rPr>
              <a:t>Random Forest</a:t>
            </a:r>
          </a:p>
        </p:txBody>
      </p:sp>
      <p:sp>
        <p:nvSpPr>
          <p:cNvPr id="32" name="TextBox 31"/>
          <p:cNvSpPr txBox="1"/>
          <p:nvPr/>
        </p:nvSpPr>
        <p:spPr>
          <a:xfrm>
            <a:off x="5532120" y="1481328"/>
            <a:ext cx="3200400" cy="347472"/>
          </a:xfrm>
          <a:prstGeom prst="rect">
            <a:avLst/>
          </a:prstGeom>
          <a:noFill/>
        </p:spPr>
        <p:txBody>
          <a:bodyPr wrap="square">
            <a:spAutoFit/>
          </a:bodyPr>
          <a:lstStyle/>
          <a:p>
            <a:pPr algn="l"/>
            <a:r>
              <a:rPr sz="900" b="0" i="0">
                <a:solidFill>
                  <a:srgbClr val="7A92B8"/>
                </a:solidFill>
                <a:latin typeface="Calibri"/>
              </a:rPr>
              <a:t>Bootstrap sampling, feature randomness, feature importance</a:t>
            </a:r>
          </a:p>
        </p:txBody>
      </p:sp>
      <p:sp>
        <p:nvSpPr>
          <p:cNvPr id="33" name="Rectangle 32"/>
          <p:cNvSpPr/>
          <p:nvPr/>
        </p:nvSpPr>
        <p:spPr>
          <a:xfrm>
            <a:off x="4754880" y="20116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54880" y="2011680"/>
            <a:ext cx="50292" cy="77724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19472" y="2066544"/>
            <a:ext cx="548640" cy="384048"/>
          </a:xfrm>
          <a:prstGeom prst="rect">
            <a:avLst/>
          </a:prstGeom>
          <a:noFill/>
        </p:spPr>
        <p:txBody>
          <a:bodyPr wrap="square">
            <a:spAutoFit/>
          </a:bodyPr>
          <a:lstStyle/>
          <a:p>
            <a:pPr algn="l"/>
            <a:r>
              <a:rPr sz="1700" b="1" i="0">
                <a:solidFill>
                  <a:srgbClr val="39D353"/>
                </a:solidFill>
                <a:latin typeface="Calibri"/>
              </a:rPr>
              <a:t>06</a:t>
            </a:r>
          </a:p>
        </p:txBody>
      </p:sp>
      <p:sp>
        <p:nvSpPr>
          <p:cNvPr id="36" name="TextBox 35"/>
          <p:cNvSpPr txBox="1"/>
          <p:nvPr/>
        </p:nvSpPr>
        <p:spPr>
          <a:xfrm>
            <a:off x="5532120" y="2066544"/>
            <a:ext cx="3200400" cy="292608"/>
          </a:xfrm>
          <a:prstGeom prst="rect">
            <a:avLst/>
          </a:prstGeom>
          <a:noFill/>
        </p:spPr>
        <p:txBody>
          <a:bodyPr wrap="square">
            <a:spAutoFit/>
          </a:bodyPr>
          <a:lstStyle/>
          <a:p>
            <a:pPr algn="l"/>
            <a:r>
              <a:rPr sz="1250" b="1" i="0">
                <a:solidFill>
                  <a:srgbClr val="FFFFFF"/>
                </a:solidFill>
                <a:latin typeface="Calibri"/>
              </a:rPr>
              <a:t>XGBoost</a:t>
            </a:r>
          </a:p>
        </p:txBody>
      </p:sp>
      <p:sp>
        <p:nvSpPr>
          <p:cNvPr id="37" name="TextBox 36"/>
          <p:cNvSpPr txBox="1"/>
          <p:nvPr/>
        </p:nvSpPr>
        <p:spPr>
          <a:xfrm>
            <a:off x="5532120" y="2395728"/>
            <a:ext cx="3200400" cy="347472"/>
          </a:xfrm>
          <a:prstGeom prst="rect">
            <a:avLst/>
          </a:prstGeom>
          <a:noFill/>
        </p:spPr>
        <p:txBody>
          <a:bodyPr wrap="square">
            <a:spAutoFit/>
          </a:bodyPr>
          <a:lstStyle/>
          <a:p>
            <a:pPr algn="l"/>
            <a:r>
              <a:rPr sz="900" b="0" i="0">
                <a:solidFill>
                  <a:srgbClr val="7A92B8"/>
                </a:solidFill>
                <a:latin typeface="Calibri"/>
              </a:rPr>
              <a:t>Sequential boosting, gradient correction, hyperparameters</a:t>
            </a:r>
          </a:p>
        </p:txBody>
      </p:sp>
      <p:sp>
        <p:nvSpPr>
          <p:cNvPr id="38" name="Rectangle 37"/>
          <p:cNvSpPr/>
          <p:nvPr/>
        </p:nvSpPr>
        <p:spPr>
          <a:xfrm>
            <a:off x="4754880" y="29260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754880" y="2926080"/>
            <a:ext cx="50292" cy="7772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19472" y="2980944"/>
            <a:ext cx="548640" cy="384048"/>
          </a:xfrm>
          <a:prstGeom prst="rect">
            <a:avLst/>
          </a:prstGeom>
          <a:noFill/>
        </p:spPr>
        <p:txBody>
          <a:bodyPr wrap="square">
            <a:spAutoFit/>
          </a:bodyPr>
          <a:lstStyle/>
          <a:p>
            <a:pPr algn="l"/>
            <a:r>
              <a:rPr sz="1700" b="1" i="0">
                <a:solidFill>
                  <a:srgbClr val="FFC400"/>
                </a:solidFill>
                <a:latin typeface="Calibri"/>
              </a:rPr>
              <a:t>07</a:t>
            </a:r>
          </a:p>
        </p:txBody>
      </p:sp>
      <p:sp>
        <p:nvSpPr>
          <p:cNvPr id="41" name="TextBox 40"/>
          <p:cNvSpPr txBox="1"/>
          <p:nvPr/>
        </p:nvSpPr>
        <p:spPr>
          <a:xfrm>
            <a:off x="5532120" y="2980944"/>
            <a:ext cx="3200400" cy="292608"/>
          </a:xfrm>
          <a:prstGeom prst="rect">
            <a:avLst/>
          </a:prstGeom>
          <a:noFill/>
        </p:spPr>
        <p:txBody>
          <a:bodyPr wrap="square">
            <a:spAutoFit/>
          </a:bodyPr>
          <a:lstStyle/>
          <a:p>
            <a:pPr algn="l"/>
            <a:r>
              <a:rPr sz="1250" b="1" i="0">
                <a:solidFill>
                  <a:srgbClr val="FFFFFF"/>
                </a:solidFill>
                <a:latin typeface="Calibri"/>
              </a:rPr>
              <a:t>Model Comparison</a:t>
            </a:r>
          </a:p>
        </p:txBody>
      </p:sp>
      <p:sp>
        <p:nvSpPr>
          <p:cNvPr id="42" name="TextBox 41"/>
          <p:cNvSpPr txBox="1"/>
          <p:nvPr/>
        </p:nvSpPr>
        <p:spPr>
          <a:xfrm>
            <a:off x="5532120" y="3310128"/>
            <a:ext cx="3200400" cy="347472"/>
          </a:xfrm>
          <a:prstGeom prst="rect">
            <a:avLst/>
          </a:prstGeom>
          <a:noFill/>
        </p:spPr>
        <p:txBody>
          <a:bodyPr wrap="square">
            <a:spAutoFit/>
          </a:bodyPr>
          <a:lstStyle/>
          <a:p>
            <a:pPr algn="l"/>
            <a:r>
              <a:rPr sz="900" b="0" i="0">
                <a:solidFill>
                  <a:srgbClr val="7A92B8"/>
                </a:solidFill>
                <a:latin typeface="Calibri"/>
              </a:rPr>
              <a:t>When to use which model and why</a:t>
            </a:r>
          </a:p>
        </p:txBody>
      </p:sp>
      <p:sp>
        <p:nvSpPr>
          <p:cNvPr id="43" name="Rectangle 42"/>
          <p:cNvSpPr/>
          <p:nvPr/>
        </p:nvSpPr>
        <p:spPr>
          <a:xfrm>
            <a:off x="4754880" y="3840480"/>
            <a:ext cx="4160520"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754880" y="3840480"/>
            <a:ext cx="50292" cy="77724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19472" y="3895344"/>
            <a:ext cx="548640" cy="384048"/>
          </a:xfrm>
          <a:prstGeom prst="rect">
            <a:avLst/>
          </a:prstGeom>
          <a:noFill/>
        </p:spPr>
        <p:txBody>
          <a:bodyPr wrap="square">
            <a:spAutoFit/>
          </a:bodyPr>
          <a:lstStyle/>
          <a:p>
            <a:pPr algn="l"/>
            <a:r>
              <a:rPr sz="1700" b="1" i="0">
                <a:solidFill>
                  <a:srgbClr val="FF4D88"/>
                </a:solidFill>
                <a:latin typeface="Calibri"/>
              </a:rPr>
              <a:t>08</a:t>
            </a:r>
          </a:p>
        </p:txBody>
      </p:sp>
      <p:sp>
        <p:nvSpPr>
          <p:cNvPr id="46" name="TextBox 45"/>
          <p:cNvSpPr txBox="1"/>
          <p:nvPr/>
        </p:nvSpPr>
        <p:spPr>
          <a:xfrm>
            <a:off x="5532120" y="3895344"/>
            <a:ext cx="3200400" cy="292608"/>
          </a:xfrm>
          <a:prstGeom prst="rect">
            <a:avLst/>
          </a:prstGeom>
          <a:noFill/>
        </p:spPr>
        <p:txBody>
          <a:bodyPr wrap="square">
            <a:spAutoFit/>
          </a:bodyPr>
          <a:lstStyle/>
          <a:p>
            <a:pPr algn="l"/>
            <a:r>
              <a:rPr sz="1250" b="1" i="0">
                <a:solidFill>
                  <a:srgbClr val="FFFFFF"/>
                </a:solidFill>
                <a:latin typeface="Calibri"/>
              </a:rPr>
              <a:t>Summary &amp; Cheatsheet</a:t>
            </a:r>
          </a:p>
        </p:txBody>
      </p:sp>
      <p:sp>
        <p:nvSpPr>
          <p:cNvPr id="47" name="TextBox 46"/>
          <p:cNvSpPr txBox="1"/>
          <p:nvPr/>
        </p:nvSpPr>
        <p:spPr>
          <a:xfrm>
            <a:off x="5532120" y="4224528"/>
            <a:ext cx="3200400" cy="347472"/>
          </a:xfrm>
          <a:prstGeom prst="rect">
            <a:avLst/>
          </a:prstGeom>
          <a:noFill/>
        </p:spPr>
        <p:txBody>
          <a:bodyPr wrap="square">
            <a:spAutoFit/>
          </a:bodyPr>
          <a:lstStyle/>
          <a:p>
            <a:pPr algn="l"/>
            <a:r>
              <a:rPr sz="900" b="0" i="0">
                <a:solidFill>
                  <a:srgbClr val="7A92B8"/>
                </a:solidFill>
                <a:latin typeface="Calibri"/>
              </a:rPr>
              <a:t>Everything on one page — formulas, rules, tips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00C2CB"/>
                </a:solidFill>
                <a:latin typeface="Arial Black"/>
              </a:rPr>
              <a:t>01</a:t>
            </a:r>
          </a:p>
        </p:txBody>
      </p:sp>
      <p:sp>
        <p:nvSpPr>
          <p:cNvPr id="5" name="TextBox 4"/>
          <p:cNvSpPr txBox="1"/>
          <p:nvPr/>
        </p:nvSpPr>
        <p:spPr>
          <a:xfrm>
            <a:off x="457200" y="3200400"/>
            <a:ext cx="5486400" cy="731520"/>
          </a:xfrm>
          <a:prstGeom prst="rect">
            <a:avLst/>
          </a:prstGeom>
          <a:noFill/>
        </p:spPr>
        <p:txBody>
          <a:bodyPr wrap="square">
            <a:spAutoFit/>
          </a:bodyPr>
          <a:lstStyle/>
          <a:p>
            <a:pPr algn="l"/>
            <a:r>
              <a:rPr sz="3400" b="1" i="0">
                <a:solidFill>
                  <a:srgbClr val="FFFFFF"/>
                </a:solidFill>
                <a:latin typeface="Calibri"/>
              </a:rPr>
              <a:t>Classification Evaluation</a:t>
            </a:r>
          </a:p>
        </p:txBody>
      </p:sp>
      <p:sp>
        <p:nvSpPr>
          <p:cNvPr id="6" name="Rectangle 5"/>
          <p:cNvSpPr/>
          <p:nvPr/>
        </p:nvSpPr>
        <p:spPr>
          <a:xfrm>
            <a:off x="457200" y="3063240"/>
            <a:ext cx="3657600"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4023360"/>
            <a:ext cx="5486400" cy="365760"/>
          </a:xfrm>
          <a:prstGeom prst="rect">
            <a:avLst/>
          </a:prstGeom>
          <a:noFill/>
        </p:spPr>
        <p:txBody>
          <a:bodyPr wrap="square">
            <a:spAutoFit/>
          </a:bodyPr>
          <a:lstStyle/>
          <a:p>
            <a:pPr algn="l"/>
            <a:r>
              <a:rPr sz="1100" b="0" i="0">
                <a:solidFill>
                  <a:srgbClr val="7A92B8"/>
                </a:solidFill>
                <a:latin typeface="Calibri"/>
              </a:rPr>
              <a:t>BrainerX  ·  AI Masterclass  ·  Session 7</a:t>
            </a: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88"/>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a:t>
            </a:r>
          </a:p>
        </p:txBody>
      </p:sp>
      <p:sp>
        <p:nvSpPr>
          <p:cNvPr id="6" name="TextBox 5"/>
          <p:cNvSpPr txBox="1"/>
          <p:nvPr/>
        </p:nvSpPr>
        <p:spPr>
          <a:xfrm>
            <a:off x="274320" y="164592"/>
            <a:ext cx="8229600" cy="457200"/>
          </a:xfrm>
          <a:prstGeom prst="rect">
            <a:avLst/>
          </a:prstGeom>
          <a:noFill/>
        </p:spPr>
        <p:txBody>
          <a:bodyPr wrap="square">
            <a:spAutoFit/>
          </a:bodyPr>
          <a:lstStyle/>
          <a:p>
            <a:pPr algn="l"/>
            <a:r>
              <a:rPr sz="2700" b="1" i="0">
                <a:solidFill>
                  <a:srgbClr val="FFFFFF"/>
                </a:solidFill>
                <a:latin typeface="Calibri"/>
              </a:rPr>
              <a:t>Why Accuracy Alone Is NOT Enough</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1">
                <a:solidFill>
                  <a:srgbClr val="00C2CB"/>
                </a:solidFill>
                <a:latin typeface="Calibri"/>
              </a:rPr>
              <a:t>The most dangerous metric in Machine Learning</a:t>
            </a:r>
          </a:p>
        </p:txBody>
      </p:sp>
      <p:sp>
        <p:nvSpPr>
          <p:cNvPr id="8" name="Rectangle 7"/>
          <p:cNvSpPr/>
          <p:nvPr/>
        </p:nvSpPr>
        <p:spPr>
          <a:xfrm>
            <a:off x="274320" y="960120"/>
            <a:ext cx="5029200" cy="26824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5029200" cy="5029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51560"/>
            <a:ext cx="4663440" cy="365760"/>
          </a:xfrm>
          <a:prstGeom prst="rect">
            <a:avLst/>
          </a:prstGeom>
          <a:noFill/>
        </p:spPr>
        <p:txBody>
          <a:bodyPr wrap="square">
            <a:spAutoFit/>
          </a:bodyPr>
          <a:lstStyle/>
          <a:p>
            <a:pPr algn="l"/>
            <a:r>
              <a:rPr sz="1300" b="1" i="0">
                <a:solidFill>
                  <a:srgbClr val="FF4B4B"/>
                </a:solidFill>
                <a:latin typeface="Calibri"/>
              </a:rPr>
              <a:t>🔴  The Fraud Detection Problem</a:t>
            </a:r>
          </a:p>
        </p:txBody>
      </p:sp>
      <p:sp>
        <p:nvSpPr>
          <p:cNvPr id="11" name="TextBox 10"/>
          <p:cNvSpPr txBox="1"/>
          <p:nvPr/>
        </p:nvSpPr>
        <p:spPr>
          <a:xfrm>
            <a:off x="457200" y="1406335"/>
            <a:ext cx="4754880" cy="1828800"/>
          </a:xfrm>
          <a:prstGeom prst="rect">
            <a:avLst/>
          </a:prstGeom>
          <a:noFill/>
        </p:spPr>
        <p:txBody>
          <a:bodyPr wrap="square">
            <a:spAutoFit/>
          </a:bodyPr>
          <a:lstStyle/>
          <a:p>
            <a:pPr algn="l">
              <a:spcAft>
                <a:spcPts val="200"/>
              </a:spcAft>
            </a:pPr>
            <a:r>
              <a:rPr sz="1100" b="0">
                <a:solidFill>
                  <a:srgbClr val="FFFFFF"/>
                </a:solidFill>
                <a:latin typeface="Calibri"/>
              </a:rPr>
              <a:t>Imagine a fraud detection model:</a:t>
            </a:r>
          </a:p>
          <a:p>
            <a:pPr algn="l">
              <a:spcAft>
                <a:spcPts val="200"/>
              </a:spcAft>
            </a:pPr>
            <a:r>
              <a:rPr sz="1100" b="0">
                <a:solidFill>
                  <a:srgbClr val="FFFFFF"/>
                </a:solidFill>
                <a:latin typeface="Calibri"/>
              </a:rPr>
              <a:t>  • 100,000 transactions in the test set</a:t>
            </a:r>
          </a:p>
          <a:p>
            <a:pPr algn="l">
              <a:spcAft>
                <a:spcPts val="200"/>
              </a:spcAft>
            </a:pPr>
            <a:r>
              <a:rPr sz="1100" b="0">
                <a:solidFill>
                  <a:srgbClr val="FFFFFF"/>
                </a:solidFill>
                <a:latin typeface="Calibri"/>
              </a:rPr>
              <a:t>  • 99,800 are legitimate (normal)</a:t>
            </a:r>
          </a:p>
          <a:p>
            <a:pPr algn="l">
              <a:spcAft>
                <a:spcPts val="200"/>
              </a:spcAft>
            </a:pPr>
            <a:r>
              <a:rPr sz="1100" b="0">
                <a:solidFill>
                  <a:srgbClr val="FFFFFF"/>
                </a:solidFill>
                <a:latin typeface="Calibri"/>
              </a:rPr>
              <a:t>  • 200 are fraudulent (positive class)</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A dumb model that predicts 'NOT FRAUD' for everything:</a:t>
            </a:r>
          </a:p>
          <a:p>
            <a:pPr algn="l">
              <a:spcAft>
                <a:spcPts val="200"/>
              </a:spcAft>
            </a:pPr>
            <a:r>
              <a:rPr sz="1100" b="0">
                <a:solidFill>
                  <a:srgbClr val="FFFFFF"/>
                </a:solidFill>
                <a:latin typeface="Calibri"/>
              </a:rPr>
              <a:t>  → Accuracy = 99,800 / 100,000 = 99.8%  ← looks amazing!</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But it caught ZERO fraudulent transactions.</a:t>
            </a:r>
          </a:p>
          <a:p>
            <a:pPr algn="l">
              <a:spcAft>
                <a:spcPts val="200"/>
              </a:spcAft>
            </a:pPr>
            <a:r>
              <a:rPr sz="1100" b="0">
                <a:solidFill>
                  <a:srgbClr val="FFFFFF"/>
                </a:solidFill>
                <a:latin typeface="Calibri"/>
              </a:rPr>
              <a:t>This model is completely useless — yet 99.8% accurate!</a:t>
            </a:r>
          </a:p>
        </p:txBody>
      </p:sp>
      <p:sp>
        <p:nvSpPr>
          <p:cNvPr id="12" name="Rectangle 11"/>
          <p:cNvSpPr/>
          <p:nvPr/>
        </p:nvSpPr>
        <p:spPr>
          <a:xfrm>
            <a:off x="5486400" y="960120"/>
            <a:ext cx="3383280" cy="26824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0" y="960120"/>
            <a:ext cx="338328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1051560"/>
            <a:ext cx="3017520" cy="365760"/>
          </a:xfrm>
          <a:prstGeom prst="rect">
            <a:avLst/>
          </a:prstGeom>
          <a:noFill/>
        </p:spPr>
        <p:txBody>
          <a:bodyPr wrap="square">
            <a:spAutoFit/>
          </a:bodyPr>
          <a:lstStyle/>
          <a:p>
            <a:pPr algn="l"/>
            <a:r>
              <a:rPr sz="1300" b="1" i="0">
                <a:solidFill>
                  <a:srgbClr val="39D353"/>
                </a:solidFill>
                <a:latin typeface="Calibri"/>
              </a:rPr>
              <a:t>✅  The Solution</a:t>
            </a:r>
          </a:p>
        </p:txBody>
      </p:sp>
      <p:sp>
        <p:nvSpPr>
          <p:cNvPr id="15" name="TextBox 14"/>
          <p:cNvSpPr txBox="1"/>
          <p:nvPr/>
        </p:nvSpPr>
        <p:spPr>
          <a:xfrm>
            <a:off x="5669280" y="1463040"/>
            <a:ext cx="3017520" cy="1828800"/>
          </a:xfrm>
          <a:prstGeom prst="rect">
            <a:avLst/>
          </a:prstGeom>
          <a:noFill/>
        </p:spPr>
        <p:txBody>
          <a:bodyPr wrap="square">
            <a:spAutoFit/>
          </a:bodyPr>
          <a:lstStyle/>
          <a:p>
            <a:pPr algn="l">
              <a:spcAft>
                <a:spcPts val="200"/>
              </a:spcAft>
            </a:pPr>
            <a:r>
              <a:rPr sz="1100" b="0">
                <a:solidFill>
                  <a:srgbClr val="FFFFFF"/>
                </a:solidFill>
                <a:latin typeface="Calibri"/>
              </a:rPr>
              <a:t>We need metrics that reveal WHERE</a:t>
            </a:r>
          </a:p>
          <a:p>
            <a:pPr algn="l">
              <a:spcAft>
                <a:spcPts val="200"/>
              </a:spcAft>
            </a:pPr>
            <a:r>
              <a:rPr sz="1100" b="0">
                <a:solidFill>
                  <a:srgbClr val="FFFFFF"/>
                </a:solidFill>
                <a:latin typeface="Calibri"/>
              </a:rPr>
              <a:t>the model fails, not just overall %.</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The tools we need:</a:t>
            </a:r>
          </a:p>
          <a:p>
            <a:pPr algn="l">
              <a:spcAft>
                <a:spcPts val="200"/>
              </a:spcAft>
            </a:pPr>
            <a:r>
              <a:rPr sz="1100" b="0">
                <a:solidFill>
                  <a:srgbClr val="FFFFFF"/>
                </a:solidFill>
                <a:latin typeface="Calibri"/>
              </a:rPr>
              <a:t>  → Confusion Matrix</a:t>
            </a:r>
          </a:p>
          <a:p>
            <a:pPr algn="l">
              <a:spcAft>
                <a:spcPts val="200"/>
              </a:spcAft>
            </a:pPr>
            <a:r>
              <a:rPr sz="1100" b="0">
                <a:solidFill>
                  <a:srgbClr val="FFFFFF"/>
                </a:solidFill>
                <a:latin typeface="Calibri"/>
              </a:rPr>
              <a:t>  → Precision</a:t>
            </a:r>
          </a:p>
          <a:p>
            <a:pPr algn="l">
              <a:spcAft>
                <a:spcPts val="200"/>
              </a:spcAft>
            </a:pPr>
            <a:r>
              <a:rPr sz="1100" b="0">
                <a:solidFill>
                  <a:srgbClr val="FFFFFF"/>
                </a:solidFill>
                <a:latin typeface="Calibri"/>
              </a:rPr>
              <a:t>  → Recall (Sensitivity)</a:t>
            </a:r>
          </a:p>
          <a:p>
            <a:pPr algn="l">
              <a:spcAft>
                <a:spcPts val="200"/>
              </a:spcAft>
            </a:pPr>
            <a:r>
              <a:rPr sz="1100" b="0">
                <a:solidFill>
                  <a:srgbClr val="FFFFFF"/>
                </a:solidFill>
                <a:latin typeface="Calibri"/>
              </a:rPr>
              <a:t>  → F1-Score</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These tell us the REAL story.</a:t>
            </a:r>
          </a:p>
        </p:txBody>
      </p:sp>
      <p:sp>
        <p:nvSpPr>
          <p:cNvPr id="16" name="TextBox 15"/>
          <p:cNvSpPr txBox="1"/>
          <p:nvPr/>
        </p:nvSpPr>
        <p:spPr>
          <a:xfrm>
            <a:off x="274320" y="3807161"/>
            <a:ext cx="8595360" cy="347472"/>
          </a:xfrm>
          <a:prstGeom prst="rect">
            <a:avLst/>
          </a:prstGeom>
          <a:noFill/>
        </p:spPr>
        <p:txBody>
          <a:bodyPr wrap="square">
            <a:spAutoFit/>
          </a:bodyPr>
          <a:lstStyle/>
          <a:p>
            <a:pPr algn="l"/>
            <a:r>
              <a:rPr sz="1100" b="0" i="0" dirty="0">
                <a:solidFill>
                  <a:srgbClr val="FFC400"/>
                </a:solidFill>
                <a:latin typeface="Calibri"/>
              </a:rPr>
              <a:t>💡 Rule: Always look beyond accuracy — especially when classes are imbalanced.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5</a:t>
            </a:r>
          </a:p>
        </p:txBody>
      </p:sp>
      <p:sp>
        <p:nvSpPr>
          <p:cNvPr id="6" name="TextBox 5"/>
          <p:cNvSpPr txBox="1"/>
          <p:nvPr/>
        </p:nvSpPr>
        <p:spPr>
          <a:xfrm>
            <a:off x="274320" y="164592"/>
            <a:ext cx="8229600" cy="457200"/>
          </a:xfrm>
          <a:prstGeom prst="rect">
            <a:avLst/>
          </a:prstGeom>
          <a:noFill/>
        </p:spPr>
        <p:txBody>
          <a:bodyPr wrap="square">
            <a:spAutoFit/>
          </a:bodyPr>
          <a:lstStyle/>
          <a:p>
            <a:pPr algn="l"/>
            <a:r>
              <a:rPr sz="3000" b="1" i="0">
                <a:solidFill>
                  <a:srgbClr val="FFFFFF"/>
                </a:solidFill>
                <a:latin typeface="Calibri"/>
              </a:rPr>
              <a:t>The Confusion Matrix</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A 2×2 table that shows exactly what your model got right and wrong</a:t>
            </a:r>
          </a:p>
        </p:txBody>
      </p:sp>
      <p:sp>
        <p:nvSpPr>
          <p:cNvPr id="8" name="TextBox 7"/>
          <p:cNvSpPr txBox="1"/>
          <p:nvPr/>
        </p:nvSpPr>
        <p:spPr>
          <a:xfrm>
            <a:off x="914400" y="822960"/>
            <a:ext cx="1417320" cy="292608"/>
          </a:xfrm>
          <a:prstGeom prst="rect">
            <a:avLst/>
          </a:prstGeom>
          <a:noFill/>
        </p:spPr>
        <p:txBody>
          <a:bodyPr wrap="square">
            <a:spAutoFit/>
          </a:bodyPr>
          <a:lstStyle/>
          <a:p>
            <a:pPr algn="ctr"/>
            <a:r>
              <a:rPr sz="1000" b="1" i="0">
                <a:solidFill>
                  <a:srgbClr val="7A92B8"/>
                </a:solidFill>
                <a:latin typeface="Calibri"/>
              </a:rPr>
              <a:t>Predicted: YES</a:t>
            </a:r>
          </a:p>
        </p:txBody>
      </p:sp>
      <p:sp>
        <p:nvSpPr>
          <p:cNvPr id="9" name="TextBox 8"/>
          <p:cNvSpPr txBox="1"/>
          <p:nvPr/>
        </p:nvSpPr>
        <p:spPr>
          <a:xfrm>
            <a:off x="2404872" y="822960"/>
            <a:ext cx="1417320" cy="292608"/>
          </a:xfrm>
          <a:prstGeom prst="rect">
            <a:avLst/>
          </a:prstGeom>
          <a:noFill/>
        </p:spPr>
        <p:txBody>
          <a:bodyPr wrap="square">
            <a:spAutoFit/>
          </a:bodyPr>
          <a:lstStyle/>
          <a:p>
            <a:pPr algn="ctr"/>
            <a:r>
              <a:rPr sz="1000" b="1" i="0">
                <a:solidFill>
                  <a:srgbClr val="7A92B8"/>
                </a:solidFill>
                <a:latin typeface="Calibri"/>
              </a:rPr>
              <a:t>Predicted: NO</a:t>
            </a:r>
          </a:p>
        </p:txBody>
      </p:sp>
      <p:sp>
        <p:nvSpPr>
          <p:cNvPr id="10" name="TextBox 9"/>
          <p:cNvSpPr txBox="1"/>
          <p:nvPr/>
        </p:nvSpPr>
        <p:spPr>
          <a:xfrm>
            <a:off x="45720" y="1463040"/>
            <a:ext cx="822960" cy="365760"/>
          </a:xfrm>
          <a:prstGeom prst="rect">
            <a:avLst/>
          </a:prstGeom>
          <a:noFill/>
        </p:spPr>
        <p:txBody>
          <a:bodyPr wrap="square">
            <a:spAutoFit/>
          </a:bodyPr>
          <a:lstStyle/>
          <a:p>
            <a:pPr algn="r"/>
            <a:r>
              <a:rPr sz="1000" b="1" i="0">
                <a:solidFill>
                  <a:srgbClr val="7A92B8"/>
                </a:solidFill>
                <a:latin typeface="Calibri"/>
              </a:rPr>
              <a:t>Actual: YES</a:t>
            </a:r>
          </a:p>
        </p:txBody>
      </p:sp>
      <p:sp>
        <p:nvSpPr>
          <p:cNvPr id="11" name="TextBox 10"/>
          <p:cNvSpPr txBox="1"/>
          <p:nvPr/>
        </p:nvSpPr>
        <p:spPr>
          <a:xfrm>
            <a:off x="45720" y="2468880"/>
            <a:ext cx="822960" cy="365760"/>
          </a:xfrm>
          <a:prstGeom prst="rect">
            <a:avLst/>
          </a:prstGeom>
          <a:noFill/>
        </p:spPr>
        <p:txBody>
          <a:bodyPr wrap="square">
            <a:spAutoFit/>
          </a:bodyPr>
          <a:lstStyle/>
          <a:p>
            <a:pPr algn="r"/>
            <a:r>
              <a:rPr sz="1000" b="1" i="0">
                <a:solidFill>
                  <a:srgbClr val="7A92B8"/>
                </a:solidFill>
                <a:latin typeface="Calibri"/>
              </a:rPr>
              <a:t>Actual: NO</a:t>
            </a:r>
          </a:p>
        </p:txBody>
      </p:sp>
      <p:sp>
        <p:nvSpPr>
          <p:cNvPr id="12" name="Rectangle 11"/>
          <p:cNvSpPr/>
          <p:nvPr/>
        </p:nvSpPr>
        <p:spPr>
          <a:xfrm>
            <a:off x="914400" y="1188720"/>
            <a:ext cx="1417320" cy="960120"/>
          </a:xfrm>
          <a:prstGeom prst="rect">
            <a:avLst/>
          </a:prstGeom>
          <a:solidFill>
            <a:srgbClr val="054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4400" y="1188720"/>
            <a:ext cx="1417320" cy="50292"/>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1234440"/>
            <a:ext cx="1417320" cy="384048"/>
          </a:xfrm>
          <a:prstGeom prst="rect">
            <a:avLst/>
          </a:prstGeom>
          <a:noFill/>
        </p:spPr>
        <p:txBody>
          <a:bodyPr wrap="square">
            <a:spAutoFit/>
          </a:bodyPr>
          <a:lstStyle/>
          <a:p>
            <a:pPr algn="ctr"/>
            <a:r>
              <a:rPr sz="2400" b="1" i="0">
                <a:solidFill>
                  <a:srgbClr val="06D679"/>
                </a:solidFill>
                <a:latin typeface="Calibri"/>
              </a:rPr>
              <a:t>TP</a:t>
            </a:r>
          </a:p>
        </p:txBody>
      </p:sp>
      <p:sp>
        <p:nvSpPr>
          <p:cNvPr id="15" name="TextBox 14"/>
          <p:cNvSpPr txBox="1"/>
          <p:nvPr/>
        </p:nvSpPr>
        <p:spPr>
          <a:xfrm>
            <a:off x="914400" y="1645920"/>
            <a:ext cx="1417320" cy="457200"/>
          </a:xfrm>
          <a:prstGeom prst="rect">
            <a:avLst/>
          </a:prstGeom>
          <a:noFill/>
        </p:spPr>
        <p:txBody>
          <a:bodyPr wrap="square">
            <a:spAutoFit/>
          </a:bodyPr>
          <a:lstStyle/>
          <a:p>
            <a:pPr algn="ctr"/>
            <a:r>
              <a:rPr sz="850" b="0" i="0">
                <a:solidFill>
                  <a:srgbClr val="E8F0FF"/>
                </a:solidFill>
                <a:latin typeface="Calibri"/>
              </a:rPr>
              <a:t>Model said YES
Actually YES ✅</a:t>
            </a:r>
          </a:p>
        </p:txBody>
      </p:sp>
      <p:sp>
        <p:nvSpPr>
          <p:cNvPr id="16" name="Rectangle 15"/>
          <p:cNvSpPr/>
          <p:nvPr/>
        </p:nvSpPr>
        <p:spPr>
          <a:xfrm>
            <a:off x="2404872" y="1188720"/>
            <a:ext cx="1417320" cy="960120"/>
          </a:xfrm>
          <a:prstGeom prst="rect">
            <a:avLst/>
          </a:prstGeom>
          <a:solidFill>
            <a:srgbClr val="50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404872" y="1188720"/>
            <a:ext cx="1417320" cy="5029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04872" y="1234440"/>
            <a:ext cx="1417320" cy="384048"/>
          </a:xfrm>
          <a:prstGeom prst="rect">
            <a:avLst/>
          </a:prstGeom>
          <a:noFill/>
        </p:spPr>
        <p:txBody>
          <a:bodyPr wrap="square">
            <a:spAutoFit/>
          </a:bodyPr>
          <a:lstStyle/>
          <a:p>
            <a:pPr algn="ctr"/>
            <a:r>
              <a:rPr sz="2400" b="1" i="0">
                <a:solidFill>
                  <a:srgbClr val="FF4B4B"/>
                </a:solidFill>
                <a:latin typeface="Calibri"/>
              </a:rPr>
              <a:t>FP</a:t>
            </a:r>
          </a:p>
        </p:txBody>
      </p:sp>
      <p:sp>
        <p:nvSpPr>
          <p:cNvPr id="19" name="TextBox 18"/>
          <p:cNvSpPr txBox="1"/>
          <p:nvPr/>
        </p:nvSpPr>
        <p:spPr>
          <a:xfrm>
            <a:off x="2404872" y="1645920"/>
            <a:ext cx="1417320" cy="457200"/>
          </a:xfrm>
          <a:prstGeom prst="rect">
            <a:avLst/>
          </a:prstGeom>
          <a:noFill/>
        </p:spPr>
        <p:txBody>
          <a:bodyPr wrap="square">
            <a:spAutoFit/>
          </a:bodyPr>
          <a:lstStyle/>
          <a:p>
            <a:pPr algn="ctr"/>
            <a:r>
              <a:rPr sz="850" b="0" i="0">
                <a:solidFill>
                  <a:srgbClr val="E8F0FF"/>
                </a:solidFill>
                <a:latin typeface="Calibri"/>
              </a:rPr>
              <a:t>Model said YES
Actually NO  ❌</a:t>
            </a:r>
          </a:p>
        </p:txBody>
      </p:sp>
      <p:sp>
        <p:nvSpPr>
          <p:cNvPr id="20" name="Rectangle 19"/>
          <p:cNvSpPr/>
          <p:nvPr/>
        </p:nvSpPr>
        <p:spPr>
          <a:xfrm>
            <a:off x="914400" y="2212848"/>
            <a:ext cx="1417320" cy="960120"/>
          </a:xfrm>
          <a:prstGeom prst="rect">
            <a:avLst/>
          </a:prstGeom>
          <a:solidFill>
            <a:srgbClr val="503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4400" y="2212848"/>
            <a:ext cx="1417320" cy="5029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2258568"/>
            <a:ext cx="1417320" cy="384048"/>
          </a:xfrm>
          <a:prstGeom prst="rect">
            <a:avLst/>
          </a:prstGeom>
          <a:noFill/>
        </p:spPr>
        <p:txBody>
          <a:bodyPr wrap="square">
            <a:spAutoFit/>
          </a:bodyPr>
          <a:lstStyle/>
          <a:p>
            <a:pPr algn="ctr"/>
            <a:r>
              <a:rPr sz="2400" b="1" i="0">
                <a:solidFill>
                  <a:srgbClr val="FF8C00"/>
                </a:solidFill>
                <a:latin typeface="Calibri"/>
              </a:rPr>
              <a:t>FN</a:t>
            </a:r>
          </a:p>
        </p:txBody>
      </p:sp>
      <p:sp>
        <p:nvSpPr>
          <p:cNvPr id="23" name="TextBox 22"/>
          <p:cNvSpPr txBox="1"/>
          <p:nvPr/>
        </p:nvSpPr>
        <p:spPr>
          <a:xfrm>
            <a:off x="914400" y="2670048"/>
            <a:ext cx="1417320" cy="457200"/>
          </a:xfrm>
          <a:prstGeom prst="rect">
            <a:avLst/>
          </a:prstGeom>
          <a:noFill/>
        </p:spPr>
        <p:txBody>
          <a:bodyPr wrap="square">
            <a:spAutoFit/>
          </a:bodyPr>
          <a:lstStyle/>
          <a:p>
            <a:pPr algn="ctr"/>
            <a:r>
              <a:rPr sz="850" b="0" i="0">
                <a:solidFill>
                  <a:srgbClr val="E8F0FF"/>
                </a:solidFill>
                <a:latin typeface="Calibri"/>
              </a:rPr>
              <a:t>Model said NO
Actually YES ❌</a:t>
            </a:r>
          </a:p>
        </p:txBody>
      </p:sp>
      <p:sp>
        <p:nvSpPr>
          <p:cNvPr id="24" name="Rectangle 23"/>
          <p:cNvSpPr/>
          <p:nvPr/>
        </p:nvSpPr>
        <p:spPr>
          <a:xfrm>
            <a:off x="2404872" y="2212848"/>
            <a:ext cx="1417320" cy="960120"/>
          </a:xfrm>
          <a:prstGeom prst="rect">
            <a:avLst/>
          </a:prstGeom>
          <a:solidFill>
            <a:srgbClr val="054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404872" y="2212848"/>
            <a:ext cx="1417320" cy="50292"/>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404872" y="2258568"/>
            <a:ext cx="1417320" cy="384048"/>
          </a:xfrm>
          <a:prstGeom prst="rect">
            <a:avLst/>
          </a:prstGeom>
          <a:noFill/>
        </p:spPr>
        <p:txBody>
          <a:bodyPr wrap="square">
            <a:spAutoFit/>
          </a:bodyPr>
          <a:lstStyle/>
          <a:p>
            <a:pPr algn="ctr"/>
            <a:r>
              <a:rPr sz="2400" b="1" i="0">
                <a:solidFill>
                  <a:srgbClr val="06D679"/>
                </a:solidFill>
                <a:latin typeface="Calibri"/>
              </a:rPr>
              <a:t>TN</a:t>
            </a:r>
          </a:p>
        </p:txBody>
      </p:sp>
      <p:sp>
        <p:nvSpPr>
          <p:cNvPr id="27" name="TextBox 26"/>
          <p:cNvSpPr txBox="1"/>
          <p:nvPr/>
        </p:nvSpPr>
        <p:spPr>
          <a:xfrm>
            <a:off x="2404872" y="2670048"/>
            <a:ext cx="1417320" cy="457200"/>
          </a:xfrm>
          <a:prstGeom prst="rect">
            <a:avLst/>
          </a:prstGeom>
          <a:noFill/>
        </p:spPr>
        <p:txBody>
          <a:bodyPr wrap="square">
            <a:spAutoFit/>
          </a:bodyPr>
          <a:lstStyle/>
          <a:p>
            <a:pPr algn="ctr"/>
            <a:r>
              <a:rPr sz="850" b="0" i="0">
                <a:solidFill>
                  <a:srgbClr val="E8F0FF"/>
                </a:solidFill>
                <a:latin typeface="Calibri"/>
              </a:rPr>
              <a:t>Model said NO
Actually NO  ✅</a:t>
            </a:r>
          </a:p>
        </p:txBody>
      </p:sp>
      <p:sp>
        <p:nvSpPr>
          <p:cNvPr id="28" name="Rectangle 27"/>
          <p:cNvSpPr/>
          <p:nvPr/>
        </p:nvSpPr>
        <p:spPr>
          <a:xfrm>
            <a:off x="4023360" y="1188720"/>
            <a:ext cx="484632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023360" y="1188720"/>
            <a:ext cx="50292" cy="566928"/>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06240" y="1225296"/>
            <a:ext cx="2286000" cy="274320"/>
          </a:xfrm>
          <a:prstGeom prst="rect">
            <a:avLst/>
          </a:prstGeom>
          <a:noFill/>
        </p:spPr>
        <p:txBody>
          <a:bodyPr wrap="square">
            <a:spAutoFit/>
          </a:bodyPr>
          <a:lstStyle/>
          <a:p>
            <a:pPr algn="l"/>
            <a:r>
              <a:rPr sz="1100" b="1" i="0">
                <a:solidFill>
                  <a:srgbClr val="06D679"/>
                </a:solidFill>
                <a:latin typeface="Calibri"/>
              </a:rPr>
              <a:t>TP (True Positive)</a:t>
            </a:r>
          </a:p>
        </p:txBody>
      </p:sp>
      <p:sp>
        <p:nvSpPr>
          <p:cNvPr id="31" name="TextBox 30"/>
          <p:cNvSpPr txBox="1"/>
          <p:nvPr/>
        </p:nvSpPr>
        <p:spPr>
          <a:xfrm>
            <a:off x="4206240" y="1499616"/>
            <a:ext cx="4572000" cy="228600"/>
          </a:xfrm>
          <a:prstGeom prst="rect">
            <a:avLst/>
          </a:prstGeom>
          <a:noFill/>
        </p:spPr>
        <p:txBody>
          <a:bodyPr wrap="square">
            <a:spAutoFit/>
          </a:bodyPr>
          <a:lstStyle/>
          <a:p>
            <a:pPr algn="l"/>
            <a:r>
              <a:rPr sz="1000" b="0" i="0">
                <a:solidFill>
                  <a:srgbClr val="7A92B8"/>
                </a:solidFill>
                <a:latin typeface="Calibri"/>
              </a:rPr>
              <a:t>You predicted fraud → it WAS fraud. Perfect!</a:t>
            </a:r>
          </a:p>
        </p:txBody>
      </p:sp>
      <p:sp>
        <p:nvSpPr>
          <p:cNvPr id="32" name="Rectangle 31"/>
          <p:cNvSpPr/>
          <p:nvPr/>
        </p:nvSpPr>
        <p:spPr>
          <a:xfrm>
            <a:off x="4023360" y="1856232"/>
            <a:ext cx="484632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023360" y="1856232"/>
            <a:ext cx="50292" cy="566928"/>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06240" y="1892808"/>
            <a:ext cx="2286000" cy="274320"/>
          </a:xfrm>
          <a:prstGeom prst="rect">
            <a:avLst/>
          </a:prstGeom>
          <a:noFill/>
        </p:spPr>
        <p:txBody>
          <a:bodyPr wrap="square">
            <a:spAutoFit/>
          </a:bodyPr>
          <a:lstStyle/>
          <a:p>
            <a:pPr algn="l"/>
            <a:r>
              <a:rPr sz="1100" b="1" i="0">
                <a:solidFill>
                  <a:srgbClr val="06D679"/>
                </a:solidFill>
                <a:latin typeface="Calibri"/>
              </a:rPr>
              <a:t>TN (True Negative)</a:t>
            </a:r>
          </a:p>
        </p:txBody>
      </p:sp>
      <p:sp>
        <p:nvSpPr>
          <p:cNvPr id="35" name="TextBox 34"/>
          <p:cNvSpPr txBox="1"/>
          <p:nvPr/>
        </p:nvSpPr>
        <p:spPr>
          <a:xfrm>
            <a:off x="4206240" y="2167128"/>
            <a:ext cx="4572000" cy="228600"/>
          </a:xfrm>
          <a:prstGeom prst="rect">
            <a:avLst/>
          </a:prstGeom>
          <a:noFill/>
        </p:spPr>
        <p:txBody>
          <a:bodyPr wrap="square">
            <a:spAutoFit/>
          </a:bodyPr>
          <a:lstStyle/>
          <a:p>
            <a:pPr algn="l"/>
            <a:r>
              <a:rPr sz="1000" b="0" i="0">
                <a:solidFill>
                  <a:srgbClr val="7A92B8"/>
                </a:solidFill>
                <a:latin typeface="Calibri"/>
              </a:rPr>
              <a:t>You predicted no fraud → it WASN'T fraud. Correct!</a:t>
            </a:r>
          </a:p>
        </p:txBody>
      </p:sp>
      <p:sp>
        <p:nvSpPr>
          <p:cNvPr id="36" name="Rectangle 35"/>
          <p:cNvSpPr/>
          <p:nvPr/>
        </p:nvSpPr>
        <p:spPr>
          <a:xfrm>
            <a:off x="4023360" y="2523744"/>
            <a:ext cx="484632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023360" y="2523744"/>
            <a:ext cx="50292" cy="566928"/>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06240" y="2560320"/>
            <a:ext cx="2286000" cy="274320"/>
          </a:xfrm>
          <a:prstGeom prst="rect">
            <a:avLst/>
          </a:prstGeom>
          <a:noFill/>
        </p:spPr>
        <p:txBody>
          <a:bodyPr wrap="square">
            <a:spAutoFit/>
          </a:bodyPr>
          <a:lstStyle/>
          <a:p>
            <a:pPr algn="l"/>
            <a:r>
              <a:rPr sz="1100" b="1" i="0">
                <a:solidFill>
                  <a:srgbClr val="FF4B4B"/>
                </a:solidFill>
                <a:latin typeface="Calibri"/>
              </a:rPr>
              <a:t>FP (False Positive)</a:t>
            </a:r>
          </a:p>
        </p:txBody>
      </p:sp>
      <p:sp>
        <p:nvSpPr>
          <p:cNvPr id="39" name="TextBox 38"/>
          <p:cNvSpPr txBox="1"/>
          <p:nvPr/>
        </p:nvSpPr>
        <p:spPr>
          <a:xfrm>
            <a:off x="4206240" y="2834639"/>
            <a:ext cx="4572000" cy="228600"/>
          </a:xfrm>
          <a:prstGeom prst="rect">
            <a:avLst/>
          </a:prstGeom>
          <a:noFill/>
        </p:spPr>
        <p:txBody>
          <a:bodyPr wrap="square">
            <a:spAutoFit/>
          </a:bodyPr>
          <a:lstStyle/>
          <a:p>
            <a:pPr algn="l"/>
            <a:r>
              <a:rPr sz="1000" b="0" i="0">
                <a:solidFill>
                  <a:srgbClr val="7A92B8"/>
                </a:solidFill>
                <a:latin typeface="Calibri"/>
              </a:rPr>
              <a:t>You predicted fraud → it was actually normal. False alarm.</a:t>
            </a:r>
          </a:p>
        </p:txBody>
      </p:sp>
      <p:sp>
        <p:nvSpPr>
          <p:cNvPr id="40" name="Rectangle 39"/>
          <p:cNvSpPr/>
          <p:nvPr/>
        </p:nvSpPr>
        <p:spPr>
          <a:xfrm>
            <a:off x="4023360" y="3191256"/>
            <a:ext cx="484632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023360" y="3191256"/>
            <a:ext cx="50292" cy="56692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06240" y="3227832"/>
            <a:ext cx="2286000" cy="274320"/>
          </a:xfrm>
          <a:prstGeom prst="rect">
            <a:avLst/>
          </a:prstGeom>
          <a:noFill/>
        </p:spPr>
        <p:txBody>
          <a:bodyPr wrap="square">
            <a:spAutoFit/>
          </a:bodyPr>
          <a:lstStyle/>
          <a:p>
            <a:pPr algn="l"/>
            <a:r>
              <a:rPr sz="1100" b="1" i="0">
                <a:solidFill>
                  <a:srgbClr val="FF8C00"/>
                </a:solidFill>
                <a:latin typeface="Calibri"/>
              </a:rPr>
              <a:t>FN (False Negative)</a:t>
            </a:r>
          </a:p>
        </p:txBody>
      </p:sp>
      <p:sp>
        <p:nvSpPr>
          <p:cNvPr id="43" name="TextBox 42"/>
          <p:cNvSpPr txBox="1"/>
          <p:nvPr/>
        </p:nvSpPr>
        <p:spPr>
          <a:xfrm>
            <a:off x="4206240" y="3502152"/>
            <a:ext cx="4572000" cy="228600"/>
          </a:xfrm>
          <a:prstGeom prst="rect">
            <a:avLst/>
          </a:prstGeom>
          <a:noFill/>
        </p:spPr>
        <p:txBody>
          <a:bodyPr wrap="square">
            <a:spAutoFit/>
          </a:bodyPr>
          <a:lstStyle/>
          <a:p>
            <a:pPr algn="l"/>
            <a:r>
              <a:rPr sz="1000" b="0" i="0">
                <a:solidFill>
                  <a:srgbClr val="7A92B8"/>
                </a:solidFill>
                <a:latin typeface="Calibri"/>
              </a:rPr>
              <a:t>You predicted no fraud → it WAS fraud. Missed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6</a:t>
            </a:r>
          </a:p>
        </p:txBody>
      </p:sp>
      <p:sp>
        <p:nvSpPr>
          <p:cNvPr id="6" name="TextBox 5"/>
          <p:cNvSpPr txBox="1"/>
          <p:nvPr/>
        </p:nvSpPr>
        <p:spPr>
          <a:xfrm>
            <a:off x="274320" y="164592"/>
            <a:ext cx="8229600" cy="457200"/>
          </a:xfrm>
          <a:prstGeom prst="rect">
            <a:avLst/>
          </a:prstGeom>
          <a:noFill/>
        </p:spPr>
        <p:txBody>
          <a:bodyPr wrap="square">
            <a:spAutoFit/>
          </a:bodyPr>
          <a:lstStyle/>
          <a:p>
            <a:pPr algn="l"/>
            <a:r>
              <a:rPr sz="2700" b="1" i="0">
                <a:solidFill>
                  <a:srgbClr val="FFFFFF"/>
                </a:solidFill>
                <a:latin typeface="Calibri"/>
              </a:rPr>
              <a:t>Confusion Matrix — Titanic Example</a:t>
            </a:r>
          </a:p>
        </p:txBody>
      </p:sp>
      <p:sp>
        <p:nvSpPr>
          <p:cNvPr id="8" name="Rectangle 7"/>
          <p:cNvSpPr/>
          <p:nvPr/>
        </p:nvSpPr>
        <p:spPr>
          <a:xfrm>
            <a:off x="1097280" y="1097280"/>
            <a:ext cx="1463040" cy="1005840"/>
          </a:xfrm>
          <a:prstGeom prst="rect">
            <a:avLst/>
          </a:prstGeom>
          <a:solidFill>
            <a:srgbClr val="05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097280"/>
            <a:ext cx="1463040" cy="50292"/>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143000"/>
            <a:ext cx="1463040" cy="502920"/>
          </a:xfrm>
          <a:prstGeom prst="rect">
            <a:avLst/>
          </a:prstGeom>
          <a:noFill/>
        </p:spPr>
        <p:txBody>
          <a:bodyPr wrap="square">
            <a:spAutoFit/>
          </a:bodyPr>
          <a:lstStyle/>
          <a:p>
            <a:pPr algn="ctr"/>
            <a:r>
              <a:rPr sz="3000" b="1" i="0">
                <a:solidFill>
                  <a:srgbClr val="06D679"/>
                </a:solidFill>
                <a:latin typeface="Calibri"/>
              </a:rPr>
              <a:t>64</a:t>
            </a:r>
          </a:p>
        </p:txBody>
      </p:sp>
      <p:sp>
        <p:nvSpPr>
          <p:cNvPr id="11" name="TextBox 10"/>
          <p:cNvSpPr txBox="1"/>
          <p:nvPr/>
        </p:nvSpPr>
        <p:spPr>
          <a:xfrm>
            <a:off x="1097280" y="1664207"/>
            <a:ext cx="1463040" cy="320040"/>
          </a:xfrm>
          <a:prstGeom prst="rect">
            <a:avLst/>
          </a:prstGeom>
          <a:noFill/>
        </p:spPr>
        <p:txBody>
          <a:bodyPr wrap="square">
            <a:spAutoFit/>
          </a:bodyPr>
          <a:lstStyle/>
          <a:p>
            <a:pPr algn="ctr"/>
            <a:r>
              <a:rPr sz="1100" b="0" i="0">
                <a:solidFill>
                  <a:srgbClr val="7A92B8"/>
                </a:solidFill>
                <a:latin typeface="Calibri"/>
              </a:rPr>
              <a:t>TP</a:t>
            </a:r>
          </a:p>
        </p:txBody>
      </p:sp>
      <p:sp>
        <p:nvSpPr>
          <p:cNvPr id="12" name="Rectangle 11"/>
          <p:cNvSpPr/>
          <p:nvPr/>
        </p:nvSpPr>
        <p:spPr>
          <a:xfrm>
            <a:off x="2633472" y="1097280"/>
            <a:ext cx="1463040" cy="1005840"/>
          </a:xfrm>
          <a:prstGeom prst="rect">
            <a:avLst/>
          </a:prstGeom>
          <a:solidFill>
            <a:srgbClr val="503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33472" y="1097280"/>
            <a:ext cx="1463040" cy="5029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33472" y="1143000"/>
            <a:ext cx="1463040" cy="502920"/>
          </a:xfrm>
          <a:prstGeom prst="rect">
            <a:avLst/>
          </a:prstGeom>
          <a:noFill/>
        </p:spPr>
        <p:txBody>
          <a:bodyPr wrap="square">
            <a:spAutoFit/>
          </a:bodyPr>
          <a:lstStyle/>
          <a:p>
            <a:pPr algn="ctr"/>
            <a:r>
              <a:rPr sz="3000" b="1" i="0">
                <a:solidFill>
                  <a:srgbClr val="FF8C00"/>
                </a:solidFill>
                <a:latin typeface="Calibri"/>
              </a:rPr>
              <a:t>25</a:t>
            </a:r>
          </a:p>
        </p:txBody>
      </p:sp>
      <p:sp>
        <p:nvSpPr>
          <p:cNvPr id="15" name="TextBox 14"/>
          <p:cNvSpPr txBox="1"/>
          <p:nvPr/>
        </p:nvSpPr>
        <p:spPr>
          <a:xfrm>
            <a:off x="2633472" y="1664207"/>
            <a:ext cx="1463040" cy="320040"/>
          </a:xfrm>
          <a:prstGeom prst="rect">
            <a:avLst/>
          </a:prstGeom>
          <a:noFill/>
        </p:spPr>
        <p:txBody>
          <a:bodyPr wrap="square">
            <a:spAutoFit/>
          </a:bodyPr>
          <a:lstStyle/>
          <a:p>
            <a:pPr algn="ctr"/>
            <a:r>
              <a:rPr sz="1100" b="0" i="0">
                <a:solidFill>
                  <a:srgbClr val="7A92B8"/>
                </a:solidFill>
                <a:latin typeface="Calibri"/>
              </a:rPr>
              <a:t>FN</a:t>
            </a:r>
          </a:p>
        </p:txBody>
      </p:sp>
      <p:sp>
        <p:nvSpPr>
          <p:cNvPr id="16" name="Rectangle 15"/>
          <p:cNvSpPr/>
          <p:nvPr/>
        </p:nvSpPr>
        <p:spPr>
          <a:xfrm>
            <a:off x="1097280" y="2167128"/>
            <a:ext cx="1463040" cy="1005840"/>
          </a:xfrm>
          <a:prstGeom prst="rect">
            <a:avLst/>
          </a:prstGeom>
          <a:solidFill>
            <a:srgbClr val="50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97280" y="2167128"/>
            <a:ext cx="1463040" cy="5029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2212848"/>
            <a:ext cx="1463040" cy="502920"/>
          </a:xfrm>
          <a:prstGeom prst="rect">
            <a:avLst/>
          </a:prstGeom>
          <a:noFill/>
        </p:spPr>
        <p:txBody>
          <a:bodyPr wrap="square">
            <a:spAutoFit/>
          </a:bodyPr>
          <a:lstStyle/>
          <a:p>
            <a:pPr algn="ctr"/>
            <a:r>
              <a:rPr sz="3000" b="1" i="0">
                <a:solidFill>
                  <a:srgbClr val="FF4B4B"/>
                </a:solidFill>
                <a:latin typeface="Calibri"/>
              </a:rPr>
              <a:t>16</a:t>
            </a:r>
          </a:p>
        </p:txBody>
      </p:sp>
      <p:sp>
        <p:nvSpPr>
          <p:cNvPr id="19" name="TextBox 18"/>
          <p:cNvSpPr txBox="1"/>
          <p:nvPr/>
        </p:nvSpPr>
        <p:spPr>
          <a:xfrm>
            <a:off x="1097280" y="2734056"/>
            <a:ext cx="1463040" cy="320040"/>
          </a:xfrm>
          <a:prstGeom prst="rect">
            <a:avLst/>
          </a:prstGeom>
          <a:noFill/>
        </p:spPr>
        <p:txBody>
          <a:bodyPr wrap="square">
            <a:spAutoFit/>
          </a:bodyPr>
          <a:lstStyle/>
          <a:p>
            <a:pPr algn="ctr"/>
            <a:r>
              <a:rPr sz="1100" b="0" i="0">
                <a:solidFill>
                  <a:srgbClr val="7A92B8"/>
                </a:solidFill>
                <a:latin typeface="Calibri"/>
              </a:rPr>
              <a:t>FP</a:t>
            </a:r>
          </a:p>
        </p:txBody>
      </p:sp>
      <p:sp>
        <p:nvSpPr>
          <p:cNvPr id="20" name="Rectangle 19"/>
          <p:cNvSpPr/>
          <p:nvPr/>
        </p:nvSpPr>
        <p:spPr>
          <a:xfrm>
            <a:off x="2633472" y="2167128"/>
            <a:ext cx="1463040" cy="1005840"/>
          </a:xfrm>
          <a:prstGeom prst="rect">
            <a:avLst/>
          </a:prstGeom>
          <a:solidFill>
            <a:srgbClr val="054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633472" y="2167128"/>
            <a:ext cx="1463040" cy="50292"/>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33472" y="2212848"/>
            <a:ext cx="1463040" cy="502920"/>
          </a:xfrm>
          <a:prstGeom prst="rect">
            <a:avLst/>
          </a:prstGeom>
          <a:noFill/>
        </p:spPr>
        <p:txBody>
          <a:bodyPr wrap="square">
            <a:spAutoFit/>
          </a:bodyPr>
          <a:lstStyle/>
          <a:p>
            <a:pPr algn="ctr"/>
            <a:r>
              <a:rPr sz="3000" b="1" i="0">
                <a:solidFill>
                  <a:srgbClr val="06D679"/>
                </a:solidFill>
                <a:latin typeface="Calibri"/>
              </a:rPr>
              <a:t>118</a:t>
            </a:r>
          </a:p>
        </p:txBody>
      </p:sp>
      <p:sp>
        <p:nvSpPr>
          <p:cNvPr id="23" name="TextBox 22"/>
          <p:cNvSpPr txBox="1"/>
          <p:nvPr/>
        </p:nvSpPr>
        <p:spPr>
          <a:xfrm>
            <a:off x="2633472" y="2734056"/>
            <a:ext cx="1463040" cy="320040"/>
          </a:xfrm>
          <a:prstGeom prst="rect">
            <a:avLst/>
          </a:prstGeom>
          <a:noFill/>
        </p:spPr>
        <p:txBody>
          <a:bodyPr wrap="square">
            <a:spAutoFit/>
          </a:bodyPr>
          <a:lstStyle/>
          <a:p>
            <a:pPr algn="ctr"/>
            <a:r>
              <a:rPr sz="1100" b="0" i="0">
                <a:solidFill>
                  <a:srgbClr val="7A92B8"/>
                </a:solidFill>
                <a:latin typeface="Calibri"/>
              </a:rPr>
              <a:t>TN</a:t>
            </a:r>
          </a:p>
        </p:txBody>
      </p:sp>
      <p:sp>
        <p:nvSpPr>
          <p:cNvPr id="24" name="TextBox 23"/>
          <p:cNvSpPr txBox="1"/>
          <p:nvPr/>
        </p:nvSpPr>
        <p:spPr>
          <a:xfrm>
            <a:off x="1097280" y="640080"/>
            <a:ext cx="1463040" cy="384048"/>
          </a:xfrm>
          <a:prstGeom prst="rect">
            <a:avLst/>
          </a:prstGeom>
          <a:noFill/>
        </p:spPr>
        <p:txBody>
          <a:bodyPr wrap="square">
            <a:spAutoFit/>
          </a:bodyPr>
          <a:lstStyle/>
          <a:p>
            <a:pPr algn="ctr"/>
            <a:r>
              <a:rPr sz="950" b="1" i="0">
                <a:solidFill>
                  <a:srgbClr val="7A92B8"/>
                </a:solidFill>
                <a:latin typeface="Calibri"/>
              </a:rPr>
              <a:t>Predicted:
Survived</a:t>
            </a:r>
          </a:p>
        </p:txBody>
      </p:sp>
      <p:sp>
        <p:nvSpPr>
          <p:cNvPr id="25" name="TextBox 24"/>
          <p:cNvSpPr txBox="1"/>
          <p:nvPr/>
        </p:nvSpPr>
        <p:spPr>
          <a:xfrm>
            <a:off x="2633472" y="640080"/>
            <a:ext cx="1463040" cy="384048"/>
          </a:xfrm>
          <a:prstGeom prst="rect">
            <a:avLst/>
          </a:prstGeom>
          <a:noFill/>
        </p:spPr>
        <p:txBody>
          <a:bodyPr wrap="square">
            <a:spAutoFit/>
          </a:bodyPr>
          <a:lstStyle/>
          <a:p>
            <a:pPr algn="ctr"/>
            <a:r>
              <a:rPr sz="950" b="1" i="0">
                <a:solidFill>
                  <a:srgbClr val="7A92B8"/>
                </a:solidFill>
                <a:latin typeface="Calibri"/>
              </a:rPr>
              <a:t>Predicted:
Did Not</a:t>
            </a:r>
          </a:p>
        </p:txBody>
      </p:sp>
      <p:sp>
        <p:nvSpPr>
          <p:cNvPr id="26" name="TextBox 25"/>
          <p:cNvSpPr txBox="1"/>
          <p:nvPr/>
        </p:nvSpPr>
        <p:spPr>
          <a:xfrm>
            <a:off x="137159" y="1417319"/>
            <a:ext cx="914400" cy="384048"/>
          </a:xfrm>
          <a:prstGeom prst="rect">
            <a:avLst/>
          </a:prstGeom>
          <a:noFill/>
        </p:spPr>
        <p:txBody>
          <a:bodyPr wrap="square">
            <a:spAutoFit/>
          </a:bodyPr>
          <a:lstStyle/>
          <a:p>
            <a:pPr algn="r"/>
            <a:r>
              <a:rPr sz="950" b="1" i="0">
                <a:solidFill>
                  <a:srgbClr val="7A92B8"/>
                </a:solidFill>
                <a:latin typeface="Calibri"/>
              </a:rPr>
              <a:t>Actual:
Survived</a:t>
            </a:r>
          </a:p>
        </p:txBody>
      </p:sp>
      <p:sp>
        <p:nvSpPr>
          <p:cNvPr id="27" name="TextBox 26"/>
          <p:cNvSpPr txBox="1"/>
          <p:nvPr/>
        </p:nvSpPr>
        <p:spPr>
          <a:xfrm>
            <a:off x="137159" y="2487168"/>
            <a:ext cx="914400" cy="384048"/>
          </a:xfrm>
          <a:prstGeom prst="rect">
            <a:avLst/>
          </a:prstGeom>
          <a:noFill/>
        </p:spPr>
        <p:txBody>
          <a:bodyPr wrap="square">
            <a:spAutoFit/>
          </a:bodyPr>
          <a:lstStyle/>
          <a:p>
            <a:pPr algn="r"/>
            <a:r>
              <a:rPr sz="950" b="1" i="0">
                <a:solidFill>
                  <a:srgbClr val="7A92B8"/>
                </a:solidFill>
                <a:latin typeface="Calibri"/>
              </a:rPr>
              <a:t>Actual:
Did Not</a:t>
            </a:r>
          </a:p>
        </p:txBody>
      </p:sp>
      <p:sp>
        <p:nvSpPr>
          <p:cNvPr id="28" name="Rectangle 27"/>
          <p:cNvSpPr/>
          <p:nvPr/>
        </p:nvSpPr>
        <p:spPr>
          <a:xfrm>
            <a:off x="4114800" y="1051560"/>
            <a:ext cx="4754880" cy="3063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114800" y="1051560"/>
            <a:ext cx="4754880" cy="5029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97680" y="1143000"/>
            <a:ext cx="4389120" cy="320040"/>
          </a:xfrm>
          <a:prstGeom prst="rect">
            <a:avLst/>
          </a:prstGeom>
          <a:noFill/>
        </p:spPr>
        <p:txBody>
          <a:bodyPr wrap="square">
            <a:spAutoFit/>
          </a:bodyPr>
          <a:lstStyle/>
          <a:p>
            <a:pPr algn="l"/>
            <a:r>
              <a:rPr sz="1200" b="1" i="0">
                <a:solidFill>
                  <a:srgbClr val="00C2CB"/>
                </a:solidFill>
                <a:latin typeface="Calibri"/>
              </a:rPr>
              <a:t>Reading Our Results (223 test passengers):</a:t>
            </a:r>
          </a:p>
        </p:txBody>
      </p:sp>
      <p:sp>
        <p:nvSpPr>
          <p:cNvPr id="31" name="TextBox 30"/>
          <p:cNvSpPr txBox="1"/>
          <p:nvPr/>
        </p:nvSpPr>
        <p:spPr>
          <a:xfrm>
            <a:off x="4297680" y="1508760"/>
            <a:ext cx="4389120" cy="2514600"/>
          </a:xfrm>
          <a:prstGeom prst="rect">
            <a:avLst/>
          </a:prstGeom>
          <a:noFill/>
        </p:spPr>
        <p:txBody>
          <a:bodyPr wrap="square">
            <a:spAutoFit/>
          </a:bodyPr>
          <a:lstStyle/>
          <a:p>
            <a:pPr algn="l">
              <a:spcAft>
                <a:spcPts val="200"/>
              </a:spcAft>
            </a:pPr>
            <a:r>
              <a:rPr sz="1100" b="0">
                <a:solidFill>
                  <a:srgbClr val="FFFFFF"/>
                </a:solidFill>
                <a:latin typeface="Calibri"/>
              </a:rPr>
              <a:t>TP = 64   → Model correctly predicted 64 survivors</a:t>
            </a:r>
          </a:p>
          <a:p>
            <a:pPr algn="l">
              <a:spcAft>
                <a:spcPts val="200"/>
              </a:spcAft>
            </a:pPr>
            <a:r>
              <a:rPr sz="1100" b="0">
                <a:solidFill>
                  <a:srgbClr val="FFFFFF"/>
                </a:solidFill>
                <a:latin typeface="Calibri"/>
              </a:rPr>
              <a:t>TN = 118  → Model correctly predicted 118 non-survivors</a:t>
            </a:r>
          </a:p>
          <a:p>
            <a:pPr algn="l">
              <a:spcAft>
                <a:spcPts val="200"/>
              </a:spcAft>
            </a:pPr>
            <a:r>
              <a:rPr sz="1100" b="0">
                <a:solidFill>
                  <a:srgbClr val="FFFFFF"/>
                </a:solidFill>
                <a:latin typeface="Calibri"/>
              </a:rPr>
              <a:t>FP = 16   → Model predicted survived, actually didn't</a:t>
            </a:r>
          </a:p>
          <a:p>
            <a:pPr algn="l">
              <a:spcAft>
                <a:spcPts val="200"/>
              </a:spcAft>
            </a:pPr>
            <a:r>
              <a:rPr sz="1100" b="0">
                <a:solidFill>
                  <a:srgbClr val="FFFFFF"/>
                </a:solidFill>
                <a:latin typeface="Calibri"/>
              </a:rPr>
              <a:t>FN = 25   → Model missed 25 actual survivors</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Accuracy  = (64+118) / 223  =  81.6%</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Total correct predictions: 182 out of 223</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  But we missed 25 actual survivors (FN)!</a:t>
            </a:r>
          </a:p>
          <a:p>
            <a:pPr algn="l">
              <a:spcAft>
                <a:spcPts val="200"/>
              </a:spcAft>
            </a:pPr>
            <a:r>
              <a:rPr sz="1100" b="0">
                <a:solidFill>
                  <a:srgbClr val="FFFFFF"/>
                </a:solidFill>
                <a:latin typeface="Calibri"/>
              </a:rPr>
              <a:t>    Is that acceptable? → Recall tells 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7</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Precision — Quality of Positive Predictions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200" b="0" i="1">
                <a:solidFill>
                  <a:srgbClr val="FFC400"/>
                </a:solidFill>
                <a:latin typeface="Calibri"/>
              </a:rPr>
              <a:t>When you say 'Yes', how often are you right?</a:t>
            </a:r>
          </a:p>
        </p:txBody>
      </p:sp>
      <p:sp>
        <p:nvSpPr>
          <p:cNvPr id="8" name="Rectangle 7"/>
          <p:cNvSpPr/>
          <p:nvPr/>
        </p:nvSpPr>
        <p:spPr>
          <a:xfrm>
            <a:off x="274320" y="960120"/>
            <a:ext cx="8595360" cy="594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411480"/>
          </a:xfrm>
          <a:prstGeom prst="rect">
            <a:avLst/>
          </a:prstGeom>
          <a:noFill/>
        </p:spPr>
        <p:txBody>
          <a:bodyPr wrap="square">
            <a:spAutoFit/>
          </a:bodyPr>
          <a:lstStyle/>
          <a:p>
            <a:pPr algn="ctr"/>
            <a:r>
              <a:rPr sz="2200" b="1" i="0">
                <a:solidFill>
                  <a:srgbClr val="FFC400"/>
                </a:solidFill>
                <a:latin typeface="Consolas"/>
              </a:rPr>
              <a:t>Precision  =  TP  /  (TP + FP)</a:t>
            </a:r>
          </a:p>
        </p:txBody>
      </p:sp>
      <p:sp>
        <p:nvSpPr>
          <p:cNvPr id="11" name="Rectangle 10"/>
          <p:cNvSpPr/>
          <p:nvPr/>
        </p:nvSpPr>
        <p:spPr>
          <a:xfrm>
            <a:off x="274320" y="1691640"/>
            <a:ext cx="4114800" cy="18973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91640"/>
            <a:ext cx="45719" cy="18973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764792"/>
            <a:ext cx="3749039" cy="320040"/>
          </a:xfrm>
          <a:prstGeom prst="rect">
            <a:avLst/>
          </a:prstGeom>
          <a:noFill/>
        </p:spPr>
        <p:txBody>
          <a:bodyPr wrap="square">
            <a:spAutoFit/>
          </a:bodyPr>
          <a:lstStyle/>
          <a:p>
            <a:pPr algn="l"/>
            <a:r>
              <a:rPr sz="1200" b="1" i="0">
                <a:solidFill>
                  <a:srgbClr val="FFC400"/>
                </a:solidFill>
                <a:latin typeface="Calibri"/>
              </a:rPr>
              <a:t>Plain English</a:t>
            </a:r>
          </a:p>
        </p:txBody>
      </p:sp>
      <p:sp>
        <p:nvSpPr>
          <p:cNvPr id="14" name="TextBox 13"/>
          <p:cNvSpPr txBox="1"/>
          <p:nvPr/>
        </p:nvSpPr>
        <p:spPr>
          <a:xfrm>
            <a:off x="457200" y="2103120"/>
            <a:ext cx="3749039" cy="1188720"/>
          </a:xfrm>
          <a:prstGeom prst="rect">
            <a:avLst/>
          </a:prstGeom>
          <a:noFill/>
        </p:spPr>
        <p:txBody>
          <a:bodyPr wrap="square">
            <a:spAutoFit/>
          </a:bodyPr>
          <a:lstStyle/>
          <a:p>
            <a:pPr algn="l">
              <a:spcAft>
                <a:spcPts val="200"/>
              </a:spcAft>
            </a:pPr>
            <a:r>
              <a:rPr sz="1100" b="0">
                <a:solidFill>
                  <a:srgbClr val="FFFFFF"/>
                </a:solidFill>
                <a:latin typeface="Calibri"/>
              </a:rPr>
              <a:t>Of ALL the passengers I predicted</a:t>
            </a:r>
          </a:p>
          <a:p>
            <a:pPr algn="l">
              <a:spcAft>
                <a:spcPts val="200"/>
              </a:spcAft>
            </a:pPr>
            <a:r>
              <a:rPr sz="1100" b="0">
                <a:solidFill>
                  <a:srgbClr val="FFFFFF"/>
                </a:solidFill>
                <a:latin typeface="Calibri"/>
              </a:rPr>
              <a:t> survived, what % actually did?</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Titanic example:</a:t>
            </a:r>
          </a:p>
          <a:p>
            <a:pPr algn="l">
              <a:spcAft>
                <a:spcPts val="200"/>
              </a:spcAft>
            </a:pPr>
            <a:r>
              <a:rPr sz="1100" b="0">
                <a:solidFill>
                  <a:srgbClr val="FFFFFF"/>
                </a:solidFill>
                <a:latin typeface="Calibri"/>
              </a:rPr>
              <a:t>  Precision = 64 / (64 + 16) = 64/80 = 80%</a:t>
            </a:r>
          </a:p>
          <a:p>
            <a:pPr algn="l">
              <a:spcAft>
                <a:spcPts val="200"/>
              </a:spcAft>
            </a:pPr>
            <a:r>
              <a:rPr sz="1100" b="0">
                <a:solidFill>
                  <a:srgbClr val="FFFFFF"/>
                </a:solidFill>
                <a:latin typeface="Calibri"/>
              </a:rPr>
              <a:t>  → 80% of predicted survivors actually survived</a:t>
            </a:r>
          </a:p>
        </p:txBody>
      </p:sp>
      <p:sp>
        <p:nvSpPr>
          <p:cNvPr id="15" name="Rectangle 14"/>
          <p:cNvSpPr/>
          <p:nvPr/>
        </p:nvSpPr>
        <p:spPr>
          <a:xfrm>
            <a:off x="4663440" y="1691639"/>
            <a:ext cx="4206240" cy="1897381"/>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3440" y="1691640"/>
            <a:ext cx="50292" cy="189738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46320" y="1764792"/>
            <a:ext cx="3749039" cy="320040"/>
          </a:xfrm>
          <a:prstGeom prst="rect">
            <a:avLst/>
          </a:prstGeom>
          <a:noFill/>
        </p:spPr>
        <p:txBody>
          <a:bodyPr wrap="square">
            <a:spAutoFit/>
          </a:bodyPr>
          <a:lstStyle/>
          <a:p>
            <a:pPr algn="l"/>
            <a:r>
              <a:rPr sz="1200" b="1" i="0">
                <a:solidFill>
                  <a:srgbClr val="FF4B4B"/>
                </a:solidFill>
                <a:latin typeface="Calibri"/>
              </a:rPr>
              <a:t>⚠️  When Precision Matters Most</a:t>
            </a:r>
          </a:p>
        </p:txBody>
      </p:sp>
      <p:sp>
        <p:nvSpPr>
          <p:cNvPr id="18" name="TextBox 17"/>
          <p:cNvSpPr txBox="1"/>
          <p:nvPr/>
        </p:nvSpPr>
        <p:spPr>
          <a:xfrm>
            <a:off x="4846320" y="2103120"/>
            <a:ext cx="3749039" cy="1188720"/>
          </a:xfrm>
          <a:prstGeom prst="rect">
            <a:avLst/>
          </a:prstGeom>
          <a:noFill/>
        </p:spPr>
        <p:txBody>
          <a:bodyPr wrap="square">
            <a:spAutoFit/>
          </a:bodyPr>
          <a:lstStyle/>
          <a:p>
            <a:pPr algn="l">
              <a:spcAft>
                <a:spcPts val="200"/>
              </a:spcAft>
            </a:pPr>
            <a:r>
              <a:rPr sz="1100" b="0">
                <a:solidFill>
                  <a:srgbClr val="FFFFFF"/>
                </a:solidFill>
                <a:latin typeface="Calibri"/>
              </a:rPr>
              <a:t>🔴 Spam filter:</a:t>
            </a:r>
          </a:p>
          <a:p>
            <a:pPr algn="l">
              <a:spcAft>
                <a:spcPts val="200"/>
              </a:spcAft>
            </a:pPr>
            <a:r>
              <a:rPr sz="1100" b="0">
                <a:solidFill>
                  <a:srgbClr val="FFFFFF"/>
                </a:solidFill>
                <a:latin typeface="Calibri"/>
              </a:rPr>
              <a:t>  Low precision = real emails go to spam!</a:t>
            </a:r>
          </a:p>
          <a:p>
            <a:pPr algn="l">
              <a:spcAft>
                <a:spcPts val="200"/>
              </a:spcAft>
            </a:pPr>
            <a:r>
              <a:rPr sz="1100" b="0">
                <a:solidFill>
                  <a:srgbClr val="FFFFFF"/>
                </a:solidFill>
                <a:latin typeface="Calibri"/>
              </a:rPr>
              <a:t>  → Prioritize Precision</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 Cancer treatment (expensive/painful):</a:t>
            </a:r>
          </a:p>
          <a:p>
            <a:pPr algn="l">
              <a:spcAft>
                <a:spcPts val="200"/>
              </a:spcAft>
            </a:pPr>
            <a:r>
              <a:rPr sz="1100" b="0">
                <a:solidFill>
                  <a:srgbClr val="FFFFFF"/>
                </a:solidFill>
                <a:latin typeface="Calibri"/>
              </a:rPr>
              <a:t>  Low precision = treating healthy patients</a:t>
            </a:r>
          </a:p>
          <a:p>
            <a:pPr algn="l">
              <a:spcAft>
                <a:spcPts val="200"/>
              </a:spcAft>
            </a:pPr>
            <a:r>
              <a:rPr sz="1100" b="0">
                <a:solidFill>
                  <a:srgbClr val="FFFFFF"/>
                </a:solidFill>
                <a:latin typeface="Calibri"/>
              </a:rPr>
              <a:t>  → Prioritize Precision</a:t>
            </a:r>
          </a:p>
        </p:txBody>
      </p:sp>
      <p:sp>
        <p:nvSpPr>
          <p:cNvPr id="19" name="Rectangle 18"/>
          <p:cNvSpPr/>
          <p:nvPr/>
        </p:nvSpPr>
        <p:spPr>
          <a:xfrm>
            <a:off x="274320" y="3800783"/>
            <a:ext cx="8595360" cy="5486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3765338"/>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3888107"/>
            <a:ext cx="8229600" cy="384048"/>
          </a:xfrm>
          <a:prstGeom prst="rect">
            <a:avLst/>
          </a:prstGeom>
          <a:noFill/>
        </p:spPr>
        <p:txBody>
          <a:bodyPr wrap="square">
            <a:spAutoFit/>
          </a:bodyPr>
          <a:lstStyle/>
          <a:p>
            <a:pPr algn="ctr"/>
            <a:r>
              <a:rPr sz="1150" b="0" i="0" dirty="0">
                <a:solidFill>
                  <a:srgbClr val="FFC400"/>
                </a:solidFill>
                <a:latin typeface="Calibri"/>
              </a:rPr>
              <a:t>Precision Scale: 0% (all FP, useless) ←——————→ 100% (no FP, perfect)</a:t>
            </a:r>
          </a:p>
        </p:txBody>
      </p:sp>
      <p:sp>
        <p:nvSpPr>
          <p:cNvPr id="22" name="TextBox 21"/>
          <p:cNvSpPr txBox="1"/>
          <p:nvPr/>
        </p:nvSpPr>
        <p:spPr>
          <a:xfrm>
            <a:off x="274320" y="4440863"/>
            <a:ext cx="8595360" cy="320040"/>
          </a:xfrm>
          <a:prstGeom prst="rect">
            <a:avLst/>
          </a:prstGeom>
          <a:noFill/>
        </p:spPr>
        <p:txBody>
          <a:bodyPr wrap="square">
            <a:spAutoFit/>
          </a:bodyPr>
          <a:lstStyle/>
          <a:p>
            <a:pPr algn="ctr"/>
            <a:r>
              <a:rPr sz="1100" b="0" i="0">
                <a:solidFill>
                  <a:srgbClr val="7A92B8"/>
                </a:solidFill>
                <a:latin typeface="Calibri"/>
              </a:rPr>
              <a:t>Higher Precision = Fewer False Alarms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8</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400" b="1" i="0">
                <a:solidFill>
                  <a:srgbClr val="FFFFFF"/>
                </a:solidFill>
                <a:latin typeface="Calibri"/>
              </a:rPr>
              <a:t>Recall (Sensitivity) — Coverage of Actual Positives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200" b="0" i="1">
                <a:solidFill>
                  <a:srgbClr val="00C2CB"/>
                </a:solidFill>
                <a:latin typeface="Calibri"/>
              </a:rPr>
              <a:t>Of ALL real positives, how many did you actually catch?</a:t>
            </a:r>
          </a:p>
        </p:txBody>
      </p:sp>
      <p:sp>
        <p:nvSpPr>
          <p:cNvPr id="8" name="Rectangle 7"/>
          <p:cNvSpPr/>
          <p:nvPr/>
        </p:nvSpPr>
        <p:spPr>
          <a:xfrm>
            <a:off x="274320" y="960120"/>
            <a:ext cx="8595360" cy="594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411480"/>
          </a:xfrm>
          <a:prstGeom prst="rect">
            <a:avLst/>
          </a:prstGeom>
          <a:noFill/>
        </p:spPr>
        <p:txBody>
          <a:bodyPr wrap="square">
            <a:spAutoFit/>
          </a:bodyPr>
          <a:lstStyle/>
          <a:p>
            <a:pPr algn="ctr"/>
            <a:r>
              <a:rPr sz="2200" b="1" i="0">
                <a:solidFill>
                  <a:srgbClr val="00C2CB"/>
                </a:solidFill>
                <a:latin typeface="Consolas"/>
              </a:rPr>
              <a:t>Recall  =  TP  /  (TP + FN)</a:t>
            </a:r>
          </a:p>
        </p:txBody>
      </p:sp>
      <p:sp>
        <p:nvSpPr>
          <p:cNvPr id="11" name="Rectangle 10"/>
          <p:cNvSpPr/>
          <p:nvPr/>
        </p:nvSpPr>
        <p:spPr>
          <a:xfrm>
            <a:off x="274320" y="1691639"/>
            <a:ext cx="4114800" cy="2233329"/>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91640"/>
            <a:ext cx="50292" cy="223332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764792"/>
            <a:ext cx="3749039" cy="320040"/>
          </a:xfrm>
          <a:prstGeom prst="rect">
            <a:avLst/>
          </a:prstGeom>
          <a:noFill/>
        </p:spPr>
        <p:txBody>
          <a:bodyPr wrap="square">
            <a:spAutoFit/>
          </a:bodyPr>
          <a:lstStyle/>
          <a:p>
            <a:pPr algn="l"/>
            <a:r>
              <a:rPr sz="1200" b="1" i="0">
                <a:solidFill>
                  <a:srgbClr val="00C2CB"/>
                </a:solidFill>
                <a:latin typeface="Calibri"/>
              </a:rPr>
              <a:t>Plain English</a:t>
            </a:r>
          </a:p>
        </p:txBody>
      </p:sp>
      <p:sp>
        <p:nvSpPr>
          <p:cNvPr id="14" name="TextBox 13"/>
          <p:cNvSpPr txBox="1"/>
          <p:nvPr/>
        </p:nvSpPr>
        <p:spPr>
          <a:xfrm>
            <a:off x="457200" y="2103120"/>
            <a:ext cx="3749039" cy="1188720"/>
          </a:xfrm>
          <a:prstGeom prst="rect">
            <a:avLst/>
          </a:prstGeom>
          <a:noFill/>
        </p:spPr>
        <p:txBody>
          <a:bodyPr wrap="square">
            <a:spAutoFit/>
          </a:bodyPr>
          <a:lstStyle/>
          <a:p>
            <a:pPr algn="l">
              <a:spcAft>
                <a:spcPts val="200"/>
              </a:spcAft>
            </a:pPr>
            <a:r>
              <a:rPr sz="1100" b="0">
                <a:solidFill>
                  <a:srgbClr val="FFFFFF"/>
                </a:solidFill>
                <a:latin typeface="Calibri"/>
              </a:rPr>
              <a:t>Of ALL the passengers who ACTUALLY</a:t>
            </a:r>
          </a:p>
          <a:p>
            <a:pPr algn="l">
              <a:spcAft>
                <a:spcPts val="200"/>
              </a:spcAft>
            </a:pPr>
            <a:r>
              <a:rPr sz="1100" b="0">
                <a:solidFill>
                  <a:srgbClr val="FFFFFF"/>
                </a:solidFill>
                <a:latin typeface="Calibri"/>
              </a:rPr>
              <a:t> survived, how many did I predict?</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Titanic example:</a:t>
            </a:r>
          </a:p>
          <a:p>
            <a:pPr algn="l">
              <a:spcAft>
                <a:spcPts val="200"/>
              </a:spcAft>
            </a:pPr>
            <a:r>
              <a:rPr sz="1100" b="0">
                <a:solidFill>
                  <a:srgbClr val="FFFFFF"/>
                </a:solidFill>
                <a:latin typeface="Calibri"/>
              </a:rPr>
              <a:t>  Recall = 64 / (64 + 25) = 64/89 = 71.9%</a:t>
            </a:r>
          </a:p>
          <a:p>
            <a:pPr algn="l">
              <a:spcAft>
                <a:spcPts val="200"/>
              </a:spcAft>
            </a:pPr>
            <a:r>
              <a:rPr sz="1100" b="0">
                <a:solidFill>
                  <a:srgbClr val="FFFFFF"/>
                </a:solidFill>
                <a:latin typeface="Calibri"/>
              </a:rPr>
              <a:t>  → We caught 72% of real survivors</a:t>
            </a:r>
          </a:p>
          <a:p>
            <a:pPr algn="l">
              <a:spcAft>
                <a:spcPts val="200"/>
              </a:spcAft>
            </a:pPr>
            <a:r>
              <a:rPr sz="1100" b="0">
                <a:solidFill>
                  <a:srgbClr val="FFFFFF"/>
                </a:solidFill>
                <a:latin typeface="Calibri"/>
              </a:rPr>
              <a:t>  → We MISSED 28% of survivors (FN=25)</a:t>
            </a:r>
          </a:p>
        </p:txBody>
      </p:sp>
      <p:sp>
        <p:nvSpPr>
          <p:cNvPr id="15" name="Rectangle 14"/>
          <p:cNvSpPr/>
          <p:nvPr/>
        </p:nvSpPr>
        <p:spPr>
          <a:xfrm>
            <a:off x="4663440" y="1691639"/>
            <a:ext cx="4206240" cy="2233329"/>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3440" y="1691640"/>
            <a:ext cx="50292" cy="223332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46320" y="1764792"/>
            <a:ext cx="3749039" cy="320040"/>
          </a:xfrm>
          <a:prstGeom prst="rect">
            <a:avLst/>
          </a:prstGeom>
          <a:noFill/>
        </p:spPr>
        <p:txBody>
          <a:bodyPr wrap="square">
            <a:spAutoFit/>
          </a:bodyPr>
          <a:lstStyle/>
          <a:p>
            <a:pPr algn="l"/>
            <a:r>
              <a:rPr sz="1200" b="1" i="0">
                <a:solidFill>
                  <a:srgbClr val="FF8C00"/>
                </a:solidFill>
                <a:latin typeface="Calibri"/>
              </a:rPr>
              <a:t>⚠️  When Recall Matters Most</a:t>
            </a:r>
          </a:p>
        </p:txBody>
      </p:sp>
      <p:sp>
        <p:nvSpPr>
          <p:cNvPr id="18" name="TextBox 17"/>
          <p:cNvSpPr txBox="1"/>
          <p:nvPr/>
        </p:nvSpPr>
        <p:spPr>
          <a:xfrm>
            <a:off x="4846320" y="2103120"/>
            <a:ext cx="3749039" cy="1188720"/>
          </a:xfrm>
          <a:prstGeom prst="rect">
            <a:avLst/>
          </a:prstGeom>
          <a:noFill/>
        </p:spPr>
        <p:txBody>
          <a:bodyPr wrap="square">
            <a:spAutoFit/>
          </a:bodyPr>
          <a:lstStyle/>
          <a:p>
            <a:pPr algn="l">
              <a:spcAft>
                <a:spcPts val="200"/>
              </a:spcAft>
            </a:pPr>
            <a:r>
              <a:rPr sz="1100" b="0">
                <a:solidFill>
                  <a:srgbClr val="FFFFFF"/>
                </a:solidFill>
                <a:latin typeface="Calibri"/>
              </a:rPr>
              <a:t>🟠 Cancer screening (disease detection):</a:t>
            </a:r>
          </a:p>
          <a:p>
            <a:pPr algn="l">
              <a:spcAft>
                <a:spcPts val="200"/>
              </a:spcAft>
            </a:pPr>
            <a:r>
              <a:rPr sz="1100" b="0">
                <a:solidFill>
                  <a:srgbClr val="FFFFFF"/>
                </a:solidFill>
                <a:latin typeface="Calibri"/>
              </a:rPr>
              <a:t>  Missing a sick patient is catastrophic!</a:t>
            </a:r>
          </a:p>
          <a:p>
            <a:pPr algn="l">
              <a:spcAft>
                <a:spcPts val="200"/>
              </a:spcAft>
            </a:pPr>
            <a:r>
              <a:rPr sz="1100" b="0">
                <a:solidFill>
                  <a:srgbClr val="FFFFFF"/>
                </a:solidFill>
                <a:latin typeface="Calibri"/>
              </a:rPr>
              <a:t>  → Prioritize Recall</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 Fraud detection (catching fraud):</a:t>
            </a:r>
          </a:p>
          <a:p>
            <a:pPr algn="l">
              <a:spcAft>
                <a:spcPts val="200"/>
              </a:spcAft>
            </a:pPr>
            <a:r>
              <a:rPr sz="1100" b="0">
                <a:solidFill>
                  <a:srgbClr val="FFFFFF"/>
                </a:solidFill>
                <a:latin typeface="Calibri"/>
              </a:rPr>
              <a:t>  Missing real fraud = financial loss</a:t>
            </a:r>
          </a:p>
          <a:p>
            <a:pPr algn="l">
              <a:spcAft>
                <a:spcPts val="200"/>
              </a:spcAft>
            </a:pPr>
            <a:r>
              <a:rPr sz="1100" b="0">
                <a:solidFill>
                  <a:srgbClr val="FFFFFF"/>
                </a:solidFill>
                <a:latin typeface="Calibri"/>
              </a:rPr>
              <a:t>  → Prioritize Recall</a:t>
            </a:r>
          </a:p>
          <a:p>
            <a:pPr algn="l">
              <a:spcAft>
                <a:spcPts val="200"/>
              </a:spcAft>
            </a:pPr>
            <a:endParaRPr sz="1100" b="0">
              <a:solidFill>
                <a:srgbClr val="FFFFFF"/>
              </a:solidFill>
              <a:latin typeface="Calibri"/>
            </a:endParaRPr>
          </a:p>
          <a:p>
            <a:pPr algn="l">
              <a:spcAft>
                <a:spcPts val="200"/>
              </a:spcAft>
            </a:pPr>
            <a:r>
              <a:rPr sz="1100" b="0">
                <a:solidFill>
                  <a:srgbClr val="FFFFFF"/>
                </a:solidFill>
                <a:latin typeface="Calibri"/>
              </a:rPr>
              <a:t>FN = the cases you missed</a:t>
            </a:r>
          </a:p>
        </p:txBody>
      </p:sp>
      <p:sp>
        <p:nvSpPr>
          <p:cNvPr id="19" name="Rectangle 18"/>
          <p:cNvSpPr/>
          <p:nvPr/>
        </p:nvSpPr>
        <p:spPr>
          <a:xfrm>
            <a:off x="274320" y="4034698"/>
            <a:ext cx="8595360" cy="5486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4034698"/>
            <a:ext cx="8595360" cy="5029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107850"/>
            <a:ext cx="8229600" cy="384048"/>
          </a:xfrm>
          <a:prstGeom prst="rect">
            <a:avLst/>
          </a:prstGeom>
          <a:noFill/>
        </p:spPr>
        <p:txBody>
          <a:bodyPr wrap="square">
            <a:spAutoFit/>
          </a:bodyPr>
          <a:lstStyle/>
          <a:p>
            <a:pPr algn="ctr"/>
            <a:r>
              <a:rPr sz="1150" b="0" i="0">
                <a:solidFill>
                  <a:srgbClr val="00C2CB"/>
                </a:solidFill>
                <a:latin typeface="Calibri"/>
              </a:rPr>
              <a:t>Precision vs Recall Trade-off: Improving one often hurts the other → F1-Score balances both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88"/>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9</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3000" b="1" i="0">
                <a:solidFill>
                  <a:srgbClr val="FFFFFF"/>
                </a:solidFill>
                <a:latin typeface="Calibri"/>
              </a:rPr>
              <a:t>F1-Score — The Balanced Metric</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 single best metric for imbalanced classification problems</a:t>
            </a:r>
          </a:p>
        </p:txBody>
      </p:sp>
      <p:sp>
        <p:nvSpPr>
          <p:cNvPr id="8" name="Rectangle 7"/>
          <p:cNvSpPr/>
          <p:nvPr/>
        </p:nvSpPr>
        <p:spPr>
          <a:xfrm>
            <a:off x="274320" y="960120"/>
            <a:ext cx="8595360" cy="71323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438912"/>
          </a:xfrm>
          <a:prstGeom prst="rect">
            <a:avLst/>
          </a:prstGeom>
          <a:noFill/>
        </p:spPr>
        <p:txBody>
          <a:bodyPr wrap="square">
            <a:spAutoFit/>
          </a:bodyPr>
          <a:lstStyle/>
          <a:p>
            <a:pPr algn="ctr"/>
            <a:r>
              <a:rPr sz="2000" b="1" i="0">
                <a:solidFill>
                  <a:srgbClr val="39D353"/>
                </a:solidFill>
                <a:latin typeface="Consolas"/>
              </a:rPr>
              <a:t>F1  =  2  ×  (Precision × Recall)  /  (Precision + Recall)</a:t>
            </a:r>
          </a:p>
        </p:txBody>
      </p:sp>
      <p:sp>
        <p:nvSpPr>
          <p:cNvPr id="11" name="Rectangle 10"/>
          <p:cNvSpPr/>
          <p:nvPr/>
        </p:nvSpPr>
        <p:spPr>
          <a:xfrm>
            <a:off x="274320" y="1737360"/>
            <a:ext cx="2738628" cy="25146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737360"/>
            <a:ext cx="50292" cy="25146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810512"/>
            <a:ext cx="2514600" cy="502920"/>
          </a:xfrm>
          <a:prstGeom prst="rect">
            <a:avLst/>
          </a:prstGeom>
          <a:noFill/>
        </p:spPr>
        <p:txBody>
          <a:bodyPr wrap="square">
            <a:spAutoFit/>
          </a:bodyPr>
          <a:lstStyle/>
          <a:p>
            <a:pPr algn="l"/>
            <a:r>
              <a:rPr sz="1200" b="1" i="0">
                <a:solidFill>
                  <a:srgbClr val="FF8C00"/>
                </a:solidFill>
                <a:latin typeface="Calibri"/>
              </a:rPr>
              <a:t>High Precision
Low Recall</a:t>
            </a:r>
          </a:p>
        </p:txBody>
      </p:sp>
      <p:sp>
        <p:nvSpPr>
          <p:cNvPr id="14" name="TextBox 13"/>
          <p:cNvSpPr txBox="1"/>
          <p:nvPr/>
        </p:nvSpPr>
        <p:spPr>
          <a:xfrm>
            <a:off x="411479" y="2331720"/>
            <a:ext cx="2514600" cy="274320"/>
          </a:xfrm>
          <a:prstGeom prst="rect">
            <a:avLst/>
          </a:prstGeom>
          <a:noFill/>
        </p:spPr>
        <p:txBody>
          <a:bodyPr wrap="square">
            <a:spAutoFit/>
          </a:bodyPr>
          <a:lstStyle/>
          <a:p>
            <a:pPr algn="l"/>
            <a:r>
              <a:rPr sz="1100" b="0" i="0">
                <a:solidFill>
                  <a:srgbClr val="00C2CB"/>
                </a:solidFill>
                <a:latin typeface="Consolas"/>
              </a:rPr>
              <a:t>P=0.95  R=0.30</a:t>
            </a:r>
          </a:p>
        </p:txBody>
      </p:sp>
      <p:sp>
        <p:nvSpPr>
          <p:cNvPr id="15" name="Rectangle 14"/>
          <p:cNvSpPr/>
          <p:nvPr/>
        </p:nvSpPr>
        <p:spPr>
          <a:xfrm>
            <a:off x="365760" y="2651760"/>
            <a:ext cx="260604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 y="2724912"/>
            <a:ext cx="2514600" cy="274320"/>
          </a:xfrm>
          <a:prstGeom prst="rect">
            <a:avLst/>
          </a:prstGeom>
          <a:noFill/>
        </p:spPr>
        <p:txBody>
          <a:bodyPr wrap="square">
            <a:spAutoFit/>
          </a:bodyPr>
          <a:lstStyle/>
          <a:p>
            <a:pPr algn="l"/>
            <a:r>
              <a:rPr sz="950" b="0" i="0">
                <a:solidFill>
                  <a:srgbClr val="7A92B8"/>
                </a:solidFill>
                <a:latin typeface="Consolas"/>
              </a:rPr>
              <a:t>F1 = 2×(0.95×0.30)/(0.95+0.30) = 0.456</a:t>
            </a:r>
          </a:p>
        </p:txBody>
      </p:sp>
      <p:sp>
        <p:nvSpPr>
          <p:cNvPr id="17" name="TextBox 16"/>
          <p:cNvSpPr txBox="1"/>
          <p:nvPr/>
        </p:nvSpPr>
        <p:spPr>
          <a:xfrm>
            <a:off x="411479" y="3063240"/>
            <a:ext cx="2514600" cy="777240"/>
          </a:xfrm>
          <a:prstGeom prst="rect">
            <a:avLst/>
          </a:prstGeom>
          <a:noFill/>
        </p:spPr>
        <p:txBody>
          <a:bodyPr wrap="square">
            <a:spAutoFit/>
          </a:bodyPr>
          <a:lstStyle/>
          <a:p>
            <a:pPr algn="l"/>
            <a:r>
              <a:rPr sz="1000" b="0" i="0">
                <a:solidFill>
                  <a:srgbClr val="FFFFFF"/>
                </a:solidFill>
                <a:latin typeface="Calibri"/>
              </a:rPr>
              <a:t>Catches very few positives
but when it does, it's correct.
Not useful in most cases.</a:t>
            </a:r>
          </a:p>
        </p:txBody>
      </p:sp>
      <p:sp>
        <p:nvSpPr>
          <p:cNvPr id="18" name="Rectangle 17"/>
          <p:cNvSpPr/>
          <p:nvPr/>
        </p:nvSpPr>
        <p:spPr>
          <a:xfrm>
            <a:off x="3246120" y="1737360"/>
            <a:ext cx="2738628" cy="25146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46120" y="1737360"/>
            <a:ext cx="50292" cy="25146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83279" y="1810512"/>
            <a:ext cx="2514600" cy="502920"/>
          </a:xfrm>
          <a:prstGeom prst="rect">
            <a:avLst/>
          </a:prstGeom>
          <a:noFill/>
        </p:spPr>
        <p:txBody>
          <a:bodyPr wrap="square">
            <a:spAutoFit/>
          </a:bodyPr>
          <a:lstStyle/>
          <a:p>
            <a:pPr algn="l"/>
            <a:r>
              <a:rPr sz="1200" b="1" i="0">
                <a:solidFill>
                  <a:srgbClr val="FF8C00"/>
                </a:solidFill>
                <a:latin typeface="Calibri"/>
              </a:rPr>
              <a:t>Low Precision
High Recall</a:t>
            </a:r>
          </a:p>
        </p:txBody>
      </p:sp>
      <p:sp>
        <p:nvSpPr>
          <p:cNvPr id="21" name="TextBox 20"/>
          <p:cNvSpPr txBox="1"/>
          <p:nvPr/>
        </p:nvSpPr>
        <p:spPr>
          <a:xfrm>
            <a:off x="3383279" y="2331720"/>
            <a:ext cx="2514600" cy="274320"/>
          </a:xfrm>
          <a:prstGeom prst="rect">
            <a:avLst/>
          </a:prstGeom>
          <a:noFill/>
        </p:spPr>
        <p:txBody>
          <a:bodyPr wrap="square">
            <a:spAutoFit/>
          </a:bodyPr>
          <a:lstStyle/>
          <a:p>
            <a:pPr algn="l"/>
            <a:r>
              <a:rPr sz="1100" b="0" i="0">
                <a:solidFill>
                  <a:srgbClr val="00C2CB"/>
                </a:solidFill>
                <a:latin typeface="Consolas"/>
              </a:rPr>
              <a:t>P=0.30  R=0.95</a:t>
            </a:r>
          </a:p>
        </p:txBody>
      </p:sp>
      <p:sp>
        <p:nvSpPr>
          <p:cNvPr id="22" name="Rectangle 21"/>
          <p:cNvSpPr/>
          <p:nvPr/>
        </p:nvSpPr>
        <p:spPr>
          <a:xfrm>
            <a:off x="3337560" y="2651760"/>
            <a:ext cx="260604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83279" y="2724912"/>
            <a:ext cx="2514600" cy="274320"/>
          </a:xfrm>
          <a:prstGeom prst="rect">
            <a:avLst/>
          </a:prstGeom>
          <a:noFill/>
        </p:spPr>
        <p:txBody>
          <a:bodyPr wrap="square">
            <a:spAutoFit/>
          </a:bodyPr>
          <a:lstStyle/>
          <a:p>
            <a:pPr algn="l"/>
            <a:r>
              <a:rPr sz="950" b="0" i="0">
                <a:solidFill>
                  <a:srgbClr val="7A92B8"/>
                </a:solidFill>
                <a:latin typeface="Consolas"/>
              </a:rPr>
              <a:t>F1 = 2×(0.30×0.95)/(0.30+0.95) = 0.456</a:t>
            </a:r>
          </a:p>
        </p:txBody>
      </p:sp>
      <p:sp>
        <p:nvSpPr>
          <p:cNvPr id="24" name="TextBox 23"/>
          <p:cNvSpPr txBox="1"/>
          <p:nvPr/>
        </p:nvSpPr>
        <p:spPr>
          <a:xfrm>
            <a:off x="3383279" y="3063240"/>
            <a:ext cx="2514600" cy="777240"/>
          </a:xfrm>
          <a:prstGeom prst="rect">
            <a:avLst/>
          </a:prstGeom>
          <a:noFill/>
        </p:spPr>
        <p:txBody>
          <a:bodyPr wrap="square">
            <a:spAutoFit/>
          </a:bodyPr>
          <a:lstStyle/>
          <a:p>
            <a:pPr algn="l"/>
            <a:r>
              <a:rPr sz="1000" b="0" i="0">
                <a:solidFill>
                  <a:srgbClr val="FFFFFF"/>
                </a:solidFill>
                <a:latin typeface="Calibri"/>
              </a:rPr>
              <a:t>Catches everything but also
lots of false alarms.
Also not ideal.</a:t>
            </a:r>
          </a:p>
        </p:txBody>
      </p:sp>
      <p:sp>
        <p:nvSpPr>
          <p:cNvPr id="25" name="Rectangle 24"/>
          <p:cNvSpPr/>
          <p:nvPr/>
        </p:nvSpPr>
        <p:spPr>
          <a:xfrm>
            <a:off x="6217920" y="1737360"/>
            <a:ext cx="2697479" cy="25146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1737360"/>
            <a:ext cx="50292" cy="25146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1810512"/>
            <a:ext cx="2514600" cy="502920"/>
          </a:xfrm>
          <a:prstGeom prst="rect">
            <a:avLst/>
          </a:prstGeom>
          <a:noFill/>
        </p:spPr>
        <p:txBody>
          <a:bodyPr wrap="square">
            <a:spAutoFit/>
          </a:bodyPr>
          <a:lstStyle/>
          <a:p>
            <a:pPr algn="l"/>
            <a:r>
              <a:rPr sz="1200" b="1" i="0">
                <a:solidFill>
                  <a:srgbClr val="39D353"/>
                </a:solidFill>
                <a:latin typeface="Calibri"/>
              </a:rPr>
              <a:t>Balanced
Precision &amp; Recall</a:t>
            </a:r>
          </a:p>
        </p:txBody>
      </p:sp>
      <p:sp>
        <p:nvSpPr>
          <p:cNvPr id="28" name="TextBox 27"/>
          <p:cNvSpPr txBox="1"/>
          <p:nvPr/>
        </p:nvSpPr>
        <p:spPr>
          <a:xfrm>
            <a:off x="6355080" y="2331720"/>
            <a:ext cx="2514600" cy="274320"/>
          </a:xfrm>
          <a:prstGeom prst="rect">
            <a:avLst/>
          </a:prstGeom>
          <a:noFill/>
        </p:spPr>
        <p:txBody>
          <a:bodyPr wrap="square">
            <a:spAutoFit/>
          </a:bodyPr>
          <a:lstStyle/>
          <a:p>
            <a:pPr algn="l"/>
            <a:r>
              <a:rPr sz="1100" b="0" i="0">
                <a:solidFill>
                  <a:srgbClr val="00C2CB"/>
                </a:solidFill>
                <a:latin typeface="Consolas"/>
              </a:rPr>
              <a:t>P=0.80  R=0.80</a:t>
            </a:r>
          </a:p>
        </p:txBody>
      </p:sp>
      <p:sp>
        <p:nvSpPr>
          <p:cNvPr id="29" name="Rectangle 28"/>
          <p:cNvSpPr/>
          <p:nvPr/>
        </p:nvSpPr>
        <p:spPr>
          <a:xfrm>
            <a:off x="6309359" y="2651760"/>
            <a:ext cx="260604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5080" y="2724912"/>
            <a:ext cx="2514600" cy="274320"/>
          </a:xfrm>
          <a:prstGeom prst="rect">
            <a:avLst/>
          </a:prstGeom>
          <a:noFill/>
        </p:spPr>
        <p:txBody>
          <a:bodyPr wrap="square">
            <a:spAutoFit/>
          </a:bodyPr>
          <a:lstStyle/>
          <a:p>
            <a:pPr algn="l"/>
            <a:r>
              <a:rPr sz="950" b="0" i="0">
                <a:solidFill>
                  <a:srgbClr val="7A92B8"/>
                </a:solidFill>
                <a:latin typeface="Consolas"/>
              </a:rPr>
              <a:t>F1 = 2×(0.80×0.80)/(0.80+0.80) = 0.800</a:t>
            </a:r>
          </a:p>
        </p:txBody>
      </p:sp>
      <p:sp>
        <p:nvSpPr>
          <p:cNvPr id="31" name="TextBox 30"/>
          <p:cNvSpPr txBox="1"/>
          <p:nvPr/>
        </p:nvSpPr>
        <p:spPr>
          <a:xfrm>
            <a:off x="6355080" y="3063240"/>
            <a:ext cx="2514600" cy="777240"/>
          </a:xfrm>
          <a:prstGeom prst="rect">
            <a:avLst/>
          </a:prstGeom>
          <a:noFill/>
        </p:spPr>
        <p:txBody>
          <a:bodyPr wrap="square">
            <a:spAutoFit/>
          </a:bodyPr>
          <a:lstStyle/>
          <a:p>
            <a:pPr algn="l"/>
            <a:r>
              <a:rPr sz="1000" b="0" i="0">
                <a:solidFill>
                  <a:srgbClr val="FFFFFF"/>
                </a:solidFill>
                <a:latin typeface="Calibri"/>
              </a:rPr>
              <a:t>Both precision and recall
are good. This model is
actually useful!</a:t>
            </a:r>
          </a:p>
        </p:txBody>
      </p:sp>
      <p:sp>
        <p:nvSpPr>
          <p:cNvPr id="32" name="TextBox 31"/>
          <p:cNvSpPr txBox="1"/>
          <p:nvPr/>
        </p:nvSpPr>
        <p:spPr>
          <a:xfrm>
            <a:off x="274320" y="4343400"/>
            <a:ext cx="8595360" cy="253916"/>
          </a:xfrm>
          <a:prstGeom prst="rect">
            <a:avLst/>
          </a:prstGeom>
          <a:noFill/>
        </p:spPr>
        <p:txBody>
          <a:bodyPr wrap="square">
            <a:spAutoFit/>
          </a:bodyPr>
          <a:lstStyle/>
          <a:p>
            <a:pPr algn="l"/>
            <a:r>
              <a:rPr sz="1050" b="0" i="0" dirty="0">
                <a:solidFill>
                  <a:srgbClr val="7A92B8"/>
                </a:solidFill>
                <a:latin typeface="Calibri"/>
              </a:rPr>
              <a:t> F1 penalizes extreme imbalance between Precision and Recall. A perfect score is 1.0. Minimum is 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10</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Metrics Cheat Sheet — When to Use What</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Choose your evaluation metric BEFORE training based on your problem type</a:t>
            </a:r>
          </a:p>
        </p:txBody>
      </p:sp>
      <p:sp>
        <p:nvSpPr>
          <p:cNvPr id="8" name="Rectangle 7"/>
          <p:cNvSpPr/>
          <p:nvPr/>
        </p:nvSpPr>
        <p:spPr>
          <a:xfrm>
            <a:off x="274320" y="1005840"/>
            <a:ext cx="8595360" cy="38404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33271"/>
            <a:ext cx="1371600" cy="320040"/>
          </a:xfrm>
          <a:prstGeom prst="rect">
            <a:avLst/>
          </a:prstGeom>
          <a:noFill/>
        </p:spPr>
        <p:txBody>
          <a:bodyPr wrap="square">
            <a:spAutoFit/>
          </a:bodyPr>
          <a:lstStyle/>
          <a:p>
            <a:pPr algn="l"/>
            <a:r>
              <a:rPr sz="1100" b="1" i="0">
                <a:solidFill>
                  <a:srgbClr val="0F1B2D"/>
                </a:solidFill>
                <a:latin typeface="Calibri"/>
              </a:rPr>
              <a:t>Metric</a:t>
            </a:r>
          </a:p>
        </p:txBody>
      </p:sp>
      <p:sp>
        <p:nvSpPr>
          <p:cNvPr id="10" name="TextBox 9"/>
          <p:cNvSpPr txBox="1"/>
          <p:nvPr/>
        </p:nvSpPr>
        <p:spPr>
          <a:xfrm>
            <a:off x="1737360" y="1033271"/>
            <a:ext cx="2286000" cy="320040"/>
          </a:xfrm>
          <a:prstGeom prst="rect">
            <a:avLst/>
          </a:prstGeom>
          <a:noFill/>
        </p:spPr>
        <p:txBody>
          <a:bodyPr wrap="square">
            <a:spAutoFit/>
          </a:bodyPr>
          <a:lstStyle/>
          <a:p>
            <a:pPr algn="l"/>
            <a:r>
              <a:rPr sz="1100" b="1" i="0">
                <a:solidFill>
                  <a:srgbClr val="0F1B2D"/>
                </a:solidFill>
                <a:latin typeface="Calibri"/>
              </a:rPr>
              <a:t>Formula</a:t>
            </a:r>
          </a:p>
        </p:txBody>
      </p:sp>
      <p:sp>
        <p:nvSpPr>
          <p:cNvPr id="11" name="TextBox 10"/>
          <p:cNvSpPr txBox="1"/>
          <p:nvPr/>
        </p:nvSpPr>
        <p:spPr>
          <a:xfrm>
            <a:off x="4069080" y="1033271"/>
            <a:ext cx="2560320" cy="320040"/>
          </a:xfrm>
          <a:prstGeom prst="rect">
            <a:avLst/>
          </a:prstGeom>
          <a:noFill/>
        </p:spPr>
        <p:txBody>
          <a:bodyPr wrap="square">
            <a:spAutoFit/>
          </a:bodyPr>
          <a:lstStyle/>
          <a:p>
            <a:pPr algn="l"/>
            <a:r>
              <a:rPr sz="1100" b="1" i="0">
                <a:solidFill>
                  <a:srgbClr val="0F1B2D"/>
                </a:solidFill>
                <a:latin typeface="Calibri"/>
              </a:rPr>
              <a:t>Best When</a:t>
            </a:r>
          </a:p>
        </p:txBody>
      </p:sp>
      <p:sp>
        <p:nvSpPr>
          <p:cNvPr id="12" name="TextBox 11"/>
          <p:cNvSpPr txBox="1"/>
          <p:nvPr/>
        </p:nvSpPr>
        <p:spPr>
          <a:xfrm>
            <a:off x="6675120" y="1033271"/>
            <a:ext cx="2103120" cy="320040"/>
          </a:xfrm>
          <a:prstGeom prst="rect">
            <a:avLst/>
          </a:prstGeom>
          <a:noFill/>
        </p:spPr>
        <p:txBody>
          <a:bodyPr wrap="square">
            <a:spAutoFit/>
          </a:bodyPr>
          <a:lstStyle/>
          <a:p>
            <a:pPr algn="l"/>
            <a:r>
              <a:rPr sz="1100" b="1" i="0">
                <a:solidFill>
                  <a:srgbClr val="0F1B2D"/>
                </a:solidFill>
                <a:latin typeface="Calibri"/>
              </a:rPr>
              <a:t>Weakness</a:t>
            </a:r>
          </a:p>
        </p:txBody>
      </p:sp>
      <p:sp>
        <p:nvSpPr>
          <p:cNvPr id="13" name="Rectangle 12"/>
          <p:cNvSpPr/>
          <p:nvPr/>
        </p:nvSpPr>
        <p:spPr>
          <a:xfrm>
            <a:off x="274320" y="1463040"/>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1463040"/>
            <a:ext cx="45720" cy="566928"/>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54480"/>
            <a:ext cx="1280160" cy="384048"/>
          </a:xfrm>
          <a:prstGeom prst="rect">
            <a:avLst/>
          </a:prstGeom>
          <a:noFill/>
        </p:spPr>
        <p:txBody>
          <a:bodyPr wrap="square">
            <a:spAutoFit/>
          </a:bodyPr>
          <a:lstStyle/>
          <a:p>
            <a:pPr algn="l"/>
            <a:r>
              <a:rPr sz="1200" b="1" i="0">
                <a:solidFill>
                  <a:srgbClr val="7A92B8"/>
                </a:solidFill>
                <a:latin typeface="Calibri"/>
              </a:rPr>
              <a:t>Accuracy</a:t>
            </a:r>
          </a:p>
        </p:txBody>
      </p:sp>
      <p:sp>
        <p:nvSpPr>
          <p:cNvPr id="16" name="TextBox 15"/>
          <p:cNvSpPr txBox="1"/>
          <p:nvPr/>
        </p:nvSpPr>
        <p:spPr>
          <a:xfrm>
            <a:off x="1737360" y="1572768"/>
            <a:ext cx="2240280" cy="347472"/>
          </a:xfrm>
          <a:prstGeom prst="rect">
            <a:avLst/>
          </a:prstGeom>
          <a:noFill/>
        </p:spPr>
        <p:txBody>
          <a:bodyPr wrap="square">
            <a:spAutoFit/>
          </a:bodyPr>
          <a:lstStyle/>
          <a:p>
            <a:pPr algn="l"/>
            <a:r>
              <a:rPr sz="1050" b="0" i="0">
                <a:solidFill>
                  <a:srgbClr val="00C2CB"/>
                </a:solidFill>
                <a:latin typeface="Consolas"/>
              </a:rPr>
              <a:t>(TP+TN)/Total</a:t>
            </a:r>
          </a:p>
        </p:txBody>
      </p:sp>
      <p:sp>
        <p:nvSpPr>
          <p:cNvPr id="17" name="TextBox 16"/>
          <p:cNvSpPr txBox="1"/>
          <p:nvPr/>
        </p:nvSpPr>
        <p:spPr>
          <a:xfrm>
            <a:off x="4069080" y="1554480"/>
            <a:ext cx="2514600" cy="384048"/>
          </a:xfrm>
          <a:prstGeom prst="rect">
            <a:avLst/>
          </a:prstGeom>
          <a:noFill/>
        </p:spPr>
        <p:txBody>
          <a:bodyPr wrap="square">
            <a:spAutoFit/>
          </a:bodyPr>
          <a:lstStyle/>
          <a:p>
            <a:pPr algn="l"/>
            <a:r>
              <a:rPr sz="1050" b="0" i="0">
                <a:solidFill>
                  <a:srgbClr val="FFFFFF"/>
                </a:solidFill>
                <a:latin typeface="Calibri"/>
              </a:rPr>
              <a:t>Classes are balanced</a:t>
            </a:r>
          </a:p>
        </p:txBody>
      </p:sp>
      <p:sp>
        <p:nvSpPr>
          <p:cNvPr id="18" name="TextBox 17"/>
          <p:cNvSpPr txBox="1"/>
          <p:nvPr/>
        </p:nvSpPr>
        <p:spPr>
          <a:xfrm>
            <a:off x="6675120" y="1554480"/>
            <a:ext cx="2057400" cy="384048"/>
          </a:xfrm>
          <a:prstGeom prst="rect">
            <a:avLst/>
          </a:prstGeom>
          <a:noFill/>
        </p:spPr>
        <p:txBody>
          <a:bodyPr wrap="square">
            <a:spAutoFit/>
          </a:bodyPr>
          <a:lstStyle/>
          <a:p>
            <a:pPr algn="l"/>
            <a:r>
              <a:rPr sz="1000" b="0" i="0">
                <a:solidFill>
                  <a:srgbClr val="7A92B8"/>
                </a:solidFill>
                <a:latin typeface="Calibri"/>
              </a:rPr>
              <a:t>Misleading when imbalanced</a:t>
            </a:r>
          </a:p>
        </p:txBody>
      </p:sp>
      <p:sp>
        <p:nvSpPr>
          <p:cNvPr id="19" name="Rectangle 18"/>
          <p:cNvSpPr/>
          <p:nvPr/>
        </p:nvSpPr>
        <p:spPr>
          <a:xfrm>
            <a:off x="274320" y="2084832"/>
            <a:ext cx="8595360" cy="566928"/>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2084832"/>
            <a:ext cx="45720" cy="56692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76272"/>
            <a:ext cx="1280160" cy="384048"/>
          </a:xfrm>
          <a:prstGeom prst="rect">
            <a:avLst/>
          </a:prstGeom>
          <a:noFill/>
        </p:spPr>
        <p:txBody>
          <a:bodyPr wrap="square">
            <a:spAutoFit/>
          </a:bodyPr>
          <a:lstStyle/>
          <a:p>
            <a:pPr algn="l"/>
            <a:r>
              <a:rPr sz="1200" b="1" i="0">
                <a:solidFill>
                  <a:srgbClr val="FFC400"/>
                </a:solidFill>
                <a:latin typeface="Calibri"/>
              </a:rPr>
              <a:t>Precision</a:t>
            </a:r>
          </a:p>
        </p:txBody>
      </p:sp>
      <p:sp>
        <p:nvSpPr>
          <p:cNvPr id="22" name="TextBox 21"/>
          <p:cNvSpPr txBox="1"/>
          <p:nvPr/>
        </p:nvSpPr>
        <p:spPr>
          <a:xfrm>
            <a:off x="1737360" y="2194560"/>
            <a:ext cx="2240280" cy="347472"/>
          </a:xfrm>
          <a:prstGeom prst="rect">
            <a:avLst/>
          </a:prstGeom>
          <a:noFill/>
        </p:spPr>
        <p:txBody>
          <a:bodyPr wrap="square">
            <a:spAutoFit/>
          </a:bodyPr>
          <a:lstStyle/>
          <a:p>
            <a:pPr algn="l"/>
            <a:r>
              <a:rPr sz="1050" b="0" i="0">
                <a:solidFill>
                  <a:srgbClr val="00C2CB"/>
                </a:solidFill>
                <a:latin typeface="Consolas"/>
              </a:rPr>
              <a:t>TP/(TP+FP)</a:t>
            </a:r>
          </a:p>
        </p:txBody>
      </p:sp>
      <p:sp>
        <p:nvSpPr>
          <p:cNvPr id="23" name="TextBox 22"/>
          <p:cNvSpPr txBox="1"/>
          <p:nvPr/>
        </p:nvSpPr>
        <p:spPr>
          <a:xfrm>
            <a:off x="4069080" y="2176272"/>
            <a:ext cx="2514600" cy="384048"/>
          </a:xfrm>
          <a:prstGeom prst="rect">
            <a:avLst/>
          </a:prstGeom>
          <a:noFill/>
        </p:spPr>
        <p:txBody>
          <a:bodyPr wrap="square">
            <a:spAutoFit/>
          </a:bodyPr>
          <a:lstStyle/>
          <a:p>
            <a:pPr algn="l"/>
            <a:r>
              <a:rPr sz="1050" b="0" i="0">
                <a:solidFill>
                  <a:srgbClr val="FFFFFF"/>
                </a:solidFill>
                <a:latin typeface="Calibri"/>
              </a:rPr>
              <a:t>FP is costly (spam filter)</a:t>
            </a:r>
          </a:p>
        </p:txBody>
      </p:sp>
      <p:sp>
        <p:nvSpPr>
          <p:cNvPr id="24" name="TextBox 23"/>
          <p:cNvSpPr txBox="1"/>
          <p:nvPr/>
        </p:nvSpPr>
        <p:spPr>
          <a:xfrm>
            <a:off x="6675120" y="2176272"/>
            <a:ext cx="2057400" cy="384048"/>
          </a:xfrm>
          <a:prstGeom prst="rect">
            <a:avLst/>
          </a:prstGeom>
          <a:noFill/>
        </p:spPr>
        <p:txBody>
          <a:bodyPr wrap="square">
            <a:spAutoFit/>
          </a:bodyPr>
          <a:lstStyle/>
          <a:p>
            <a:pPr algn="l"/>
            <a:r>
              <a:rPr sz="1000" b="0" i="0">
                <a:solidFill>
                  <a:srgbClr val="7A92B8"/>
                </a:solidFill>
                <a:latin typeface="Calibri"/>
              </a:rPr>
              <a:t>Ignores False Negatives</a:t>
            </a:r>
          </a:p>
        </p:txBody>
      </p:sp>
      <p:sp>
        <p:nvSpPr>
          <p:cNvPr id="25" name="Rectangle 24"/>
          <p:cNvSpPr/>
          <p:nvPr/>
        </p:nvSpPr>
        <p:spPr>
          <a:xfrm>
            <a:off x="274320" y="2706624"/>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 y="2706624"/>
            <a:ext cx="45720" cy="56692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798064"/>
            <a:ext cx="1280160" cy="384048"/>
          </a:xfrm>
          <a:prstGeom prst="rect">
            <a:avLst/>
          </a:prstGeom>
          <a:noFill/>
        </p:spPr>
        <p:txBody>
          <a:bodyPr wrap="square">
            <a:spAutoFit/>
          </a:bodyPr>
          <a:lstStyle/>
          <a:p>
            <a:pPr algn="l"/>
            <a:r>
              <a:rPr sz="1200" b="1" i="0">
                <a:solidFill>
                  <a:srgbClr val="00C2CB"/>
                </a:solidFill>
                <a:latin typeface="Calibri"/>
              </a:rPr>
              <a:t>Recall</a:t>
            </a:r>
          </a:p>
        </p:txBody>
      </p:sp>
      <p:sp>
        <p:nvSpPr>
          <p:cNvPr id="28" name="TextBox 27"/>
          <p:cNvSpPr txBox="1"/>
          <p:nvPr/>
        </p:nvSpPr>
        <p:spPr>
          <a:xfrm>
            <a:off x="1737360" y="2816352"/>
            <a:ext cx="2240280" cy="347472"/>
          </a:xfrm>
          <a:prstGeom prst="rect">
            <a:avLst/>
          </a:prstGeom>
          <a:noFill/>
        </p:spPr>
        <p:txBody>
          <a:bodyPr wrap="square">
            <a:spAutoFit/>
          </a:bodyPr>
          <a:lstStyle/>
          <a:p>
            <a:pPr algn="l"/>
            <a:r>
              <a:rPr sz="1050" b="0" i="0">
                <a:solidFill>
                  <a:srgbClr val="00C2CB"/>
                </a:solidFill>
                <a:latin typeface="Consolas"/>
              </a:rPr>
              <a:t>TP/(TP+FN)</a:t>
            </a:r>
          </a:p>
        </p:txBody>
      </p:sp>
      <p:sp>
        <p:nvSpPr>
          <p:cNvPr id="29" name="TextBox 28"/>
          <p:cNvSpPr txBox="1"/>
          <p:nvPr/>
        </p:nvSpPr>
        <p:spPr>
          <a:xfrm>
            <a:off x="4069080" y="2798064"/>
            <a:ext cx="2514600" cy="384048"/>
          </a:xfrm>
          <a:prstGeom prst="rect">
            <a:avLst/>
          </a:prstGeom>
          <a:noFill/>
        </p:spPr>
        <p:txBody>
          <a:bodyPr wrap="square">
            <a:spAutoFit/>
          </a:bodyPr>
          <a:lstStyle/>
          <a:p>
            <a:pPr algn="l"/>
            <a:r>
              <a:rPr sz="1050" b="0" i="0">
                <a:solidFill>
                  <a:srgbClr val="FFFFFF"/>
                </a:solidFill>
                <a:latin typeface="Calibri"/>
              </a:rPr>
              <a:t>FN is costly (disease screen)</a:t>
            </a:r>
          </a:p>
        </p:txBody>
      </p:sp>
      <p:sp>
        <p:nvSpPr>
          <p:cNvPr id="30" name="TextBox 29"/>
          <p:cNvSpPr txBox="1"/>
          <p:nvPr/>
        </p:nvSpPr>
        <p:spPr>
          <a:xfrm>
            <a:off x="6675120" y="2798064"/>
            <a:ext cx="2057400" cy="384048"/>
          </a:xfrm>
          <a:prstGeom prst="rect">
            <a:avLst/>
          </a:prstGeom>
          <a:noFill/>
        </p:spPr>
        <p:txBody>
          <a:bodyPr wrap="square">
            <a:spAutoFit/>
          </a:bodyPr>
          <a:lstStyle/>
          <a:p>
            <a:pPr algn="l"/>
            <a:r>
              <a:rPr sz="1000" b="0" i="0">
                <a:solidFill>
                  <a:srgbClr val="7A92B8"/>
                </a:solidFill>
                <a:latin typeface="Calibri"/>
              </a:rPr>
              <a:t>Ignores False Positives</a:t>
            </a:r>
          </a:p>
        </p:txBody>
      </p:sp>
      <p:sp>
        <p:nvSpPr>
          <p:cNvPr id="31" name="Rectangle 30"/>
          <p:cNvSpPr/>
          <p:nvPr/>
        </p:nvSpPr>
        <p:spPr>
          <a:xfrm>
            <a:off x="274320" y="3328416"/>
            <a:ext cx="8595360" cy="566928"/>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3328416"/>
            <a:ext cx="45720" cy="56692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419856"/>
            <a:ext cx="1280160" cy="384048"/>
          </a:xfrm>
          <a:prstGeom prst="rect">
            <a:avLst/>
          </a:prstGeom>
          <a:noFill/>
        </p:spPr>
        <p:txBody>
          <a:bodyPr wrap="square">
            <a:spAutoFit/>
          </a:bodyPr>
          <a:lstStyle/>
          <a:p>
            <a:pPr algn="l"/>
            <a:r>
              <a:rPr sz="1200" b="1" i="0">
                <a:solidFill>
                  <a:srgbClr val="39D353"/>
                </a:solidFill>
                <a:latin typeface="Calibri"/>
              </a:rPr>
              <a:t>F1-Score</a:t>
            </a:r>
          </a:p>
        </p:txBody>
      </p:sp>
      <p:sp>
        <p:nvSpPr>
          <p:cNvPr id="34" name="TextBox 33"/>
          <p:cNvSpPr txBox="1"/>
          <p:nvPr/>
        </p:nvSpPr>
        <p:spPr>
          <a:xfrm>
            <a:off x="1737360" y="3438144"/>
            <a:ext cx="2240280" cy="347472"/>
          </a:xfrm>
          <a:prstGeom prst="rect">
            <a:avLst/>
          </a:prstGeom>
          <a:noFill/>
        </p:spPr>
        <p:txBody>
          <a:bodyPr wrap="square">
            <a:spAutoFit/>
          </a:bodyPr>
          <a:lstStyle/>
          <a:p>
            <a:pPr algn="l"/>
            <a:r>
              <a:rPr sz="1050" b="0" i="0">
                <a:solidFill>
                  <a:srgbClr val="00C2CB"/>
                </a:solidFill>
                <a:latin typeface="Consolas"/>
              </a:rPr>
              <a:t>2×P×R/(P+R)</a:t>
            </a:r>
          </a:p>
        </p:txBody>
      </p:sp>
      <p:sp>
        <p:nvSpPr>
          <p:cNvPr id="35" name="TextBox 34"/>
          <p:cNvSpPr txBox="1"/>
          <p:nvPr/>
        </p:nvSpPr>
        <p:spPr>
          <a:xfrm>
            <a:off x="4069080" y="3419856"/>
            <a:ext cx="2514600" cy="384048"/>
          </a:xfrm>
          <a:prstGeom prst="rect">
            <a:avLst/>
          </a:prstGeom>
          <a:noFill/>
        </p:spPr>
        <p:txBody>
          <a:bodyPr wrap="square">
            <a:spAutoFit/>
          </a:bodyPr>
          <a:lstStyle/>
          <a:p>
            <a:pPr algn="l"/>
            <a:r>
              <a:rPr sz="1050" b="0" i="0">
                <a:solidFill>
                  <a:srgbClr val="FFFFFF"/>
                </a:solidFill>
                <a:latin typeface="Calibri"/>
              </a:rPr>
              <a:t>Both FP and FN matter equally</a:t>
            </a:r>
          </a:p>
        </p:txBody>
      </p:sp>
      <p:sp>
        <p:nvSpPr>
          <p:cNvPr id="36" name="TextBox 35"/>
          <p:cNvSpPr txBox="1"/>
          <p:nvPr/>
        </p:nvSpPr>
        <p:spPr>
          <a:xfrm>
            <a:off x="6675120" y="3419856"/>
            <a:ext cx="2057400" cy="384048"/>
          </a:xfrm>
          <a:prstGeom prst="rect">
            <a:avLst/>
          </a:prstGeom>
          <a:noFill/>
        </p:spPr>
        <p:txBody>
          <a:bodyPr wrap="square">
            <a:spAutoFit/>
          </a:bodyPr>
          <a:lstStyle/>
          <a:p>
            <a:pPr algn="l"/>
            <a:r>
              <a:rPr sz="1000" b="0" i="0">
                <a:solidFill>
                  <a:srgbClr val="7A92B8"/>
                </a:solidFill>
                <a:latin typeface="Calibri"/>
              </a:rPr>
              <a:t>Less interpretable to clients</a:t>
            </a:r>
          </a:p>
        </p:txBody>
      </p:sp>
      <p:sp>
        <p:nvSpPr>
          <p:cNvPr id="37" name="TextBox 36"/>
          <p:cNvSpPr txBox="1"/>
          <p:nvPr/>
        </p:nvSpPr>
        <p:spPr>
          <a:xfrm>
            <a:off x="274320" y="4297680"/>
            <a:ext cx="8595360" cy="320040"/>
          </a:xfrm>
          <a:prstGeom prst="rect">
            <a:avLst/>
          </a:prstGeom>
          <a:noFill/>
        </p:spPr>
        <p:txBody>
          <a:bodyPr wrap="square">
            <a:spAutoFit/>
          </a:bodyPr>
          <a:lstStyle/>
          <a:p>
            <a:pPr algn="l"/>
            <a:r>
              <a:rPr sz="1050" b="0" i="0">
                <a:solidFill>
                  <a:srgbClr val="FFC400"/>
                </a:solidFill>
                <a:latin typeface="Calibri"/>
              </a:rPr>
              <a:t>💡 For the Titanic dataset: Use F1-Score because classes are slightly imbalanced (62% not survived, 38% survived).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39D353"/>
                </a:solidFill>
                <a:latin typeface="Arial Black"/>
              </a:rPr>
              <a:t>02</a:t>
            </a:r>
          </a:p>
        </p:txBody>
      </p:sp>
      <p:sp>
        <p:nvSpPr>
          <p:cNvPr id="5" name="TextBox 4"/>
          <p:cNvSpPr txBox="1"/>
          <p:nvPr/>
        </p:nvSpPr>
        <p:spPr>
          <a:xfrm>
            <a:off x="457200" y="3200400"/>
            <a:ext cx="5486400" cy="731520"/>
          </a:xfrm>
          <a:prstGeom prst="rect">
            <a:avLst/>
          </a:prstGeom>
          <a:noFill/>
        </p:spPr>
        <p:txBody>
          <a:bodyPr wrap="square">
            <a:spAutoFit/>
          </a:bodyPr>
          <a:lstStyle/>
          <a:p>
            <a:pPr algn="l"/>
            <a:r>
              <a:rPr sz="3400" b="1" i="0">
                <a:solidFill>
                  <a:srgbClr val="FFFFFF"/>
                </a:solidFill>
                <a:latin typeface="Calibri"/>
              </a:rPr>
              <a:t>Decision Trees</a:t>
            </a:r>
          </a:p>
        </p:txBody>
      </p:sp>
      <p:sp>
        <p:nvSpPr>
          <p:cNvPr id="6" name="Rectangle 5"/>
          <p:cNvSpPr/>
          <p:nvPr/>
        </p:nvSpPr>
        <p:spPr>
          <a:xfrm>
            <a:off x="457200" y="3063240"/>
            <a:ext cx="365760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12</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3000" b="1" i="0">
                <a:solidFill>
                  <a:srgbClr val="FFFFFF"/>
                </a:solidFill>
                <a:latin typeface="Calibri"/>
              </a:rPr>
              <a:t>What Is a Decision Tree?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A supervised learning algorithm that makes decisions like a human flowchart</a:t>
            </a:r>
          </a:p>
        </p:txBody>
      </p:sp>
      <p:sp>
        <p:nvSpPr>
          <p:cNvPr id="8" name="Rectangle 7"/>
          <p:cNvSpPr/>
          <p:nvPr/>
        </p:nvSpPr>
        <p:spPr>
          <a:xfrm>
            <a:off x="274320" y="1005840"/>
            <a:ext cx="8595360" cy="6858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6858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078992"/>
            <a:ext cx="2560320" cy="320040"/>
          </a:xfrm>
          <a:prstGeom prst="rect">
            <a:avLst/>
          </a:prstGeom>
          <a:noFill/>
        </p:spPr>
        <p:txBody>
          <a:bodyPr wrap="square">
            <a:spAutoFit/>
          </a:bodyPr>
          <a:lstStyle/>
          <a:p>
            <a:pPr algn="l"/>
            <a:r>
              <a:rPr sz="1250" b="1" i="0">
                <a:solidFill>
                  <a:srgbClr val="39D353"/>
                </a:solidFill>
                <a:latin typeface="Calibri"/>
              </a:rPr>
              <a:t>Supervised Learning</a:t>
            </a:r>
          </a:p>
        </p:txBody>
      </p:sp>
      <p:sp>
        <p:nvSpPr>
          <p:cNvPr id="12" name="TextBox 11"/>
          <p:cNvSpPr txBox="1"/>
          <p:nvPr/>
        </p:nvSpPr>
        <p:spPr>
          <a:xfrm>
            <a:off x="1005840" y="1371600"/>
            <a:ext cx="7315200" cy="292608"/>
          </a:xfrm>
          <a:prstGeom prst="rect">
            <a:avLst/>
          </a:prstGeom>
          <a:noFill/>
        </p:spPr>
        <p:txBody>
          <a:bodyPr wrap="square">
            <a:spAutoFit/>
          </a:bodyPr>
          <a:lstStyle/>
          <a:p>
            <a:pPr algn="l"/>
            <a:r>
              <a:rPr sz="1100" b="0" i="0">
                <a:solidFill>
                  <a:srgbClr val="7A92B8"/>
                </a:solidFill>
                <a:latin typeface="Calibri"/>
              </a:rPr>
              <a:t>It learns from labeled training data (inputs + correct answers)</a:t>
            </a:r>
          </a:p>
        </p:txBody>
      </p:sp>
      <p:sp>
        <p:nvSpPr>
          <p:cNvPr id="13" name="Rectangle 12"/>
          <p:cNvSpPr/>
          <p:nvPr/>
        </p:nvSpPr>
        <p:spPr>
          <a:xfrm>
            <a:off x="274320" y="1773936"/>
            <a:ext cx="8595360" cy="6858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1773936"/>
            <a:ext cx="50292" cy="6858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1847088"/>
            <a:ext cx="2560320" cy="320040"/>
          </a:xfrm>
          <a:prstGeom prst="rect">
            <a:avLst/>
          </a:prstGeom>
          <a:noFill/>
        </p:spPr>
        <p:txBody>
          <a:bodyPr wrap="square">
            <a:spAutoFit/>
          </a:bodyPr>
          <a:lstStyle/>
          <a:p>
            <a:pPr algn="l"/>
            <a:r>
              <a:rPr sz="1250" b="1" i="0">
                <a:solidFill>
                  <a:srgbClr val="39D353"/>
                </a:solidFill>
                <a:latin typeface="Calibri"/>
              </a:rPr>
              <a:t>Classification &amp; Regression</a:t>
            </a:r>
          </a:p>
        </p:txBody>
      </p:sp>
      <p:sp>
        <p:nvSpPr>
          <p:cNvPr id="17" name="TextBox 16"/>
          <p:cNvSpPr txBox="1"/>
          <p:nvPr/>
        </p:nvSpPr>
        <p:spPr>
          <a:xfrm>
            <a:off x="1005840" y="2139696"/>
            <a:ext cx="7315200" cy="292608"/>
          </a:xfrm>
          <a:prstGeom prst="rect">
            <a:avLst/>
          </a:prstGeom>
          <a:noFill/>
        </p:spPr>
        <p:txBody>
          <a:bodyPr wrap="square">
            <a:spAutoFit/>
          </a:bodyPr>
          <a:lstStyle/>
          <a:p>
            <a:pPr algn="l"/>
            <a:r>
              <a:rPr sz="1100" b="0" i="0">
                <a:solidFill>
                  <a:srgbClr val="7A92B8"/>
                </a:solidFill>
                <a:latin typeface="Calibri"/>
              </a:rPr>
              <a:t>Can predict categories (survived/not) OR numbers (price)</a:t>
            </a:r>
          </a:p>
        </p:txBody>
      </p:sp>
      <p:sp>
        <p:nvSpPr>
          <p:cNvPr id="18" name="Rectangle 17"/>
          <p:cNvSpPr/>
          <p:nvPr/>
        </p:nvSpPr>
        <p:spPr>
          <a:xfrm>
            <a:off x="274320" y="2542032"/>
            <a:ext cx="8595360" cy="6858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542032"/>
            <a:ext cx="50292" cy="6858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2615184"/>
            <a:ext cx="2560320" cy="320040"/>
          </a:xfrm>
          <a:prstGeom prst="rect">
            <a:avLst/>
          </a:prstGeom>
          <a:noFill/>
        </p:spPr>
        <p:txBody>
          <a:bodyPr wrap="square">
            <a:spAutoFit/>
          </a:bodyPr>
          <a:lstStyle/>
          <a:p>
            <a:pPr algn="l"/>
            <a:r>
              <a:rPr sz="1250" b="1" i="0">
                <a:solidFill>
                  <a:srgbClr val="39D353"/>
                </a:solidFill>
                <a:latin typeface="Calibri"/>
              </a:rPr>
              <a:t>Fully Interpretable</a:t>
            </a:r>
          </a:p>
        </p:txBody>
      </p:sp>
      <p:sp>
        <p:nvSpPr>
          <p:cNvPr id="22" name="TextBox 21"/>
          <p:cNvSpPr txBox="1"/>
          <p:nvPr/>
        </p:nvSpPr>
        <p:spPr>
          <a:xfrm>
            <a:off x="1005840" y="2907792"/>
            <a:ext cx="7315200" cy="292608"/>
          </a:xfrm>
          <a:prstGeom prst="rect">
            <a:avLst/>
          </a:prstGeom>
          <a:noFill/>
        </p:spPr>
        <p:txBody>
          <a:bodyPr wrap="square">
            <a:spAutoFit/>
          </a:bodyPr>
          <a:lstStyle/>
          <a:p>
            <a:pPr algn="l"/>
            <a:r>
              <a:rPr sz="1100" b="0" i="0">
                <a:solidFill>
                  <a:srgbClr val="7A92B8"/>
                </a:solidFill>
                <a:latin typeface="Calibri"/>
              </a:rPr>
              <a:t>You can literally READ the tree and understand every decision</a:t>
            </a:r>
          </a:p>
        </p:txBody>
      </p:sp>
      <p:sp>
        <p:nvSpPr>
          <p:cNvPr id="23" name="Rectangle 22"/>
          <p:cNvSpPr/>
          <p:nvPr/>
        </p:nvSpPr>
        <p:spPr>
          <a:xfrm>
            <a:off x="274320" y="3310128"/>
            <a:ext cx="8595360" cy="6858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310128"/>
            <a:ext cx="50292" cy="6858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3383280"/>
            <a:ext cx="2560320" cy="320040"/>
          </a:xfrm>
          <a:prstGeom prst="rect">
            <a:avLst/>
          </a:prstGeom>
          <a:noFill/>
        </p:spPr>
        <p:txBody>
          <a:bodyPr wrap="square">
            <a:spAutoFit/>
          </a:bodyPr>
          <a:lstStyle/>
          <a:p>
            <a:pPr algn="l"/>
            <a:r>
              <a:rPr sz="1250" b="1" i="0">
                <a:solidFill>
                  <a:srgbClr val="39D353"/>
                </a:solidFill>
                <a:latin typeface="Calibri"/>
              </a:rPr>
              <a:t>Hierarchical Structure</a:t>
            </a:r>
          </a:p>
        </p:txBody>
      </p:sp>
      <p:sp>
        <p:nvSpPr>
          <p:cNvPr id="27" name="TextBox 26"/>
          <p:cNvSpPr txBox="1"/>
          <p:nvPr/>
        </p:nvSpPr>
        <p:spPr>
          <a:xfrm>
            <a:off x="1005840" y="3675888"/>
            <a:ext cx="7315200" cy="292608"/>
          </a:xfrm>
          <a:prstGeom prst="rect">
            <a:avLst/>
          </a:prstGeom>
          <a:noFill/>
        </p:spPr>
        <p:txBody>
          <a:bodyPr wrap="square">
            <a:spAutoFit/>
          </a:bodyPr>
          <a:lstStyle/>
          <a:p>
            <a:pPr algn="l"/>
            <a:r>
              <a:rPr sz="1100" b="0" i="0">
                <a:solidFill>
                  <a:srgbClr val="7A92B8"/>
                </a:solidFill>
                <a:latin typeface="Calibri"/>
              </a:rPr>
              <a:t>Root node → Internal nodes → Leaf nodes (final predictions)</a:t>
            </a:r>
          </a:p>
        </p:txBody>
      </p:sp>
      <p:sp>
        <p:nvSpPr>
          <p:cNvPr id="28" name="Rectangle 27"/>
          <p:cNvSpPr/>
          <p:nvPr/>
        </p:nvSpPr>
        <p:spPr>
          <a:xfrm>
            <a:off x="274320" y="4078224"/>
            <a:ext cx="8595360" cy="6858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 y="4078224"/>
            <a:ext cx="50292" cy="6858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05840" y="4151376"/>
            <a:ext cx="2560320" cy="320040"/>
          </a:xfrm>
          <a:prstGeom prst="rect">
            <a:avLst/>
          </a:prstGeom>
          <a:noFill/>
        </p:spPr>
        <p:txBody>
          <a:bodyPr wrap="square">
            <a:spAutoFit/>
          </a:bodyPr>
          <a:lstStyle/>
          <a:p>
            <a:pPr algn="l"/>
            <a:r>
              <a:rPr sz="1250" b="1" i="0">
                <a:solidFill>
                  <a:srgbClr val="39D353"/>
                </a:solidFill>
                <a:latin typeface="Calibri"/>
              </a:rPr>
              <a:t>Yes/No Questions</a:t>
            </a:r>
          </a:p>
        </p:txBody>
      </p:sp>
      <p:sp>
        <p:nvSpPr>
          <p:cNvPr id="32" name="TextBox 31"/>
          <p:cNvSpPr txBox="1"/>
          <p:nvPr/>
        </p:nvSpPr>
        <p:spPr>
          <a:xfrm>
            <a:off x="1005840" y="4443984"/>
            <a:ext cx="7315200" cy="292608"/>
          </a:xfrm>
          <a:prstGeom prst="rect">
            <a:avLst/>
          </a:prstGeom>
          <a:noFill/>
        </p:spPr>
        <p:txBody>
          <a:bodyPr wrap="square">
            <a:spAutoFit/>
          </a:bodyPr>
          <a:lstStyle/>
          <a:p>
            <a:pPr algn="l"/>
            <a:r>
              <a:rPr sz="1100" b="0" i="0">
                <a:solidFill>
                  <a:srgbClr val="7A92B8"/>
                </a:solidFill>
                <a:latin typeface="Calibri"/>
              </a:rPr>
              <a:t>Each node splits data using a yes/no question on one feature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13</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900" b="1" i="0">
                <a:solidFill>
                  <a:srgbClr val="FFFFFF"/>
                </a:solidFill>
                <a:latin typeface="Calibri"/>
              </a:rPr>
              <a:t>Anatomy of a Decision Tree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Every tree has the same 4 components — learn these first</a:t>
            </a:r>
          </a:p>
        </p:txBody>
      </p:sp>
      <p:sp>
        <p:nvSpPr>
          <p:cNvPr id="8" name="Rectangle 7"/>
          <p:cNvSpPr/>
          <p:nvPr/>
        </p:nvSpPr>
        <p:spPr>
          <a:xfrm>
            <a:off x="3017520" y="1005840"/>
            <a:ext cx="3108960" cy="5486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35808" y="1024128"/>
            <a:ext cx="3072384" cy="512064"/>
          </a:xfrm>
          <a:prstGeom prst="rect">
            <a:avLst/>
          </a:prstGeom>
          <a:noFill/>
        </p:spPr>
        <p:txBody>
          <a:bodyPr wrap="square">
            <a:spAutoFit/>
          </a:bodyPr>
          <a:lstStyle/>
          <a:p>
            <a:pPr algn="ctr"/>
            <a:r>
              <a:rPr sz="1100" b="1" i="0">
                <a:solidFill>
                  <a:srgbClr val="FFFFFF"/>
                </a:solidFill>
                <a:latin typeface="Calibri"/>
              </a:rPr>
              <a:t>Root Node
(First question)</a:t>
            </a:r>
          </a:p>
        </p:txBody>
      </p:sp>
      <p:sp>
        <p:nvSpPr>
          <p:cNvPr id="10" name="Rectangle 9"/>
          <p:cNvSpPr/>
          <p:nvPr/>
        </p:nvSpPr>
        <p:spPr>
          <a:xfrm>
            <a:off x="914400" y="1965960"/>
            <a:ext cx="2743200" cy="502920"/>
          </a:xfrm>
          <a:prstGeom prst="rect">
            <a:avLst/>
          </a:prstGeom>
          <a:solidFill>
            <a:srgbClr val="00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1984248"/>
            <a:ext cx="2706624" cy="466344"/>
          </a:xfrm>
          <a:prstGeom prst="rect">
            <a:avLst/>
          </a:prstGeom>
          <a:noFill/>
        </p:spPr>
        <p:txBody>
          <a:bodyPr wrap="square">
            <a:spAutoFit/>
          </a:bodyPr>
          <a:lstStyle/>
          <a:p>
            <a:pPr algn="ctr"/>
            <a:r>
              <a:rPr sz="1050" b="0" i="0">
                <a:solidFill>
                  <a:srgbClr val="FFFFFF"/>
                </a:solidFill>
                <a:latin typeface="Calibri"/>
              </a:rPr>
              <a:t>Internal Node
(Sub-question)</a:t>
            </a:r>
          </a:p>
        </p:txBody>
      </p:sp>
      <p:sp>
        <p:nvSpPr>
          <p:cNvPr id="12" name="Rectangle 11"/>
          <p:cNvSpPr/>
          <p:nvPr/>
        </p:nvSpPr>
        <p:spPr>
          <a:xfrm>
            <a:off x="5303520" y="1965960"/>
            <a:ext cx="2743200" cy="502920"/>
          </a:xfrm>
          <a:prstGeom prst="rect">
            <a:avLst/>
          </a:prstGeom>
          <a:solidFill>
            <a:srgbClr val="00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21808" y="1984248"/>
            <a:ext cx="2706624" cy="466344"/>
          </a:xfrm>
          <a:prstGeom prst="rect">
            <a:avLst/>
          </a:prstGeom>
          <a:noFill/>
        </p:spPr>
        <p:txBody>
          <a:bodyPr wrap="square">
            <a:spAutoFit/>
          </a:bodyPr>
          <a:lstStyle/>
          <a:p>
            <a:pPr algn="ctr"/>
            <a:r>
              <a:rPr sz="1050" b="0" i="0">
                <a:solidFill>
                  <a:srgbClr val="FFFFFF"/>
                </a:solidFill>
                <a:latin typeface="Calibri"/>
              </a:rPr>
              <a:t>Internal Node
(Sub-question)</a:t>
            </a:r>
          </a:p>
        </p:txBody>
      </p:sp>
      <p:sp>
        <p:nvSpPr>
          <p:cNvPr id="14" name="Rectangle 13"/>
          <p:cNvSpPr/>
          <p:nvPr/>
        </p:nvSpPr>
        <p:spPr>
          <a:xfrm>
            <a:off x="274320" y="2971800"/>
            <a:ext cx="1417320" cy="6400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2971800"/>
            <a:ext cx="1417320" cy="54864"/>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3017520"/>
            <a:ext cx="1417320" cy="566928"/>
          </a:xfrm>
          <a:prstGeom prst="rect">
            <a:avLst/>
          </a:prstGeom>
          <a:noFill/>
        </p:spPr>
        <p:txBody>
          <a:bodyPr wrap="square">
            <a:spAutoFit/>
          </a:bodyPr>
          <a:lstStyle/>
          <a:p>
            <a:pPr algn="ctr"/>
            <a:r>
              <a:rPr sz="1000" b="1" i="0">
                <a:solidFill>
                  <a:srgbClr val="06D679"/>
                </a:solidFill>
                <a:latin typeface="Calibri"/>
              </a:rPr>
              <a:t>Leaf
Survived ✅</a:t>
            </a:r>
          </a:p>
        </p:txBody>
      </p:sp>
      <p:sp>
        <p:nvSpPr>
          <p:cNvPr id="17" name="Rectangle 16"/>
          <p:cNvSpPr/>
          <p:nvPr/>
        </p:nvSpPr>
        <p:spPr>
          <a:xfrm>
            <a:off x="1920240" y="2971800"/>
            <a:ext cx="1417320" cy="6400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920240" y="2971800"/>
            <a:ext cx="141732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20240" y="3017520"/>
            <a:ext cx="1417320" cy="566928"/>
          </a:xfrm>
          <a:prstGeom prst="rect">
            <a:avLst/>
          </a:prstGeom>
          <a:noFill/>
        </p:spPr>
        <p:txBody>
          <a:bodyPr wrap="square">
            <a:spAutoFit/>
          </a:bodyPr>
          <a:lstStyle/>
          <a:p>
            <a:pPr algn="ctr"/>
            <a:r>
              <a:rPr sz="1000" b="1" i="0">
                <a:solidFill>
                  <a:srgbClr val="FF4B4B"/>
                </a:solidFill>
                <a:latin typeface="Calibri"/>
              </a:rPr>
              <a:t>Leaf
Died ❌</a:t>
            </a:r>
          </a:p>
        </p:txBody>
      </p:sp>
      <p:sp>
        <p:nvSpPr>
          <p:cNvPr id="20" name="Rectangle 19"/>
          <p:cNvSpPr/>
          <p:nvPr/>
        </p:nvSpPr>
        <p:spPr>
          <a:xfrm>
            <a:off x="4663440" y="2971800"/>
            <a:ext cx="1417320" cy="6400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63440" y="2971800"/>
            <a:ext cx="1417320" cy="54864"/>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63440" y="3017520"/>
            <a:ext cx="1417320" cy="566928"/>
          </a:xfrm>
          <a:prstGeom prst="rect">
            <a:avLst/>
          </a:prstGeom>
          <a:noFill/>
        </p:spPr>
        <p:txBody>
          <a:bodyPr wrap="square">
            <a:spAutoFit/>
          </a:bodyPr>
          <a:lstStyle/>
          <a:p>
            <a:pPr algn="ctr"/>
            <a:r>
              <a:rPr sz="1000" b="1" i="0">
                <a:solidFill>
                  <a:srgbClr val="06D679"/>
                </a:solidFill>
                <a:latin typeface="Calibri"/>
              </a:rPr>
              <a:t>Leaf
Survived ✅</a:t>
            </a:r>
          </a:p>
        </p:txBody>
      </p:sp>
      <p:sp>
        <p:nvSpPr>
          <p:cNvPr id="23" name="Rectangle 22"/>
          <p:cNvSpPr/>
          <p:nvPr/>
        </p:nvSpPr>
        <p:spPr>
          <a:xfrm>
            <a:off x="6400800" y="2971800"/>
            <a:ext cx="1417320" cy="6400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0" y="2971800"/>
            <a:ext cx="141732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017520"/>
            <a:ext cx="1417320" cy="566928"/>
          </a:xfrm>
          <a:prstGeom prst="rect">
            <a:avLst/>
          </a:prstGeom>
          <a:noFill/>
        </p:spPr>
        <p:txBody>
          <a:bodyPr wrap="square">
            <a:spAutoFit/>
          </a:bodyPr>
          <a:lstStyle/>
          <a:p>
            <a:pPr algn="ctr"/>
            <a:r>
              <a:rPr sz="1000" b="1" i="0">
                <a:solidFill>
                  <a:srgbClr val="FF4B4B"/>
                </a:solidFill>
                <a:latin typeface="Calibri"/>
              </a:rPr>
              <a:t>Leaf
Died ❌</a:t>
            </a:r>
          </a:p>
        </p:txBody>
      </p:sp>
      <p:sp>
        <p:nvSpPr>
          <p:cNvPr id="26" name="TextBox 25"/>
          <p:cNvSpPr txBox="1"/>
          <p:nvPr/>
        </p:nvSpPr>
        <p:spPr>
          <a:xfrm>
            <a:off x="1645920" y="1645920"/>
            <a:ext cx="640080" cy="256032"/>
          </a:xfrm>
          <a:prstGeom prst="rect">
            <a:avLst/>
          </a:prstGeom>
          <a:noFill/>
        </p:spPr>
        <p:txBody>
          <a:bodyPr wrap="square">
            <a:spAutoFit/>
          </a:bodyPr>
          <a:lstStyle/>
          <a:p>
            <a:pPr algn="ctr"/>
            <a:r>
              <a:rPr sz="950" b="1" i="0">
                <a:solidFill>
                  <a:srgbClr val="39D353"/>
                </a:solidFill>
                <a:latin typeface="Calibri"/>
              </a:rPr>
              <a:t>YES</a:t>
            </a:r>
          </a:p>
        </p:txBody>
      </p:sp>
      <p:sp>
        <p:nvSpPr>
          <p:cNvPr id="27" name="TextBox 26"/>
          <p:cNvSpPr txBox="1"/>
          <p:nvPr/>
        </p:nvSpPr>
        <p:spPr>
          <a:xfrm>
            <a:off x="6400800" y="1645920"/>
            <a:ext cx="640080" cy="256032"/>
          </a:xfrm>
          <a:prstGeom prst="rect">
            <a:avLst/>
          </a:prstGeom>
          <a:noFill/>
        </p:spPr>
        <p:txBody>
          <a:bodyPr wrap="square">
            <a:spAutoFit/>
          </a:bodyPr>
          <a:lstStyle/>
          <a:p>
            <a:pPr algn="ctr"/>
            <a:r>
              <a:rPr sz="950" b="1" i="0">
                <a:solidFill>
                  <a:srgbClr val="39D353"/>
                </a:solidFill>
                <a:latin typeface="Calibri"/>
              </a:rPr>
              <a:t>NO</a:t>
            </a:r>
          </a:p>
        </p:txBody>
      </p:sp>
      <p:sp>
        <p:nvSpPr>
          <p:cNvPr id="28" name="TextBox 27"/>
          <p:cNvSpPr txBox="1"/>
          <p:nvPr/>
        </p:nvSpPr>
        <p:spPr>
          <a:xfrm>
            <a:off x="914400" y="2578608"/>
            <a:ext cx="640080" cy="256032"/>
          </a:xfrm>
          <a:prstGeom prst="rect">
            <a:avLst/>
          </a:prstGeom>
          <a:noFill/>
        </p:spPr>
        <p:txBody>
          <a:bodyPr wrap="square">
            <a:spAutoFit/>
          </a:bodyPr>
          <a:lstStyle/>
          <a:p>
            <a:pPr algn="ctr"/>
            <a:r>
              <a:rPr sz="950" b="1" i="0">
                <a:solidFill>
                  <a:srgbClr val="39D353"/>
                </a:solidFill>
                <a:latin typeface="Calibri"/>
              </a:rPr>
              <a:t>YES</a:t>
            </a:r>
          </a:p>
        </p:txBody>
      </p:sp>
      <p:sp>
        <p:nvSpPr>
          <p:cNvPr id="29" name="TextBox 28"/>
          <p:cNvSpPr txBox="1"/>
          <p:nvPr/>
        </p:nvSpPr>
        <p:spPr>
          <a:xfrm>
            <a:off x="2560320" y="2578608"/>
            <a:ext cx="640080" cy="256032"/>
          </a:xfrm>
          <a:prstGeom prst="rect">
            <a:avLst/>
          </a:prstGeom>
          <a:noFill/>
        </p:spPr>
        <p:txBody>
          <a:bodyPr wrap="square">
            <a:spAutoFit/>
          </a:bodyPr>
          <a:lstStyle/>
          <a:p>
            <a:pPr algn="ctr"/>
            <a:r>
              <a:rPr sz="950" b="1" i="0">
                <a:solidFill>
                  <a:srgbClr val="39D353"/>
                </a:solidFill>
                <a:latin typeface="Calibri"/>
              </a:rPr>
              <a:t>NO</a:t>
            </a:r>
          </a:p>
        </p:txBody>
      </p:sp>
      <p:sp>
        <p:nvSpPr>
          <p:cNvPr id="30" name="TextBox 29"/>
          <p:cNvSpPr txBox="1"/>
          <p:nvPr/>
        </p:nvSpPr>
        <p:spPr>
          <a:xfrm>
            <a:off x="5303520" y="2578608"/>
            <a:ext cx="640080" cy="256032"/>
          </a:xfrm>
          <a:prstGeom prst="rect">
            <a:avLst/>
          </a:prstGeom>
          <a:noFill/>
        </p:spPr>
        <p:txBody>
          <a:bodyPr wrap="square">
            <a:spAutoFit/>
          </a:bodyPr>
          <a:lstStyle/>
          <a:p>
            <a:pPr algn="ctr"/>
            <a:r>
              <a:rPr sz="950" b="1" i="0">
                <a:solidFill>
                  <a:srgbClr val="39D353"/>
                </a:solidFill>
                <a:latin typeface="Calibri"/>
              </a:rPr>
              <a:t>YES</a:t>
            </a:r>
          </a:p>
        </p:txBody>
      </p:sp>
      <p:sp>
        <p:nvSpPr>
          <p:cNvPr id="31" name="TextBox 30"/>
          <p:cNvSpPr txBox="1"/>
          <p:nvPr/>
        </p:nvSpPr>
        <p:spPr>
          <a:xfrm>
            <a:off x="6949440" y="2578608"/>
            <a:ext cx="640080" cy="256032"/>
          </a:xfrm>
          <a:prstGeom prst="rect">
            <a:avLst/>
          </a:prstGeom>
          <a:noFill/>
        </p:spPr>
        <p:txBody>
          <a:bodyPr wrap="square">
            <a:spAutoFit/>
          </a:bodyPr>
          <a:lstStyle/>
          <a:p>
            <a:pPr algn="ctr"/>
            <a:r>
              <a:rPr sz="950" b="1" i="0">
                <a:solidFill>
                  <a:srgbClr val="39D353"/>
                </a:solidFill>
                <a:latin typeface="Calibri"/>
              </a:rPr>
              <a:t>NO</a:t>
            </a:r>
          </a:p>
        </p:txBody>
      </p:sp>
      <p:sp>
        <p:nvSpPr>
          <p:cNvPr id="32" name="TextBox 31"/>
          <p:cNvSpPr txBox="1"/>
          <p:nvPr/>
        </p:nvSpPr>
        <p:spPr>
          <a:xfrm>
            <a:off x="274320" y="3749039"/>
            <a:ext cx="2286000" cy="274320"/>
          </a:xfrm>
          <a:prstGeom prst="rect">
            <a:avLst/>
          </a:prstGeom>
          <a:noFill/>
        </p:spPr>
        <p:txBody>
          <a:bodyPr wrap="square">
            <a:spAutoFit/>
          </a:bodyPr>
          <a:lstStyle/>
          <a:p>
            <a:pPr algn="l"/>
            <a:r>
              <a:rPr sz="1000" b="1" i="0">
                <a:solidFill>
                  <a:srgbClr val="39D353"/>
                </a:solidFill>
                <a:latin typeface="Calibri"/>
              </a:rPr>
              <a:t>🔵 Root Node</a:t>
            </a:r>
          </a:p>
        </p:txBody>
      </p:sp>
      <p:sp>
        <p:nvSpPr>
          <p:cNvPr id="33" name="TextBox 32"/>
          <p:cNvSpPr txBox="1"/>
          <p:nvPr/>
        </p:nvSpPr>
        <p:spPr>
          <a:xfrm>
            <a:off x="2606040" y="3749039"/>
            <a:ext cx="6400800" cy="274320"/>
          </a:xfrm>
          <a:prstGeom prst="rect">
            <a:avLst/>
          </a:prstGeom>
          <a:noFill/>
        </p:spPr>
        <p:txBody>
          <a:bodyPr wrap="square">
            <a:spAutoFit/>
          </a:bodyPr>
          <a:lstStyle/>
          <a:p>
            <a:pPr algn="l"/>
            <a:r>
              <a:rPr sz="1000" b="0" i="0">
                <a:solidFill>
                  <a:srgbClr val="7A92B8"/>
                </a:solidFill>
                <a:latin typeface="Calibri"/>
              </a:rPr>
              <a:t>The starting point. First and most important question. One per tree.</a:t>
            </a:r>
          </a:p>
        </p:txBody>
      </p:sp>
      <p:sp>
        <p:nvSpPr>
          <p:cNvPr id="34" name="TextBox 33"/>
          <p:cNvSpPr txBox="1"/>
          <p:nvPr/>
        </p:nvSpPr>
        <p:spPr>
          <a:xfrm>
            <a:off x="274320" y="4069079"/>
            <a:ext cx="2286000" cy="274320"/>
          </a:xfrm>
          <a:prstGeom prst="rect">
            <a:avLst/>
          </a:prstGeom>
          <a:noFill/>
        </p:spPr>
        <p:txBody>
          <a:bodyPr wrap="square">
            <a:spAutoFit/>
          </a:bodyPr>
          <a:lstStyle/>
          <a:p>
            <a:pPr algn="l"/>
            <a:r>
              <a:rPr sz="1000" b="1" i="0">
                <a:solidFill>
                  <a:srgbClr val="39D353"/>
                </a:solidFill>
                <a:latin typeface="Calibri"/>
              </a:rPr>
              <a:t>🟢 Internal Node</a:t>
            </a:r>
          </a:p>
        </p:txBody>
      </p:sp>
      <p:sp>
        <p:nvSpPr>
          <p:cNvPr id="35" name="TextBox 34"/>
          <p:cNvSpPr txBox="1"/>
          <p:nvPr/>
        </p:nvSpPr>
        <p:spPr>
          <a:xfrm>
            <a:off x="2606040" y="4069079"/>
            <a:ext cx="6400800" cy="274320"/>
          </a:xfrm>
          <a:prstGeom prst="rect">
            <a:avLst/>
          </a:prstGeom>
          <a:noFill/>
        </p:spPr>
        <p:txBody>
          <a:bodyPr wrap="square">
            <a:spAutoFit/>
          </a:bodyPr>
          <a:lstStyle/>
          <a:p>
            <a:pPr algn="l"/>
            <a:r>
              <a:rPr sz="1000" b="0" i="0">
                <a:solidFill>
                  <a:srgbClr val="7A92B8"/>
                </a:solidFill>
                <a:latin typeface="Calibri"/>
              </a:rPr>
              <a:t>A decision point (not the start). Splits data further.</a:t>
            </a:r>
          </a:p>
        </p:txBody>
      </p:sp>
      <p:sp>
        <p:nvSpPr>
          <p:cNvPr id="36" name="TextBox 35"/>
          <p:cNvSpPr txBox="1"/>
          <p:nvPr/>
        </p:nvSpPr>
        <p:spPr>
          <a:xfrm>
            <a:off x="274320" y="4389120"/>
            <a:ext cx="2286000" cy="274320"/>
          </a:xfrm>
          <a:prstGeom prst="rect">
            <a:avLst/>
          </a:prstGeom>
          <a:noFill/>
        </p:spPr>
        <p:txBody>
          <a:bodyPr wrap="square">
            <a:spAutoFit/>
          </a:bodyPr>
          <a:lstStyle/>
          <a:p>
            <a:pPr algn="l"/>
            <a:r>
              <a:rPr sz="1000" b="1" i="0">
                <a:solidFill>
                  <a:srgbClr val="39D353"/>
                </a:solidFill>
                <a:latin typeface="Calibri"/>
              </a:rPr>
              <a:t>🍃 Leaf Node</a:t>
            </a:r>
          </a:p>
        </p:txBody>
      </p:sp>
      <p:sp>
        <p:nvSpPr>
          <p:cNvPr id="37" name="TextBox 36"/>
          <p:cNvSpPr txBox="1"/>
          <p:nvPr/>
        </p:nvSpPr>
        <p:spPr>
          <a:xfrm>
            <a:off x="2606040" y="4389120"/>
            <a:ext cx="6400800" cy="274320"/>
          </a:xfrm>
          <a:prstGeom prst="rect">
            <a:avLst/>
          </a:prstGeom>
          <a:noFill/>
        </p:spPr>
        <p:txBody>
          <a:bodyPr wrap="square">
            <a:spAutoFit/>
          </a:bodyPr>
          <a:lstStyle/>
          <a:p>
            <a:pPr algn="l"/>
            <a:r>
              <a:rPr sz="1000" b="0" i="0">
                <a:solidFill>
                  <a:srgbClr val="7A92B8"/>
                </a:solidFill>
                <a:latin typeface="Calibri"/>
              </a:rPr>
              <a:t>End point. No more splitting. This is the PREDICTION.</a:t>
            </a:r>
          </a:p>
        </p:txBody>
      </p:sp>
      <p:sp>
        <p:nvSpPr>
          <p:cNvPr id="38" name="TextBox 37"/>
          <p:cNvSpPr txBox="1"/>
          <p:nvPr/>
        </p:nvSpPr>
        <p:spPr>
          <a:xfrm>
            <a:off x="274320" y="4709159"/>
            <a:ext cx="2286000" cy="274320"/>
          </a:xfrm>
          <a:prstGeom prst="rect">
            <a:avLst/>
          </a:prstGeom>
          <a:noFill/>
        </p:spPr>
        <p:txBody>
          <a:bodyPr wrap="square">
            <a:spAutoFit/>
          </a:bodyPr>
          <a:lstStyle/>
          <a:p>
            <a:pPr algn="l"/>
            <a:r>
              <a:rPr sz="1000" b="1" i="0">
                <a:solidFill>
                  <a:srgbClr val="39D353"/>
                </a:solidFill>
                <a:latin typeface="Calibri"/>
              </a:rPr>
              <a:t>→  Branch</a:t>
            </a:r>
          </a:p>
        </p:txBody>
      </p:sp>
      <p:sp>
        <p:nvSpPr>
          <p:cNvPr id="39" name="TextBox 38"/>
          <p:cNvSpPr txBox="1"/>
          <p:nvPr/>
        </p:nvSpPr>
        <p:spPr>
          <a:xfrm>
            <a:off x="2606040" y="4709159"/>
            <a:ext cx="6400800" cy="274320"/>
          </a:xfrm>
          <a:prstGeom prst="rect">
            <a:avLst/>
          </a:prstGeom>
          <a:noFill/>
        </p:spPr>
        <p:txBody>
          <a:bodyPr wrap="square">
            <a:spAutoFit/>
          </a:bodyPr>
          <a:lstStyle/>
          <a:p>
            <a:pPr algn="l"/>
            <a:r>
              <a:rPr sz="1000" b="0" i="0">
                <a:solidFill>
                  <a:srgbClr val="7A92B8"/>
                </a:solidFill>
                <a:latin typeface="Calibri"/>
              </a:rPr>
              <a:t>A path from parent to child based on YES or NO answer.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14</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Gini Impurity — How the Tree Decides to Split</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 mathematical tool CART uses to find the best question at each node</a:t>
            </a:r>
          </a:p>
        </p:txBody>
      </p:sp>
      <p:sp>
        <p:nvSpPr>
          <p:cNvPr id="8" name="Rectangle 7"/>
          <p:cNvSpPr/>
          <p:nvPr/>
        </p:nvSpPr>
        <p:spPr>
          <a:xfrm>
            <a:off x="274320" y="960120"/>
            <a:ext cx="8595360" cy="594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411480"/>
          </a:xfrm>
          <a:prstGeom prst="rect">
            <a:avLst/>
          </a:prstGeom>
          <a:noFill/>
        </p:spPr>
        <p:txBody>
          <a:bodyPr wrap="square">
            <a:spAutoFit/>
          </a:bodyPr>
          <a:lstStyle/>
          <a:p>
            <a:pPr algn="ctr"/>
            <a:r>
              <a:rPr sz="1500" b="1" i="0">
                <a:solidFill>
                  <a:srgbClr val="39D353"/>
                </a:solidFill>
                <a:latin typeface="Consolas"/>
              </a:rPr>
              <a:t>Gini(node)  =  1  −  Σ(pᵢ)²       where pᵢ = proportion of class i in the node</a:t>
            </a:r>
          </a:p>
        </p:txBody>
      </p:sp>
      <p:sp>
        <p:nvSpPr>
          <p:cNvPr id="11" name="Rectangle 10"/>
          <p:cNvSpPr/>
          <p:nvPr/>
        </p:nvSpPr>
        <p:spPr>
          <a:xfrm>
            <a:off x="274320" y="1691640"/>
            <a:ext cx="2788920" cy="24231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91640"/>
            <a:ext cx="50292" cy="2423160"/>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764792"/>
            <a:ext cx="2514600" cy="320040"/>
          </a:xfrm>
          <a:prstGeom prst="rect">
            <a:avLst/>
          </a:prstGeom>
          <a:noFill/>
        </p:spPr>
        <p:txBody>
          <a:bodyPr wrap="square">
            <a:spAutoFit/>
          </a:bodyPr>
          <a:lstStyle/>
          <a:p>
            <a:pPr algn="l"/>
            <a:r>
              <a:rPr sz="1300" b="1" i="0">
                <a:solidFill>
                  <a:srgbClr val="06D679"/>
                </a:solidFill>
                <a:latin typeface="Calibri"/>
              </a:rPr>
              <a:t>Pure Node</a:t>
            </a:r>
          </a:p>
        </p:txBody>
      </p:sp>
      <p:sp>
        <p:nvSpPr>
          <p:cNvPr id="14" name="TextBox 13"/>
          <p:cNvSpPr txBox="1"/>
          <p:nvPr/>
        </p:nvSpPr>
        <p:spPr>
          <a:xfrm>
            <a:off x="411479" y="2103120"/>
            <a:ext cx="2514600" cy="411480"/>
          </a:xfrm>
          <a:prstGeom prst="rect">
            <a:avLst/>
          </a:prstGeom>
          <a:noFill/>
        </p:spPr>
        <p:txBody>
          <a:bodyPr wrap="square">
            <a:spAutoFit/>
          </a:bodyPr>
          <a:lstStyle/>
          <a:p>
            <a:pPr algn="l"/>
            <a:r>
              <a:rPr sz="1050" b="0" i="0">
                <a:solidFill>
                  <a:srgbClr val="7A92B8"/>
                </a:solidFill>
                <a:latin typeface="Calibri"/>
              </a:rPr>
              <a:t>50 survived
0  not survived</a:t>
            </a:r>
          </a:p>
        </p:txBody>
      </p:sp>
      <p:sp>
        <p:nvSpPr>
          <p:cNvPr id="15" name="Rectangle 14"/>
          <p:cNvSpPr/>
          <p:nvPr/>
        </p:nvSpPr>
        <p:spPr>
          <a:xfrm>
            <a:off x="365760" y="2578608"/>
            <a:ext cx="2606040" cy="54864"/>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 y="2651760"/>
            <a:ext cx="2514600" cy="502920"/>
          </a:xfrm>
          <a:prstGeom prst="rect">
            <a:avLst/>
          </a:prstGeom>
          <a:noFill/>
        </p:spPr>
        <p:txBody>
          <a:bodyPr wrap="square">
            <a:spAutoFit/>
          </a:bodyPr>
          <a:lstStyle/>
          <a:p>
            <a:pPr algn="l"/>
            <a:r>
              <a:rPr sz="1000" b="0" i="0">
                <a:solidFill>
                  <a:srgbClr val="00C2CB"/>
                </a:solidFill>
                <a:latin typeface="Consolas"/>
              </a:rPr>
              <a:t>p₁=1.0, p₂=0.0
Gini = 1−(1²+0²) = 0.0</a:t>
            </a:r>
          </a:p>
        </p:txBody>
      </p:sp>
      <p:sp>
        <p:nvSpPr>
          <p:cNvPr id="17" name="TextBox 16"/>
          <p:cNvSpPr txBox="1"/>
          <p:nvPr/>
        </p:nvSpPr>
        <p:spPr>
          <a:xfrm>
            <a:off x="411479" y="3200400"/>
            <a:ext cx="2514600" cy="502920"/>
          </a:xfrm>
          <a:prstGeom prst="rect">
            <a:avLst/>
          </a:prstGeom>
          <a:noFill/>
        </p:spPr>
        <p:txBody>
          <a:bodyPr wrap="square">
            <a:spAutoFit/>
          </a:bodyPr>
          <a:lstStyle/>
          <a:p>
            <a:pPr algn="l"/>
            <a:r>
              <a:rPr sz="1050" b="1" i="0">
                <a:solidFill>
                  <a:srgbClr val="06D679"/>
                </a:solidFill>
                <a:latin typeface="Calibri"/>
              </a:rPr>
              <a:t>✅ Perfect!
No impurity.</a:t>
            </a:r>
          </a:p>
        </p:txBody>
      </p:sp>
      <p:sp>
        <p:nvSpPr>
          <p:cNvPr id="18" name="TextBox 17"/>
          <p:cNvSpPr txBox="1"/>
          <p:nvPr/>
        </p:nvSpPr>
        <p:spPr>
          <a:xfrm>
            <a:off x="1920240" y="1719072"/>
            <a:ext cx="731520" cy="411480"/>
          </a:xfrm>
          <a:prstGeom prst="rect">
            <a:avLst/>
          </a:prstGeom>
          <a:noFill/>
        </p:spPr>
        <p:txBody>
          <a:bodyPr wrap="square">
            <a:spAutoFit/>
          </a:bodyPr>
          <a:lstStyle/>
          <a:p>
            <a:pPr algn="r"/>
            <a:r>
              <a:rPr sz="2000" b="1" i="0">
                <a:solidFill>
                  <a:srgbClr val="06D679"/>
                </a:solidFill>
                <a:latin typeface="Calibri"/>
              </a:rPr>
              <a:t>0.0</a:t>
            </a:r>
          </a:p>
        </p:txBody>
      </p:sp>
      <p:sp>
        <p:nvSpPr>
          <p:cNvPr id="19" name="Rectangle 18"/>
          <p:cNvSpPr/>
          <p:nvPr/>
        </p:nvSpPr>
        <p:spPr>
          <a:xfrm>
            <a:off x="3218688" y="1691640"/>
            <a:ext cx="2788920" cy="24231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18688" y="1691640"/>
            <a:ext cx="50292" cy="242316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55848" y="1764792"/>
            <a:ext cx="2514600" cy="320040"/>
          </a:xfrm>
          <a:prstGeom prst="rect">
            <a:avLst/>
          </a:prstGeom>
          <a:noFill/>
        </p:spPr>
        <p:txBody>
          <a:bodyPr wrap="square">
            <a:spAutoFit/>
          </a:bodyPr>
          <a:lstStyle/>
          <a:p>
            <a:pPr algn="l"/>
            <a:r>
              <a:rPr sz="1300" b="1" i="0">
                <a:solidFill>
                  <a:srgbClr val="FF4B4B"/>
                </a:solidFill>
                <a:latin typeface="Calibri"/>
              </a:rPr>
              <a:t>Mixed Node</a:t>
            </a:r>
          </a:p>
        </p:txBody>
      </p:sp>
      <p:sp>
        <p:nvSpPr>
          <p:cNvPr id="22" name="TextBox 21"/>
          <p:cNvSpPr txBox="1"/>
          <p:nvPr/>
        </p:nvSpPr>
        <p:spPr>
          <a:xfrm>
            <a:off x="3355848" y="2103120"/>
            <a:ext cx="2514600" cy="411480"/>
          </a:xfrm>
          <a:prstGeom prst="rect">
            <a:avLst/>
          </a:prstGeom>
          <a:noFill/>
        </p:spPr>
        <p:txBody>
          <a:bodyPr wrap="square">
            <a:spAutoFit/>
          </a:bodyPr>
          <a:lstStyle/>
          <a:p>
            <a:pPr algn="l"/>
            <a:r>
              <a:rPr sz="1050" b="0" i="0">
                <a:solidFill>
                  <a:srgbClr val="7A92B8"/>
                </a:solidFill>
                <a:latin typeface="Calibri"/>
              </a:rPr>
              <a:t>25 survived
25 not survived</a:t>
            </a:r>
          </a:p>
        </p:txBody>
      </p:sp>
      <p:sp>
        <p:nvSpPr>
          <p:cNvPr id="23" name="Rectangle 22"/>
          <p:cNvSpPr/>
          <p:nvPr/>
        </p:nvSpPr>
        <p:spPr>
          <a:xfrm>
            <a:off x="3310128" y="2578608"/>
            <a:ext cx="260604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55848" y="2651760"/>
            <a:ext cx="2514600" cy="502920"/>
          </a:xfrm>
          <a:prstGeom prst="rect">
            <a:avLst/>
          </a:prstGeom>
          <a:noFill/>
        </p:spPr>
        <p:txBody>
          <a:bodyPr wrap="square">
            <a:spAutoFit/>
          </a:bodyPr>
          <a:lstStyle/>
          <a:p>
            <a:pPr algn="l"/>
            <a:r>
              <a:rPr sz="1000" b="0" i="0">
                <a:solidFill>
                  <a:srgbClr val="00C2CB"/>
                </a:solidFill>
                <a:latin typeface="Consolas"/>
              </a:rPr>
              <a:t>p₁=0.5, p₂=0.5
Gini = 1−(0.5²+0.5²) = 0.5</a:t>
            </a:r>
          </a:p>
        </p:txBody>
      </p:sp>
      <p:sp>
        <p:nvSpPr>
          <p:cNvPr id="25" name="TextBox 24"/>
          <p:cNvSpPr txBox="1"/>
          <p:nvPr/>
        </p:nvSpPr>
        <p:spPr>
          <a:xfrm>
            <a:off x="3355848" y="3200400"/>
            <a:ext cx="2514600" cy="502920"/>
          </a:xfrm>
          <a:prstGeom prst="rect">
            <a:avLst/>
          </a:prstGeom>
          <a:noFill/>
        </p:spPr>
        <p:txBody>
          <a:bodyPr wrap="square">
            <a:spAutoFit/>
          </a:bodyPr>
          <a:lstStyle/>
          <a:p>
            <a:pPr algn="l"/>
            <a:r>
              <a:rPr sz="1050" b="1" i="0">
                <a:solidFill>
                  <a:srgbClr val="FF4B4B"/>
                </a:solidFill>
                <a:latin typeface="Calibri"/>
              </a:rPr>
              <a:t>❌ Worst case!
Maximum impurity.</a:t>
            </a:r>
          </a:p>
        </p:txBody>
      </p:sp>
      <p:sp>
        <p:nvSpPr>
          <p:cNvPr id="26" name="TextBox 25"/>
          <p:cNvSpPr txBox="1"/>
          <p:nvPr/>
        </p:nvSpPr>
        <p:spPr>
          <a:xfrm>
            <a:off x="4864608" y="1719072"/>
            <a:ext cx="731520" cy="411480"/>
          </a:xfrm>
          <a:prstGeom prst="rect">
            <a:avLst/>
          </a:prstGeom>
          <a:noFill/>
        </p:spPr>
        <p:txBody>
          <a:bodyPr wrap="square">
            <a:spAutoFit/>
          </a:bodyPr>
          <a:lstStyle/>
          <a:p>
            <a:pPr algn="r"/>
            <a:r>
              <a:rPr sz="2000" b="1" i="0">
                <a:solidFill>
                  <a:srgbClr val="FF4B4B"/>
                </a:solidFill>
                <a:latin typeface="Calibri"/>
              </a:rPr>
              <a:t>0.5</a:t>
            </a:r>
          </a:p>
        </p:txBody>
      </p:sp>
      <p:sp>
        <p:nvSpPr>
          <p:cNvPr id="27" name="Rectangle 26"/>
          <p:cNvSpPr/>
          <p:nvPr/>
        </p:nvSpPr>
        <p:spPr>
          <a:xfrm>
            <a:off x="6163056" y="1691640"/>
            <a:ext cx="2788920" cy="24231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163056" y="1691640"/>
            <a:ext cx="50292" cy="24231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0216" y="1764792"/>
            <a:ext cx="2514600" cy="320040"/>
          </a:xfrm>
          <a:prstGeom prst="rect">
            <a:avLst/>
          </a:prstGeom>
          <a:noFill/>
        </p:spPr>
        <p:txBody>
          <a:bodyPr wrap="square">
            <a:spAutoFit/>
          </a:bodyPr>
          <a:lstStyle/>
          <a:p>
            <a:pPr algn="l"/>
            <a:r>
              <a:rPr sz="1300" b="1" i="0">
                <a:solidFill>
                  <a:srgbClr val="FF8C00"/>
                </a:solidFill>
                <a:latin typeface="Calibri"/>
              </a:rPr>
              <a:t>Partial</a:t>
            </a:r>
          </a:p>
        </p:txBody>
      </p:sp>
      <p:sp>
        <p:nvSpPr>
          <p:cNvPr id="30" name="TextBox 29"/>
          <p:cNvSpPr txBox="1"/>
          <p:nvPr/>
        </p:nvSpPr>
        <p:spPr>
          <a:xfrm>
            <a:off x="6300216" y="2103120"/>
            <a:ext cx="2514600" cy="411480"/>
          </a:xfrm>
          <a:prstGeom prst="rect">
            <a:avLst/>
          </a:prstGeom>
          <a:noFill/>
        </p:spPr>
        <p:txBody>
          <a:bodyPr wrap="square">
            <a:spAutoFit/>
          </a:bodyPr>
          <a:lstStyle/>
          <a:p>
            <a:pPr algn="l"/>
            <a:r>
              <a:rPr sz="1050" b="0" i="0">
                <a:solidFill>
                  <a:srgbClr val="7A92B8"/>
                </a:solidFill>
                <a:latin typeface="Calibri"/>
              </a:rPr>
              <a:t>40 survived
10 not survived</a:t>
            </a:r>
          </a:p>
        </p:txBody>
      </p:sp>
      <p:sp>
        <p:nvSpPr>
          <p:cNvPr id="31" name="Rectangle 30"/>
          <p:cNvSpPr/>
          <p:nvPr/>
        </p:nvSpPr>
        <p:spPr>
          <a:xfrm>
            <a:off x="6254496" y="2578608"/>
            <a:ext cx="260604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00216" y="2651760"/>
            <a:ext cx="2514600" cy="502920"/>
          </a:xfrm>
          <a:prstGeom prst="rect">
            <a:avLst/>
          </a:prstGeom>
          <a:noFill/>
        </p:spPr>
        <p:txBody>
          <a:bodyPr wrap="square">
            <a:spAutoFit/>
          </a:bodyPr>
          <a:lstStyle/>
          <a:p>
            <a:pPr algn="l"/>
            <a:r>
              <a:rPr sz="1000" b="0" i="0">
                <a:solidFill>
                  <a:srgbClr val="00C2CB"/>
                </a:solidFill>
                <a:latin typeface="Consolas"/>
              </a:rPr>
              <a:t>p₁=0.8, p₂=0.2
Gini = 1−(0.8²+0.2²) = 0.32</a:t>
            </a:r>
          </a:p>
        </p:txBody>
      </p:sp>
      <p:sp>
        <p:nvSpPr>
          <p:cNvPr id="33" name="TextBox 32"/>
          <p:cNvSpPr txBox="1"/>
          <p:nvPr/>
        </p:nvSpPr>
        <p:spPr>
          <a:xfrm>
            <a:off x="6300216" y="3200400"/>
            <a:ext cx="2514600" cy="502920"/>
          </a:xfrm>
          <a:prstGeom prst="rect">
            <a:avLst/>
          </a:prstGeom>
          <a:noFill/>
        </p:spPr>
        <p:txBody>
          <a:bodyPr wrap="square">
            <a:spAutoFit/>
          </a:bodyPr>
          <a:lstStyle/>
          <a:p>
            <a:pPr algn="l"/>
            <a:r>
              <a:rPr sz="1050" b="1" i="0">
                <a:solidFill>
                  <a:srgbClr val="FF8C00"/>
                </a:solidFill>
                <a:latin typeface="Calibri"/>
              </a:rPr>
              <a:t>🔶 Acceptable.
Mostly one class.</a:t>
            </a:r>
          </a:p>
        </p:txBody>
      </p:sp>
      <p:sp>
        <p:nvSpPr>
          <p:cNvPr id="34" name="TextBox 33"/>
          <p:cNvSpPr txBox="1"/>
          <p:nvPr/>
        </p:nvSpPr>
        <p:spPr>
          <a:xfrm>
            <a:off x="7808976" y="1719072"/>
            <a:ext cx="731520" cy="411480"/>
          </a:xfrm>
          <a:prstGeom prst="rect">
            <a:avLst/>
          </a:prstGeom>
          <a:noFill/>
        </p:spPr>
        <p:txBody>
          <a:bodyPr wrap="square">
            <a:spAutoFit/>
          </a:bodyPr>
          <a:lstStyle/>
          <a:p>
            <a:pPr algn="r"/>
            <a:r>
              <a:rPr sz="2000" b="1" i="0">
                <a:solidFill>
                  <a:srgbClr val="FF8C00"/>
                </a:solidFill>
                <a:latin typeface="Calibri"/>
              </a:rPr>
              <a:t>0.32</a:t>
            </a:r>
          </a:p>
        </p:txBody>
      </p:sp>
      <p:sp>
        <p:nvSpPr>
          <p:cNvPr id="35" name="Rectangle 34"/>
          <p:cNvSpPr/>
          <p:nvPr/>
        </p:nvSpPr>
        <p:spPr>
          <a:xfrm>
            <a:off x="274320" y="4206240"/>
            <a:ext cx="8595360" cy="71323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4206240"/>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4357362"/>
            <a:ext cx="8229600" cy="566928"/>
          </a:xfrm>
          <a:prstGeom prst="rect">
            <a:avLst/>
          </a:prstGeom>
          <a:noFill/>
        </p:spPr>
        <p:txBody>
          <a:bodyPr wrap="square">
            <a:spAutoFit/>
          </a:bodyPr>
          <a:lstStyle/>
          <a:p>
            <a:pPr algn="l"/>
            <a:r>
              <a:rPr sz="1100" b="0" i="0" dirty="0">
                <a:solidFill>
                  <a:srgbClr val="FFFFFF"/>
                </a:solidFill>
                <a:latin typeface="Calibri"/>
              </a:rPr>
              <a:t>CART Algorithm: For EVERY possible split → compute Gini for left &amp; right child → pick the split with LOWEST weighted average Gini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15</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400" b="1" i="0">
                <a:solidFill>
                  <a:srgbClr val="FFFFFF"/>
                </a:solidFill>
                <a:latin typeface="Calibri"/>
              </a:rPr>
              <a:t>Manual Tree Construction — The Bank Loan Example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CART algorithm step-by-step with 7 clients</a:t>
            </a:r>
          </a:p>
        </p:txBody>
      </p:sp>
      <p:sp>
        <p:nvSpPr>
          <p:cNvPr id="8" name="Rectangle 7"/>
          <p:cNvSpPr/>
          <p:nvPr/>
        </p:nvSpPr>
        <p:spPr>
          <a:xfrm>
            <a:off x="274320" y="960120"/>
            <a:ext cx="4937760" cy="34747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987552"/>
            <a:ext cx="822960" cy="274320"/>
          </a:xfrm>
          <a:prstGeom prst="rect">
            <a:avLst/>
          </a:prstGeom>
          <a:noFill/>
        </p:spPr>
        <p:txBody>
          <a:bodyPr wrap="square">
            <a:spAutoFit/>
          </a:bodyPr>
          <a:lstStyle/>
          <a:p>
            <a:pPr algn="l"/>
            <a:r>
              <a:rPr sz="1000" b="1" i="0">
                <a:solidFill>
                  <a:srgbClr val="0F1B2D"/>
                </a:solidFill>
                <a:latin typeface="Calibri"/>
              </a:rPr>
              <a:t>ID Client</a:t>
            </a:r>
          </a:p>
        </p:txBody>
      </p:sp>
      <p:sp>
        <p:nvSpPr>
          <p:cNvPr id="10" name="TextBox 9"/>
          <p:cNvSpPr txBox="1"/>
          <p:nvPr/>
        </p:nvSpPr>
        <p:spPr>
          <a:xfrm>
            <a:off x="1188720" y="987552"/>
            <a:ext cx="822960" cy="274320"/>
          </a:xfrm>
          <a:prstGeom prst="rect">
            <a:avLst/>
          </a:prstGeom>
          <a:noFill/>
        </p:spPr>
        <p:txBody>
          <a:bodyPr wrap="square">
            <a:spAutoFit/>
          </a:bodyPr>
          <a:lstStyle/>
          <a:p>
            <a:pPr algn="l"/>
            <a:r>
              <a:rPr sz="1000" b="1" i="0">
                <a:solidFill>
                  <a:srgbClr val="0F1B2D"/>
                </a:solidFill>
                <a:latin typeface="Calibri"/>
              </a:rPr>
              <a:t>Debt</a:t>
            </a:r>
          </a:p>
        </p:txBody>
      </p:sp>
      <p:sp>
        <p:nvSpPr>
          <p:cNvPr id="11" name="TextBox 10"/>
          <p:cNvSpPr txBox="1"/>
          <p:nvPr/>
        </p:nvSpPr>
        <p:spPr>
          <a:xfrm>
            <a:off x="2011680" y="987552"/>
            <a:ext cx="822960" cy="274320"/>
          </a:xfrm>
          <a:prstGeom prst="rect">
            <a:avLst/>
          </a:prstGeom>
          <a:noFill/>
        </p:spPr>
        <p:txBody>
          <a:bodyPr wrap="square">
            <a:spAutoFit/>
          </a:bodyPr>
          <a:lstStyle/>
          <a:p>
            <a:pPr algn="l"/>
            <a:r>
              <a:rPr sz="1000" b="1" i="0">
                <a:solidFill>
                  <a:srgbClr val="0F1B2D"/>
                </a:solidFill>
                <a:latin typeface="Calibri"/>
              </a:rPr>
              <a:t>Job</a:t>
            </a:r>
          </a:p>
        </p:txBody>
      </p:sp>
      <p:sp>
        <p:nvSpPr>
          <p:cNvPr id="12" name="TextBox 11"/>
          <p:cNvSpPr txBox="1"/>
          <p:nvPr/>
        </p:nvSpPr>
        <p:spPr>
          <a:xfrm>
            <a:off x="2880360" y="987552"/>
            <a:ext cx="822960" cy="274320"/>
          </a:xfrm>
          <a:prstGeom prst="rect">
            <a:avLst/>
          </a:prstGeom>
          <a:noFill/>
        </p:spPr>
        <p:txBody>
          <a:bodyPr wrap="square">
            <a:spAutoFit/>
          </a:bodyPr>
          <a:lstStyle/>
          <a:p>
            <a:pPr algn="l"/>
            <a:r>
              <a:rPr sz="1000" b="1" i="0">
                <a:solidFill>
                  <a:srgbClr val="0F1B2D"/>
                </a:solidFill>
                <a:latin typeface="Calibri"/>
              </a:rPr>
              <a:t>Salary (k€)</a:t>
            </a:r>
          </a:p>
        </p:txBody>
      </p:sp>
      <p:sp>
        <p:nvSpPr>
          <p:cNvPr id="13" name="TextBox 12"/>
          <p:cNvSpPr txBox="1"/>
          <p:nvPr/>
        </p:nvSpPr>
        <p:spPr>
          <a:xfrm>
            <a:off x="3977639" y="987552"/>
            <a:ext cx="822960" cy="274320"/>
          </a:xfrm>
          <a:prstGeom prst="rect">
            <a:avLst/>
          </a:prstGeom>
          <a:noFill/>
        </p:spPr>
        <p:txBody>
          <a:bodyPr wrap="square">
            <a:spAutoFit/>
          </a:bodyPr>
          <a:lstStyle/>
          <a:p>
            <a:pPr algn="l"/>
            <a:r>
              <a:rPr sz="1000" b="1" i="0">
                <a:solidFill>
                  <a:srgbClr val="0F1B2D"/>
                </a:solidFill>
                <a:latin typeface="Calibri"/>
              </a:rPr>
              <a:t>Decision</a:t>
            </a:r>
          </a:p>
        </p:txBody>
      </p:sp>
      <p:sp>
        <p:nvSpPr>
          <p:cNvPr id="14" name="Rectangle 13"/>
          <p:cNvSpPr/>
          <p:nvPr/>
        </p:nvSpPr>
        <p:spPr>
          <a:xfrm>
            <a:off x="274320" y="1353312"/>
            <a:ext cx="4937760" cy="3657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1408176"/>
            <a:ext cx="822960" cy="274320"/>
          </a:xfrm>
          <a:prstGeom prst="rect">
            <a:avLst/>
          </a:prstGeom>
          <a:noFill/>
        </p:spPr>
        <p:txBody>
          <a:bodyPr wrap="square">
            <a:spAutoFit/>
          </a:bodyPr>
          <a:lstStyle/>
          <a:p>
            <a:pPr algn="l"/>
            <a:r>
              <a:rPr sz="1050" b="0" i="0">
                <a:solidFill>
                  <a:srgbClr val="E8F0FF"/>
                </a:solidFill>
                <a:latin typeface="Calibri"/>
              </a:rPr>
              <a:t>1</a:t>
            </a:r>
          </a:p>
        </p:txBody>
      </p:sp>
      <p:sp>
        <p:nvSpPr>
          <p:cNvPr id="16" name="TextBox 15"/>
          <p:cNvSpPr txBox="1"/>
          <p:nvPr/>
        </p:nvSpPr>
        <p:spPr>
          <a:xfrm>
            <a:off x="1188720" y="1408176"/>
            <a:ext cx="822960" cy="274320"/>
          </a:xfrm>
          <a:prstGeom prst="rect">
            <a:avLst/>
          </a:prstGeom>
          <a:noFill/>
        </p:spPr>
        <p:txBody>
          <a:bodyPr wrap="square">
            <a:spAutoFit/>
          </a:bodyPr>
          <a:lstStyle/>
          <a:p>
            <a:pPr algn="l"/>
            <a:r>
              <a:rPr sz="1050" b="0" i="0">
                <a:solidFill>
                  <a:srgbClr val="E8F0FF"/>
                </a:solidFill>
                <a:latin typeface="Calibri"/>
              </a:rPr>
              <a:t>Low</a:t>
            </a:r>
          </a:p>
        </p:txBody>
      </p:sp>
      <p:sp>
        <p:nvSpPr>
          <p:cNvPr id="17" name="TextBox 16"/>
          <p:cNvSpPr txBox="1"/>
          <p:nvPr/>
        </p:nvSpPr>
        <p:spPr>
          <a:xfrm>
            <a:off x="2011680" y="1408176"/>
            <a:ext cx="822960" cy="274320"/>
          </a:xfrm>
          <a:prstGeom prst="rect">
            <a:avLst/>
          </a:prstGeom>
          <a:noFill/>
        </p:spPr>
        <p:txBody>
          <a:bodyPr wrap="square">
            <a:spAutoFit/>
          </a:bodyPr>
          <a:lstStyle/>
          <a:p>
            <a:pPr algn="l"/>
            <a:r>
              <a:rPr sz="1050" b="0" i="0">
                <a:solidFill>
                  <a:srgbClr val="E8F0FF"/>
                </a:solidFill>
                <a:latin typeface="Calibri"/>
              </a:rPr>
              <a:t>Stable</a:t>
            </a:r>
          </a:p>
        </p:txBody>
      </p:sp>
      <p:sp>
        <p:nvSpPr>
          <p:cNvPr id="18" name="TextBox 17"/>
          <p:cNvSpPr txBox="1"/>
          <p:nvPr/>
        </p:nvSpPr>
        <p:spPr>
          <a:xfrm>
            <a:off x="2880360" y="1408176"/>
            <a:ext cx="822960" cy="274320"/>
          </a:xfrm>
          <a:prstGeom prst="rect">
            <a:avLst/>
          </a:prstGeom>
          <a:noFill/>
        </p:spPr>
        <p:txBody>
          <a:bodyPr wrap="square">
            <a:spAutoFit/>
          </a:bodyPr>
          <a:lstStyle/>
          <a:p>
            <a:pPr algn="l"/>
            <a:r>
              <a:rPr sz="1050" b="0" i="0">
                <a:solidFill>
                  <a:srgbClr val="E8F0FF"/>
                </a:solidFill>
                <a:latin typeface="Calibri"/>
              </a:rPr>
              <a:t>85</a:t>
            </a:r>
          </a:p>
        </p:txBody>
      </p:sp>
      <p:sp>
        <p:nvSpPr>
          <p:cNvPr id="19" name="TextBox 18"/>
          <p:cNvSpPr txBox="1"/>
          <p:nvPr/>
        </p:nvSpPr>
        <p:spPr>
          <a:xfrm>
            <a:off x="3977639" y="1408176"/>
            <a:ext cx="1188720" cy="274320"/>
          </a:xfrm>
          <a:prstGeom prst="rect">
            <a:avLst/>
          </a:prstGeom>
          <a:noFill/>
        </p:spPr>
        <p:txBody>
          <a:bodyPr wrap="square">
            <a:spAutoFit/>
          </a:bodyPr>
          <a:lstStyle/>
          <a:p>
            <a:pPr algn="l"/>
            <a:r>
              <a:rPr sz="1000" b="1" i="0">
                <a:solidFill>
                  <a:srgbClr val="06D679"/>
                </a:solidFill>
                <a:latin typeface="Calibri"/>
              </a:rPr>
              <a:t>✅ 1 (Accept)</a:t>
            </a:r>
          </a:p>
        </p:txBody>
      </p:sp>
      <p:sp>
        <p:nvSpPr>
          <p:cNvPr id="20" name="Rectangle 19"/>
          <p:cNvSpPr/>
          <p:nvPr/>
        </p:nvSpPr>
        <p:spPr>
          <a:xfrm>
            <a:off x="274320" y="1755648"/>
            <a:ext cx="4937760" cy="36576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1810512"/>
            <a:ext cx="822960" cy="274320"/>
          </a:xfrm>
          <a:prstGeom prst="rect">
            <a:avLst/>
          </a:prstGeom>
          <a:noFill/>
        </p:spPr>
        <p:txBody>
          <a:bodyPr wrap="square">
            <a:spAutoFit/>
          </a:bodyPr>
          <a:lstStyle/>
          <a:p>
            <a:pPr algn="l"/>
            <a:r>
              <a:rPr sz="1050" b="0" i="0">
                <a:solidFill>
                  <a:srgbClr val="E8F0FF"/>
                </a:solidFill>
                <a:latin typeface="Calibri"/>
              </a:rPr>
              <a:t>2</a:t>
            </a:r>
          </a:p>
        </p:txBody>
      </p:sp>
      <p:sp>
        <p:nvSpPr>
          <p:cNvPr id="22" name="TextBox 21"/>
          <p:cNvSpPr txBox="1"/>
          <p:nvPr/>
        </p:nvSpPr>
        <p:spPr>
          <a:xfrm>
            <a:off x="1188720" y="1810512"/>
            <a:ext cx="822960" cy="274320"/>
          </a:xfrm>
          <a:prstGeom prst="rect">
            <a:avLst/>
          </a:prstGeom>
          <a:noFill/>
        </p:spPr>
        <p:txBody>
          <a:bodyPr wrap="square">
            <a:spAutoFit/>
          </a:bodyPr>
          <a:lstStyle/>
          <a:p>
            <a:pPr algn="l"/>
            <a:r>
              <a:rPr sz="1050" b="0" i="0">
                <a:solidFill>
                  <a:srgbClr val="FF4B4B"/>
                </a:solidFill>
                <a:latin typeface="Calibri"/>
              </a:rPr>
              <a:t>High</a:t>
            </a:r>
          </a:p>
        </p:txBody>
      </p:sp>
      <p:sp>
        <p:nvSpPr>
          <p:cNvPr id="23" name="TextBox 22"/>
          <p:cNvSpPr txBox="1"/>
          <p:nvPr/>
        </p:nvSpPr>
        <p:spPr>
          <a:xfrm>
            <a:off x="2011680" y="1810512"/>
            <a:ext cx="822960" cy="274320"/>
          </a:xfrm>
          <a:prstGeom prst="rect">
            <a:avLst/>
          </a:prstGeom>
          <a:noFill/>
        </p:spPr>
        <p:txBody>
          <a:bodyPr wrap="square">
            <a:spAutoFit/>
          </a:bodyPr>
          <a:lstStyle/>
          <a:p>
            <a:pPr algn="l"/>
            <a:r>
              <a:rPr sz="1050" b="0" i="0">
                <a:solidFill>
                  <a:srgbClr val="E8F0FF"/>
                </a:solidFill>
                <a:latin typeface="Calibri"/>
              </a:rPr>
              <a:t>Stable</a:t>
            </a:r>
          </a:p>
        </p:txBody>
      </p:sp>
      <p:sp>
        <p:nvSpPr>
          <p:cNvPr id="24" name="TextBox 23"/>
          <p:cNvSpPr txBox="1"/>
          <p:nvPr/>
        </p:nvSpPr>
        <p:spPr>
          <a:xfrm>
            <a:off x="2880360" y="1810512"/>
            <a:ext cx="822960" cy="274320"/>
          </a:xfrm>
          <a:prstGeom prst="rect">
            <a:avLst/>
          </a:prstGeom>
          <a:noFill/>
        </p:spPr>
        <p:txBody>
          <a:bodyPr wrap="square">
            <a:spAutoFit/>
          </a:bodyPr>
          <a:lstStyle/>
          <a:p>
            <a:pPr algn="l"/>
            <a:r>
              <a:rPr sz="1050" b="0" i="0">
                <a:solidFill>
                  <a:srgbClr val="E8F0FF"/>
                </a:solidFill>
                <a:latin typeface="Calibri"/>
              </a:rPr>
              <a:t>90</a:t>
            </a:r>
          </a:p>
        </p:txBody>
      </p:sp>
      <p:sp>
        <p:nvSpPr>
          <p:cNvPr id="25" name="TextBox 24"/>
          <p:cNvSpPr txBox="1"/>
          <p:nvPr/>
        </p:nvSpPr>
        <p:spPr>
          <a:xfrm>
            <a:off x="3977639" y="1810512"/>
            <a:ext cx="1188720" cy="274320"/>
          </a:xfrm>
          <a:prstGeom prst="rect">
            <a:avLst/>
          </a:prstGeom>
          <a:noFill/>
        </p:spPr>
        <p:txBody>
          <a:bodyPr wrap="square">
            <a:spAutoFit/>
          </a:bodyPr>
          <a:lstStyle/>
          <a:p>
            <a:pPr algn="l"/>
            <a:r>
              <a:rPr sz="1000" b="1" i="0">
                <a:solidFill>
                  <a:srgbClr val="FF4B4B"/>
                </a:solidFill>
                <a:latin typeface="Calibri"/>
              </a:rPr>
              <a:t>❌ 0 (Refuse)</a:t>
            </a:r>
          </a:p>
        </p:txBody>
      </p:sp>
      <p:sp>
        <p:nvSpPr>
          <p:cNvPr id="26" name="Rectangle 25"/>
          <p:cNvSpPr/>
          <p:nvPr/>
        </p:nvSpPr>
        <p:spPr>
          <a:xfrm>
            <a:off x="274320" y="2157984"/>
            <a:ext cx="4937760" cy="3657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2212848"/>
            <a:ext cx="822960" cy="274320"/>
          </a:xfrm>
          <a:prstGeom prst="rect">
            <a:avLst/>
          </a:prstGeom>
          <a:noFill/>
        </p:spPr>
        <p:txBody>
          <a:bodyPr wrap="square">
            <a:spAutoFit/>
          </a:bodyPr>
          <a:lstStyle/>
          <a:p>
            <a:pPr algn="l"/>
            <a:r>
              <a:rPr sz="1050" b="0" i="0">
                <a:solidFill>
                  <a:srgbClr val="E8F0FF"/>
                </a:solidFill>
                <a:latin typeface="Calibri"/>
              </a:rPr>
              <a:t>3</a:t>
            </a:r>
          </a:p>
        </p:txBody>
      </p:sp>
      <p:sp>
        <p:nvSpPr>
          <p:cNvPr id="28" name="TextBox 27"/>
          <p:cNvSpPr txBox="1"/>
          <p:nvPr/>
        </p:nvSpPr>
        <p:spPr>
          <a:xfrm>
            <a:off x="1188720" y="2212848"/>
            <a:ext cx="822960" cy="274320"/>
          </a:xfrm>
          <a:prstGeom prst="rect">
            <a:avLst/>
          </a:prstGeom>
          <a:noFill/>
        </p:spPr>
        <p:txBody>
          <a:bodyPr wrap="square">
            <a:spAutoFit/>
          </a:bodyPr>
          <a:lstStyle/>
          <a:p>
            <a:pPr algn="l"/>
            <a:r>
              <a:rPr sz="1050" b="0" i="0">
                <a:solidFill>
                  <a:srgbClr val="E8F0FF"/>
                </a:solidFill>
                <a:latin typeface="Calibri"/>
              </a:rPr>
              <a:t>Low</a:t>
            </a:r>
          </a:p>
        </p:txBody>
      </p:sp>
      <p:sp>
        <p:nvSpPr>
          <p:cNvPr id="29" name="TextBox 28"/>
          <p:cNvSpPr txBox="1"/>
          <p:nvPr/>
        </p:nvSpPr>
        <p:spPr>
          <a:xfrm>
            <a:off x="2011680" y="2212848"/>
            <a:ext cx="822960" cy="274320"/>
          </a:xfrm>
          <a:prstGeom prst="rect">
            <a:avLst/>
          </a:prstGeom>
          <a:noFill/>
        </p:spPr>
        <p:txBody>
          <a:bodyPr wrap="square">
            <a:spAutoFit/>
          </a:bodyPr>
          <a:lstStyle/>
          <a:p>
            <a:pPr algn="l"/>
            <a:r>
              <a:rPr sz="1050" b="0" i="0">
                <a:solidFill>
                  <a:srgbClr val="FF4B4B"/>
                </a:solidFill>
                <a:latin typeface="Calibri"/>
              </a:rPr>
              <a:t>Unstable</a:t>
            </a:r>
          </a:p>
        </p:txBody>
      </p:sp>
      <p:sp>
        <p:nvSpPr>
          <p:cNvPr id="30" name="TextBox 29"/>
          <p:cNvSpPr txBox="1"/>
          <p:nvPr/>
        </p:nvSpPr>
        <p:spPr>
          <a:xfrm>
            <a:off x="2880360" y="2212848"/>
            <a:ext cx="822960" cy="274320"/>
          </a:xfrm>
          <a:prstGeom prst="rect">
            <a:avLst/>
          </a:prstGeom>
          <a:noFill/>
        </p:spPr>
        <p:txBody>
          <a:bodyPr wrap="square">
            <a:spAutoFit/>
          </a:bodyPr>
          <a:lstStyle/>
          <a:p>
            <a:pPr algn="l"/>
            <a:r>
              <a:rPr sz="1050" b="0" i="0">
                <a:solidFill>
                  <a:srgbClr val="E8F0FF"/>
                </a:solidFill>
                <a:latin typeface="Calibri"/>
              </a:rPr>
              <a:t>45</a:t>
            </a:r>
          </a:p>
        </p:txBody>
      </p:sp>
      <p:sp>
        <p:nvSpPr>
          <p:cNvPr id="31" name="TextBox 30"/>
          <p:cNvSpPr txBox="1"/>
          <p:nvPr/>
        </p:nvSpPr>
        <p:spPr>
          <a:xfrm>
            <a:off x="3977639" y="2212848"/>
            <a:ext cx="1188720" cy="274320"/>
          </a:xfrm>
          <a:prstGeom prst="rect">
            <a:avLst/>
          </a:prstGeom>
          <a:noFill/>
        </p:spPr>
        <p:txBody>
          <a:bodyPr wrap="square">
            <a:spAutoFit/>
          </a:bodyPr>
          <a:lstStyle/>
          <a:p>
            <a:pPr algn="l"/>
            <a:r>
              <a:rPr sz="1000" b="1" i="0">
                <a:solidFill>
                  <a:srgbClr val="FF4B4B"/>
                </a:solidFill>
                <a:latin typeface="Calibri"/>
              </a:rPr>
              <a:t>❌ 0 (Refuse)</a:t>
            </a:r>
          </a:p>
        </p:txBody>
      </p:sp>
      <p:sp>
        <p:nvSpPr>
          <p:cNvPr id="32" name="Rectangle 31"/>
          <p:cNvSpPr/>
          <p:nvPr/>
        </p:nvSpPr>
        <p:spPr>
          <a:xfrm>
            <a:off x="274320" y="2560320"/>
            <a:ext cx="4937760" cy="36576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 y="2615184"/>
            <a:ext cx="822960" cy="274320"/>
          </a:xfrm>
          <a:prstGeom prst="rect">
            <a:avLst/>
          </a:prstGeom>
          <a:noFill/>
        </p:spPr>
        <p:txBody>
          <a:bodyPr wrap="square">
            <a:spAutoFit/>
          </a:bodyPr>
          <a:lstStyle/>
          <a:p>
            <a:pPr algn="l"/>
            <a:r>
              <a:rPr sz="1050" b="0" i="0">
                <a:solidFill>
                  <a:srgbClr val="E8F0FF"/>
                </a:solidFill>
                <a:latin typeface="Calibri"/>
              </a:rPr>
              <a:t>4</a:t>
            </a:r>
          </a:p>
        </p:txBody>
      </p:sp>
      <p:sp>
        <p:nvSpPr>
          <p:cNvPr id="34" name="TextBox 33"/>
          <p:cNvSpPr txBox="1"/>
          <p:nvPr/>
        </p:nvSpPr>
        <p:spPr>
          <a:xfrm>
            <a:off x="1188720" y="2615184"/>
            <a:ext cx="822960" cy="274320"/>
          </a:xfrm>
          <a:prstGeom prst="rect">
            <a:avLst/>
          </a:prstGeom>
          <a:noFill/>
        </p:spPr>
        <p:txBody>
          <a:bodyPr wrap="square">
            <a:spAutoFit/>
          </a:bodyPr>
          <a:lstStyle/>
          <a:p>
            <a:pPr algn="l"/>
            <a:r>
              <a:rPr sz="1050" b="0" i="0">
                <a:solidFill>
                  <a:srgbClr val="E8F0FF"/>
                </a:solidFill>
                <a:latin typeface="Calibri"/>
              </a:rPr>
              <a:t>Low</a:t>
            </a:r>
          </a:p>
        </p:txBody>
      </p:sp>
      <p:sp>
        <p:nvSpPr>
          <p:cNvPr id="35" name="TextBox 34"/>
          <p:cNvSpPr txBox="1"/>
          <p:nvPr/>
        </p:nvSpPr>
        <p:spPr>
          <a:xfrm>
            <a:off x="2011680" y="2615184"/>
            <a:ext cx="822960" cy="274320"/>
          </a:xfrm>
          <a:prstGeom prst="rect">
            <a:avLst/>
          </a:prstGeom>
          <a:noFill/>
        </p:spPr>
        <p:txBody>
          <a:bodyPr wrap="square">
            <a:spAutoFit/>
          </a:bodyPr>
          <a:lstStyle/>
          <a:p>
            <a:pPr algn="l"/>
            <a:r>
              <a:rPr sz="1050" b="0" i="0">
                <a:solidFill>
                  <a:srgbClr val="E8F0FF"/>
                </a:solidFill>
                <a:latin typeface="Calibri"/>
              </a:rPr>
              <a:t>Stable</a:t>
            </a:r>
          </a:p>
        </p:txBody>
      </p:sp>
      <p:sp>
        <p:nvSpPr>
          <p:cNvPr id="36" name="TextBox 35"/>
          <p:cNvSpPr txBox="1"/>
          <p:nvPr/>
        </p:nvSpPr>
        <p:spPr>
          <a:xfrm>
            <a:off x="2880360" y="2615184"/>
            <a:ext cx="822960" cy="274320"/>
          </a:xfrm>
          <a:prstGeom prst="rect">
            <a:avLst/>
          </a:prstGeom>
          <a:noFill/>
        </p:spPr>
        <p:txBody>
          <a:bodyPr wrap="square">
            <a:spAutoFit/>
          </a:bodyPr>
          <a:lstStyle/>
          <a:p>
            <a:pPr algn="l"/>
            <a:r>
              <a:rPr sz="1050" b="0" i="0">
                <a:solidFill>
                  <a:srgbClr val="E8F0FF"/>
                </a:solidFill>
                <a:latin typeface="Calibri"/>
              </a:rPr>
              <a:t>120</a:t>
            </a:r>
          </a:p>
        </p:txBody>
      </p:sp>
      <p:sp>
        <p:nvSpPr>
          <p:cNvPr id="37" name="TextBox 36"/>
          <p:cNvSpPr txBox="1"/>
          <p:nvPr/>
        </p:nvSpPr>
        <p:spPr>
          <a:xfrm>
            <a:off x="3977639" y="2615184"/>
            <a:ext cx="1188720" cy="274320"/>
          </a:xfrm>
          <a:prstGeom prst="rect">
            <a:avLst/>
          </a:prstGeom>
          <a:noFill/>
        </p:spPr>
        <p:txBody>
          <a:bodyPr wrap="square">
            <a:spAutoFit/>
          </a:bodyPr>
          <a:lstStyle/>
          <a:p>
            <a:pPr algn="l"/>
            <a:r>
              <a:rPr sz="1000" b="1" i="0">
                <a:solidFill>
                  <a:srgbClr val="06D679"/>
                </a:solidFill>
                <a:latin typeface="Calibri"/>
              </a:rPr>
              <a:t>✅ 1 (Accept)</a:t>
            </a:r>
          </a:p>
        </p:txBody>
      </p:sp>
      <p:sp>
        <p:nvSpPr>
          <p:cNvPr id="38" name="Rectangle 37"/>
          <p:cNvSpPr/>
          <p:nvPr/>
        </p:nvSpPr>
        <p:spPr>
          <a:xfrm>
            <a:off x="274320" y="2962656"/>
            <a:ext cx="4937760" cy="3657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3017520"/>
            <a:ext cx="822960" cy="274320"/>
          </a:xfrm>
          <a:prstGeom prst="rect">
            <a:avLst/>
          </a:prstGeom>
          <a:noFill/>
        </p:spPr>
        <p:txBody>
          <a:bodyPr wrap="square">
            <a:spAutoFit/>
          </a:bodyPr>
          <a:lstStyle/>
          <a:p>
            <a:pPr algn="l"/>
            <a:r>
              <a:rPr sz="1050" b="0" i="0">
                <a:solidFill>
                  <a:srgbClr val="E8F0FF"/>
                </a:solidFill>
                <a:latin typeface="Calibri"/>
              </a:rPr>
              <a:t>5</a:t>
            </a:r>
          </a:p>
        </p:txBody>
      </p:sp>
      <p:sp>
        <p:nvSpPr>
          <p:cNvPr id="40" name="TextBox 39"/>
          <p:cNvSpPr txBox="1"/>
          <p:nvPr/>
        </p:nvSpPr>
        <p:spPr>
          <a:xfrm>
            <a:off x="1188720" y="3017520"/>
            <a:ext cx="822960" cy="274320"/>
          </a:xfrm>
          <a:prstGeom prst="rect">
            <a:avLst/>
          </a:prstGeom>
          <a:noFill/>
        </p:spPr>
        <p:txBody>
          <a:bodyPr wrap="square">
            <a:spAutoFit/>
          </a:bodyPr>
          <a:lstStyle/>
          <a:p>
            <a:pPr algn="l"/>
            <a:r>
              <a:rPr sz="1050" b="0" i="0">
                <a:solidFill>
                  <a:srgbClr val="FF4B4B"/>
                </a:solidFill>
                <a:latin typeface="Calibri"/>
              </a:rPr>
              <a:t>High</a:t>
            </a:r>
          </a:p>
        </p:txBody>
      </p:sp>
      <p:sp>
        <p:nvSpPr>
          <p:cNvPr id="41" name="TextBox 40"/>
          <p:cNvSpPr txBox="1"/>
          <p:nvPr/>
        </p:nvSpPr>
        <p:spPr>
          <a:xfrm>
            <a:off x="2011680" y="3017520"/>
            <a:ext cx="822960" cy="274320"/>
          </a:xfrm>
          <a:prstGeom prst="rect">
            <a:avLst/>
          </a:prstGeom>
          <a:noFill/>
        </p:spPr>
        <p:txBody>
          <a:bodyPr wrap="square">
            <a:spAutoFit/>
          </a:bodyPr>
          <a:lstStyle/>
          <a:p>
            <a:pPr algn="l"/>
            <a:r>
              <a:rPr sz="1050" b="0" i="0">
                <a:solidFill>
                  <a:srgbClr val="FF4B4B"/>
                </a:solidFill>
                <a:latin typeface="Calibri"/>
              </a:rPr>
              <a:t>Unstable</a:t>
            </a:r>
          </a:p>
        </p:txBody>
      </p:sp>
      <p:sp>
        <p:nvSpPr>
          <p:cNvPr id="42" name="TextBox 41"/>
          <p:cNvSpPr txBox="1"/>
          <p:nvPr/>
        </p:nvSpPr>
        <p:spPr>
          <a:xfrm>
            <a:off x="2880360" y="3017520"/>
            <a:ext cx="822960" cy="274320"/>
          </a:xfrm>
          <a:prstGeom prst="rect">
            <a:avLst/>
          </a:prstGeom>
          <a:noFill/>
        </p:spPr>
        <p:txBody>
          <a:bodyPr wrap="square">
            <a:spAutoFit/>
          </a:bodyPr>
          <a:lstStyle/>
          <a:p>
            <a:pPr algn="l"/>
            <a:r>
              <a:rPr sz="1050" b="0" i="0">
                <a:solidFill>
                  <a:srgbClr val="E8F0FF"/>
                </a:solidFill>
                <a:latin typeface="Calibri"/>
              </a:rPr>
              <a:t>60</a:t>
            </a:r>
          </a:p>
        </p:txBody>
      </p:sp>
      <p:sp>
        <p:nvSpPr>
          <p:cNvPr id="43" name="TextBox 42"/>
          <p:cNvSpPr txBox="1"/>
          <p:nvPr/>
        </p:nvSpPr>
        <p:spPr>
          <a:xfrm>
            <a:off x="3977639" y="3017520"/>
            <a:ext cx="1188720" cy="274320"/>
          </a:xfrm>
          <a:prstGeom prst="rect">
            <a:avLst/>
          </a:prstGeom>
          <a:noFill/>
        </p:spPr>
        <p:txBody>
          <a:bodyPr wrap="square">
            <a:spAutoFit/>
          </a:bodyPr>
          <a:lstStyle/>
          <a:p>
            <a:pPr algn="l"/>
            <a:r>
              <a:rPr sz="1000" b="1" i="0">
                <a:solidFill>
                  <a:srgbClr val="FF4B4B"/>
                </a:solidFill>
                <a:latin typeface="Calibri"/>
              </a:rPr>
              <a:t>❌ 0 (Refuse)</a:t>
            </a:r>
          </a:p>
        </p:txBody>
      </p:sp>
      <p:sp>
        <p:nvSpPr>
          <p:cNvPr id="44" name="Rectangle 43"/>
          <p:cNvSpPr/>
          <p:nvPr/>
        </p:nvSpPr>
        <p:spPr>
          <a:xfrm>
            <a:off x="274320" y="3364992"/>
            <a:ext cx="4937760" cy="36576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5760" y="3419856"/>
            <a:ext cx="822960" cy="274320"/>
          </a:xfrm>
          <a:prstGeom prst="rect">
            <a:avLst/>
          </a:prstGeom>
          <a:noFill/>
        </p:spPr>
        <p:txBody>
          <a:bodyPr wrap="square">
            <a:spAutoFit/>
          </a:bodyPr>
          <a:lstStyle/>
          <a:p>
            <a:pPr algn="l"/>
            <a:r>
              <a:rPr sz="1050" b="0" i="0">
                <a:solidFill>
                  <a:srgbClr val="E8F0FF"/>
                </a:solidFill>
                <a:latin typeface="Calibri"/>
              </a:rPr>
              <a:t>6</a:t>
            </a:r>
          </a:p>
        </p:txBody>
      </p:sp>
      <p:sp>
        <p:nvSpPr>
          <p:cNvPr id="46" name="TextBox 45"/>
          <p:cNvSpPr txBox="1"/>
          <p:nvPr/>
        </p:nvSpPr>
        <p:spPr>
          <a:xfrm>
            <a:off x="1188720" y="3419856"/>
            <a:ext cx="822960" cy="274320"/>
          </a:xfrm>
          <a:prstGeom prst="rect">
            <a:avLst/>
          </a:prstGeom>
          <a:noFill/>
        </p:spPr>
        <p:txBody>
          <a:bodyPr wrap="square">
            <a:spAutoFit/>
          </a:bodyPr>
          <a:lstStyle/>
          <a:p>
            <a:pPr algn="l"/>
            <a:r>
              <a:rPr sz="1050" b="0" i="0">
                <a:solidFill>
                  <a:srgbClr val="E8F0FF"/>
                </a:solidFill>
                <a:latin typeface="Calibri"/>
              </a:rPr>
              <a:t>Low</a:t>
            </a:r>
          </a:p>
        </p:txBody>
      </p:sp>
      <p:sp>
        <p:nvSpPr>
          <p:cNvPr id="47" name="TextBox 46"/>
          <p:cNvSpPr txBox="1"/>
          <p:nvPr/>
        </p:nvSpPr>
        <p:spPr>
          <a:xfrm>
            <a:off x="2011680" y="3419856"/>
            <a:ext cx="822960" cy="274320"/>
          </a:xfrm>
          <a:prstGeom prst="rect">
            <a:avLst/>
          </a:prstGeom>
          <a:noFill/>
        </p:spPr>
        <p:txBody>
          <a:bodyPr wrap="square">
            <a:spAutoFit/>
          </a:bodyPr>
          <a:lstStyle/>
          <a:p>
            <a:pPr algn="l"/>
            <a:r>
              <a:rPr sz="1050" b="0" i="0">
                <a:solidFill>
                  <a:srgbClr val="E8F0FF"/>
                </a:solidFill>
                <a:latin typeface="Calibri"/>
              </a:rPr>
              <a:t>Stable</a:t>
            </a:r>
          </a:p>
        </p:txBody>
      </p:sp>
      <p:sp>
        <p:nvSpPr>
          <p:cNvPr id="48" name="TextBox 47"/>
          <p:cNvSpPr txBox="1"/>
          <p:nvPr/>
        </p:nvSpPr>
        <p:spPr>
          <a:xfrm>
            <a:off x="2880360" y="3419856"/>
            <a:ext cx="822960" cy="274320"/>
          </a:xfrm>
          <a:prstGeom prst="rect">
            <a:avLst/>
          </a:prstGeom>
          <a:noFill/>
        </p:spPr>
        <p:txBody>
          <a:bodyPr wrap="square">
            <a:spAutoFit/>
          </a:bodyPr>
          <a:lstStyle/>
          <a:p>
            <a:pPr algn="l"/>
            <a:r>
              <a:rPr sz="1050" b="0" i="0">
                <a:solidFill>
                  <a:srgbClr val="E8F0FF"/>
                </a:solidFill>
                <a:latin typeface="Calibri"/>
              </a:rPr>
              <a:t>110</a:t>
            </a:r>
          </a:p>
        </p:txBody>
      </p:sp>
      <p:sp>
        <p:nvSpPr>
          <p:cNvPr id="49" name="TextBox 48"/>
          <p:cNvSpPr txBox="1"/>
          <p:nvPr/>
        </p:nvSpPr>
        <p:spPr>
          <a:xfrm>
            <a:off x="3977639" y="3419856"/>
            <a:ext cx="1188720" cy="274320"/>
          </a:xfrm>
          <a:prstGeom prst="rect">
            <a:avLst/>
          </a:prstGeom>
          <a:noFill/>
        </p:spPr>
        <p:txBody>
          <a:bodyPr wrap="square">
            <a:spAutoFit/>
          </a:bodyPr>
          <a:lstStyle/>
          <a:p>
            <a:pPr algn="l"/>
            <a:r>
              <a:rPr sz="1000" b="1" i="0">
                <a:solidFill>
                  <a:srgbClr val="06D679"/>
                </a:solidFill>
                <a:latin typeface="Calibri"/>
              </a:rPr>
              <a:t>✅ 1 (Accept)</a:t>
            </a:r>
          </a:p>
        </p:txBody>
      </p:sp>
      <p:sp>
        <p:nvSpPr>
          <p:cNvPr id="50" name="Rectangle 49"/>
          <p:cNvSpPr/>
          <p:nvPr/>
        </p:nvSpPr>
        <p:spPr>
          <a:xfrm>
            <a:off x="274320" y="3767328"/>
            <a:ext cx="4937760" cy="3657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5760" y="3822191"/>
            <a:ext cx="822960" cy="274320"/>
          </a:xfrm>
          <a:prstGeom prst="rect">
            <a:avLst/>
          </a:prstGeom>
          <a:noFill/>
        </p:spPr>
        <p:txBody>
          <a:bodyPr wrap="square">
            <a:spAutoFit/>
          </a:bodyPr>
          <a:lstStyle/>
          <a:p>
            <a:pPr algn="l"/>
            <a:r>
              <a:rPr sz="1050" b="0" i="0">
                <a:solidFill>
                  <a:srgbClr val="E8F0FF"/>
                </a:solidFill>
                <a:latin typeface="Calibri"/>
              </a:rPr>
              <a:t>7</a:t>
            </a:r>
          </a:p>
        </p:txBody>
      </p:sp>
      <p:sp>
        <p:nvSpPr>
          <p:cNvPr id="52" name="TextBox 51"/>
          <p:cNvSpPr txBox="1"/>
          <p:nvPr/>
        </p:nvSpPr>
        <p:spPr>
          <a:xfrm>
            <a:off x="1188720" y="3822191"/>
            <a:ext cx="822960" cy="274320"/>
          </a:xfrm>
          <a:prstGeom prst="rect">
            <a:avLst/>
          </a:prstGeom>
          <a:noFill/>
        </p:spPr>
        <p:txBody>
          <a:bodyPr wrap="square">
            <a:spAutoFit/>
          </a:bodyPr>
          <a:lstStyle/>
          <a:p>
            <a:pPr algn="l"/>
            <a:r>
              <a:rPr sz="1050" b="0" i="0">
                <a:solidFill>
                  <a:srgbClr val="E8F0FF"/>
                </a:solidFill>
                <a:latin typeface="Calibri"/>
              </a:rPr>
              <a:t>Low</a:t>
            </a:r>
          </a:p>
        </p:txBody>
      </p:sp>
      <p:sp>
        <p:nvSpPr>
          <p:cNvPr id="53" name="TextBox 52"/>
          <p:cNvSpPr txBox="1"/>
          <p:nvPr/>
        </p:nvSpPr>
        <p:spPr>
          <a:xfrm>
            <a:off x="2011680" y="3822191"/>
            <a:ext cx="822960" cy="274320"/>
          </a:xfrm>
          <a:prstGeom prst="rect">
            <a:avLst/>
          </a:prstGeom>
          <a:noFill/>
        </p:spPr>
        <p:txBody>
          <a:bodyPr wrap="square">
            <a:spAutoFit/>
          </a:bodyPr>
          <a:lstStyle/>
          <a:p>
            <a:pPr algn="l"/>
            <a:r>
              <a:rPr sz="1050" b="0" i="0">
                <a:solidFill>
                  <a:srgbClr val="E8F0FF"/>
                </a:solidFill>
                <a:latin typeface="Calibri"/>
              </a:rPr>
              <a:t>Stable</a:t>
            </a:r>
          </a:p>
        </p:txBody>
      </p:sp>
      <p:sp>
        <p:nvSpPr>
          <p:cNvPr id="54" name="TextBox 53"/>
          <p:cNvSpPr txBox="1"/>
          <p:nvPr/>
        </p:nvSpPr>
        <p:spPr>
          <a:xfrm>
            <a:off x="2880360" y="3822191"/>
            <a:ext cx="822960" cy="274320"/>
          </a:xfrm>
          <a:prstGeom prst="rect">
            <a:avLst/>
          </a:prstGeom>
          <a:noFill/>
        </p:spPr>
        <p:txBody>
          <a:bodyPr wrap="square">
            <a:spAutoFit/>
          </a:bodyPr>
          <a:lstStyle/>
          <a:p>
            <a:pPr algn="l"/>
            <a:r>
              <a:rPr sz="1050" b="0" i="0">
                <a:solidFill>
                  <a:srgbClr val="E8F0FF"/>
                </a:solidFill>
                <a:latin typeface="Calibri"/>
              </a:rPr>
              <a:t>50</a:t>
            </a:r>
          </a:p>
        </p:txBody>
      </p:sp>
      <p:sp>
        <p:nvSpPr>
          <p:cNvPr id="55" name="TextBox 54"/>
          <p:cNvSpPr txBox="1"/>
          <p:nvPr/>
        </p:nvSpPr>
        <p:spPr>
          <a:xfrm>
            <a:off x="3977639" y="3822191"/>
            <a:ext cx="1188720" cy="274320"/>
          </a:xfrm>
          <a:prstGeom prst="rect">
            <a:avLst/>
          </a:prstGeom>
          <a:noFill/>
        </p:spPr>
        <p:txBody>
          <a:bodyPr wrap="square">
            <a:spAutoFit/>
          </a:bodyPr>
          <a:lstStyle/>
          <a:p>
            <a:pPr algn="l"/>
            <a:r>
              <a:rPr sz="1000" b="1" i="0">
                <a:solidFill>
                  <a:srgbClr val="FF4B4B"/>
                </a:solidFill>
                <a:latin typeface="Calibri"/>
              </a:rPr>
              <a:t>❌ 0 (Refuse)</a:t>
            </a:r>
          </a:p>
        </p:txBody>
      </p:sp>
      <p:sp>
        <p:nvSpPr>
          <p:cNvPr id="56" name="Rectangle 55"/>
          <p:cNvSpPr/>
          <p:nvPr/>
        </p:nvSpPr>
        <p:spPr>
          <a:xfrm>
            <a:off x="5394960" y="960120"/>
            <a:ext cx="3474720" cy="27889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394960" y="960120"/>
            <a:ext cx="347472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577840" y="1051560"/>
            <a:ext cx="3200400" cy="320040"/>
          </a:xfrm>
          <a:prstGeom prst="rect">
            <a:avLst/>
          </a:prstGeom>
          <a:noFill/>
        </p:spPr>
        <p:txBody>
          <a:bodyPr wrap="square">
            <a:spAutoFit/>
          </a:bodyPr>
          <a:lstStyle/>
          <a:p>
            <a:pPr algn="l"/>
            <a:r>
              <a:rPr sz="1200" b="1" i="0">
                <a:solidFill>
                  <a:srgbClr val="39D353"/>
                </a:solidFill>
                <a:latin typeface="Calibri"/>
              </a:rPr>
              <a:t>Step 1: Root Node Gini</a:t>
            </a:r>
          </a:p>
        </p:txBody>
      </p:sp>
      <p:sp>
        <p:nvSpPr>
          <p:cNvPr id="59" name="TextBox 58"/>
          <p:cNvSpPr txBox="1"/>
          <p:nvPr/>
        </p:nvSpPr>
        <p:spPr>
          <a:xfrm>
            <a:off x="5577840" y="1417320"/>
            <a:ext cx="3200400" cy="2148840"/>
          </a:xfrm>
          <a:prstGeom prst="rect">
            <a:avLst/>
          </a:prstGeom>
          <a:noFill/>
        </p:spPr>
        <p:txBody>
          <a:bodyPr wrap="square">
            <a:spAutoFit/>
          </a:bodyPr>
          <a:lstStyle/>
          <a:p>
            <a:pPr algn="l">
              <a:spcAft>
                <a:spcPts val="200"/>
              </a:spcAft>
            </a:pPr>
            <a:r>
              <a:rPr sz="1050" b="0">
                <a:solidFill>
                  <a:srgbClr val="FFFFFF"/>
                </a:solidFill>
                <a:latin typeface="Consolas"/>
              </a:rPr>
              <a:t>7 clients total:</a:t>
            </a:r>
          </a:p>
          <a:p>
            <a:pPr algn="l">
              <a:spcAft>
                <a:spcPts val="200"/>
              </a:spcAft>
            </a:pPr>
            <a:r>
              <a:rPr sz="1050" b="0">
                <a:solidFill>
                  <a:srgbClr val="FFFFFF"/>
                </a:solidFill>
                <a:latin typeface="Consolas"/>
              </a:rPr>
              <a:t>  • 3 Accepted (1): clients 1, 4, 6</a:t>
            </a:r>
          </a:p>
          <a:p>
            <a:pPr algn="l">
              <a:spcAft>
                <a:spcPts val="200"/>
              </a:spcAft>
            </a:pPr>
            <a:r>
              <a:rPr sz="1050" b="0">
                <a:solidFill>
                  <a:srgbClr val="FFFFFF"/>
                </a:solidFill>
                <a:latin typeface="Consolas"/>
              </a:rPr>
              <a:t>  • 4 Refused  (0): clients 2, 3, 5, 7</a:t>
            </a:r>
          </a:p>
          <a:p>
            <a:pPr algn="l">
              <a:spcAft>
                <a:spcPts val="200"/>
              </a:spcAft>
            </a:pPr>
            <a:endParaRPr sz="1050" b="0">
              <a:solidFill>
                <a:srgbClr val="FFFFFF"/>
              </a:solidFill>
              <a:latin typeface="Consolas"/>
            </a:endParaRPr>
          </a:p>
          <a:p>
            <a:pPr algn="l">
              <a:spcAft>
                <a:spcPts val="200"/>
              </a:spcAft>
            </a:pPr>
            <a:r>
              <a:rPr sz="1050" b="0">
                <a:solidFill>
                  <a:srgbClr val="FFFFFF"/>
                </a:solidFill>
                <a:latin typeface="Consolas"/>
              </a:rPr>
              <a:t>Gini_root = 1 − [(3/7)² + (4/7)²]</a:t>
            </a:r>
          </a:p>
          <a:p>
            <a:pPr algn="l">
              <a:spcAft>
                <a:spcPts val="200"/>
              </a:spcAft>
            </a:pPr>
            <a:r>
              <a:rPr sz="1050" b="0">
                <a:solidFill>
                  <a:srgbClr val="FFFFFF"/>
                </a:solidFill>
                <a:latin typeface="Consolas"/>
              </a:rPr>
              <a:t>           = 1 − [0.184 + 0.327]</a:t>
            </a:r>
          </a:p>
          <a:p>
            <a:pPr algn="l">
              <a:spcAft>
                <a:spcPts val="200"/>
              </a:spcAft>
            </a:pPr>
            <a:r>
              <a:rPr sz="1050" b="0">
                <a:solidFill>
                  <a:srgbClr val="FFFFFF"/>
                </a:solidFill>
                <a:latin typeface="Consolas"/>
              </a:rPr>
              <a:t>           = 1 − 0.510 ≈ 0.49</a:t>
            </a:r>
          </a:p>
          <a:p>
            <a:pPr algn="l">
              <a:spcAft>
                <a:spcPts val="200"/>
              </a:spcAft>
            </a:pPr>
            <a:endParaRPr sz="1050" b="0">
              <a:solidFill>
                <a:srgbClr val="FFFFFF"/>
              </a:solidFill>
              <a:latin typeface="Consolas"/>
            </a:endParaRPr>
          </a:p>
          <a:p>
            <a:pPr algn="l">
              <a:spcAft>
                <a:spcPts val="200"/>
              </a:spcAft>
            </a:pPr>
            <a:r>
              <a:rPr sz="1050" b="0">
                <a:solidFill>
                  <a:srgbClr val="FFFFFF"/>
                </a:solidFill>
                <a:latin typeface="Consolas"/>
              </a:rPr>
              <a:t>Interpretation: Gini ≈ 0.5 means</a:t>
            </a:r>
          </a:p>
          <a:p>
            <a:pPr algn="l">
              <a:spcAft>
                <a:spcPts val="200"/>
              </a:spcAft>
            </a:pPr>
            <a:r>
              <a:rPr sz="1050" b="0">
                <a:solidFill>
                  <a:srgbClr val="FFFFFF"/>
                </a:solidFill>
                <a:latin typeface="Consolas"/>
              </a:rPr>
              <a:t>the group is very mixed.</a:t>
            </a:r>
          </a:p>
          <a:p>
            <a:pPr algn="l">
              <a:spcAft>
                <a:spcPts val="200"/>
              </a:spcAft>
            </a:pPr>
            <a:r>
              <a:rPr sz="1050" b="0">
                <a:solidFill>
                  <a:srgbClr val="FFFFFF"/>
                </a:solidFill>
                <a:latin typeface="Consolas"/>
              </a:rPr>
              <a:t>We MUST split to reduce impurity!</a:t>
            </a:r>
          </a:p>
        </p:txBody>
      </p:sp>
      <p:sp>
        <p:nvSpPr>
          <p:cNvPr id="60" name="TextBox 59"/>
          <p:cNvSpPr txBox="1"/>
          <p:nvPr/>
        </p:nvSpPr>
        <p:spPr>
          <a:xfrm>
            <a:off x="274320" y="4178808"/>
            <a:ext cx="8595360" cy="320040"/>
          </a:xfrm>
          <a:prstGeom prst="rect">
            <a:avLst/>
          </a:prstGeom>
          <a:noFill/>
        </p:spPr>
        <p:txBody>
          <a:bodyPr wrap="square">
            <a:spAutoFit/>
          </a:bodyPr>
          <a:lstStyle/>
          <a:p>
            <a:pPr algn="l"/>
            <a:r>
              <a:rPr sz="1050" b="0" i="0">
                <a:solidFill>
                  <a:srgbClr val="FFC400"/>
                </a:solidFill>
                <a:latin typeface="Calibri"/>
              </a:rPr>
              <a:t>Now we test each feature to find the split that reduces Gini the most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16</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Testing Every Split — Which Feature Wins?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CART tries every possible split. The one with the LOWEST weighted Gini wins.</a:t>
            </a:r>
          </a:p>
        </p:txBody>
      </p:sp>
      <p:sp>
        <p:nvSpPr>
          <p:cNvPr id="8" name="Rectangle 7"/>
          <p:cNvSpPr/>
          <p:nvPr/>
        </p:nvSpPr>
        <p:spPr>
          <a:xfrm>
            <a:off x="274320" y="960120"/>
            <a:ext cx="2788920" cy="32918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50292" cy="32918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33271"/>
            <a:ext cx="2514600" cy="320040"/>
          </a:xfrm>
          <a:prstGeom prst="rect">
            <a:avLst/>
          </a:prstGeom>
          <a:noFill/>
        </p:spPr>
        <p:txBody>
          <a:bodyPr wrap="square">
            <a:spAutoFit/>
          </a:bodyPr>
          <a:lstStyle/>
          <a:p>
            <a:pPr algn="l"/>
            <a:r>
              <a:rPr sz="1400" b="1" i="0">
                <a:solidFill>
                  <a:srgbClr val="FFC400"/>
                </a:solidFill>
                <a:latin typeface="Calibri"/>
              </a:rPr>
              <a:t>Debt</a:t>
            </a:r>
          </a:p>
        </p:txBody>
      </p:sp>
      <p:sp>
        <p:nvSpPr>
          <p:cNvPr id="11" name="TextBox 10"/>
          <p:cNvSpPr txBox="1"/>
          <p:nvPr/>
        </p:nvSpPr>
        <p:spPr>
          <a:xfrm>
            <a:off x="411479" y="1371600"/>
            <a:ext cx="2514600" cy="256032"/>
          </a:xfrm>
          <a:prstGeom prst="rect">
            <a:avLst/>
          </a:prstGeom>
          <a:noFill/>
        </p:spPr>
        <p:txBody>
          <a:bodyPr wrap="square">
            <a:spAutoFit/>
          </a:bodyPr>
          <a:lstStyle/>
          <a:p>
            <a:pPr algn="l"/>
            <a:r>
              <a:rPr sz="1000" b="0" i="0">
                <a:solidFill>
                  <a:srgbClr val="7A92B8"/>
                </a:solidFill>
                <a:latin typeface="Calibri"/>
              </a:rPr>
              <a:t>High vs Low</a:t>
            </a:r>
          </a:p>
        </p:txBody>
      </p:sp>
      <p:sp>
        <p:nvSpPr>
          <p:cNvPr id="12" name="Rectangle 11"/>
          <p:cNvSpPr/>
          <p:nvPr/>
        </p:nvSpPr>
        <p:spPr>
          <a:xfrm>
            <a:off x="365760" y="1664208"/>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755648"/>
            <a:ext cx="2542032" cy="1783080"/>
          </a:xfrm>
          <a:prstGeom prst="rect">
            <a:avLst/>
          </a:prstGeom>
          <a:noFill/>
        </p:spPr>
        <p:txBody>
          <a:bodyPr wrap="square">
            <a:spAutoFit/>
          </a:bodyPr>
          <a:lstStyle/>
          <a:p>
            <a:pPr algn="l">
              <a:spcAft>
                <a:spcPts val="200"/>
              </a:spcAft>
            </a:pPr>
            <a:r>
              <a:rPr sz="950" b="0">
                <a:solidFill>
                  <a:srgbClr val="FFFFFF"/>
                </a:solidFill>
                <a:latin typeface="Consolas"/>
              </a:rPr>
              <a:t>High branch: clients 2,5 → 0 Accepted, 2 Refused</a:t>
            </a:r>
          </a:p>
          <a:p>
            <a:pPr algn="l">
              <a:spcAft>
                <a:spcPts val="200"/>
              </a:spcAft>
            </a:pPr>
            <a:r>
              <a:rPr sz="950" b="0">
                <a:solidFill>
                  <a:srgbClr val="FFFFFF"/>
                </a:solidFill>
                <a:latin typeface="Consolas"/>
              </a:rPr>
              <a:t>  Gini_high = 1−(0²+1²) = 0.0  ✅ Pure!</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Low branch: clients 1,3,4,6,7 → 3 Accept, 2 Refuse</a:t>
            </a:r>
          </a:p>
          <a:p>
            <a:pPr algn="l">
              <a:spcAft>
                <a:spcPts val="200"/>
              </a:spcAft>
            </a:pPr>
            <a:r>
              <a:rPr sz="950" b="0">
                <a:solidFill>
                  <a:srgbClr val="FFFFFF"/>
                </a:solidFill>
                <a:latin typeface="Consolas"/>
              </a:rPr>
              <a:t>  Gini_low = 1−[(3/5)²+(2/5)²] = 0.48</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Weighted Cost = (2/7)×0 + (5/7)×0.48 = 0.34</a:t>
            </a:r>
          </a:p>
        </p:txBody>
      </p:sp>
      <p:sp>
        <p:nvSpPr>
          <p:cNvPr id="14" name="Rectangle 13"/>
          <p:cNvSpPr/>
          <p:nvPr/>
        </p:nvSpPr>
        <p:spPr>
          <a:xfrm>
            <a:off x="365760" y="3566160"/>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3639312"/>
            <a:ext cx="2514600" cy="502920"/>
          </a:xfrm>
          <a:prstGeom prst="rect">
            <a:avLst/>
          </a:prstGeom>
          <a:noFill/>
        </p:spPr>
        <p:txBody>
          <a:bodyPr wrap="square">
            <a:spAutoFit/>
          </a:bodyPr>
          <a:lstStyle/>
          <a:p>
            <a:pPr algn="l"/>
            <a:r>
              <a:rPr sz="1100" b="1" i="0">
                <a:solidFill>
                  <a:srgbClr val="FFC400"/>
                </a:solidFill>
                <a:latin typeface="Calibri"/>
              </a:rPr>
              <a:t>Cost = 0.34</a:t>
            </a:r>
          </a:p>
        </p:txBody>
      </p:sp>
      <p:sp>
        <p:nvSpPr>
          <p:cNvPr id="16" name="Rectangle 15"/>
          <p:cNvSpPr/>
          <p:nvPr/>
        </p:nvSpPr>
        <p:spPr>
          <a:xfrm>
            <a:off x="3218688" y="960120"/>
            <a:ext cx="2788920" cy="32918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18688" y="960120"/>
            <a:ext cx="50292" cy="32918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55848" y="1033271"/>
            <a:ext cx="2514600" cy="320040"/>
          </a:xfrm>
          <a:prstGeom prst="rect">
            <a:avLst/>
          </a:prstGeom>
          <a:noFill/>
        </p:spPr>
        <p:txBody>
          <a:bodyPr wrap="square">
            <a:spAutoFit/>
          </a:bodyPr>
          <a:lstStyle/>
          <a:p>
            <a:pPr algn="l"/>
            <a:r>
              <a:rPr sz="1400" b="1" i="0">
                <a:solidFill>
                  <a:srgbClr val="FFC400"/>
                </a:solidFill>
                <a:latin typeface="Calibri"/>
              </a:rPr>
              <a:t>Job</a:t>
            </a:r>
          </a:p>
        </p:txBody>
      </p:sp>
      <p:sp>
        <p:nvSpPr>
          <p:cNvPr id="19" name="TextBox 18"/>
          <p:cNvSpPr txBox="1"/>
          <p:nvPr/>
        </p:nvSpPr>
        <p:spPr>
          <a:xfrm>
            <a:off x="3355848" y="1371600"/>
            <a:ext cx="2514600" cy="256032"/>
          </a:xfrm>
          <a:prstGeom prst="rect">
            <a:avLst/>
          </a:prstGeom>
          <a:noFill/>
        </p:spPr>
        <p:txBody>
          <a:bodyPr wrap="square">
            <a:spAutoFit/>
          </a:bodyPr>
          <a:lstStyle/>
          <a:p>
            <a:pPr algn="l"/>
            <a:r>
              <a:rPr sz="1000" b="0" i="0">
                <a:solidFill>
                  <a:srgbClr val="7A92B8"/>
                </a:solidFill>
                <a:latin typeface="Calibri"/>
              </a:rPr>
              <a:t>Stable vs Unstable</a:t>
            </a:r>
          </a:p>
        </p:txBody>
      </p:sp>
      <p:sp>
        <p:nvSpPr>
          <p:cNvPr id="20" name="Rectangle 19"/>
          <p:cNvSpPr/>
          <p:nvPr/>
        </p:nvSpPr>
        <p:spPr>
          <a:xfrm>
            <a:off x="3310128" y="1664208"/>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55848" y="1755648"/>
            <a:ext cx="2542032" cy="1783080"/>
          </a:xfrm>
          <a:prstGeom prst="rect">
            <a:avLst/>
          </a:prstGeom>
          <a:noFill/>
        </p:spPr>
        <p:txBody>
          <a:bodyPr wrap="square">
            <a:spAutoFit/>
          </a:bodyPr>
          <a:lstStyle/>
          <a:p>
            <a:pPr algn="l">
              <a:spcAft>
                <a:spcPts val="200"/>
              </a:spcAft>
            </a:pPr>
            <a:r>
              <a:rPr sz="950" b="0">
                <a:solidFill>
                  <a:srgbClr val="FFFFFF"/>
                </a:solidFill>
                <a:latin typeface="Consolas"/>
              </a:rPr>
              <a:t>Unstable branch: clients 3,5 → 0 Accepted, 2 Refused</a:t>
            </a:r>
          </a:p>
          <a:p>
            <a:pPr algn="l">
              <a:spcAft>
                <a:spcPts val="200"/>
              </a:spcAft>
            </a:pPr>
            <a:r>
              <a:rPr sz="950" b="0">
                <a:solidFill>
                  <a:srgbClr val="FFFFFF"/>
                </a:solidFill>
                <a:latin typeface="Consolas"/>
              </a:rPr>
              <a:t>  Gini = 0.0  ✅ Pure!</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Stable branch: clients 1,2,4,6,7 → 3 Accept, 2 Refuse</a:t>
            </a:r>
          </a:p>
          <a:p>
            <a:pPr algn="l">
              <a:spcAft>
                <a:spcPts val="200"/>
              </a:spcAft>
            </a:pPr>
            <a:r>
              <a:rPr sz="950" b="0">
                <a:solidFill>
                  <a:srgbClr val="FFFFFF"/>
                </a:solidFill>
                <a:latin typeface="Consolas"/>
              </a:rPr>
              <a:t>  Gini = 0.48</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Weighted Cost = (2/7)×0 + (5/7)×0.48 = 0.34</a:t>
            </a:r>
          </a:p>
        </p:txBody>
      </p:sp>
      <p:sp>
        <p:nvSpPr>
          <p:cNvPr id="22" name="Rectangle 21"/>
          <p:cNvSpPr/>
          <p:nvPr/>
        </p:nvSpPr>
        <p:spPr>
          <a:xfrm>
            <a:off x="3310128" y="3566160"/>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355848" y="3639312"/>
            <a:ext cx="2514600" cy="502920"/>
          </a:xfrm>
          <a:prstGeom prst="rect">
            <a:avLst/>
          </a:prstGeom>
          <a:noFill/>
        </p:spPr>
        <p:txBody>
          <a:bodyPr wrap="square">
            <a:spAutoFit/>
          </a:bodyPr>
          <a:lstStyle/>
          <a:p>
            <a:pPr algn="l"/>
            <a:r>
              <a:rPr sz="1100" b="1" i="0">
                <a:solidFill>
                  <a:srgbClr val="FFC400"/>
                </a:solidFill>
                <a:latin typeface="Calibri"/>
              </a:rPr>
              <a:t>Cost = 0.34</a:t>
            </a:r>
          </a:p>
        </p:txBody>
      </p:sp>
      <p:sp>
        <p:nvSpPr>
          <p:cNvPr id="24" name="Rectangle 23"/>
          <p:cNvSpPr/>
          <p:nvPr/>
        </p:nvSpPr>
        <p:spPr>
          <a:xfrm>
            <a:off x="6163056" y="960120"/>
            <a:ext cx="2788920" cy="32918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3056" y="960120"/>
            <a:ext cx="50292" cy="329184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0216" y="1033271"/>
            <a:ext cx="2514600" cy="320040"/>
          </a:xfrm>
          <a:prstGeom prst="rect">
            <a:avLst/>
          </a:prstGeom>
          <a:noFill/>
        </p:spPr>
        <p:txBody>
          <a:bodyPr wrap="square">
            <a:spAutoFit/>
          </a:bodyPr>
          <a:lstStyle/>
          <a:p>
            <a:pPr algn="l"/>
            <a:r>
              <a:rPr sz="1400" b="1" i="0">
                <a:solidFill>
                  <a:srgbClr val="39D353"/>
                </a:solidFill>
                <a:latin typeface="Calibri"/>
              </a:rPr>
              <a:t>Salary</a:t>
            </a:r>
          </a:p>
        </p:txBody>
      </p:sp>
      <p:sp>
        <p:nvSpPr>
          <p:cNvPr id="27" name="TextBox 26"/>
          <p:cNvSpPr txBox="1"/>
          <p:nvPr/>
        </p:nvSpPr>
        <p:spPr>
          <a:xfrm>
            <a:off x="6300216" y="1371600"/>
            <a:ext cx="2514600" cy="256032"/>
          </a:xfrm>
          <a:prstGeom prst="rect">
            <a:avLst/>
          </a:prstGeom>
          <a:noFill/>
        </p:spPr>
        <p:txBody>
          <a:bodyPr wrap="square">
            <a:spAutoFit/>
          </a:bodyPr>
          <a:lstStyle/>
          <a:p>
            <a:pPr algn="l"/>
            <a:r>
              <a:rPr sz="1000" b="0" i="0">
                <a:solidFill>
                  <a:srgbClr val="7A92B8"/>
                </a:solidFill>
                <a:latin typeface="Calibri"/>
              </a:rPr>
              <a:t>&lt; 70k vs ≥ 70k</a:t>
            </a:r>
          </a:p>
        </p:txBody>
      </p:sp>
      <p:sp>
        <p:nvSpPr>
          <p:cNvPr id="28" name="Rectangle 27"/>
          <p:cNvSpPr/>
          <p:nvPr/>
        </p:nvSpPr>
        <p:spPr>
          <a:xfrm>
            <a:off x="6254496" y="1664208"/>
            <a:ext cx="260604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00216" y="1755648"/>
            <a:ext cx="2542032" cy="1783080"/>
          </a:xfrm>
          <a:prstGeom prst="rect">
            <a:avLst/>
          </a:prstGeom>
          <a:noFill/>
        </p:spPr>
        <p:txBody>
          <a:bodyPr wrap="square">
            <a:spAutoFit/>
          </a:bodyPr>
          <a:lstStyle/>
          <a:p>
            <a:pPr algn="l">
              <a:spcAft>
                <a:spcPts val="200"/>
              </a:spcAft>
            </a:pPr>
            <a:r>
              <a:rPr sz="950" b="0">
                <a:solidFill>
                  <a:srgbClr val="FFFFFF"/>
                </a:solidFill>
                <a:latin typeface="Consolas"/>
              </a:rPr>
              <a:t>&lt; 70k branch: clients 3,5,7 → 0 Accepted, 3 Refused</a:t>
            </a:r>
          </a:p>
          <a:p>
            <a:pPr algn="l">
              <a:spcAft>
                <a:spcPts val="200"/>
              </a:spcAft>
            </a:pPr>
            <a:r>
              <a:rPr sz="950" b="0">
                <a:solidFill>
                  <a:srgbClr val="FFFFFF"/>
                </a:solidFill>
                <a:latin typeface="Consolas"/>
              </a:rPr>
              <a:t>  Gini = 1−(0²+1²) = 0.0  ✅ Pure!</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 70k branch: clients 1,2,4,6 → 3 Accept, 1 Refuse</a:t>
            </a:r>
          </a:p>
          <a:p>
            <a:pPr algn="l">
              <a:spcAft>
                <a:spcPts val="200"/>
              </a:spcAft>
            </a:pPr>
            <a:r>
              <a:rPr sz="950" b="0">
                <a:solidFill>
                  <a:srgbClr val="FFFFFF"/>
                </a:solidFill>
                <a:latin typeface="Consolas"/>
              </a:rPr>
              <a:t>  Gini = 1−[(3/4)²+(1/4)²] = 0.375</a:t>
            </a:r>
          </a:p>
          <a:p>
            <a:pPr algn="l">
              <a:spcAft>
                <a:spcPts val="200"/>
              </a:spcAft>
            </a:pPr>
            <a:endParaRPr sz="950" b="0">
              <a:solidFill>
                <a:srgbClr val="FFFFFF"/>
              </a:solidFill>
              <a:latin typeface="Consolas"/>
            </a:endParaRPr>
          </a:p>
          <a:p>
            <a:pPr algn="l">
              <a:spcAft>
                <a:spcPts val="200"/>
              </a:spcAft>
            </a:pPr>
            <a:r>
              <a:rPr sz="950" b="0">
                <a:solidFill>
                  <a:srgbClr val="FFFFFF"/>
                </a:solidFill>
                <a:latin typeface="Consolas"/>
              </a:rPr>
              <a:t>Weighted Cost = (3/7)×0 + (4/7)×0.375 = 0.21</a:t>
            </a:r>
          </a:p>
        </p:txBody>
      </p:sp>
      <p:sp>
        <p:nvSpPr>
          <p:cNvPr id="30" name="Rectangle 29"/>
          <p:cNvSpPr/>
          <p:nvPr/>
        </p:nvSpPr>
        <p:spPr>
          <a:xfrm>
            <a:off x="6254496" y="3566160"/>
            <a:ext cx="260604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0216" y="3639312"/>
            <a:ext cx="2514600" cy="502920"/>
          </a:xfrm>
          <a:prstGeom prst="rect">
            <a:avLst/>
          </a:prstGeom>
          <a:noFill/>
        </p:spPr>
        <p:txBody>
          <a:bodyPr wrap="square">
            <a:spAutoFit/>
          </a:bodyPr>
          <a:lstStyle/>
          <a:p>
            <a:pPr algn="l"/>
            <a:r>
              <a:rPr sz="1100" b="1" i="0">
                <a:solidFill>
                  <a:srgbClr val="39D353"/>
                </a:solidFill>
                <a:latin typeface="Calibri"/>
              </a:rPr>
              <a:t>Cost = 0.21  🏆 WINNER!</a:t>
            </a:r>
          </a:p>
        </p:txBody>
      </p:sp>
      <p:sp>
        <p:nvSpPr>
          <p:cNvPr id="32" name="TextBox 31"/>
          <p:cNvSpPr txBox="1"/>
          <p:nvPr/>
        </p:nvSpPr>
        <p:spPr>
          <a:xfrm>
            <a:off x="274320" y="4315968"/>
            <a:ext cx="8595360" cy="269304"/>
          </a:xfrm>
          <a:prstGeom prst="rect">
            <a:avLst/>
          </a:prstGeom>
          <a:noFill/>
        </p:spPr>
        <p:txBody>
          <a:bodyPr wrap="square">
            <a:spAutoFit/>
          </a:bodyPr>
          <a:lstStyle/>
          <a:p>
            <a:pPr algn="ctr"/>
            <a:r>
              <a:rPr sz="1150" b="0" i="0" dirty="0">
                <a:solidFill>
                  <a:srgbClr val="39D353"/>
                </a:solidFill>
                <a:latin typeface="Calibri"/>
              </a:rPr>
              <a:t>  Salary &lt; 70k? wins Round 1 with lowest cost (0.21) → becomes the ROOT node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17</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The Final Decision Tree — Bank Loan</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Three simple rules replace a complex dataset</a:t>
            </a:r>
          </a:p>
        </p:txBody>
      </p:sp>
      <p:sp>
        <p:nvSpPr>
          <p:cNvPr id="8" name="Rectangle 7"/>
          <p:cNvSpPr/>
          <p:nvPr/>
        </p:nvSpPr>
        <p:spPr>
          <a:xfrm>
            <a:off x="2926080" y="987552"/>
            <a:ext cx="3291840" cy="5303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005840"/>
            <a:ext cx="3255264" cy="493776"/>
          </a:xfrm>
          <a:prstGeom prst="rect">
            <a:avLst/>
          </a:prstGeom>
          <a:noFill/>
        </p:spPr>
        <p:txBody>
          <a:bodyPr wrap="square">
            <a:spAutoFit/>
          </a:bodyPr>
          <a:lstStyle/>
          <a:p>
            <a:pPr algn="ctr"/>
            <a:r>
              <a:rPr sz="1400" b="1" i="0">
                <a:solidFill>
                  <a:srgbClr val="FFFFFF"/>
                </a:solidFill>
                <a:latin typeface="Calibri"/>
              </a:rPr>
              <a:t>Salary &lt; 70k ?</a:t>
            </a:r>
          </a:p>
        </p:txBody>
      </p:sp>
      <p:sp>
        <p:nvSpPr>
          <p:cNvPr id="10" name="Rectangle 9"/>
          <p:cNvSpPr/>
          <p:nvPr/>
        </p:nvSpPr>
        <p:spPr>
          <a:xfrm>
            <a:off x="731520" y="1920240"/>
            <a:ext cx="2011680" cy="64008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1938528"/>
            <a:ext cx="1975104" cy="603504"/>
          </a:xfrm>
          <a:prstGeom prst="rect">
            <a:avLst/>
          </a:prstGeom>
          <a:noFill/>
        </p:spPr>
        <p:txBody>
          <a:bodyPr wrap="square">
            <a:spAutoFit/>
          </a:bodyPr>
          <a:lstStyle/>
          <a:p>
            <a:pPr algn="ctr"/>
            <a:r>
              <a:rPr sz="1150" b="1" i="0">
                <a:solidFill>
                  <a:srgbClr val="FFFFFF"/>
                </a:solidFill>
                <a:latin typeface="Calibri"/>
              </a:rPr>
              <a:t>❌  REFUSED
(clients 3, 5, 7)</a:t>
            </a:r>
          </a:p>
        </p:txBody>
      </p:sp>
      <p:sp>
        <p:nvSpPr>
          <p:cNvPr id="12" name="TextBox 11"/>
          <p:cNvSpPr txBox="1"/>
          <p:nvPr/>
        </p:nvSpPr>
        <p:spPr>
          <a:xfrm>
            <a:off x="1280160" y="1572768"/>
            <a:ext cx="731520" cy="274320"/>
          </a:xfrm>
          <a:prstGeom prst="rect">
            <a:avLst/>
          </a:prstGeom>
          <a:noFill/>
        </p:spPr>
        <p:txBody>
          <a:bodyPr wrap="square">
            <a:spAutoFit/>
          </a:bodyPr>
          <a:lstStyle/>
          <a:p>
            <a:pPr algn="ctr"/>
            <a:r>
              <a:rPr sz="1100" b="1" i="0">
                <a:solidFill>
                  <a:srgbClr val="06D679"/>
                </a:solidFill>
                <a:latin typeface="Calibri"/>
              </a:rPr>
              <a:t>YES</a:t>
            </a:r>
          </a:p>
        </p:txBody>
      </p:sp>
      <p:sp>
        <p:nvSpPr>
          <p:cNvPr id="13" name="Rectangle 12"/>
          <p:cNvSpPr/>
          <p:nvPr/>
        </p:nvSpPr>
        <p:spPr>
          <a:xfrm>
            <a:off x="5029200" y="1920240"/>
            <a:ext cx="3200400" cy="530352"/>
          </a:xfrm>
          <a:prstGeom prst="rect">
            <a:avLst/>
          </a:prstGeom>
          <a:solidFill>
            <a:srgbClr val="602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47488" y="1938528"/>
            <a:ext cx="3163824" cy="493776"/>
          </a:xfrm>
          <a:prstGeom prst="rect">
            <a:avLst/>
          </a:prstGeom>
          <a:noFill/>
        </p:spPr>
        <p:txBody>
          <a:bodyPr wrap="square">
            <a:spAutoFit/>
          </a:bodyPr>
          <a:lstStyle/>
          <a:p>
            <a:pPr algn="ctr"/>
            <a:r>
              <a:rPr sz="1300" b="1" i="0">
                <a:solidFill>
                  <a:srgbClr val="FFFFFF"/>
                </a:solidFill>
                <a:latin typeface="Calibri"/>
              </a:rPr>
              <a:t>Debt = High ?</a:t>
            </a:r>
          </a:p>
        </p:txBody>
      </p:sp>
      <p:sp>
        <p:nvSpPr>
          <p:cNvPr id="15" name="TextBox 14"/>
          <p:cNvSpPr txBox="1"/>
          <p:nvPr/>
        </p:nvSpPr>
        <p:spPr>
          <a:xfrm>
            <a:off x="6583680" y="1572768"/>
            <a:ext cx="548640" cy="274320"/>
          </a:xfrm>
          <a:prstGeom prst="rect">
            <a:avLst/>
          </a:prstGeom>
          <a:noFill/>
        </p:spPr>
        <p:txBody>
          <a:bodyPr wrap="square">
            <a:spAutoFit/>
          </a:bodyPr>
          <a:lstStyle/>
          <a:p>
            <a:pPr algn="ctr"/>
            <a:r>
              <a:rPr sz="1100" b="1" i="0">
                <a:solidFill>
                  <a:srgbClr val="FF4B4B"/>
                </a:solidFill>
                <a:latin typeface="Calibri"/>
              </a:rPr>
              <a:t>NO</a:t>
            </a:r>
          </a:p>
        </p:txBody>
      </p:sp>
      <p:sp>
        <p:nvSpPr>
          <p:cNvPr id="16" name="Rectangle 15"/>
          <p:cNvSpPr/>
          <p:nvPr/>
        </p:nvSpPr>
        <p:spPr>
          <a:xfrm>
            <a:off x="4114800" y="2880360"/>
            <a:ext cx="1828800" cy="64008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7" y="2898648"/>
            <a:ext cx="1792224" cy="603504"/>
          </a:xfrm>
          <a:prstGeom prst="rect">
            <a:avLst/>
          </a:prstGeom>
          <a:noFill/>
        </p:spPr>
        <p:txBody>
          <a:bodyPr wrap="square">
            <a:spAutoFit/>
          </a:bodyPr>
          <a:lstStyle/>
          <a:p>
            <a:pPr algn="ctr"/>
            <a:r>
              <a:rPr sz="1150" b="1" i="0">
                <a:solidFill>
                  <a:srgbClr val="FFFFFF"/>
                </a:solidFill>
                <a:latin typeface="Calibri"/>
              </a:rPr>
              <a:t>❌  REFUSED
(client 2)</a:t>
            </a:r>
          </a:p>
        </p:txBody>
      </p:sp>
      <p:sp>
        <p:nvSpPr>
          <p:cNvPr id="18" name="TextBox 17"/>
          <p:cNvSpPr txBox="1"/>
          <p:nvPr/>
        </p:nvSpPr>
        <p:spPr>
          <a:xfrm>
            <a:off x="4754880" y="2560320"/>
            <a:ext cx="640080" cy="256032"/>
          </a:xfrm>
          <a:prstGeom prst="rect">
            <a:avLst/>
          </a:prstGeom>
          <a:noFill/>
        </p:spPr>
        <p:txBody>
          <a:bodyPr wrap="square">
            <a:spAutoFit/>
          </a:bodyPr>
          <a:lstStyle/>
          <a:p>
            <a:pPr algn="ctr"/>
            <a:r>
              <a:rPr sz="1100" b="1" i="0">
                <a:solidFill>
                  <a:srgbClr val="06D679"/>
                </a:solidFill>
                <a:latin typeface="Calibri"/>
              </a:rPr>
              <a:t>YES</a:t>
            </a:r>
          </a:p>
        </p:txBody>
      </p:sp>
      <p:sp>
        <p:nvSpPr>
          <p:cNvPr id="19" name="Rectangle 18"/>
          <p:cNvSpPr/>
          <p:nvPr/>
        </p:nvSpPr>
        <p:spPr>
          <a:xfrm>
            <a:off x="6675120" y="2880360"/>
            <a:ext cx="2103120" cy="640080"/>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2898648"/>
            <a:ext cx="2066543" cy="603504"/>
          </a:xfrm>
          <a:prstGeom prst="rect">
            <a:avLst/>
          </a:prstGeom>
          <a:noFill/>
        </p:spPr>
        <p:txBody>
          <a:bodyPr wrap="square">
            <a:spAutoFit/>
          </a:bodyPr>
          <a:lstStyle/>
          <a:p>
            <a:pPr algn="ctr"/>
            <a:r>
              <a:rPr sz="1150" b="1" i="0">
                <a:solidFill>
                  <a:srgbClr val="0F1B2D"/>
                </a:solidFill>
                <a:latin typeface="Calibri"/>
              </a:rPr>
              <a:t>✅  ACCEPTED
(clients 1, 4, 6)</a:t>
            </a:r>
          </a:p>
        </p:txBody>
      </p:sp>
      <p:sp>
        <p:nvSpPr>
          <p:cNvPr id="21" name="TextBox 20"/>
          <p:cNvSpPr txBox="1"/>
          <p:nvPr/>
        </p:nvSpPr>
        <p:spPr>
          <a:xfrm>
            <a:off x="7589520" y="2560320"/>
            <a:ext cx="548640" cy="256032"/>
          </a:xfrm>
          <a:prstGeom prst="rect">
            <a:avLst/>
          </a:prstGeom>
          <a:noFill/>
        </p:spPr>
        <p:txBody>
          <a:bodyPr wrap="square">
            <a:spAutoFit/>
          </a:bodyPr>
          <a:lstStyle/>
          <a:p>
            <a:pPr algn="ctr"/>
            <a:r>
              <a:rPr sz="1100" b="1" i="0">
                <a:solidFill>
                  <a:srgbClr val="FF4B4B"/>
                </a:solidFill>
                <a:latin typeface="Calibri"/>
              </a:rPr>
              <a:t>NO</a:t>
            </a:r>
          </a:p>
        </p:txBody>
      </p:sp>
      <p:sp>
        <p:nvSpPr>
          <p:cNvPr id="22" name="Rectangle 21"/>
          <p:cNvSpPr/>
          <p:nvPr/>
        </p:nvSpPr>
        <p:spPr>
          <a:xfrm>
            <a:off x="274320" y="3703320"/>
            <a:ext cx="8595360" cy="12618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370332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794760"/>
            <a:ext cx="3657600" cy="320040"/>
          </a:xfrm>
          <a:prstGeom prst="rect">
            <a:avLst/>
          </a:prstGeom>
          <a:noFill/>
        </p:spPr>
        <p:txBody>
          <a:bodyPr wrap="square">
            <a:spAutoFit/>
          </a:bodyPr>
          <a:lstStyle/>
          <a:p>
            <a:pPr algn="l"/>
            <a:r>
              <a:rPr sz="1200" b="1" i="0">
                <a:solidFill>
                  <a:srgbClr val="39D353"/>
                </a:solidFill>
                <a:latin typeface="Calibri"/>
              </a:rPr>
              <a:t>The 3 Rules the Model Learned:</a:t>
            </a:r>
          </a:p>
        </p:txBody>
      </p:sp>
      <p:sp>
        <p:nvSpPr>
          <p:cNvPr id="25" name="TextBox 24"/>
          <p:cNvSpPr txBox="1"/>
          <p:nvPr/>
        </p:nvSpPr>
        <p:spPr>
          <a:xfrm>
            <a:off x="457200" y="4160520"/>
            <a:ext cx="8321040" cy="210312"/>
          </a:xfrm>
          <a:prstGeom prst="rect">
            <a:avLst/>
          </a:prstGeom>
          <a:noFill/>
        </p:spPr>
        <p:txBody>
          <a:bodyPr wrap="square">
            <a:spAutoFit/>
          </a:bodyPr>
          <a:lstStyle/>
          <a:p>
            <a:pPr algn="l"/>
            <a:r>
              <a:rPr sz="1050" b="0" i="0">
                <a:solidFill>
                  <a:srgbClr val="FFFFFF"/>
                </a:solidFill>
                <a:latin typeface="Consolas"/>
              </a:rPr>
              <a:t>Rule 1: IF Salary &lt; 70k THEN → REFUSED  (clients 3, 5, 7)</a:t>
            </a:r>
          </a:p>
        </p:txBody>
      </p:sp>
      <p:sp>
        <p:nvSpPr>
          <p:cNvPr id="26" name="TextBox 25"/>
          <p:cNvSpPr txBox="1"/>
          <p:nvPr/>
        </p:nvSpPr>
        <p:spPr>
          <a:xfrm>
            <a:off x="457200" y="4389120"/>
            <a:ext cx="8321040" cy="210312"/>
          </a:xfrm>
          <a:prstGeom prst="rect">
            <a:avLst/>
          </a:prstGeom>
          <a:noFill/>
        </p:spPr>
        <p:txBody>
          <a:bodyPr wrap="square">
            <a:spAutoFit/>
          </a:bodyPr>
          <a:lstStyle/>
          <a:p>
            <a:pPr algn="l"/>
            <a:r>
              <a:rPr sz="1050" b="0" i="0">
                <a:solidFill>
                  <a:srgbClr val="FFFFFF"/>
                </a:solidFill>
                <a:latin typeface="Consolas"/>
              </a:rPr>
              <a:t>Rule 2: IF Salary ≥ 70k AND Debt = High THEN → REFUSED  (client 2)</a:t>
            </a:r>
          </a:p>
        </p:txBody>
      </p:sp>
      <p:sp>
        <p:nvSpPr>
          <p:cNvPr id="27" name="TextBox 26"/>
          <p:cNvSpPr txBox="1"/>
          <p:nvPr/>
        </p:nvSpPr>
        <p:spPr>
          <a:xfrm>
            <a:off x="457200" y="4617720"/>
            <a:ext cx="8321040" cy="210312"/>
          </a:xfrm>
          <a:prstGeom prst="rect">
            <a:avLst/>
          </a:prstGeom>
          <a:noFill/>
        </p:spPr>
        <p:txBody>
          <a:bodyPr wrap="square">
            <a:spAutoFit/>
          </a:bodyPr>
          <a:lstStyle/>
          <a:p>
            <a:pPr algn="l"/>
            <a:r>
              <a:rPr sz="1050" b="0" i="0">
                <a:solidFill>
                  <a:srgbClr val="FFFFFF"/>
                </a:solidFill>
                <a:latin typeface="Consolas"/>
              </a:rPr>
              <a:t>Rule 3: IF Salary ≥ 70k AND Debt = Low  THEN → ACCEPTED  (clients 1, 4, 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18</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Entropy &amp; Information Gain — The ID3 Approach</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An alternative impurity measure used by the ID3 algorithm</a:t>
            </a:r>
          </a:p>
        </p:txBody>
      </p:sp>
      <p:sp>
        <p:nvSpPr>
          <p:cNvPr id="8" name="Rectangle 7"/>
          <p:cNvSpPr/>
          <p:nvPr/>
        </p:nvSpPr>
        <p:spPr>
          <a:xfrm>
            <a:off x="274320" y="960120"/>
            <a:ext cx="4114800" cy="138988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411480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51560"/>
            <a:ext cx="3749039" cy="320040"/>
          </a:xfrm>
          <a:prstGeom prst="rect">
            <a:avLst/>
          </a:prstGeom>
          <a:noFill/>
        </p:spPr>
        <p:txBody>
          <a:bodyPr wrap="square">
            <a:spAutoFit/>
          </a:bodyPr>
          <a:lstStyle/>
          <a:p>
            <a:pPr algn="l"/>
            <a:r>
              <a:rPr sz="1200" b="1" i="0">
                <a:solidFill>
                  <a:srgbClr val="FFC400"/>
                </a:solidFill>
                <a:latin typeface="Calibri"/>
              </a:rPr>
              <a:t>Entropy Formula</a:t>
            </a:r>
          </a:p>
        </p:txBody>
      </p:sp>
      <p:sp>
        <p:nvSpPr>
          <p:cNvPr id="11" name="TextBox 10"/>
          <p:cNvSpPr txBox="1"/>
          <p:nvPr/>
        </p:nvSpPr>
        <p:spPr>
          <a:xfrm>
            <a:off x="457200" y="1282642"/>
            <a:ext cx="3749039" cy="347472"/>
          </a:xfrm>
          <a:prstGeom prst="rect">
            <a:avLst/>
          </a:prstGeom>
          <a:noFill/>
        </p:spPr>
        <p:txBody>
          <a:bodyPr wrap="square">
            <a:spAutoFit/>
          </a:bodyPr>
          <a:lstStyle/>
          <a:p>
            <a:pPr algn="l"/>
            <a:r>
              <a:rPr sz="1500" b="1" i="0" dirty="0">
                <a:solidFill>
                  <a:srgbClr val="00C2CB"/>
                </a:solidFill>
                <a:latin typeface="Consolas"/>
              </a:rPr>
              <a:t>E(S) = − Σ pᵢ × log₂(pᵢ)</a:t>
            </a:r>
          </a:p>
        </p:txBody>
      </p:sp>
      <p:sp>
        <p:nvSpPr>
          <p:cNvPr id="12" name="TextBox 11"/>
          <p:cNvSpPr txBox="1"/>
          <p:nvPr/>
        </p:nvSpPr>
        <p:spPr>
          <a:xfrm>
            <a:off x="457200" y="1562423"/>
            <a:ext cx="3749039" cy="502920"/>
          </a:xfrm>
          <a:prstGeom prst="rect">
            <a:avLst/>
          </a:prstGeom>
          <a:noFill/>
        </p:spPr>
        <p:txBody>
          <a:bodyPr wrap="square">
            <a:spAutoFit/>
          </a:bodyPr>
          <a:lstStyle/>
          <a:p>
            <a:pPr algn="l">
              <a:spcAft>
                <a:spcPts val="200"/>
              </a:spcAft>
            </a:pPr>
            <a:r>
              <a:rPr sz="1050" b="0" dirty="0">
                <a:solidFill>
                  <a:srgbClr val="7A92B8"/>
                </a:solidFill>
                <a:latin typeface="Calibri"/>
              </a:rPr>
              <a:t>• pᵢ = proportion of class </a:t>
            </a:r>
            <a:r>
              <a:rPr sz="1050" b="0" dirty="0" err="1">
                <a:solidFill>
                  <a:srgbClr val="7A92B8"/>
                </a:solidFill>
                <a:latin typeface="Calibri"/>
              </a:rPr>
              <a:t>i</a:t>
            </a:r>
            <a:endParaRPr sz="1050" b="0" dirty="0">
              <a:solidFill>
                <a:srgbClr val="7A92B8"/>
              </a:solidFill>
              <a:latin typeface="Calibri"/>
            </a:endParaRPr>
          </a:p>
          <a:p>
            <a:pPr algn="l">
              <a:spcAft>
                <a:spcPts val="200"/>
              </a:spcAft>
            </a:pPr>
            <a:r>
              <a:rPr sz="1050" b="0" dirty="0">
                <a:solidFill>
                  <a:srgbClr val="7A92B8"/>
                </a:solidFill>
                <a:latin typeface="Calibri"/>
              </a:rPr>
              <a:t>• High entropy = high disorder</a:t>
            </a:r>
          </a:p>
          <a:p>
            <a:pPr algn="l">
              <a:spcAft>
                <a:spcPts val="200"/>
              </a:spcAft>
            </a:pPr>
            <a:r>
              <a:rPr sz="1050" b="0" dirty="0">
                <a:solidFill>
                  <a:srgbClr val="7A92B8"/>
                </a:solidFill>
                <a:latin typeface="Calibri"/>
              </a:rPr>
              <a:t>• Entropy = 0 → perfectly pure</a:t>
            </a:r>
          </a:p>
          <a:p>
            <a:pPr algn="l">
              <a:spcAft>
                <a:spcPts val="200"/>
              </a:spcAft>
            </a:pPr>
            <a:r>
              <a:rPr sz="1050" b="0" dirty="0">
                <a:solidFill>
                  <a:srgbClr val="7A92B8"/>
                </a:solidFill>
                <a:latin typeface="Calibri"/>
              </a:rPr>
              <a:t>• Entropy = 1 → 50/50 split</a:t>
            </a:r>
          </a:p>
        </p:txBody>
      </p:sp>
      <p:sp>
        <p:nvSpPr>
          <p:cNvPr id="13" name="Rectangle 12"/>
          <p:cNvSpPr/>
          <p:nvPr/>
        </p:nvSpPr>
        <p:spPr>
          <a:xfrm>
            <a:off x="4572000" y="960120"/>
            <a:ext cx="4297680" cy="138988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0" y="960120"/>
            <a:ext cx="429768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0" y="1051560"/>
            <a:ext cx="3931920" cy="320040"/>
          </a:xfrm>
          <a:prstGeom prst="rect">
            <a:avLst/>
          </a:prstGeom>
          <a:noFill/>
        </p:spPr>
        <p:txBody>
          <a:bodyPr wrap="square">
            <a:spAutoFit/>
          </a:bodyPr>
          <a:lstStyle/>
          <a:p>
            <a:pPr algn="l"/>
            <a:r>
              <a:rPr sz="1200" b="1" i="0">
                <a:solidFill>
                  <a:srgbClr val="39D353"/>
                </a:solidFill>
                <a:latin typeface="Calibri"/>
              </a:rPr>
              <a:t>Information Gain Formula</a:t>
            </a:r>
          </a:p>
        </p:txBody>
      </p:sp>
      <p:sp>
        <p:nvSpPr>
          <p:cNvPr id="16" name="TextBox 15"/>
          <p:cNvSpPr txBox="1"/>
          <p:nvPr/>
        </p:nvSpPr>
        <p:spPr>
          <a:xfrm>
            <a:off x="4754880" y="1282642"/>
            <a:ext cx="3931920" cy="347472"/>
          </a:xfrm>
          <a:prstGeom prst="rect">
            <a:avLst/>
          </a:prstGeom>
          <a:noFill/>
        </p:spPr>
        <p:txBody>
          <a:bodyPr wrap="square">
            <a:spAutoFit/>
          </a:bodyPr>
          <a:lstStyle/>
          <a:p>
            <a:pPr algn="l"/>
            <a:r>
              <a:rPr sz="1500" b="1" i="0" dirty="0">
                <a:solidFill>
                  <a:srgbClr val="00C2CB"/>
                </a:solidFill>
                <a:latin typeface="Consolas"/>
              </a:rPr>
              <a:t>Gain(T,X) = E(T) − E(T,X)</a:t>
            </a:r>
          </a:p>
        </p:txBody>
      </p:sp>
      <p:sp>
        <p:nvSpPr>
          <p:cNvPr id="17" name="TextBox 16"/>
          <p:cNvSpPr txBox="1"/>
          <p:nvPr/>
        </p:nvSpPr>
        <p:spPr>
          <a:xfrm>
            <a:off x="4754880" y="1555336"/>
            <a:ext cx="3931920" cy="502920"/>
          </a:xfrm>
          <a:prstGeom prst="rect">
            <a:avLst/>
          </a:prstGeom>
          <a:noFill/>
        </p:spPr>
        <p:txBody>
          <a:bodyPr wrap="square">
            <a:spAutoFit/>
          </a:bodyPr>
          <a:lstStyle/>
          <a:p>
            <a:pPr algn="l">
              <a:spcAft>
                <a:spcPts val="200"/>
              </a:spcAft>
            </a:pPr>
            <a:r>
              <a:rPr sz="1050" b="0" dirty="0">
                <a:solidFill>
                  <a:srgbClr val="7A92B8"/>
                </a:solidFill>
                <a:latin typeface="Calibri"/>
              </a:rPr>
              <a:t>• T = dataset, X = feature being tested</a:t>
            </a:r>
          </a:p>
          <a:p>
            <a:pPr algn="l">
              <a:spcAft>
                <a:spcPts val="200"/>
              </a:spcAft>
            </a:pPr>
            <a:r>
              <a:rPr sz="1050" b="0" dirty="0">
                <a:solidFill>
                  <a:srgbClr val="7A92B8"/>
                </a:solidFill>
                <a:latin typeface="Calibri"/>
              </a:rPr>
              <a:t>• Higher gain = feature reduces uncertainty more</a:t>
            </a:r>
          </a:p>
          <a:p>
            <a:pPr algn="l">
              <a:spcAft>
                <a:spcPts val="200"/>
              </a:spcAft>
            </a:pPr>
            <a:r>
              <a:rPr sz="1050" b="0" dirty="0">
                <a:solidFill>
                  <a:srgbClr val="7A92B8"/>
                </a:solidFill>
                <a:latin typeface="Calibri"/>
              </a:rPr>
              <a:t>• PICK the feature with HIGHEST info gain</a:t>
            </a:r>
          </a:p>
          <a:p>
            <a:pPr algn="l">
              <a:spcAft>
                <a:spcPts val="200"/>
              </a:spcAft>
            </a:pPr>
            <a:r>
              <a:rPr sz="1050" b="0" dirty="0">
                <a:solidFill>
                  <a:srgbClr val="7A92B8"/>
                </a:solidFill>
                <a:latin typeface="Calibri"/>
              </a:rPr>
              <a:t>• ID3 algorithm uses this (instead of Gini)</a:t>
            </a:r>
          </a:p>
        </p:txBody>
      </p:sp>
      <p:sp>
        <p:nvSpPr>
          <p:cNvPr id="18" name="Rectangle 17"/>
          <p:cNvSpPr/>
          <p:nvPr/>
        </p:nvSpPr>
        <p:spPr>
          <a:xfrm>
            <a:off x="274320" y="2536784"/>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536784"/>
            <a:ext cx="8595360" cy="5029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2628224"/>
            <a:ext cx="8229600" cy="384048"/>
          </a:xfrm>
          <a:prstGeom prst="rect">
            <a:avLst/>
          </a:prstGeom>
          <a:noFill/>
        </p:spPr>
        <p:txBody>
          <a:bodyPr wrap="square">
            <a:spAutoFit/>
          </a:bodyPr>
          <a:lstStyle/>
          <a:p>
            <a:pPr algn="l"/>
            <a:r>
              <a:rPr sz="1200" b="0" i="0">
                <a:solidFill>
                  <a:srgbClr val="00C2CB"/>
                </a:solidFill>
                <a:latin typeface="Consolas"/>
              </a:rPr>
              <a:t>Play Golf Example:  9 Yes, 5 No → E(PlayGolf) = −(9/14)log₂(9/14) − (5/14)log₂(5/14) = 0.940</a:t>
            </a:r>
          </a:p>
        </p:txBody>
      </p:sp>
      <p:sp>
        <p:nvSpPr>
          <p:cNvPr id="21" name="Rectangle 20"/>
          <p:cNvSpPr/>
          <p:nvPr/>
        </p:nvSpPr>
        <p:spPr>
          <a:xfrm>
            <a:off x="274320" y="3154680"/>
            <a:ext cx="8595360" cy="3474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182112"/>
            <a:ext cx="2286000" cy="274320"/>
          </a:xfrm>
          <a:prstGeom prst="rect">
            <a:avLst/>
          </a:prstGeom>
          <a:noFill/>
        </p:spPr>
        <p:txBody>
          <a:bodyPr wrap="square">
            <a:spAutoFit/>
          </a:bodyPr>
          <a:lstStyle/>
          <a:p>
            <a:pPr algn="l"/>
            <a:r>
              <a:rPr sz="1050" b="1" i="0">
                <a:solidFill>
                  <a:srgbClr val="00C2CB"/>
                </a:solidFill>
                <a:latin typeface="Calibri"/>
              </a:rPr>
              <a:t>Feature</a:t>
            </a:r>
          </a:p>
        </p:txBody>
      </p:sp>
      <p:sp>
        <p:nvSpPr>
          <p:cNvPr id="23" name="TextBox 22"/>
          <p:cNvSpPr txBox="1"/>
          <p:nvPr/>
        </p:nvSpPr>
        <p:spPr>
          <a:xfrm>
            <a:off x="2011680" y="3182112"/>
            <a:ext cx="2286000" cy="274320"/>
          </a:xfrm>
          <a:prstGeom prst="rect">
            <a:avLst/>
          </a:prstGeom>
          <a:noFill/>
        </p:spPr>
        <p:txBody>
          <a:bodyPr wrap="square">
            <a:spAutoFit/>
          </a:bodyPr>
          <a:lstStyle/>
          <a:p>
            <a:pPr algn="l"/>
            <a:r>
              <a:rPr sz="1050" b="1" i="0">
                <a:solidFill>
                  <a:srgbClr val="00C2CB"/>
                </a:solidFill>
                <a:latin typeface="Calibri"/>
              </a:rPr>
              <a:t>Entropy After Split</a:t>
            </a:r>
          </a:p>
        </p:txBody>
      </p:sp>
      <p:sp>
        <p:nvSpPr>
          <p:cNvPr id="24" name="TextBox 23"/>
          <p:cNvSpPr txBox="1"/>
          <p:nvPr/>
        </p:nvSpPr>
        <p:spPr>
          <a:xfrm>
            <a:off x="4572000" y="3182112"/>
            <a:ext cx="2286000" cy="274320"/>
          </a:xfrm>
          <a:prstGeom prst="rect">
            <a:avLst/>
          </a:prstGeom>
          <a:noFill/>
        </p:spPr>
        <p:txBody>
          <a:bodyPr wrap="square">
            <a:spAutoFit/>
          </a:bodyPr>
          <a:lstStyle/>
          <a:p>
            <a:pPr algn="l"/>
            <a:r>
              <a:rPr sz="1050" b="1" i="0">
                <a:solidFill>
                  <a:srgbClr val="00C2CB"/>
                </a:solidFill>
                <a:latin typeface="Calibri"/>
              </a:rPr>
              <a:t>Information Gain</a:t>
            </a:r>
          </a:p>
        </p:txBody>
      </p:sp>
      <p:sp>
        <p:nvSpPr>
          <p:cNvPr id="25" name="TextBox 24"/>
          <p:cNvSpPr txBox="1"/>
          <p:nvPr/>
        </p:nvSpPr>
        <p:spPr>
          <a:xfrm>
            <a:off x="7315200" y="3182112"/>
            <a:ext cx="2286000" cy="274320"/>
          </a:xfrm>
          <a:prstGeom prst="rect">
            <a:avLst/>
          </a:prstGeom>
          <a:noFill/>
        </p:spPr>
        <p:txBody>
          <a:bodyPr wrap="square">
            <a:spAutoFit/>
          </a:bodyPr>
          <a:lstStyle/>
          <a:p>
            <a:pPr algn="l"/>
            <a:r>
              <a:rPr sz="1050" b="1" i="0">
                <a:solidFill>
                  <a:srgbClr val="00C2CB"/>
                </a:solidFill>
                <a:latin typeface="Calibri"/>
              </a:rPr>
              <a:t>Rank</a:t>
            </a:r>
          </a:p>
        </p:txBody>
      </p:sp>
      <p:sp>
        <p:nvSpPr>
          <p:cNvPr id="26" name="Rectangle 25"/>
          <p:cNvSpPr/>
          <p:nvPr/>
        </p:nvSpPr>
        <p:spPr>
          <a:xfrm>
            <a:off x="274320" y="3538728"/>
            <a:ext cx="8595360" cy="3474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3584448"/>
            <a:ext cx="1508760" cy="274320"/>
          </a:xfrm>
          <a:prstGeom prst="rect">
            <a:avLst/>
          </a:prstGeom>
          <a:noFill/>
        </p:spPr>
        <p:txBody>
          <a:bodyPr wrap="square">
            <a:spAutoFit/>
          </a:bodyPr>
          <a:lstStyle/>
          <a:p>
            <a:pPr algn="l"/>
            <a:r>
              <a:rPr sz="1050" b="1" i="0">
                <a:solidFill>
                  <a:srgbClr val="39D353"/>
                </a:solidFill>
                <a:latin typeface="Calibri"/>
              </a:rPr>
              <a:t>Outlook</a:t>
            </a:r>
          </a:p>
        </p:txBody>
      </p:sp>
      <p:sp>
        <p:nvSpPr>
          <p:cNvPr id="28" name="TextBox 27"/>
          <p:cNvSpPr txBox="1"/>
          <p:nvPr/>
        </p:nvSpPr>
        <p:spPr>
          <a:xfrm>
            <a:off x="2011680" y="3584448"/>
            <a:ext cx="2468880" cy="274320"/>
          </a:xfrm>
          <a:prstGeom prst="rect">
            <a:avLst/>
          </a:prstGeom>
          <a:noFill/>
        </p:spPr>
        <p:txBody>
          <a:bodyPr wrap="square">
            <a:spAutoFit/>
          </a:bodyPr>
          <a:lstStyle/>
          <a:p>
            <a:pPr algn="l"/>
            <a:r>
              <a:rPr sz="1000" b="0" i="0">
                <a:solidFill>
                  <a:srgbClr val="7A92B8"/>
                </a:solidFill>
                <a:latin typeface="Consolas"/>
              </a:rPr>
              <a:t>0.693</a:t>
            </a:r>
          </a:p>
        </p:txBody>
      </p:sp>
      <p:sp>
        <p:nvSpPr>
          <p:cNvPr id="29" name="TextBox 28"/>
          <p:cNvSpPr txBox="1"/>
          <p:nvPr/>
        </p:nvSpPr>
        <p:spPr>
          <a:xfrm>
            <a:off x="4572000" y="3584448"/>
            <a:ext cx="2651760" cy="274320"/>
          </a:xfrm>
          <a:prstGeom prst="rect">
            <a:avLst/>
          </a:prstGeom>
          <a:noFill/>
        </p:spPr>
        <p:txBody>
          <a:bodyPr wrap="square">
            <a:spAutoFit/>
          </a:bodyPr>
          <a:lstStyle/>
          <a:p>
            <a:pPr algn="l"/>
            <a:r>
              <a:rPr sz="1000" b="0" i="0">
                <a:solidFill>
                  <a:srgbClr val="FFFFFF"/>
                </a:solidFill>
                <a:latin typeface="Consolas"/>
              </a:rPr>
              <a:t>0.940 − 0.693 = 0.247</a:t>
            </a:r>
          </a:p>
        </p:txBody>
      </p:sp>
      <p:sp>
        <p:nvSpPr>
          <p:cNvPr id="30" name="TextBox 29"/>
          <p:cNvSpPr txBox="1"/>
          <p:nvPr/>
        </p:nvSpPr>
        <p:spPr>
          <a:xfrm>
            <a:off x="7315200" y="3584448"/>
            <a:ext cx="1554480" cy="274320"/>
          </a:xfrm>
          <a:prstGeom prst="rect">
            <a:avLst/>
          </a:prstGeom>
          <a:noFill/>
        </p:spPr>
        <p:txBody>
          <a:bodyPr wrap="square">
            <a:spAutoFit/>
          </a:bodyPr>
          <a:lstStyle/>
          <a:p>
            <a:pPr algn="l"/>
            <a:r>
              <a:rPr sz="1050" b="1" i="0">
                <a:solidFill>
                  <a:srgbClr val="39D353"/>
                </a:solidFill>
                <a:latin typeface="Calibri"/>
              </a:rPr>
              <a:t>🥇 #1 Best</a:t>
            </a:r>
          </a:p>
        </p:txBody>
      </p:sp>
      <p:sp>
        <p:nvSpPr>
          <p:cNvPr id="31" name="Rectangle 30"/>
          <p:cNvSpPr/>
          <p:nvPr/>
        </p:nvSpPr>
        <p:spPr>
          <a:xfrm>
            <a:off x="274320" y="3922776"/>
            <a:ext cx="8595360" cy="34747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3968496"/>
            <a:ext cx="1508760" cy="274320"/>
          </a:xfrm>
          <a:prstGeom prst="rect">
            <a:avLst/>
          </a:prstGeom>
          <a:noFill/>
        </p:spPr>
        <p:txBody>
          <a:bodyPr wrap="square">
            <a:spAutoFit/>
          </a:bodyPr>
          <a:lstStyle/>
          <a:p>
            <a:pPr algn="l"/>
            <a:r>
              <a:rPr sz="1050" b="1" i="0">
                <a:solidFill>
                  <a:srgbClr val="FFC400"/>
                </a:solidFill>
                <a:latin typeface="Calibri"/>
              </a:rPr>
              <a:t>Humidity</a:t>
            </a:r>
          </a:p>
        </p:txBody>
      </p:sp>
      <p:sp>
        <p:nvSpPr>
          <p:cNvPr id="33" name="TextBox 32"/>
          <p:cNvSpPr txBox="1"/>
          <p:nvPr/>
        </p:nvSpPr>
        <p:spPr>
          <a:xfrm>
            <a:off x="2011680" y="3968496"/>
            <a:ext cx="2468880" cy="274320"/>
          </a:xfrm>
          <a:prstGeom prst="rect">
            <a:avLst/>
          </a:prstGeom>
          <a:noFill/>
        </p:spPr>
        <p:txBody>
          <a:bodyPr wrap="square">
            <a:spAutoFit/>
          </a:bodyPr>
          <a:lstStyle/>
          <a:p>
            <a:pPr algn="l"/>
            <a:r>
              <a:rPr sz="1000" b="0" i="0">
                <a:solidFill>
                  <a:srgbClr val="7A92B8"/>
                </a:solidFill>
                <a:latin typeface="Consolas"/>
              </a:rPr>
              <a:t>0.788</a:t>
            </a:r>
          </a:p>
        </p:txBody>
      </p:sp>
      <p:sp>
        <p:nvSpPr>
          <p:cNvPr id="34" name="TextBox 33"/>
          <p:cNvSpPr txBox="1"/>
          <p:nvPr/>
        </p:nvSpPr>
        <p:spPr>
          <a:xfrm>
            <a:off x="4572000" y="3968496"/>
            <a:ext cx="2651760" cy="274320"/>
          </a:xfrm>
          <a:prstGeom prst="rect">
            <a:avLst/>
          </a:prstGeom>
          <a:noFill/>
        </p:spPr>
        <p:txBody>
          <a:bodyPr wrap="square">
            <a:spAutoFit/>
          </a:bodyPr>
          <a:lstStyle/>
          <a:p>
            <a:pPr algn="l"/>
            <a:r>
              <a:rPr sz="1000" b="0" i="0">
                <a:solidFill>
                  <a:srgbClr val="FFFFFF"/>
                </a:solidFill>
                <a:latin typeface="Consolas"/>
              </a:rPr>
              <a:t>0.940 − 0.788 = 0.152</a:t>
            </a:r>
          </a:p>
        </p:txBody>
      </p:sp>
      <p:sp>
        <p:nvSpPr>
          <p:cNvPr id="35" name="TextBox 34"/>
          <p:cNvSpPr txBox="1"/>
          <p:nvPr/>
        </p:nvSpPr>
        <p:spPr>
          <a:xfrm>
            <a:off x="7315200" y="3968496"/>
            <a:ext cx="1554480" cy="274320"/>
          </a:xfrm>
          <a:prstGeom prst="rect">
            <a:avLst/>
          </a:prstGeom>
          <a:noFill/>
        </p:spPr>
        <p:txBody>
          <a:bodyPr wrap="square">
            <a:spAutoFit/>
          </a:bodyPr>
          <a:lstStyle/>
          <a:p>
            <a:pPr algn="l"/>
            <a:r>
              <a:rPr sz="1050" b="1" i="0">
                <a:solidFill>
                  <a:srgbClr val="FFC400"/>
                </a:solidFill>
                <a:latin typeface="Calibri"/>
              </a:rPr>
              <a:t>🥈 #2</a:t>
            </a:r>
          </a:p>
        </p:txBody>
      </p:sp>
      <p:sp>
        <p:nvSpPr>
          <p:cNvPr id="36" name="Rectangle 35"/>
          <p:cNvSpPr/>
          <p:nvPr/>
        </p:nvSpPr>
        <p:spPr>
          <a:xfrm>
            <a:off x="274320" y="4306824"/>
            <a:ext cx="8595360" cy="3474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4352544"/>
            <a:ext cx="1508760" cy="274320"/>
          </a:xfrm>
          <a:prstGeom prst="rect">
            <a:avLst/>
          </a:prstGeom>
          <a:noFill/>
        </p:spPr>
        <p:txBody>
          <a:bodyPr wrap="square">
            <a:spAutoFit/>
          </a:bodyPr>
          <a:lstStyle/>
          <a:p>
            <a:pPr algn="l"/>
            <a:r>
              <a:rPr sz="1050" b="1" i="0">
                <a:solidFill>
                  <a:srgbClr val="FF8C00"/>
                </a:solidFill>
                <a:latin typeface="Calibri"/>
              </a:rPr>
              <a:t>Windy</a:t>
            </a:r>
          </a:p>
        </p:txBody>
      </p:sp>
      <p:sp>
        <p:nvSpPr>
          <p:cNvPr id="38" name="TextBox 37"/>
          <p:cNvSpPr txBox="1"/>
          <p:nvPr/>
        </p:nvSpPr>
        <p:spPr>
          <a:xfrm>
            <a:off x="2011680" y="4352544"/>
            <a:ext cx="2468880" cy="274320"/>
          </a:xfrm>
          <a:prstGeom prst="rect">
            <a:avLst/>
          </a:prstGeom>
          <a:noFill/>
        </p:spPr>
        <p:txBody>
          <a:bodyPr wrap="square">
            <a:spAutoFit/>
          </a:bodyPr>
          <a:lstStyle/>
          <a:p>
            <a:pPr algn="l"/>
            <a:r>
              <a:rPr sz="1000" b="0" i="0">
                <a:solidFill>
                  <a:srgbClr val="7A92B8"/>
                </a:solidFill>
                <a:latin typeface="Consolas"/>
              </a:rPr>
              <a:t>0.892</a:t>
            </a:r>
          </a:p>
        </p:txBody>
      </p:sp>
      <p:sp>
        <p:nvSpPr>
          <p:cNvPr id="39" name="TextBox 38"/>
          <p:cNvSpPr txBox="1"/>
          <p:nvPr/>
        </p:nvSpPr>
        <p:spPr>
          <a:xfrm>
            <a:off x="4572000" y="4352544"/>
            <a:ext cx="2651760" cy="274320"/>
          </a:xfrm>
          <a:prstGeom prst="rect">
            <a:avLst/>
          </a:prstGeom>
          <a:noFill/>
        </p:spPr>
        <p:txBody>
          <a:bodyPr wrap="square">
            <a:spAutoFit/>
          </a:bodyPr>
          <a:lstStyle/>
          <a:p>
            <a:pPr algn="l"/>
            <a:r>
              <a:rPr sz="1000" b="0" i="0">
                <a:solidFill>
                  <a:srgbClr val="FFFFFF"/>
                </a:solidFill>
                <a:latin typeface="Consolas"/>
              </a:rPr>
              <a:t>0.940 − 0.892 = 0.048</a:t>
            </a:r>
          </a:p>
        </p:txBody>
      </p:sp>
      <p:sp>
        <p:nvSpPr>
          <p:cNvPr id="40" name="TextBox 39"/>
          <p:cNvSpPr txBox="1"/>
          <p:nvPr/>
        </p:nvSpPr>
        <p:spPr>
          <a:xfrm>
            <a:off x="7315200" y="4352544"/>
            <a:ext cx="1554480" cy="274320"/>
          </a:xfrm>
          <a:prstGeom prst="rect">
            <a:avLst/>
          </a:prstGeom>
          <a:noFill/>
        </p:spPr>
        <p:txBody>
          <a:bodyPr wrap="square">
            <a:spAutoFit/>
          </a:bodyPr>
          <a:lstStyle/>
          <a:p>
            <a:pPr algn="l"/>
            <a:r>
              <a:rPr sz="1050" b="1" i="0">
                <a:solidFill>
                  <a:srgbClr val="FF8C00"/>
                </a:solidFill>
                <a:latin typeface="Calibri"/>
              </a:rPr>
              <a:t>🥉 #3</a:t>
            </a:r>
          </a:p>
        </p:txBody>
      </p:sp>
      <p:sp>
        <p:nvSpPr>
          <p:cNvPr id="41" name="Rectangle 40"/>
          <p:cNvSpPr/>
          <p:nvPr/>
        </p:nvSpPr>
        <p:spPr>
          <a:xfrm>
            <a:off x="274320" y="4690872"/>
            <a:ext cx="8595360" cy="34747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4736592"/>
            <a:ext cx="1508760" cy="274320"/>
          </a:xfrm>
          <a:prstGeom prst="rect">
            <a:avLst/>
          </a:prstGeom>
          <a:noFill/>
        </p:spPr>
        <p:txBody>
          <a:bodyPr wrap="square">
            <a:spAutoFit/>
          </a:bodyPr>
          <a:lstStyle/>
          <a:p>
            <a:pPr algn="l"/>
            <a:r>
              <a:rPr sz="1050" b="1" i="0">
                <a:solidFill>
                  <a:srgbClr val="FF4B4B"/>
                </a:solidFill>
                <a:latin typeface="Calibri"/>
              </a:rPr>
              <a:t>Temperature</a:t>
            </a:r>
          </a:p>
        </p:txBody>
      </p:sp>
      <p:sp>
        <p:nvSpPr>
          <p:cNvPr id="43" name="TextBox 42"/>
          <p:cNvSpPr txBox="1"/>
          <p:nvPr/>
        </p:nvSpPr>
        <p:spPr>
          <a:xfrm>
            <a:off x="2011680" y="4736592"/>
            <a:ext cx="2468880" cy="274320"/>
          </a:xfrm>
          <a:prstGeom prst="rect">
            <a:avLst/>
          </a:prstGeom>
          <a:noFill/>
        </p:spPr>
        <p:txBody>
          <a:bodyPr wrap="square">
            <a:spAutoFit/>
          </a:bodyPr>
          <a:lstStyle/>
          <a:p>
            <a:pPr algn="l"/>
            <a:r>
              <a:rPr sz="1000" b="0" i="0">
                <a:solidFill>
                  <a:srgbClr val="7A92B8"/>
                </a:solidFill>
                <a:latin typeface="Consolas"/>
              </a:rPr>
              <a:t>0.911</a:t>
            </a:r>
          </a:p>
        </p:txBody>
      </p:sp>
      <p:sp>
        <p:nvSpPr>
          <p:cNvPr id="44" name="TextBox 43"/>
          <p:cNvSpPr txBox="1"/>
          <p:nvPr/>
        </p:nvSpPr>
        <p:spPr>
          <a:xfrm>
            <a:off x="4572000" y="4736592"/>
            <a:ext cx="2651760" cy="274320"/>
          </a:xfrm>
          <a:prstGeom prst="rect">
            <a:avLst/>
          </a:prstGeom>
          <a:noFill/>
        </p:spPr>
        <p:txBody>
          <a:bodyPr wrap="square">
            <a:spAutoFit/>
          </a:bodyPr>
          <a:lstStyle/>
          <a:p>
            <a:pPr algn="l"/>
            <a:r>
              <a:rPr sz="1000" b="0" i="0">
                <a:solidFill>
                  <a:srgbClr val="FFFFFF"/>
                </a:solidFill>
                <a:latin typeface="Consolas"/>
              </a:rPr>
              <a:t>0.940 − 0.911 = 0.029</a:t>
            </a:r>
          </a:p>
        </p:txBody>
      </p:sp>
      <p:sp>
        <p:nvSpPr>
          <p:cNvPr id="45" name="TextBox 44"/>
          <p:cNvSpPr txBox="1"/>
          <p:nvPr/>
        </p:nvSpPr>
        <p:spPr>
          <a:xfrm>
            <a:off x="7315200" y="4736592"/>
            <a:ext cx="1554480" cy="274320"/>
          </a:xfrm>
          <a:prstGeom prst="rect">
            <a:avLst/>
          </a:prstGeom>
          <a:noFill/>
        </p:spPr>
        <p:txBody>
          <a:bodyPr wrap="square">
            <a:spAutoFit/>
          </a:bodyPr>
          <a:lstStyle/>
          <a:p>
            <a:pPr algn="l"/>
            <a:r>
              <a:rPr sz="1050" b="1" i="0">
                <a:solidFill>
                  <a:srgbClr val="FF4B4B"/>
                </a:solidFill>
                <a:latin typeface="Calibri"/>
              </a:rPr>
              <a:t>#4 Worst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19</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Gini vs Entropy — Which Should You Use?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Both measure impurity — but they have different characteristics</a:t>
            </a:r>
          </a:p>
        </p:txBody>
      </p:sp>
      <p:sp>
        <p:nvSpPr>
          <p:cNvPr id="8" name="Rectangle 7"/>
          <p:cNvSpPr/>
          <p:nvPr/>
        </p:nvSpPr>
        <p:spPr>
          <a:xfrm>
            <a:off x="274320" y="960120"/>
            <a:ext cx="8595360" cy="3657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987552"/>
            <a:ext cx="2743200" cy="292608"/>
          </a:xfrm>
          <a:prstGeom prst="rect">
            <a:avLst/>
          </a:prstGeom>
          <a:noFill/>
        </p:spPr>
        <p:txBody>
          <a:bodyPr wrap="square">
            <a:spAutoFit/>
          </a:bodyPr>
          <a:lstStyle/>
          <a:p>
            <a:pPr algn="l"/>
            <a:r>
              <a:rPr sz="1100" b="1" i="0">
                <a:solidFill>
                  <a:srgbClr val="7A92B8"/>
                </a:solidFill>
                <a:latin typeface="Calibri"/>
              </a:rPr>
              <a:t>Property</a:t>
            </a:r>
          </a:p>
        </p:txBody>
      </p:sp>
      <p:sp>
        <p:nvSpPr>
          <p:cNvPr id="10" name="TextBox 9"/>
          <p:cNvSpPr txBox="1"/>
          <p:nvPr/>
        </p:nvSpPr>
        <p:spPr>
          <a:xfrm>
            <a:off x="3840480" y="987552"/>
            <a:ext cx="2743200" cy="292608"/>
          </a:xfrm>
          <a:prstGeom prst="rect">
            <a:avLst/>
          </a:prstGeom>
          <a:noFill/>
        </p:spPr>
        <p:txBody>
          <a:bodyPr wrap="square">
            <a:spAutoFit/>
          </a:bodyPr>
          <a:lstStyle/>
          <a:p>
            <a:pPr algn="l"/>
            <a:r>
              <a:rPr sz="1100" b="1" i="0">
                <a:solidFill>
                  <a:srgbClr val="39D353"/>
                </a:solidFill>
                <a:latin typeface="Calibri"/>
              </a:rPr>
              <a:t>Gini Impurity</a:t>
            </a:r>
          </a:p>
        </p:txBody>
      </p:sp>
      <p:sp>
        <p:nvSpPr>
          <p:cNvPr id="11" name="TextBox 10"/>
          <p:cNvSpPr txBox="1"/>
          <p:nvPr/>
        </p:nvSpPr>
        <p:spPr>
          <a:xfrm>
            <a:off x="6583680" y="987552"/>
            <a:ext cx="2743200" cy="292608"/>
          </a:xfrm>
          <a:prstGeom prst="rect">
            <a:avLst/>
          </a:prstGeom>
          <a:noFill/>
        </p:spPr>
        <p:txBody>
          <a:bodyPr wrap="square">
            <a:spAutoFit/>
          </a:bodyPr>
          <a:lstStyle/>
          <a:p>
            <a:pPr algn="l"/>
            <a:r>
              <a:rPr sz="1100" b="1" i="0">
                <a:solidFill>
                  <a:srgbClr val="FFC400"/>
                </a:solidFill>
                <a:latin typeface="Calibri"/>
              </a:rPr>
              <a:t>Entropy</a:t>
            </a:r>
          </a:p>
        </p:txBody>
      </p:sp>
      <p:sp>
        <p:nvSpPr>
          <p:cNvPr id="12" name="Rectangle 11"/>
          <p:cNvSpPr/>
          <p:nvPr/>
        </p:nvSpPr>
        <p:spPr>
          <a:xfrm>
            <a:off x="274320" y="1371600"/>
            <a:ext cx="859536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1463040"/>
            <a:ext cx="2606040" cy="292608"/>
          </a:xfrm>
          <a:prstGeom prst="rect">
            <a:avLst/>
          </a:prstGeom>
          <a:noFill/>
        </p:spPr>
        <p:txBody>
          <a:bodyPr wrap="square">
            <a:spAutoFit/>
          </a:bodyPr>
          <a:lstStyle/>
          <a:p>
            <a:pPr algn="l"/>
            <a:r>
              <a:rPr sz="1100" b="0" i="0">
                <a:solidFill>
                  <a:srgbClr val="7A92B8"/>
                </a:solidFill>
                <a:latin typeface="Calibri"/>
              </a:rPr>
              <a:t>Algorithm</a:t>
            </a:r>
          </a:p>
        </p:txBody>
      </p:sp>
      <p:sp>
        <p:nvSpPr>
          <p:cNvPr id="14" name="TextBox 13"/>
          <p:cNvSpPr txBox="1"/>
          <p:nvPr/>
        </p:nvSpPr>
        <p:spPr>
          <a:xfrm>
            <a:off x="3063240" y="1463040"/>
            <a:ext cx="3383280" cy="292608"/>
          </a:xfrm>
          <a:prstGeom prst="rect">
            <a:avLst/>
          </a:prstGeom>
          <a:noFill/>
        </p:spPr>
        <p:txBody>
          <a:bodyPr wrap="square">
            <a:spAutoFit/>
          </a:bodyPr>
          <a:lstStyle/>
          <a:p>
            <a:pPr algn="l"/>
            <a:r>
              <a:rPr sz="1100" b="0" i="0">
                <a:solidFill>
                  <a:srgbClr val="39D353"/>
                </a:solidFill>
                <a:latin typeface="Calibri"/>
              </a:rPr>
              <a:t>CART (sklearn default)</a:t>
            </a:r>
          </a:p>
        </p:txBody>
      </p:sp>
      <p:sp>
        <p:nvSpPr>
          <p:cNvPr id="15" name="TextBox 14"/>
          <p:cNvSpPr txBox="1"/>
          <p:nvPr/>
        </p:nvSpPr>
        <p:spPr>
          <a:xfrm>
            <a:off x="6446520" y="1463040"/>
            <a:ext cx="2286000" cy="292608"/>
          </a:xfrm>
          <a:prstGeom prst="rect">
            <a:avLst/>
          </a:prstGeom>
          <a:noFill/>
        </p:spPr>
        <p:txBody>
          <a:bodyPr wrap="square">
            <a:spAutoFit/>
          </a:bodyPr>
          <a:lstStyle/>
          <a:p>
            <a:pPr algn="l"/>
            <a:r>
              <a:rPr sz="1100" b="0" i="0">
                <a:solidFill>
                  <a:srgbClr val="FFC400"/>
                </a:solidFill>
                <a:latin typeface="Calibri"/>
              </a:rPr>
              <a:t>ID3, C4.5</a:t>
            </a:r>
          </a:p>
        </p:txBody>
      </p:sp>
      <p:sp>
        <p:nvSpPr>
          <p:cNvPr id="16" name="Rectangle 15"/>
          <p:cNvSpPr/>
          <p:nvPr/>
        </p:nvSpPr>
        <p:spPr>
          <a:xfrm>
            <a:off x="274320" y="1874519"/>
            <a:ext cx="8595360" cy="45720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1965960"/>
            <a:ext cx="2606040" cy="292608"/>
          </a:xfrm>
          <a:prstGeom prst="rect">
            <a:avLst/>
          </a:prstGeom>
          <a:noFill/>
        </p:spPr>
        <p:txBody>
          <a:bodyPr wrap="square">
            <a:spAutoFit/>
          </a:bodyPr>
          <a:lstStyle/>
          <a:p>
            <a:pPr algn="l"/>
            <a:r>
              <a:rPr sz="1100" b="0" i="0">
                <a:solidFill>
                  <a:srgbClr val="7A92B8"/>
                </a:solidFill>
                <a:latin typeface="Calibri"/>
              </a:rPr>
              <a:t>Range</a:t>
            </a:r>
          </a:p>
        </p:txBody>
      </p:sp>
      <p:sp>
        <p:nvSpPr>
          <p:cNvPr id="18" name="TextBox 17"/>
          <p:cNvSpPr txBox="1"/>
          <p:nvPr/>
        </p:nvSpPr>
        <p:spPr>
          <a:xfrm>
            <a:off x="3063240" y="1965960"/>
            <a:ext cx="3383280" cy="292608"/>
          </a:xfrm>
          <a:prstGeom prst="rect">
            <a:avLst/>
          </a:prstGeom>
          <a:noFill/>
        </p:spPr>
        <p:txBody>
          <a:bodyPr wrap="square">
            <a:spAutoFit/>
          </a:bodyPr>
          <a:lstStyle/>
          <a:p>
            <a:pPr algn="l"/>
            <a:r>
              <a:rPr sz="1100" b="0" i="0">
                <a:solidFill>
                  <a:srgbClr val="39D353"/>
                </a:solidFill>
                <a:latin typeface="Calibri"/>
              </a:rPr>
              <a:t>0 to 0.5</a:t>
            </a:r>
          </a:p>
        </p:txBody>
      </p:sp>
      <p:sp>
        <p:nvSpPr>
          <p:cNvPr id="19" name="TextBox 18"/>
          <p:cNvSpPr txBox="1"/>
          <p:nvPr/>
        </p:nvSpPr>
        <p:spPr>
          <a:xfrm>
            <a:off x="6446520" y="1965960"/>
            <a:ext cx="2286000" cy="292608"/>
          </a:xfrm>
          <a:prstGeom prst="rect">
            <a:avLst/>
          </a:prstGeom>
          <a:noFill/>
        </p:spPr>
        <p:txBody>
          <a:bodyPr wrap="square">
            <a:spAutoFit/>
          </a:bodyPr>
          <a:lstStyle/>
          <a:p>
            <a:pPr algn="l"/>
            <a:r>
              <a:rPr sz="1100" b="0" i="0">
                <a:solidFill>
                  <a:srgbClr val="FFC400"/>
                </a:solidFill>
                <a:latin typeface="Calibri"/>
              </a:rPr>
              <a:t>0 to 1.0</a:t>
            </a:r>
          </a:p>
        </p:txBody>
      </p:sp>
      <p:sp>
        <p:nvSpPr>
          <p:cNvPr id="20" name="Rectangle 19"/>
          <p:cNvSpPr/>
          <p:nvPr/>
        </p:nvSpPr>
        <p:spPr>
          <a:xfrm>
            <a:off x="274320" y="2377440"/>
            <a:ext cx="859536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2468880"/>
            <a:ext cx="2606040" cy="292608"/>
          </a:xfrm>
          <a:prstGeom prst="rect">
            <a:avLst/>
          </a:prstGeom>
          <a:noFill/>
        </p:spPr>
        <p:txBody>
          <a:bodyPr wrap="square">
            <a:spAutoFit/>
          </a:bodyPr>
          <a:lstStyle/>
          <a:p>
            <a:pPr algn="l"/>
            <a:r>
              <a:rPr sz="1100" b="0" i="0">
                <a:solidFill>
                  <a:srgbClr val="7A92B8"/>
                </a:solidFill>
                <a:latin typeface="Calibri"/>
              </a:rPr>
              <a:t>Computation speed</a:t>
            </a:r>
          </a:p>
        </p:txBody>
      </p:sp>
      <p:sp>
        <p:nvSpPr>
          <p:cNvPr id="22" name="TextBox 21"/>
          <p:cNvSpPr txBox="1"/>
          <p:nvPr/>
        </p:nvSpPr>
        <p:spPr>
          <a:xfrm>
            <a:off x="3063240" y="2468880"/>
            <a:ext cx="3383280" cy="292608"/>
          </a:xfrm>
          <a:prstGeom prst="rect">
            <a:avLst/>
          </a:prstGeom>
          <a:noFill/>
        </p:spPr>
        <p:txBody>
          <a:bodyPr wrap="square">
            <a:spAutoFit/>
          </a:bodyPr>
          <a:lstStyle/>
          <a:p>
            <a:pPr algn="l"/>
            <a:r>
              <a:rPr sz="1100" b="0" i="0">
                <a:solidFill>
                  <a:srgbClr val="39D353"/>
                </a:solidFill>
                <a:latin typeface="Calibri"/>
              </a:rPr>
              <a:t>Faster (no log math)</a:t>
            </a:r>
          </a:p>
        </p:txBody>
      </p:sp>
      <p:sp>
        <p:nvSpPr>
          <p:cNvPr id="23" name="TextBox 22"/>
          <p:cNvSpPr txBox="1"/>
          <p:nvPr/>
        </p:nvSpPr>
        <p:spPr>
          <a:xfrm>
            <a:off x="6446520" y="2468880"/>
            <a:ext cx="2286000" cy="292608"/>
          </a:xfrm>
          <a:prstGeom prst="rect">
            <a:avLst/>
          </a:prstGeom>
          <a:noFill/>
        </p:spPr>
        <p:txBody>
          <a:bodyPr wrap="square">
            <a:spAutoFit/>
          </a:bodyPr>
          <a:lstStyle/>
          <a:p>
            <a:pPr algn="l"/>
            <a:r>
              <a:rPr sz="1100" b="0" i="0">
                <a:solidFill>
                  <a:srgbClr val="FFC400"/>
                </a:solidFill>
                <a:latin typeface="Calibri"/>
              </a:rPr>
              <a:t>Slower (uses logarithm)</a:t>
            </a:r>
          </a:p>
        </p:txBody>
      </p:sp>
      <p:sp>
        <p:nvSpPr>
          <p:cNvPr id="24" name="Rectangle 23"/>
          <p:cNvSpPr/>
          <p:nvPr/>
        </p:nvSpPr>
        <p:spPr>
          <a:xfrm>
            <a:off x="274320" y="2880360"/>
            <a:ext cx="8595360" cy="45720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2971800"/>
            <a:ext cx="2606040" cy="292608"/>
          </a:xfrm>
          <a:prstGeom prst="rect">
            <a:avLst/>
          </a:prstGeom>
          <a:noFill/>
        </p:spPr>
        <p:txBody>
          <a:bodyPr wrap="square">
            <a:spAutoFit/>
          </a:bodyPr>
          <a:lstStyle/>
          <a:p>
            <a:pPr algn="l"/>
            <a:r>
              <a:rPr sz="1100" b="0" i="0">
                <a:solidFill>
                  <a:srgbClr val="7A92B8"/>
                </a:solidFill>
                <a:latin typeface="Calibri"/>
              </a:rPr>
              <a:t>Result quality</a:t>
            </a:r>
          </a:p>
        </p:txBody>
      </p:sp>
      <p:sp>
        <p:nvSpPr>
          <p:cNvPr id="26" name="TextBox 25"/>
          <p:cNvSpPr txBox="1"/>
          <p:nvPr/>
        </p:nvSpPr>
        <p:spPr>
          <a:xfrm>
            <a:off x="3063240" y="2971800"/>
            <a:ext cx="3383280" cy="292608"/>
          </a:xfrm>
          <a:prstGeom prst="rect">
            <a:avLst/>
          </a:prstGeom>
          <a:noFill/>
        </p:spPr>
        <p:txBody>
          <a:bodyPr wrap="square">
            <a:spAutoFit/>
          </a:bodyPr>
          <a:lstStyle/>
          <a:p>
            <a:pPr algn="l"/>
            <a:r>
              <a:rPr sz="1100" b="0" i="0">
                <a:solidFill>
                  <a:srgbClr val="39D353"/>
                </a:solidFill>
                <a:latin typeface="Calibri"/>
              </a:rPr>
              <a:t>Very similar outcomes</a:t>
            </a:r>
          </a:p>
        </p:txBody>
      </p:sp>
      <p:sp>
        <p:nvSpPr>
          <p:cNvPr id="27" name="TextBox 26"/>
          <p:cNvSpPr txBox="1"/>
          <p:nvPr/>
        </p:nvSpPr>
        <p:spPr>
          <a:xfrm>
            <a:off x="6446520" y="2971800"/>
            <a:ext cx="2286000" cy="292608"/>
          </a:xfrm>
          <a:prstGeom prst="rect">
            <a:avLst/>
          </a:prstGeom>
          <a:noFill/>
        </p:spPr>
        <p:txBody>
          <a:bodyPr wrap="square">
            <a:spAutoFit/>
          </a:bodyPr>
          <a:lstStyle/>
          <a:p>
            <a:pPr algn="l"/>
            <a:r>
              <a:rPr sz="1100" b="0" i="0">
                <a:solidFill>
                  <a:srgbClr val="FFC400"/>
                </a:solidFill>
                <a:latin typeface="Calibri"/>
              </a:rPr>
              <a:t>Very similar outcomes</a:t>
            </a:r>
          </a:p>
        </p:txBody>
      </p:sp>
      <p:sp>
        <p:nvSpPr>
          <p:cNvPr id="28" name="Rectangle 27"/>
          <p:cNvSpPr/>
          <p:nvPr/>
        </p:nvSpPr>
        <p:spPr>
          <a:xfrm>
            <a:off x="274320" y="3383280"/>
            <a:ext cx="859536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3474720"/>
            <a:ext cx="2606040" cy="292608"/>
          </a:xfrm>
          <a:prstGeom prst="rect">
            <a:avLst/>
          </a:prstGeom>
          <a:noFill/>
        </p:spPr>
        <p:txBody>
          <a:bodyPr wrap="square">
            <a:spAutoFit/>
          </a:bodyPr>
          <a:lstStyle/>
          <a:p>
            <a:pPr algn="l"/>
            <a:r>
              <a:rPr sz="1100" b="0" i="0">
                <a:solidFill>
                  <a:srgbClr val="7A92B8"/>
                </a:solidFill>
                <a:latin typeface="Calibri"/>
              </a:rPr>
              <a:t>Preferred for</a:t>
            </a:r>
          </a:p>
        </p:txBody>
      </p:sp>
      <p:sp>
        <p:nvSpPr>
          <p:cNvPr id="30" name="TextBox 29"/>
          <p:cNvSpPr txBox="1"/>
          <p:nvPr/>
        </p:nvSpPr>
        <p:spPr>
          <a:xfrm>
            <a:off x="3063240" y="3474720"/>
            <a:ext cx="3383280" cy="292608"/>
          </a:xfrm>
          <a:prstGeom prst="rect">
            <a:avLst/>
          </a:prstGeom>
          <a:noFill/>
        </p:spPr>
        <p:txBody>
          <a:bodyPr wrap="square">
            <a:spAutoFit/>
          </a:bodyPr>
          <a:lstStyle/>
          <a:p>
            <a:pPr algn="l"/>
            <a:r>
              <a:rPr sz="1100" b="0" i="0">
                <a:solidFill>
                  <a:srgbClr val="39D353"/>
                </a:solidFill>
                <a:latin typeface="Calibri"/>
              </a:rPr>
              <a:t>Large datasets, speed</a:t>
            </a:r>
          </a:p>
        </p:txBody>
      </p:sp>
      <p:sp>
        <p:nvSpPr>
          <p:cNvPr id="31" name="TextBox 30"/>
          <p:cNvSpPr txBox="1"/>
          <p:nvPr/>
        </p:nvSpPr>
        <p:spPr>
          <a:xfrm>
            <a:off x="6446520" y="3474720"/>
            <a:ext cx="2286000" cy="292608"/>
          </a:xfrm>
          <a:prstGeom prst="rect">
            <a:avLst/>
          </a:prstGeom>
          <a:noFill/>
        </p:spPr>
        <p:txBody>
          <a:bodyPr wrap="square">
            <a:spAutoFit/>
          </a:bodyPr>
          <a:lstStyle/>
          <a:p>
            <a:pPr algn="l"/>
            <a:r>
              <a:rPr sz="1100" b="0" i="0">
                <a:solidFill>
                  <a:srgbClr val="FFC400"/>
                </a:solidFill>
                <a:latin typeface="Calibri"/>
              </a:rPr>
              <a:t>Multi-class problems</a:t>
            </a:r>
          </a:p>
        </p:txBody>
      </p:sp>
      <p:sp>
        <p:nvSpPr>
          <p:cNvPr id="32" name="Rectangle 31"/>
          <p:cNvSpPr/>
          <p:nvPr/>
        </p:nvSpPr>
        <p:spPr>
          <a:xfrm>
            <a:off x="274320" y="3886200"/>
            <a:ext cx="8595360" cy="45720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3977639"/>
            <a:ext cx="2606040" cy="292608"/>
          </a:xfrm>
          <a:prstGeom prst="rect">
            <a:avLst/>
          </a:prstGeom>
          <a:noFill/>
        </p:spPr>
        <p:txBody>
          <a:bodyPr wrap="square">
            <a:spAutoFit/>
          </a:bodyPr>
          <a:lstStyle/>
          <a:p>
            <a:pPr algn="l"/>
            <a:r>
              <a:rPr sz="1100" b="0" i="0">
                <a:solidFill>
                  <a:srgbClr val="7A92B8"/>
                </a:solidFill>
                <a:latin typeface="Calibri"/>
              </a:rPr>
              <a:t>sklearn parameter</a:t>
            </a:r>
          </a:p>
        </p:txBody>
      </p:sp>
      <p:sp>
        <p:nvSpPr>
          <p:cNvPr id="34" name="TextBox 33"/>
          <p:cNvSpPr txBox="1"/>
          <p:nvPr/>
        </p:nvSpPr>
        <p:spPr>
          <a:xfrm>
            <a:off x="3063240" y="3977639"/>
            <a:ext cx="3383280" cy="292608"/>
          </a:xfrm>
          <a:prstGeom prst="rect">
            <a:avLst/>
          </a:prstGeom>
          <a:noFill/>
        </p:spPr>
        <p:txBody>
          <a:bodyPr wrap="square">
            <a:spAutoFit/>
          </a:bodyPr>
          <a:lstStyle/>
          <a:p>
            <a:pPr algn="l"/>
            <a:r>
              <a:rPr sz="1100" b="0" i="0">
                <a:solidFill>
                  <a:srgbClr val="39D353"/>
                </a:solidFill>
                <a:latin typeface="Calibri"/>
              </a:rPr>
              <a:t>criterion='gini'</a:t>
            </a:r>
          </a:p>
        </p:txBody>
      </p:sp>
      <p:sp>
        <p:nvSpPr>
          <p:cNvPr id="35" name="TextBox 34"/>
          <p:cNvSpPr txBox="1"/>
          <p:nvPr/>
        </p:nvSpPr>
        <p:spPr>
          <a:xfrm>
            <a:off x="6446520" y="3977639"/>
            <a:ext cx="2286000" cy="292608"/>
          </a:xfrm>
          <a:prstGeom prst="rect">
            <a:avLst/>
          </a:prstGeom>
          <a:noFill/>
        </p:spPr>
        <p:txBody>
          <a:bodyPr wrap="square">
            <a:spAutoFit/>
          </a:bodyPr>
          <a:lstStyle/>
          <a:p>
            <a:pPr algn="l"/>
            <a:r>
              <a:rPr sz="1100" b="0" i="0">
                <a:solidFill>
                  <a:srgbClr val="FFC400"/>
                </a:solidFill>
                <a:latin typeface="Calibri"/>
              </a:rPr>
              <a:t>criterion='entropy'</a:t>
            </a:r>
          </a:p>
        </p:txBody>
      </p:sp>
      <p:sp>
        <p:nvSpPr>
          <p:cNvPr id="36" name="Rectangle 35"/>
          <p:cNvSpPr/>
          <p:nvPr/>
        </p:nvSpPr>
        <p:spPr>
          <a:xfrm>
            <a:off x="274320" y="4480560"/>
            <a:ext cx="8595360" cy="5029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74320" y="448056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4553712"/>
            <a:ext cx="8229600" cy="269304"/>
          </a:xfrm>
          <a:prstGeom prst="rect">
            <a:avLst/>
          </a:prstGeom>
          <a:noFill/>
        </p:spPr>
        <p:txBody>
          <a:bodyPr wrap="square">
            <a:spAutoFit/>
          </a:bodyPr>
          <a:lstStyle/>
          <a:p>
            <a:pPr algn="l"/>
            <a:r>
              <a:rPr sz="1150" b="0" i="0" dirty="0">
                <a:solidFill>
                  <a:srgbClr val="FFFFFF"/>
                </a:solidFill>
                <a:latin typeface="Calibri"/>
              </a:rPr>
              <a:t>  Practical Advice: Use Gini (sklearn default) for speed. Both give very similar results. Don't overthink this choice!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20</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900" b="1" i="0">
                <a:solidFill>
                  <a:srgbClr val="FFFFFF"/>
                </a:solidFill>
                <a:latin typeface="Calibri"/>
              </a:rPr>
              <a:t>Decision Tree Hyperparameters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These are the 'knobs' you control before training — they shape how the tree grows</a:t>
            </a:r>
          </a:p>
        </p:txBody>
      </p:sp>
      <p:sp>
        <p:nvSpPr>
          <p:cNvPr id="8" name="Rectangle 7"/>
          <p:cNvSpPr/>
          <p:nvPr/>
        </p:nvSpPr>
        <p:spPr>
          <a:xfrm>
            <a:off x="274320" y="1005840"/>
            <a:ext cx="8595360" cy="8686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8686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42416"/>
            <a:ext cx="2011680" cy="320040"/>
          </a:xfrm>
          <a:prstGeom prst="rect">
            <a:avLst/>
          </a:prstGeom>
          <a:noFill/>
        </p:spPr>
        <p:txBody>
          <a:bodyPr wrap="square">
            <a:spAutoFit/>
          </a:bodyPr>
          <a:lstStyle/>
          <a:p>
            <a:pPr algn="l"/>
            <a:r>
              <a:rPr sz="1300" b="1" i="0">
                <a:solidFill>
                  <a:srgbClr val="39D353"/>
                </a:solidFill>
                <a:latin typeface="Consolas"/>
              </a:rPr>
              <a:t>max_depth</a:t>
            </a:r>
          </a:p>
        </p:txBody>
      </p:sp>
      <p:sp>
        <p:nvSpPr>
          <p:cNvPr id="11" name="TextBox 10"/>
          <p:cNvSpPr txBox="1"/>
          <p:nvPr/>
        </p:nvSpPr>
        <p:spPr>
          <a:xfrm>
            <a:off x="457200" y="1389888"/>
            <a:ext cx="2011680" cy="256032"/>
          </a:xfrm>
          <a:prstGeom prst="rect">
            <a:avLst/>
          </a:prstGeom>
          <a:noFill/>
        </p:spPr>
        <p:txBody>
          <a:bodyPr wrap="square">
            <a:spAutoFit/>
          </a:bodyPr>
          <a:lstStyle/>
          <a:p>
            <a:pPr algn="l"/>
            <a:r>
              <a:rPr sz="950" b="0" i="0">
                <a:solidFill>
                  <a:srgbClr val="7A92B8"/>
                </a:solidFill>
                <a:latin typeface="Calibri"/>
              </a:rPr>
              <a:t>Default: None (unlimited)</a:t>
            </a:r>
          </a:p>
        </p:txBody>
      </p:sp>
      <p:sp>
        <p:nvSpPr>
          <p:cNvPr id="12" name="TextBox 11"/>
          <p:cNvSpPr txBox="1"/>
          <p:nvPr/>
        </p:nvSpPr>
        <p:spPr>
          <a:xfrm>
            <a:off x="457199" y="1600200"/>
            <a:ext cx="2314353" cy="238527"/>
          </a:xfrm>
          <a:prstGeom prst="rect">
            <a:avLst/>
          </a:prstGeom>
          <a:noFill/>
        </p:spPr>
        <p:txBody>
          <a:bodyPr wrap="square">
            <a:spAutoFit/>
          </a:bodyPr>
          <a:lstStyle/>
          <a:p>
            <a:pPr algn="l"/>
            <a:r>
              <a:rPr sz="950" b="0" i="0" dirty="0">
                <a:solidFill>
                  <a:srgbClr val="39D353"/>
                </a:solidFill>
                <a:latin typeface="Calibri"/>
              </a:rPr>
              <a:t>Recommended: 4–6 for most problems</a:t>
            </a:r>
          </a:p>
        </p:txBody>
      </p:sp>
      <p:sp>
        <p:nvSpPr>
          <p:cNvPr id="13" name="TextBox 12"/>
          <p:cNvSpPr txBox="1"/>
          <p:nvPr/>
        </p:nvSpPr>
        <p:spPr>
          <a:xfrm>
            <a:off x="2606040" y="1042416"/>
            <a:ext cx="3200400" cy="256032"/>
          </a:xfrm>
          <a:prstGeom prst="rect">
            <a:avLst/>
          </a:prstGeom>
          <a:noFill/>
        </p:spPr>
        <p:txBody>
          <a:bodyPr wrap="square">
            <a:spAutoFit/>
          </a:bodyPr>
          <a:lstStyle/>
          <a:p>
            <a:pPr algn="l"/>
            <a:r>
              <a:rPr sz="1100" b="0" i="0">
                <a:solidFill>
                  <a:srgbClr val="FFFFFF"/>
                </a:solidFill>
                <a:latin typeface="Calibri"/>
              </a:rPr>
              <a:t>How many levels deep the tree can grow</a:t>
            </a:r>
          </a:p>
        </p:txBody>
      </p:sp>
      <p:sp>
        <p:nvSpPr>
          <p:cNvPr id="14" name="TextBox 13"/>
          <p:cNvSpPr txBox="1"/>
          <p:nvPr/>
        </p:nvSpPr>
        <p:spPr>
          <a:xfrm>
            <a:off x="2606040" y="1353312"/>
            <a:ext cx="5760720" cy="475488"/>
          </a:xfrm>
          <a:prstGeom prst="rect">
            <a:avLst/>
          </a:prstGeom>
          <a:noFill/>
        </p:spPr>
        <p:txBody>
          <a:bodyPr wrap="square">
            <a:spAutoFit/>
          </a:bodyPr>
          <a:lstStyle/>
          <a:p>
            <a:pPr algn="l"/>
            <a:r>
              <a:rPr sz="1050" b="0" i="0">
                <a:solidFill>
                  <a:srgbClr val="7A92B8"/>
                </a:solidFill>
                <a:latin typeface="Calibri"/>
              </a:rPr>
              <a:t>Too deep = memorizes training data (overfitting). Too shallow = misses patterns (underfitting).</a:t>
            </a:r>
          </a:p>
        </p:txBody>
      </p:sp>
      <p:sp>
        <p:nvSpPr>
          <p:cNvPr id="15" name="Rectangle 14"/>
          <p:cNvSpPr/>
          <p:nvPr/>
        </p:nvSpPr>
        <p:spPr>
          <a:xfrm>
            <a:off x="274320" y="1984248"/>
            <a:ext cx="8595360" cy="8686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1984248"/>
            <a:ext cx="50292" cy="86868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020824"/>
            <a:ext cx="2011680" cy="320040"/>
          </a:xfrm>
          <a:prstGeom prst="rect">
            <a:avLst/>
          </a:prstGeom>
          <a:noFill/>
        </p:spPr>
        <p:txBody>
          <a:bodyPr wrap="square">
            <a:spAutoFit/>
          </a:bodyPr>
          <a:lstStyle/>
          <a:p>
            <a:pPr algn="l"/>
            <a:r>
              <a:rPr sz="1300" b="1" i="0">
                <a:solidFill>
                  <a:srgbClr val="00C2CB"/>
                </a:solidFill>
                <a:latin typeface="Consolas"/>
              </a:rPr>
              <a:t>min_samples_leaf</a:t>
            </a:r>
          </a:p>
        </p:txBody>
      </p:sp>
      <p:sp>
        <p:nvSpPr>
          <p:cNvPr id="18" name="TextBox 17"/>
          <p:cNvSpPr txBox="1"/>
          <p:nvPr/>
        </p:nvSpPr>
        <p:spPr>
          <a:xfrm>
            <a:off x="457200" y="2368296"/>
            <a:ext cx="2011680" cy="256032"/>
          </a:xfrm>
          <a:prstGeom prst="rect">
            <a:avLst/>
          </a:prstGeom>
          <a:noFill/>
        </p:spPr>
        <p:txBody>
          <a:bodyPr wrap="square">
            <a:spAutoFit/>
          </a:bodyPr>
          <a:lstStyle/>
          <a:p>
            <a:pPr algn="l"/>
            <a:r>
              <a:rPr sz="950" b="0" i="0">
                <a:solidFill>
                  <a:srgbClr val="7A92B8"/>
                </a:solidFill>
                <a:latin typeface="Calibri"/>
              </a:rPr>
              <a:t>Default: 1 (any size allowed)</a:t>
            </a:r>
          </a:p>
        </p:txBody>
      </p:sp>
      <p:sp>
        <p:nvSpPr>
          <p:cNvPr id="19" name="TextBox 18"/>
          <p:cNvSpPr txBox="1"/>
          <p:nvPr/>
        </p:nvSpPr>
        <p:spPr>
          <a:xfrm>
            <a:off x="457200" y="2578608"/>
            <a:ext cx="2011680" cy="256032"/>
          </a:xfrm>
          <a:prstGeom prst="rect">
            <a:avLst/>
          </a:prstGeom>
          <a:noFill/>
        </p:spPr>
        <p:txBody>
          <a:bodyPr wrap="square">
            <a:spAutoFit/>
          </a:bodyPr>
          <a:lstStyle/>
          <a:p>
            <a:pPr algn="l"/>
            <a:r>
              <a:rPr sz="950" b="0" i="0">
                <a:solidFill>
                  <a:srgbClr val="00C2CB"/>
                </a:solidFill>
                <a:latin typeface="Calibri"/>
              </a:rPr>
              <a:t>Recommended: 10–20 for Titanic</a:t>
            </a:r>
          </a:p>
        </p:txBody>
      </p:sp>
      <p:sp>
        <p:nvSpPr>
          <p:cNvPr id="20" name="TextBox 19"/>
          <p:cNvSpPr txBox="1"/>
          <p:nvPr/>
        </p:nvSpPr>
        <p:spPr>
          <a:xfrm>
            <a:off x="2606040" y="2020824"/>
            <a:ext cx="3200400" cy="256032"/>
          </a:xfrm>
          <a:prstGeom prst="rect">
            <a:avLst/>
          </a:prstGeom>
          <a:noFill/>
        </p:spPr>
        <p:txBody>
          <a:bodyPr wrap="square">
            <a:spAutoFit/>
          </a:bodyPr>
          <a:lstStyle/>
          <a:p>
            <a:pPr algn="l"/>
            <a:r>
              <a:rPr sz="1100" b="0" i="0">
                <a:solidFill>
                  <a:srgbClr val="FFFFFF"/>
                </a:solidFill>
                <a:latin typeface="Calibri"/>
              </a:rPr>
              <a:t>Minimum passengers allowed in each leaf node</a:t>
            </a:r>
          </a:p>
        </p:txBody>
      </p:sp>
      <p:sp>
        <p:nvSpPr>
          <p:cNvPr id="21" name="TextBox 20"/>
          <p:cNvSpPr txBox="1"/>
          <p:nvPr/>
        </p:nvSpPr>
        <p:spPr>
          <a:xfrm>
            <a:off x="2606040" y="2331720"/>
            <a:ext cx="5760720" cy="475488"/>
          </a:xfrm>
          <a:prstGeom prst="rect">
            <a:avLst/>
          </a:prstGeom>
          <a:noFill/>
        </p:spPr>
        <p:txBody>
          <a:bodyPr wrap="square">
            <a:spAutoFit/>
          </a:bodyPr>
          <a:lstStyle/>
          <a:p>
            <a:pPr algn="l"/>
            <a:r>
              <a:rPr sz="1050" b="0" i="0">
                <a:solidFill>
                  <a:srgbClr val="7A92B8"/>
                </a:solidFill>
                <a:latin typeface="Calibri"/>
              </a:rPr>
              <a:t>Small leaves memorize outliers. Larger leaves force broader, more generalizable rules.</a:t>
            </a:r>
          </a:p>
        </p:txBody>
      </p:sp>
      <p:sp>
        <p:nvSpPr>
          <p:cNvPr id="22" name="Rectangle 21"/>
          <p:cNvSpPr/>
          <p:nvPr/>
        </p:nvSpPr>
        <p:spPr>
          <a:xfrm>
            <a:off x="274320" y="2962656"/>
            <a:ext cx="8595360" cy="8686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4320" y="2962656"/>
            <a:ext cx="50292" cy="8686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2999232"/>
            <a:ext cx="2011680" cy="320040"/>
          </a:xfrm>
          <a:prstGeom prst="rect">
            <a:avLst/>
          </a:prstGeom>
          <a:noFill/>
        </p:spPr>
        <p:txBody>
          <a:bodyPr wrap="square">
            <a:spAutoFit/>
          </a:bodyPr>
          <a:lstStyle/>
          <a:p>
            <a:pPr algn="l"/>
            <a:r>
              <a:rPr sz="1300" b="1" i="0">
                <a:solidFill>
                  <a:srgbClr val="FFC400"/>
                </a:solidFill>
                <a:latin typeface="Consolas"/>
              </a:rPr>
              <a:t>criterion</a:t>
            </a:r>
          </a:p>
        </p:txBody>
      </p:sp>
      <p:sp>
        <p:nvSpPr>
          <p:cNvPr id="25" name="TextBox 24"/>
          <p:cNvSpPr txBox="1"/>
          <p:nvPr/>
        </p:nvSpPr>
        <p:spPr>
          <a:xfrm>
            <a:off x="457200" y="3346704"/>
            <a:ext cx="2011680" cy="256032"/>
          </a:xfrm>
          <a:prstGeom prst="rect">
            <a:avLst/>
          </a:prstGeom>
          <a:noFill/>
        </p:spPr>
        <p:txBody>
          <a:bodyPr wrap="square">
            <a:spAutoFit/>
          </a:bodyPr>
          <a:lstStyle/>
          <a:p>
            <a:pPr algn="l"/>
            <a:r>
              <a:rPr sz="950" b="0" i="0">
                <a:solidFill>
                  <a:srgbClr val="7A92B8"/>
                </a:solidFill>
                <a:latin typeface="Calibri"/>
              </a:rPr>
              <a:t>Default: 'gini'</a:t>
            </a:r>
          </a:p>
        </p:txBody>
      </p:sp>
      <p:sp>
        <p:nvSpPr>
          <p:cNvPr id="26" name="TextBox 25"/>
          <p:cNvSpPr txBox="1"/>
          <p:nvPr/>
        </p:nvSpPr>
        <p:spPr>
          <a:xfrm>
            <a:off x="457200" y="3557016"/>
            <a:ext cx="2011680" cy="256032"/>
          </a:xfrm>
          <a:prstGeom prst="rect">
            <a:avLst/>
          </a:prstGeom>
          <a:noFill/>
        </p:spPr>
        <p:txBody>
          <a:bodyPr wrap="square">
            <a:spAutoFit/>
          </a:bodyPr>
          <a:lstStyle/>
          <a:p>
            <a:pPr algn="l"/>
            <a:r>
              <a:rPr sz="950" b="0" i="0">
                <a:solidFill>
                  <a:srgbClr val="FFC400"/>
                </a:solidFill>
                <a:latin typeface="Calibri"/>
              </a:rPr>
              <a:t>Recommended: 'gini' or 'entropy'</a:t>
            </a:r>
          </a:p>
        </p:txBody>
      </p:sp>
      <p:sp>
        <p:nvSpPr>
          <p:cNvPr id="27" name="TextBox 26"/>
          <p:cNvSpPr txBox="1"/>
          <p:nvPr/>
        </p:nvSpPr>
        <p:spPr>
          <a:xfrm>
            <a:off x="2606040" y="2999232"/>
            <a:ext cx="3200400" cy="256032"/>
          </a:xfrm>
          <a:prstGeom prst="rect">
            <a:avLst/>
          </a:prstGeom>
          <a:noFill/>
        </p:spPr>
        <p:txBody>
          <a:bodyPr wrap="square">
            <a:spAutoFit/>
          </a:bodyPr>
          <a:lstStyle/>
          <a:p>
            <a:pPr algn="l"/>
            <a:r>
              <a:rPr sz="1100" b="0" i="0">
                <a:solidFill>
                  <a:srgbClr val="FFFFFF"/>
                </a:solidFill>
                <a:latin typeface="Calibri"/>
              </a:rPr>
              <a:t>Which formula to measure impurity at each split</a:t>
            </a:r>
          </a:p>
        </p:txBody>
      </p:sp>
      <p:sp>
        <p:nvSpPr>
          <p:cNvPr id="28" name="TextBox 27"/>
          <p:cNvSpPr txBox="1"/>
          <p:nvPr/>
        </p:nvSpPr>
        <p:spPr>
          <a:xfrm>
            <a:off x="2606040" y="3310128"/>
            <a:ext cx="5760720" cy="475488"/>
          </a:xfrm>
          <a:prstGeom prst="rect">
            <a:avLst/>
          </a:prstGeom>
          <a:noFill/>
        </p:spPr>
        <p:txBody>
          <a:bodyPr wrap="square">
            <a:spAutoFit/>
          </a:bodyPr>
          <a:lstStyle/>
          <a:p>
            <a:pPr algn="l"/>
            <a:r>
              <a:rPr sz="1050" b="0" i="0">
                <a:solidFill>
                  <a:srgbClr val="7A92B8"/>
                </a:solidFill>
                <a:latin typeface="Calibri"/>
              </a:rPr>
              <a:t>Gini is faster. Entropy sometimes gives slightly different trees. Both produce similar accuracy.</a:t>
            </a:r>
          </a:p>
        </p:txBody>
      </p:sp>
      <p:sp>
        <p:nvSpPr>
          <p:cNvPr id="29" name="Rectangle 28"/>
          <p:cNvSpPr/>
          <p:nvPr/>
        </p:nvSpPr>
        <p:spPr>
          <a:xfrm>
            <a:off x="274320" y="3941064"/>
            <a:ext cx="8595360" cy="8686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3941064"/>
            <a:ext cx="50292" cy="86868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3977640"/>
            <a:ext cx="2011680" cy="320040"/>
          </a:xfrm>
          <a:prstGeom prst="rect">
            <a:avLst/>
          </a:prstGeom>
          <a:noFill/>
        </p:spPr>
        <p:txBody>
          <a:bodyPr wrap="square">
            <a:spAutoFit/>
          </a:bodyPr>
          <a:lstStyle/>
          <a:p>
            <a:pPr algn="l"/>
            <a:r>
              <a:rPr sz="1300" b="1" i="0">
                <a:solidFill>
                  <a:srgbClr val="FF4D88"/>
                </a:solidFill>
                <a:latin typeface="Consolas"/>
              </a:rPr>
              <a:t>random_state</a:t>
            </a:r>
          </a:p>
        </p:txBody>
      </p:sp>
      <p:sp>
        <p:nvSpPr>
          <p:cNvPr id="32" name="TextBox 31"/>
          <p:cNvSpPr txBox="1"/>
          <p:nvPr/>
        </p:nvSpPr>
        <p:spPr>
          <a:xfrm>
            <a:off x="457200" y="4325112"/>
            <a:ext cx="2011680" cy="256032"/>
          </a:xfrm>
          <a:prstGeom prst="rect">
            <a:avLst/>
          </a:prstGeom>
          <a:noFill/>
        </p:spPr>
        <p:txBody>
          <a:bodyPr wrap="square">
            <a:spAutoFit/>
          </a:bodyPr>
          <a:lstStyle/>
          <a:p>
            <a:pPr algn="l"/>
            <a:r>
              <a:rPr sz="950" b="0" i="0">
                <a:solidFill>
                  <a:srgbClr val="7A92B8"/>
                </a:solidFill>
                <a:latin typeface="Calibri"/>
              </a:rPr>
              <a:t>Default: None (random)</a:t>
            </a:r>
          </a:p>
        </p:txBody>
      </p:sp>
      <p:sp>
        <p:nvSpPr>
          <p:cNvPr id="33" name="TextBox 32"/>
          <p:cNvSpPr txBox="1"/>
          <p:nvPr/>
        </p:nvSpPr>
        <p:spPr>
          <a:xfrm>
            <a:off x="457200" y="4535424"/>
            <a:ext cx="2011680" cy="256032"/>
          </a:xfrm>
          <a:prstGeom prst="rect">
            <a:avLst/>
          </a:prstGeom>
          <a:noFill/>
        </p:spPr>
        <p:txBody>
          <a:bodyPr wrap="square">
            <a:spAutoFit/>
          </a:bodyPr>
          <a:lstStyle/>
          <a:p>
            <a:pPr algn="l"/>
            <a:r>
              <a:rPr sz="950" b="0" i="0">
                <a:solidFill>
                  <a:srgbClr val="FF4D88"/>
                </a:solidFill>
                <a:latin typeface="Calibri"/>
              </a:rPr>
              <a:t>Recommended: 42 (or any int)</a:t>
            </a:r>
          </a:p>
        </p:txBody>
      </p:sp>
      <p:sp>
        <p:nvSpPr>
          <p:cNvPr id="34" name="TextBox 33"/>
          <p:cNvSpPr txBox="1"/>
          <p:nvPr/>
        </p:nvSpPr>
        <p:spPr>
          <a:xfrm>
            <a:off x="2606040" y="3977640"/>
            <a:ext cx="3200400" cy="256032"/>
          </a:xfrm>
          <a:prstGeom prst="rect">
            <a:avLst/>
          </a:prstGeom>
          <a:noFill/>
        </p:spPr>
        <p:txBody>
          <a:bodyPr wrap="square">
            <a:spAutoFit/>
          </a:bodyPr>
          <a:lstStyle/>
          <a:p>
            <a:pPr algn="l"/>
            <a:r>
              <a:rPr sz="1100" b="0" i="0">
                <a:solidFill>
                  <a:srgbClr val="FFFFFF"/>
                </a:solidFill>
                <a:latin typeface="Calibri"/>
              </a:rPr>
              <a:t>Controls randomness in the algorithm for reproducibility</a:t>
            </a:r>
          </a:p>
        </p:txBody>
      </p:sp>
      <p:sp>
        <p:nvSpPr>
          <p:cNvPr id="35" name="TextBox 34"/>
          <p:cNvSpPr txBox="1"/>
          <p:nvPr/>
        </p:nvSpPr>
        <p:spPr>
          <a:xfrm>
            <a:off x="2606040" y="4288536"/>
            <a:ext cx="5760720" cy="475488"/>
          </a:xfrm>
          <a:prstGeom prst="rect">
            <a:avLst/>
          </a:prstGeom>
          <a:noFill/>
        </p:spPr>
        <p:txBody>
          <a:bodyPr wrap="square">
            <a:spAutoFit/>
          </a:bodyPr>
          <a:lstStyle/>
          <a:p>
            <a:pPr algn="l"/>
            <a:r>
              <a:rPr sz="1050" b="0" i="0">
                <a:solidFill>
                  <a:srgbClr val="7A92B8"/>
                </a:solidFill>
                <a:latin typeface="Calibri"/>
              </a:rPr>
              <a:t>Setting this ensures you get the SAME tree every time you run the code. Essential for teaching.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FF8C00"/>
                </a:solidFill>
                <a:latin typeface="Arial Black"/>
              </a:rPr>
              <a:t>03</a:t>
            </a:r>
          </a:p>
        </p:txBody>
      </p:sp>
      <p:sp>
        <p:nvSpPr>
          <p:cNvPr id="5" name="TextBox 4"/>
          <p:cNvSpPr txBox="1"/>
          <p:nvPr/>
        </p:nvSpPr>
        <p:spPr>
          <a:xfrm>
            <a:off x="457200" y="3200400"/>
            <a:ext cx="6624084" cy="615553"/>
          </a:xfrm>
          <a:prstGeom prst="rect">
            <a:avLst/>
          </a:prstGeom>
          <a:noFill/>
        </p:spPr>
        <p:txBody>
          <a:bodyPr wrap="square">
            <a:spAutoFit/>
          </a:bodyPr>
          <a:lstStyle/>
          <a:p>
            <a:pPr algn="l"/>
            <a:r>
              <a:rPr sz="3400" b="1" i="0" dirty="0">
                <a:solidFill>
                  <a:srgbClr val="FFFFFF"/>
                </a:solidFill>
                <a:latin typeface="Calibri"/>
              </a:rPr>
              <a:t>Overfitting &amp; Why Trees Fail Alone</a:t>
            </a:r>
          </a:p>
        </p:txBody>
      </p:sp>
      <p:sp>
        <p:nvSpPr>
          <p:cNvPr id="6" name="Rectangle 5"/>
          <p:cNvSpPr/>
          <p:nvPr/>
        </p:nvSpPr>
        <p:spPr>
          <a:xfrm>
            <a:off x="457200" y="3063240"/>
            <a:ext cx="365760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22</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Overfitting — The #1 Enemy of Machine Learning</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200" b="0" i="1">
                <a:solidFill>
                  <a:srgbClr val="FF8C00"/>
                </a:solidFill>
                <a:latin typeface="Calibri"/>
              </a:rPr>
              <a:t>When a model memorizes instead of learning</a:t>
            </a:r>
          </a:p>
        </p:txBody>
      </p:sp>
      <p:sp>
        <p:nvSpPr>
          <p:cNvPr id="8" name="Rectangle 7"/>
          <p:cNvSpPr/>
          <p:nvPr/>
        </p:nvSpPr>
        <p:spPr>
          <a:xfrm>
            <a:off x="274320" y="960120"/>
            <a:ext cx="859536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05840"/>
            <a:ext cx="8229600" cy="365760"/>
          </a:xfrm>
          <a:prstGeom prst="rect">
            <a:avLst/>
          </a:prstGeom>
          <a:noFill/>
        </p:spPr>
        <p:txBody>
          <a:bodyPr wrap="square">
            <a:spAutoFit/>
          </a:bodyPr>
          <a:lstStyle/>
          <a:p>
            <a:pPr algn="ctr"/>
            <a:r>
              <a:rPr sz="1250" b="1" i="0">
                <a:solidFill>
                  <a:srgbClr val="FF8C00"/>
                </a:solidFill>
                <a:latin typeface="Calibri"/>
              </a:rPr>
              <a:t>Overfitting = the model performs VERY well on training data but POORLY on new test data</a:t>
            </a:r>
          </a:p>
        </p:txBody>
      </p:sp>
      <p:sp>
        <p:nvSpPr>
          <p:cNvPr id="10" name="Rectangle 9"/>
          <p:cNvSpPr/>
          <p:nvPr/>
        </p:nvSpPr>
        <p:spPr>
          <a:xfrm>
            <a:off x="274320" y="1536192"/>
            <a:ext cx="2788920" cy="3200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536192"/>
            <a:ext cx="50292" cy="3200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79" y="1609344"/>
            <a:ext cx="2514600" cy="475488"/>
          </a:xfrm>
          <a:prstGeom prst="rect">
            <a:avLst/>
          </a:prstGeom>
          <a:noFill/>
        </p:spPr>
        <p:txBody>
          <a:bodyPr wrap="square">
            <a:spAutoFit/>
          </a:bodyPr>
          <a:lstStyle/>
          <a:p>
            <a:pPr algn="l"/>
            <a:r>
              <a:rPr sz="1300" b="1" i="0">
                <a:solidFill>
                  <a:srgbClr val="FFC400"/>
                </a:solidFill>
                <a:latin typeface="Calibri"/>
              </a:rPr>
              <a:t>Underfitting
(High Bias)</a:t>
            </a:r>
          </a:p>
        </p:txBody>
      </p:sp>
      <p:sp>
        <p:nvSpPr>
          <p:cNvPr id="13" name="TextBox 12"/>
          <p:cNvSpPr txBox="1"/>
          <p:nvPr/>
        </p:nvSpPr>
        <p:spPr>
          <a:xfrm>
            <a:off x="411479" y="2103120"/>
            <a:ext cx="2514600" cy="384048"/>
          </a:xfrm>
          <a:prstGeom prst="rect">
            <a:avLst/>
          </a:prstGeom>
          <a:noFill/>
        </p:spPr>
        <p:txBody>
          <a:bodyPr wrap="square">
            <a:spAutoFit/>
          </a:bodyPr>
          <a:lstStyle/>
          <a:p>
            <a:pPr algn="l"/>
            <a:r>
              <a:rPr sz="1000" b="0" i="0">
                <a:solidFill>
                  <a:srgbClr val="7A92B8"/>
                </a:solidFill>
                <a:latin typeface="Calibri"/>
              </a:rPr>
              <a:t>Model is too simple.
Doesn't learn enough.</a:t>
            </a:r>
          </a:p>
        </p:txBody>
      </p:sp>
      <p:sp>
        <p:nvSpPr>
          <p:cNvPr id="14" name="Rectangle 13"/>
          <p:cNvSpPr/>
          <p:nvPr/>
        </p:nvSpPr>
        <p:spPr>
          <a:xfrm>
            <a:off x="365760" y="2542032"/>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624328"/>
            <a:ext cx="2514600" cy="237744"/>
          </a:xfrm>
          <a:prstGeom prst="rect">
            <a:avLst/>
          </a:prstGeom>
          <a:noFill/>
        </p:spPr>
        <p:txBody>
          <a:bodyPr wrap="square">
            <a:spAutoFit/>
          </a:bodyPr>
          <a:lstStyle/>
          <a:p>
            <a:pPr algn="l"/>
            <a:r>
              <a:rPr sz="1050" b="0" i="0">
                <a:solidFill>
                  <a:srgbClr val="FFFFFF"/>
                </a:solidFill>
                <a:latin typeface="Consolas"/>
              </a:rPr>
              <a:t>Train accuracy: 60%</a:t>
            </a:r>
          </a:p>
        </p:txBody>
      </p:sp>
      <p:sp>
        <p:nvSpPr>
          <p:cNvPr id="16" name="TextBox 15"/>
          <p:cNvSpPr txBox="1"/>
          <p:nvPr/>
        </p:nvSpPr>
        <p:spPr>
          <a:xfrm>
            <a:off x="411479" y="2880360"/>
            <a:ext cx="2514600" cy="237744"/>
          </a:xfrm>
          <a:prstGeom prst="rect">
            <a:avLst/>
          </a:prstGeom>
          <a:noFill/>
        </p:spPr>
        <p:txBody>
          <a:bodyPr wrap="square">
            <a:spAutoFit/>
          </a:bodyPr>
          <a:lstStyle/>
          <a:p>
            <a:pPr algn="l"/>
            <a:r>
              <a:rPr sz="1050" b="0" i="0">
                <a:solidFill>
                  <a:srgbClr val="FFFFFF"/>
                </a:solidFill>
                <a:latin typeface="Consolas"/>
              </a:rPr>
              <a:t>Test accuracy:  58%</a:t>
            </a:r>
          </a:p>
        </p:txBody>
      </p:sp>
      <p:sp>
        <p:nvSpPr>
          <p:cNvPr id="17" name="TextBox 16"/>
          <p:cNvSpPr txBox="1"/>
          <p:nvPr/>
        </p:nvSpPr>
        <p:spPr>
          <a:xfrm>
            <a:off x="411479" y="3136392"/>
            <a:ext cx="2514600" cy="237744"/>
          </a:xfrm>
          <a:prstGeom prst="rect">
            <a:avLst/>
          </a:prstGeom>
          <a:noFill/>
        </p:spPr>
        <p:txBody>
          <a:bodyPr wrap="square">
            <a:spAutoFit/>
          </a:bodyPr>
          <a:lstStyle/>
          <a:p>
            <a:pPr algn="l"/>
            <a:r>
              <a:rPr sz="1050" b="0" i="0">
                <a:solidFill>
                  <a:srgbClr val="FFFFFF"/>
                </a:solidFill>
                <a:latin typeface="Consolas"/>
              </a:rPr>
              <a:t>→ Both low</a:t>
            </a:r>
          </a:p>
        </p:txBody>
      </p:sp>
      <p:sp>
        <p:nvSpPr>
          <p:cNvPr id="18" name="Rectangle 17"/>
          <p:cNvSpPr/>
          <p:nvPr/>
        </p:nvSpPr>
        <p:spPr>
          <a:xfrm>
            <a:off x="365760" y="3429000"/>
            <a:ext cx="260604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3493008"/>
            <a:ext cx="2514600" cy="228600"/>
          </a:xfrm>
          <a:prstGeom prst="rect">
            <a:avLst/>
          </a:prstGeom>
          <a:noFill/>
        </p:spPr>
        <p:txBody>
          <a:bodyPr wrap="square">
            <a:spAutoFit/>
          </a:bodyPr>
          <a:lstStyle/>
          <a:p>
            <a:pPr algn="l"/>
            <a:r>
              <a:rPr sz="1000" b="1" i="0">
                <a:solidFill>
                  <a:srgbClr val="FFC400"/>
                </a:solidFill>
                <a:latin typeface="Calibri"/>
              </a:rPr>
              <a:t>Common Causes:</a:t>
            </a:r>
          </a:p>
        </p:txBody>
      </p:sp>
      <p:sp>
        <p:nvSpPr>
          <p:cNvPr id="20" name="TextBox 19"/>
          <p:cNvSpPr txBox="1"/>
          <p:nvPr/>
        </p:nvSpPr>
        <p:spPr>
          <a:xfrm>
            <a:off x="411479" y="3749039"/>
            <a:ext cx="2514600" cy="219456"/>
          </a:xfrm>
          <a:prstGeom prst="rect">
            <a:avLst/>
          </a:prstGeom>
          <a:noFill/>
        </p:spPr>
        <p:txBody>
          <a:bodyPr wrap="square">
            <a:spAutoFit/>
          </a:bodyPr>
          <a:lstStyle/>
          <a:p>
            <a:pPr algn="l"/>
            <a:r>
              <a:rPr sz="1000" b="0" i="0">
                <a:solidFill>
                  <a:srgbClr val="7A92B8"/>
                </a:solidFill>
                <a:latin typeface="Calibri"/>
              </a:rPr>
              <a:t>• max_depth too small</a:t>
            </a:r>
          </a:p>
        </p:txBody>
      </p:sp>
      <p:sp>
        <p:nvSpPr>
          <p:cNvPr id="21" name="TextBox 20"/>
          <p:cNvSpPr txBox="1"/>
          <p:nvPr/>
        </p:nvSpPr>
        <p:spPr>
          <a:xfrm>
            <a:off x="411479" y="3986783"/>
            <a:ext cx="2514600" cy="219456"/>
          </a:xfrm>
          <a:prstGeom prst="rect">
            <a:avLst/>
          </a:prstGeom>
          <a:noFill/>
        </p:spPr>
        <p:txBody>
          <a:bodyPr wrap="square">
            <a:spAutoFit/>
          </a:bodyPr>
          <a:lstStyle/>
          <a:p>
            <a:pPr algn="l"/>
            <a:r>
              <a:rPr sz="1000" b="0" i="0">
                <a:solidFill>
                  <a:srgbClr val="7A92B8"/>
                </a:solidFill>
                <a:latin typeface="Calibri"/>
              </a:rPr>
              <a:t>• K too large (KNN)</a:t>
            </a:r>
          </a:p>
        </p:txBody>
      </p:sp>
      <p:sp>
        <p:nvSpPr>
          <p:cNvPr id="22" name="Rectangle 21"/>
          <p:cNvSpPr/>
          <p:nvPr/>
        </p:nvSpPr>
        <p:spPr>
          <a:xfrm>
            <a:off x="3218688" y="1536192"/>
            <a:ext cx="2788920" cy="3200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18688" y="1536192"/>
            <a:ext cx="50292" cy="32004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55848" y="1609344"/>
            <a:ext cx="2514600" cy="475488"/>
          </a:xfrm>
          <a:prstGeom prst="rect">
            <a:avLst/>
          </a:prstGeom>
          <a:noFill/>
        </p:spPr>
        <p:txBody>
          <a:bodyPr wrap="square">
            <a:spAutoFit/>
          </a:bodyPr>
          <a:lstStyle/>
          <a:p>
            <a:pPr algn="l"/>
            <a:r>
              <a:rPr sz="1300" b="1" i="0">
                <a:solidFill>
                  <a:srgbClr val="39D353"/>
                </a:solidFill>
                <a:latin typeface="Calibri"/>
              </a:rPr>
              <a:t>Just Right
(Good Fit)</a:t>
            </a:r>
          </a:p>
        </p:txBody>
      </p:sp>
      <p:sp>
        <p:nvSpPr>
          <p:cNvPr id="25" name="TextBox 24"/>
          <p:cNvSpPr txBox="1"/>
          <p:nvPr/>
        </p:nvSpPr>
        <p:spPr>
          <a:xfrm>
            <a:off x="3355848" y="2103120"/>
            <a:ext cx="2514600" cy="384048"/>
          </a:xfrm>
          <a:prstGeom prst="rect">
            <a:avLst/>
          </a:prstGeom>
          <a:noFill/>
        </p:spPr>
        <p:txBody>
          <a:bodyPr wrap="square">
            <a:spAutoFit/>
          </a:bodyPr>
          <a:lstStyle/>
          <a:p>
            <a:pPr algn="l"/>
            <a:r>
              <a:rPr sz="1000" b="0" i="0">
                <a:solidFill>
                  <a:srgbClr val="7A92B8"/>
                </a:solidFill>
                <a:latin typeface="Calibri"/>
              </a:rPr>
              <a:t>Model learned real patterns.
Generalizes to new data.</a:t>
            </a:r>
          </a:p>
        </p:txBody>
      </p:sp>
      <p:sp>
        <p:nvSpPr>
          <p:cNvPr id="26" name="Rectangle 25"/>
          <p:cNvSpPr/>
          <p:nvPr/>
        </p:nvSpPr>
        <p:spPr>
          <a:xfrm>
            <a:off x="3310128" y="2542032"/>
            <a:ext cx="260604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55848" y="2624328"/>
            <a:ext cx="2514600" cy="237744"/>
          </a:xfrm>
          <a:prstGeom prst="rect">
            <a:avLst/>
          </a:prstGeom>
          <a:noFill/>
        </p:spPr>
        <p:txBody>
          <a:bodyPr wrap="square">
            <a:spAutoFit/>
          </a:bodyPr>
          <a:lstStyle/>
          <a:p>
            <a:pPr algn="l"/>
            <a:r>
              <a:rPr sz="1050" b="0" i="0">
                <a:solidFill>
                  <a:srgbClr val="39D353"/>
                </a:solidFill>
                <a:latin typeface="Consolas"/>
              </a:rPr>
              <a:t>Train accuracy: 88%</a:t>
            </a:r>
          </a:p>
        </p:txBody>
      </p:sp>
      <p:sp>
        <p:nvSpPr>
          <p:cNvPr id="28" name="TextBox 27"/>
          <p:cNvSpPr txBox="1"/>
          <p:nvPr/>
        </p:nvSpPr>
        <p:spPr>
          <a:xfrm>
            <a:off x="3355848" y="2880360"/>
            <a:ext cx="2514600" cy="237744"/>
          </a:xfrm>
          <a:prstGeom prst="rect">
            <a:avLst/>
          </a:prstGeom>
          <a:noFill/>
        </p:spPr>
        <p:txBody>
          <a:bodyPr wrap="square">
            <a:spAutoFit/>
          </a:bodyPr>
          <a:lstStyle/>
          <a:p>
            <a:pPr algn="l"/>
            <a:r>
              <a:rPr sz="1050" b="0" i="0">
                <a:solidFill>
                  <a:srgbClr val="39D353"/>
                </a:solidFill>
                <a:latin typeface="Consolas"/>
              </a:rPr>
              <a:t>Test accuracy:  85%</a:t>
            </a:r>
          </a:p>
        </p:txBody>
      </p:sp>
      <p:sp>
        <p:nvSpPr>
          <p:cNvPr id="29" name="TextBox 28"/>
          <p:cNvSpPr txBox="1"/>
          <p:nvPr/>
        </p:nvSpPr>
        <p:spPr>
          <a:xfrm>
            <a:off x="3355848" y="3136392"/>
            <a:ext cx="2514600" cy="237744"/>
          </a:xfrm>
          <a:prstGeom prst="rect">
            <a:avLst/>
          </a:prstGeom>
          <a:noFill/>
        </p:spPr>
        <p:txBody>
          <a:bodyPr wrap="square">
            <a:spAutoFit/>
          </a:bodyPr>
          <a:lstStyle/>
          <a:p>
            <a:pPr algn="l"/>
            <a:r>
              <a:rPr sz="1050" b="0" i="0">
                <a:solidFill>
                  <a:srgbClr val="FFFFFF"/>
                </a:solidFill>
                <a:latin typeface="Consolas"/>
              </a:rPr>
              <a:t>→ Both high, close together</a:t>
            </a:r>
          </a:p>
        </p:txBody>
      </p:sp>
      <p:sp>
        <p:nvSpPr>
          <p:cNvPr id="30" name="Rectangle 29"/>
          <p:cNvSpPr/>
          <p:nvPr/>
        </p:nvSpPr>
        <p:spPr>
          <a:xfrm>
            <a:off x="3310128" y="3429000"/>
            <a:ext cx="260604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55848" y="3493008"/>
            <a:ext cx="2514600" cy="228600"/>
          </a:xfrm>
          <a:prstGeom prst="rect">
            <a:avLst/>
          </a:prstGeom>
          <a:noFill/>
        </p:spPr>
        <p:txBody>
          <a:bodyPr wrap="square">
            <a:spAutoFit/>
          </a:bodyPr>
          <a:lstStyle/>
          <a:p>
            <a:pPr algn="l"/>
            <a:r>
              <a:rPr sz="1000" b="1" i="0">
                <a:solidFill>
                  <a:srgbClr val="39D353"/>
                </a:solidFill>
                <a:latin typeface="Calibri"/>
              </a:rPr>
              <a:t>Common Causes:</a:t>
            </a:r>
          </a:p>
        </p:txBody>
      </p:sp>
      <p:sp>
        <p:nvSpPr>
          <p:cNvPr id="32" name="TextBox 31"/>
          <p:cNvSpPr txBox="1"/>
          <p:nvPr/>
        </p:nvSpPr>
        <p:spPr>
          <a:xfrm>
            <a:off x="3355848" y="3749039"/>
            <a:ext cx="2514600" cy="219456"/>
          </a:xfrm>
          <a:prstGeom prst="rect">
            <a:avLst/>
          </a:prstGeom>
          <a:noFill/>
        </p:spPr>
        <p:txBody>
          <a:bodyPr wrap="square">
            <a:spAutoFit/>
          </a:bodyPr>
          <a:lstStyle/>
          <a:p>
            <a:pPr algn="l"/>
            <a:r>
              <a:rPr sz="1000" b="0" i="0">
                <a:solidFill>
                  <a:srgbClr val="7A92B8"/>
                </a:solidFill>
                <a:latin typeface="Calibri"/>
              </a:rPr>
              <a:t>• Tune hyperparameters</a:t>
            </a:r>
          </a:p>
        </p:txBody>
      </p:sp>
      <p:sp>
        <p:nvSpPr>
          <p:cNvPr id="33" name="TextBox 32"/>
          <p:cNvSpPr txBox="1"/>
          <p:nvPr/>
        </p:nvSpPr>
        <p:spPr>
          <a:xfrm>
            <a:off x="3355848" y="3986783"/>
            <a:ext cx="2514600" cy="219456"/>
          </a:xfrm>
          <a:prstGeom prst="rect">
            <a:avLst/>
          </a:prstGeom>
          <a:noFill/>
        </p:spPr>
        <p:txBody>
          <a:bodyPr wrap="square">
            <a:spAutoFit/>
          </a:bodyPr>
          <a:lstStyle/>
          <a:p>
            <a:pPr algn="l"/>
            <a:r>
              <a:rPr sz="1000" b="0" i="0">
                <a:solidFill>
                  <a:srgbClr val="7A92B8"/>
                </a:solidFill>
                <a:latin typeface="Calibri"/>
              </a:rPr>
              <a:t>• Cross-validate</a:t>
            </a:r>
          </a:p>
        </p:txBody>
      </p:sp>
      <p:sp>
        <p:nvSpPr>
          <p:cNvPr id="34" name="Rectangle 33"/>
          <p:cNvSpPr/>
          <p:nvPr/>
        </p:nvSpPr>
        <p:spPr>
          <a:xfrm>
            <a:off x="6163056" y="1536192"/>
            <a:ext cx="2788920" cy="3200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63056" y="1536192"/>
            <a:ext cx="50292" cy="320040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0216" y="1609344"/>
            <a:ext cx="2514600" cy="475488"/>
          </a:xfrm>
          <a:prstGeom prst="rect">
            <a:avLst/>
          </a:prstGeom>
          <a:noFill/>
        </p:spPr>
        <p:txBody>
          <a:bodyPr wrap="square">
            <a:spAutoFit/>
          </a:bodyPr>
          <a:lstStyle/>
          <a:p>
            <a:pPr algn="l"/>
            <a:r>
              <a:rPr sz="1300" b="1" i="0">
                <a:solidFill>
                  <a:srgbClr val="FF4B4B"/>
                </a:solidFill>
                <a:latin typeface="Calibri"/>
              </a:rPr>
              <a:t>Overfitting
(High Variance)</a:t>
            </a:r>
          </a:p>
        </p:txBody>
      </p:sp>
      <p:sp>
        <p:nvSpPr>
          <p:cNvPr id="37" name="TextBox 36"/>
          <p:cNvSpPr txBox="1"/>
          <p:nvPr/>
        </p:nvSpPr>
        <p:spPr>
          <a:xfrm>
            <a:off x="6300216" y="2103120"/>
            <a:ext cx="2514600" cy="384048"/>
          </a:xfrm>
          <a:prstGeom prst="rect">
            <a:avLst/>
          </a:prstGeom>
          <a:noFill/>
        </p:spPr>
        <p:txBody>
          <a:bodyPr wrap="square">
            <a:spAutoFit/>
          </a:bodyPr>
          <a:lstStyle/>
          <a:p>
            <a:pPr algn="l"/>
            <a:r>
              <a:rPr sz="1000" b="0" i="0">
                <a:solidFill>
                  <a:srgbClr val="7A92B8"/>
                </a:solidFill>
                <a:latin typeface="Calibri"/>
              </a:rPr>
              <a:t>Model memorized training.
Fails on test data.</a:t>
            </a:r>
          </a:p>
        </p:txBody>
      </p:sp>
      <p:sp>
        <p:nvSpPr>
          <p:cNvPr id="38" name="Rectangle 37"/>
          <p:cNvSpPr/>
          <p:nvPr/>
        </p:nvSpPr>
        <p:spPr>
          <a:xfrm>
            <a:off x="6254496" y="2542032"/>
            <a:ext cx="260604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00216" y="2624328"/>
            <a:ext cx="2514600" cy="237744"/>
          </a:xfrm>
          <a:prstGeom prst="rect">
            <a:avLst/>
          </a:prstGeom>
          <a:noFill/>
        </p:spPr>
        <p:txBody>
          <a:bodyPr wrap="square">
            <a:spAutoFit/>
          </a:bodyPr>
          <a:lstStyle/>
          <a:p>
            <a:pPr algn="l"/>
            <a:r>
              <a:rPr sz="1050" b="0" i="0">
                <a:solidFill>
                  <a:srgbClr val="FFFFFF"/>
                </a:solidFill>
                <a:latin typeface="Consolas"/>
              </a:rPr>
              <a:t>Train accuracy: 99%</a:t>
            </a:r>
          </a:p>
        </p:txBody>
      </p:sp>
      <p:sp>
        <p:nvSpPr>
          <p:cNvPr id="40" name="TextBox 39"/>
          <p:cNvSpPr txBox="1"/>
          <p:nvPr/>
        </p:nvSpPr>
        <p:spPr>
          <a:xfrm>
            <a:off x="6300216" y="2880360"/>
            <a:ext cx="2514600" cy="237744"/>
          </a:xfrm>
          <a:prstGeom prst="rect">
            <a:avLst/>
          </a:prstGeom>
          <a:noFill/>
        </p:spPr>
        <p:txBody>
          <a:bodyPr wrap="square">
            <a:spAutoFit/>
          </a:bodyPr>
          <a:lstStyle/>
          <a:p>
            <a:pPr algn="l"/>
            <a:r>
              <a:rPr sz="1050" b="0" i="0">
                <a:solidFill>
                  <a:srgbClr val="FF4B4B"/>
                </a:solidFill>
                <a:latin typeface="Consolas"/>
              </a:rPr>
              <a:t>Test accuracy:  72%</a:t>
            </a:r>
          </a:p>
        </p:txBody>
      </p:sp>
      <p:sp>
        <p:nvSpPr>
          <p:cNvPr id="41" name="TextBox 40"/>
          <p:cNvSpPr txBox="1"/>
          <p:nvPr/>
        </p:nvSpPr>
        <p:spPr>
          <a:xfrm>
            <a:off x="6300216" y="3136392"/>
            <a:ext cx="2514600" cy="237744"/>
          </a:xfrm>
          <a:prstGeom prst="rect">
            <a:avLst/>
          </a:prstGeom>
          <a:noFill/>
        </p:spPr>
        <p:txBody>
          <a:bodyPr wrap="square">
            <a:spAutoFit/>
          </a:bodyPr>
          <a:lstStyle/>
          <a:p>
            <a:pPr algn="l"/>
            <a:r>
              <a:rPr sz="1050" b="0" i="0">
                <a:solidFill>
                  <a:srgbClr val="FFFFFF"/>
                </a:solidFill>
                <a:latin typeface="Consolas"/>
              </a:rPr>
              <a:t>→ Large gap!</a:t>
            </a:r>
          </a:p>
        </p:txBody>
      </p:sp>
      <p:sp>
        <p:nvSpPr>
          <p:cNvPr id="42" name="Rectangle 41"/>
          <p:cNvSpPr/>
          <p:nvPr/>
        </p:nvSpPr>
        <p:spPr>
          <a:xfrm>
            <a:off x="6254496" y="3429000"/>
            <a:ext cx="260604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00216" y="3493008"/>
            <a:ext cx="2514600" cy="228600"/>
          </a:xfrm>
          <a:prstGeom prst="rect">
            <a:avLst/>
          </a:prstGeom>
          <a:noFill/>
        </p:spPr>
        <p:txBody>
          <a:bodyPr wrap="square">
            <a:spAutoFit/>
          </a:bodyPr>
          <a:lstStyle/>
          <a:p>
            <a:pPr algn="l"/>
            <a:r>
              <a:rPr sz="1000" b="1" i="0">
                <a:solidFill>
                  <a:srgbClr val="FF4B4B"/>
                </a:solidFill>
                <a:latin typeface="Calibri"/>
              </a:rPr>
              <a:t>Common Causes:</a:t>
            </a:r>
          </a:p>
        </p:txBody>
      </p:sp>
      <p:sp>
        <p:nvSpPr>
          <p:cNvPr id="44" name="TextBox 43"/>
          <p:cNvSpPr txBox="1"/>
          <p:nvPr/>
        </p:nvSpPr>
        <p:spPr>
          <a:xfrm>
            <a:off x="6300216" y="3749039"/>
            <a:ext cx="2514600" cy="219456"/>
          </a:xfrm>
          <a:prstGeom prst="rect">
            <a:avLst/>
          </a:prstGeom>
          <a:noFill/>
        </p:spPr>
        <p:txBody>
          <a:bodyPr wrap="square">
            <a:spAutoFit/>
          </a:bodyPr>
          <a:lstStyle/>
          <a:p>
            <a:pPr algn="l"/>
            <a:r>
              <a:rPr sz="1000" b="0" i="0">
                <a:solidFill>
                  <a:srgbClr val="7A92B8"/>
                </a:solidFill>
                <a:latin typeface="Calibri"/>
              </a:rPr>
              <a:t>• max_depth unlimited</a:t>
            </a:r>
          </a:p>
        </p:txBody>
      </p:sp>
      <p:sp>
        <p:nvSpPr>
          <p:cNvPr id="45" name="TextBox 44"/>
          <p:cNvSpPr txBox="1"/>
          <p:nvPr/>
        </p:nvSpPr>
        <p:spPr>
          <a:xfrm>
            <a:off x="6300216" y="3986783"/>
            <a:ext cx="2514600" cy="219456"/>
          </a:xfrm>
          <a:prstGeom prst="rect">
            <a:avLst/>
          </a:prstGeom>
          <a:noFill/>
        </p:spPr>
        <p:txBody>
          <a:bodyPr wrap="square">
            <a:spAutoFit/>
          </a:bodyPr>
          <a:lstStyle/>
          <a:p>
            <a:pPr algn="l"/>
            <a:r>
              <a:rPr sz="1000" b="0" i="0">
                <a:solidFill>
                  <a:srgbClr val="7A92B8"/>
                </a:solidFill>
                <a:latin typeface="Calibri"/>
              </a:rPr>
              <a:t>• min_samples_leaf=1</a:t>
            </a:r>
          </a:p>
        </p:txBody>
      </p:sp>
      <p:sp>
        <p:nvSpPr>
          <p:cNvPr id="46" name="TextBox 45"/>
          <p:cNvSpPr txBox="1"/>
          <p:nvPr/>
        </p:nvSpPr>
        <p:spPr>
          <a:xfrm>
            <a:off x="274320" y="4809744"/>
            <a:ext cx="8595360" cy="274320"/>
          </a:xfrm>
          <a:prstGeom prst="rect">
            <a:avLst/>
          </a:prstGeom>
          <a:noFill/>
        </p:spPr>
        <p:txBody>
          <a:bodyPr wrap="square">
            <a:spAutoFit/>
          </a:bodyPr>
          <a:lstStyle/>
          <a:p>
            <a:pPr algn="ctr"/>
            <a:r>
              <a:rPr sz="950" b="0" i="0">
                <a:solidFill>
                  <a:srgbClr val="00C2CB"/>
                </a:solidFill>
                <a:latin typeface="Calibri"/>
              </a:rPr>
              <a:t>⟵ Simpler model        Complexity →        Complexity goes up → risk of overfitting goes up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23</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Why a Single Decision Tree is Not Enough</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High variance means the tree changes drastically with small data changes</a:t>
            </a:r>
          </a:p>
        </p:txBody>
      </p:sp>
      <p:sp>
        <p:nvSpPr>
          <p:cNvPr id="8" name="Rectangle 7"/>
          <p:cNvSpPr/>
          <p:nvPr/>
        </p:nvSpPr>
        <p:spPr>
          <a:xfrm>
            <a:off x="274320" y="1051560"/>
            <a:ext cx="8595360" cy="8046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51560"/>
            <a:ext cx="50292" cy="8046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06424"/>
            <a:ext cx="3200400" cy="284693"/>
          </a:xfrm>
          <a:prstGeom prst="rect">
            <a:avLst/>
          </a:prstGeom>
          <a:noFill/>
        </p:spPr>
        <p:txBody>
          <a:bodyPr wrap="square">
            <a:spAutoFit/>
          </a:bodyPr>
          <a:lstStyle/>
          <a:p>
            <a:pPr algn="l"/>
            <a:r>
              <a:rPr sz="1250" b="1" i="0" dirty="0">
                <a:solidFill>
                  <a:srgbClr val="FF8C00"/>
                </a:solidFill>
                <a:latin typeface="Calibri"/>
              </a:rPr>
              <a:t>  High Variance</a:t>
            </a:r>
          </a:p>
        </p:txBody>
      </p:sp>
      <p:sp>
        <p:nvSpPr>
          <p:cNvPr id="11" name="TextBox 10"/>
          <p:cNvSpPr txBox="1"/>
          <p:nvPr/>
        </p:nvSpPr>
        <p:spPr>
          <a:xfrm>
            <a:off x="457200" y="1463039"/>
            <a:ext cx="8229600" cy="384048"/>
          </a:xfrm>
          <a:prstGeom prst="rect">
            <a:avLst/>
          </a:prstGeom>
          <a:noFill/>
        </p:spPr>
        <p:txBody>
          <a:bodyPr wrap="square">
            <a:spAutoFit/>
          </a:bodyPr>
          <a:lstStyle/>
          <a:p>
            <a:pPr algn="l"/>
            <a:r>
              <a:rPr sz="1100" b="0" i="0">
                <a:solidFill>
                  <a:srgbClr val="FFFFFF"/>
                </a:solidFill>
                <a:latin typeface="Calibri"/>
              </a:rPr>
              <a:t>A single tree is VERY sensitive to the training data. Add or remove just one passenger, and the tree structure can change completely. This makes predictions unstable.</a:t>
            </a:r>
          </a:p>
        </p:txBody>
      </p:sp>
      <p:sp>
        <p:nvSpPr>
          <p:cNvPr id="12" name="Rectangle 11"/>
          <p:cNvSpPr/>
          <p:nvPr/>
        </p:nvSpPr>
        <p:spPr>
          <a:xfrm>
            <a:off x="274320" y="1984248"/>
            <a:ext cx="8595360" cy="8046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984248"/>
            <a:ext cx="50292" cy="8046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039112"/>
            <a:ext cx="3200400" cy="284693"/>
          </a:xfrm>
          <a:prstGeom prst="rect">
            <a:avLst/>
          </a:prstGeom>
          <a:noFill/>
        </p:spPr>
        <p:txBody>
          <a:bodyPr wrap="square">
            <a:spAutoFit/>
          </a:bodyPr>
          <a:lstStyle/>
          <a:p>
            <a:pPr algn="l"/>
            <a:r>
              <a:rPr sz="1250" b="1" i="0" dirty="0">
                <a:solidFill>
                  <a:srgbClr val="FFC400"/>
                </a:solidFill>
                <a:latin typeface="Calibri"/>
              </a:rPr>
              <a:t>  Greedy Algorithm</a:t>
            </a:r>
          </a:p>
        </p:txBody>
      </p:sp>
      <p:sp>
        <p:nvSpPr>
          <p:cNvPr id="15" name="TextBox 14"/>
          <p:cNvSpPr txBox="1"/>
          <p:nvPr/>
        </p:nvSpPr>
        <p:spPr>
          <a:xfrm>
            <a:off x="457200" y="2395728"/>
            <a:ext cx="8229600" cy="384048"/>
          </a:xfrm>
          <a:prstGeom prst="rect">
            <a:avLst/>
          </a:prstGeom>
          <a:noFill/>
        </p:spPr>
        <p:txBody>
          <a:bodyPr wrap="square">
            <a:spAutoFit/>
          </a:bodyPr>
          <a:lstStyle/>
          <a:p>
            <a:pPr algn="l"/>
            <a:r>
              <a:rPr sz="1100" b="0" i="0">
                <a:solidFill>
                  <a:srgbClr val="FFFFFF"/>
                </a:solidFill>
                <a:latin typeface="Calibri"/>
              </a:rPr>
              <a:t>The tree makes the BEST LOCAL decision at each split, but doesn't plan ahead. It might pick a good split now that leads to poor splits later — missing the globally optimal tree.</a:t>
            </a:r>
          </a:p>
        </p:txBody>
      </p:sp>
      <p:sp>
        <p:nvSpPr>
          <p:cNvPr id="16" name="Rectangle 15"/>
          <p:cNvSpPr/>
          <p:nvPr/>
        </p:nvSpPr>
        <p:spPr>
          <a:xfrm>
            <a:off x="274320" y="2916936"/>
            <a:ext cx="8595360" cy="8046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2916936"/>
            <a:ext cx="50292" cy="80467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2971800"/>
            <a:ext cx="3200400" cy="284693"/>
          </a:xfrm>
          <a:prstGeom prst="rect">
            <a:avLst/>
          </a:prstGeom>
          <a:noFill/>
        </p:spPr>
        <p:txBody>
          <a:bodyPr wrap="square">
            <a:spAutoFit/>
          </a:bodyPr>
          <a:lstStyle/>
          <a:p>
            <a:pPr algn="l"/>
            <a:r>
              <a:rPr sz="1250" b="1" i="0" dirty="0">
                <a:solidFill>
                  <a:srgbClr val="FF4B4B"/>
                </a:solidFill>
                <a:latin typeface="Calibri"/>
              </a:rPr>
              <a:t>  Memorization</a:t>
            </a:r>
          </a:p>
        </p:txBody>
      </p:sp>
      <p:sp>
        <p:nvSpPr>
          <p:cNvPr id="19" name="TextBox 18"/>
          <p:cNvSpPr txBox="1"/>
          <p:nvPr/>
        </p:nvSpPr>
        <p:spPr>
          <a:xfrm>
            <a:off x="457200" y="3328416"/>
            <a:ext cx="8229600" cy="384048"/>
          </a:xfrm>
          <a:prstGeom prst="rect">
            <a:avLst/>
          </a:prstGeom>
          <a:noFill/>
        </p:spPr>
        <p:txBody>
          <a:bodyPr wrap="square">
            <a:spAutoFit/>
          </a:bodyPr>
          <a:lstStyle/>
          <a:p>
            <a:pPr algn="l"/>
            <a:r>
              <a:rPr sz="1100" b="0" i="0">
                <a:solidFill>
                  <a:srgbClr val="FFFFFF"/>
                </a:solidFill>
                <a:latin typeface="Calibri"/>
              </a:rPr>
              <a:t>Without depth limits, a tree memorizes every training example (Gini=0 at every leaf). It has zero ability to generalize to new passengers — 100% train, 70% test accuracy.</a:t>
            </a:r>
          </a:p>
        </p:txBody>
      </p:sp>
      <p:sp>
        <p:nvSpPr>
          <p:cNvPr id="20" name="Rectangle 19"/>
          <p:cNvSpPr/>
          <p:nvPr/>
        </p:nvSpPr>
        <p:spPr>
          <a:xfrm>
            <a:off x="274320" y="3849624"/>
            <a:ext cx="8595360" cy="8046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3849624"/>
            <a:ext cx="50292" cy="804672"/>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04487"/>
            <a:ext cx="3200400" cy="284693"/>
          </a:xfrm>
          <a:prstGeom prst="rect">
            <a:avLst/>
          </a:prstGeom>
          <a:noFill/>
        </p:spPr>
        <p:txBody>
          <a:bodyPr wrap="square">
            <a:spAutoFit/>
          </a:bodyPr>
          <a:lstStyle/>
          <a:p>
            <a:pPr algn="l"/>
            <a:r>
              <a:rPr sz="1250" b="1" i="0" dirty="0">
                <a:solidFill>
                  <a:srgbClr val="FF4D88"/>
                </a:solidFill>
                <a:latin typeface="Calibri"/>
              </a:rPr>
              <a:t>  Sensitivity to Outliers</a:t>
            </a:r>
          </a:p>
        </p:txBody>
      </p:sp>
      <p:sp>
        <p:nvSpPr>
          <p:cNvPr id="23" name="TextBox 22"/>
          <p:cNvSpPr txBox="1"/>
          <p:nvPr/>
        </p:nvSpPr>
        <p:spPr>
          <a:xfrm>
            <a:off x="457200" y="4261104"/>
            <a:ext cx="8229600" cy="384048"/>
          </a:xfrm>
          <a:prstGeom prst="rect">
            <a:avLst/>
          </a:prstGeom>
          <a:noFill/>
        </p:spPr>
        <p:txBody>
          <a:bodyPr wrap="square">
            <a:spAutoFit/>
          </a:bodyPr>
          <a:lstStyle/>
          <a:p>
            <a:pPr algn="l"/>
            <a:r>
              <a:rPr sz="1100" b="0" i="0">
                <a:solidFill>
                  <a:srgbClr val="FFFFFF"/>
                </a:solidFill>
                <a:latin typeface="Calibri"/>
              </a:rPr>
              <a:t>One unusual passenger can create a branch just for them. This branch is useless for future predictions — it's just noise learned as signal.</a:t>
            </a:r>
          </a:p>
        </p:txBody>
      </p:sp>
      <p:sp>
        <p:nvSpPr>
          <p:cNvPr id="24" name="Rectangle 23"/>
          <p:cNvSpPr/>
          <p:nvPr/>
        </p:nvSpPr>
        <p:spPr>
          <a:xfrm>
            <a:off x="274320" y="4754880"/>
            <a:ext cx="8595360" cy="329184"/>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475488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4773168"/>
            <a:ext cx="8229600" cy="261610"/>
          </a:xfrm>
          <a:prstGeom prst="rect">
            <a:avLst/>
          </a:prstGeom>
          <a:noFill/>
        </p:spPr>
        <p:txBody>
          <a:bodyPr wrap="square">
            <a:spAutoFit/>
          </a:bodyPr>
          <a:lstStyle/>
          <a:p>
            <a:pPr algn="l"/>
            <a:r>
              <a:rPr sz="1100" b="0" i="0" dirty="0">
                <a:solidFill>
                  <a:srgbClr val="39D353"/>
                </a:solidFill>
                <a:latin typeface="Calibri"/>
              </a:rPr>
              <a:t>  Solution: Use MANY diverse trees instead of one → Ensemble Methods (Random Forest, </a:t>
            </a:r>
            <a:r>
              <a:rPr sz="1100" b="0" i="0" dirty="0" err="1">
                <a:solidFill>
                  <a:srgbClr val="39D353"/>
                </a:solidFill>
                <a:latin typeface="Calibri"/>
              </a:rPr>
              <a:t>XGBoost</a:t>
            </a:r>
            <a:r>
              <a:rPr sz="1100" b="0" i="0" dirty="0">
                <a:solidFill>
                  <a:srgbClr val="39D353"/>
                </a:solidFill>
                <a:latin typeface="Calibr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FF4D88"/>
                </a:solidFill>
                <a:latin typeface="Arial Black"/>
              </a:rPr>
              <a:t>04</a:t>
            </a:r>
          </a:p>
        </p:txBody>
      </p:sp>
      <p:sp>
        <p:nvSpPr>
          <p:cNvPr id="5" name="TextBox 4"/>
          <p:cNvSpPr txBox="1"/>
          <p:nvPr/>
        </p:nvSpPr>
        <p:spPr>
          <a:xfrm>
            <a:off x="457200" y="3200400"/>
            <a:ext cx="5486400" cy="731520"/>
          </a:xfrm>
          <a:prstGeom prst="rect">
            <a:avLst/>
          </a:prstGeom>
          <a:noFill/>
        </p:spPr>
        <p:txBody>
          <a:bodyPr wrap="square">
            <a:spAutoFit/>
          </a:bodyPr>
          <a:lstStyle/>
          <a:p>
            <a:pPr algn="l"/>
            <a:r>
              <a:rPr sz="3400" b="1" i="0">
                <a:solidFill>
                  <a:srgbClr val="FFFFFF"/>
                </a:solidFill>
                <a:latin typeface="Calibri"/>
              </a:rPr>
              <a:t>Ensemble Learning</a:t>
            </a:r>
          </a:p>
        </p:txBody>
      </p:sp>
      <p:sp>
        <p:nvSpPr>
          <p:cNvPr id="6" name="Rectangle 5"/>
          <p:cNvSpPr/>
          <p:nvPr/>
        </p:nvSpPr>
        <p:spPr>
          <a:xfrm>
            <a:off x="457200" y="3063240"/>
            <a:ext cx="3657600" cy="54864"/>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25</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Ensemble Learning — Wisdom of the Crowd</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1">
                <a:solidFill>
                  <a:srgbClr val="FF4D88"/>
                </a:solidFill>
                <a:latin typeface="Calibri"/>
              </a:rPr>
              <a:t>"No one model is perfect — but many imperfect models together can be excellent"</a:t>
            </a:r>
          </a:p>
        </p:txBody>
      </p:sp>
      <p:sp>
        <p:nvSpPr>
          <p:cNvPr id="8" name="Rectangle 7"/>
          <p:cNvSpPr/>
          <p:nvPr/>
        </p:nvSpPr>
        <p:spPr>
          <a:xfrm>
            <a:off x="274320" y="960120"/>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384048"/>
          </a:xfrm>
          <a:prstGeom prst="rect">
            <a:avLst/>
          </a:prstGeom>
          <a:noFill/>
        </p:spPr>
        <p:txBody>
          <a:bodyPr wrap="square">
            <a:spAutoFit/>
          </a:bodyPr>
          <a:lstStyle/>
          <a:p>
            <a:pPr algn="ctr"/>
            <a:r>
              <a:rPr sz="1300" b="1" i="0">
                <a:solidFill>
                  <a:srgbClr val="FFFFFF"/>
                </a:solidFill>
                <a:latin typeface="Calibri"/>
              </a:rPr>
              <a:t>Ensemble = Combine multiple models → reduce errors, improve accuracy, increase stability</a:t>
            </a:r>
          </a:p>
        </p:txBody>
      </p:sp>
      <p:sp>
        <p:nvSpPr>
          <p:cNvPr id="11" name="Rectangle 10"/>
          <p:cNvSpPr/>
          <p:nvPr/>
        </p:nvSpPr>
        <p:spPr>
          <a:xfrm>
            <a:off x="274320" y="1664208"/>
            <a:ext cx="2788920" cy="26974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64208"/>
            <a:ext cx="50292" cy="269748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737360"/>
            <a:ext cx="2514600" cy="461665"/>
          </a:xfrm>
          <a:prstGeom prst="rect">
            <a:avLst/>
          </a:prstGeom>
          <a:noFill/>
        </p:spPr>
        <p:txBody>
          <a:bodyPr wrap="square">
            <a:spAutoFit/>
          </a:bodyPr>
          <a:lstStyle/>
          <a:p>
            <a:pPr algn="l"/>
            <a:r>
              <a:rPr sz="1200" b="1" i="0" dirty="0">
                <a:solidFill>
                  <a:srgbClr val="00C2CB"/>
                </a:solidFill>
                <a:latin typeface="Calibri"/>
              </a:rPr>
              <a:t> Bagging
(Bootstrap Aggregating)</a:t>
            </a:r>
          </a:p>
        </p:txBody>
      </p:sp>
      <p:sp>
        <p:nvSpPr>
          <p:cNvPr id="14" name="TextBox 13"/>
          <p:cNvSpPr txBox="1"/>
          <p:nvPr/>
        </p:nvSpPr>
        <p:spPr>
          <a:xfrm>
            <a:off x="411479" y="2304288"/>
            <a:ext cx="2514600" cy="1965960"/>
          </a:xfrm>
          <a:prstGeom prst="rect">
            <a:avLst/>
          </a:prstGeom>
          <a:noFill/>
        </p:spPr>
        <p:txBody>
          <a:bodyPr wrap="square">
            <a:spAutoFit/>
          </a:bodyPr>
          <a:lstStyle/>
          <a:p>
            <a:pPr algn="l"/>
            <a:r>
              <a:rPr sz="1050" b="0" i="0">
                <a:solidFill>
                  <a:srgbClr val="FFFFFF"/>
                </a:solidFill>
                <a:latin typeface="Calibri"/>
              </a:rPr>
              <a:t>Build many models IN PARALLEL on random subsets of data. Average/vote their predictions.
→ Reduces VARIANCE (overfitting)
→ Example: Random Forest</a:t>
            </a:r>
          </a:p>
        </p:txBody>
      </p:sp>
      <p:sp>
        <p:nvSpPr>
          <p:cNvPr id="15" name="Rectangle 14"/>
          <p:cNvSpPr/>
          <p:nvPr/>
        </p:nvSpPr>
        <p:spPr>
          <a:xfrm>
            <a:off x="3218688" y="1664208"/>
            <a:ext cx="2788920" cy="26974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18688" y="1664208"/>
            <a:ext cx="50292" cy="26974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55848" y="1737360"/>
            <a:ext cx="2514600" cy="461665"/>
          </a:xfrm>
          <a:prstGeom prst="rect">
            <a:avLst/>
          </a:prstGeom>
          <a:noFill/>
        </p:spPr>
        <p:txBody>
          <a:bodyPr wrap="square">
            <a:spAutoFit/>
          </a:bodyPr>
          <a:lstStyle/>
          <a:p>
            <a:pPr algn="l"/>
            <a:r>
              <a:rPr sz="1200" b="1" i="0" dirty="0">
                <a:solidFill>
                  <a:srgbClr val="39D353"/>
                </a:solidFill>
                <a:latin typeface="Calibri"/>
              </a:rPr>
              <a:t> Boosting
(Sequential Learning)</a:t>
            </a:r>
          </a:p>
        </p:txBody>
      </p:sp>
      <p:sp>
        <p:nvSpPr>
          <p:cNvPr id="18" name="TextBox 17"/>
          <p:cNvSpPr txBox="1"/>
          <p:nvPr/>
        </p:nvSpPr>
        <p:spPr>
          <a:xfrm>
            <a:off x="3355848" y="2304288"/>
            <a:ext cx="2514600" cy="1965960"/>
          </a:xfrm>
          <a:prstGeom prst="rect">
            <a:avLst/>
          </a:prstGeom>
          <a:noFill/>
        </p:spPr>
        <p:txBody>
          <a:bodyPr wrap="square">
            <a:spAutoFit/>
          </a:bodyPr>
          <a:lstStyle/>
          <a:p>
            <a:pPr algn="l"/>
            <a:r>
              <a:rPr sz="1050" b="0" i="0">
                <a:solidFill>
                  <a:srgbClr val="FFFFFF"/>
                </a:solidFill>
                <a:latin typeface="Calibri"/>
              </a:rPr>
              <a:t>Build models SEQUENTIALLY. Each new model focuses on fixing the errors of the previous one.
→ Reduces BIAS (underfitting)
→ Examples: XGBoost, AdaBoost, GBM</a:t>
            </a:r>
          </a:p>
        </p:txBody>
      </p:sp>
      <p:sp>
        <p:nvSpPr>
          <p:cNvPr id="19" name="Rectangle 18"/>
          <p:cNvSpPr/>
          <p:nvPr/>
        </p:nvSpPr>
        <p:spPr>
          <a:xfrm>
            <a:off x="6163056" y="1664208"/>
            <a:ext cx="2788920" cy="26974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63056" y="1664208"/>
            <a:ext cx="50292" cy="26974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0216" y="1737360"/>
            <a:ext cx="2514600" cy="461665"/>
          </a:xfrm>
          <a:prstGeom prst="rect">
            <a:avLst/>
          </a:prstGeom>
          <a:noFill/>
        </p:spPr>
        <p:txBody>
          <a:bodyPr wrap="square">
            <a:spAutoFit/>
          </a:bodyPr>
          <a:lstStyle/>
          <a:p>
            <a:pPr algn="l"/>
            <a:r>
              <a:rPr sz="1200" b="1" i="0" dirty="0">
                <a:solidFill>
                  <a:srgbClr val="FFC400"/>
                </a:solidFill>
                <a:latin typeface="Calibri"/>
              </a:rPr>
              <a:t> Stacking
(Meta-Learning)</a:t>
            </a:r>
          </a:p>
        </p:txBody>
      </p:sp>
      <p:sp>
        <p:nvSpPr>
          <p:cNvPr id="22" name="TextBox 21"/>
          <p:cNvSpPr txBox="1"/>
          <p:nvPr/>
        </p:nvSpPr>
        <p:spPr>
          <a:xfrm>
            <a:off x="6300216" y="2304288"/>
            <a:ext cx="2514600" cy="1965960"/>
          </a:xfrm>
          <a:prstGeom prst="rect">
            <a:avLst/>
          </a:prstGeom>
          <a:noFill/>
        </p:spPr>
        <p:txBody>
          <a:bodyPr wrap="square">
            <a:spAutoFit/>
          </a:bodyPr>
          <a:lstStyle/>
          <a:p>
            <a:pPr algn="l"/>
            <a:r>
              <a:rPr sz="1050" b="0" i="0">
                <a:solidFill>
                  <a:srgbClr val="FFFFFF"/>
                </a:solidFill>
                <a:latin typeface="Calibri"/>
              </a:rPr>
              <a:t>Train diverse base models, then train a meta-model to combine their predictions intelligently.
→ Combines strengths of different algorithms
→ Used in Kaggle competitions</a:t>
            </a:r>
          </a:p>
        </p:txBody>
      </p:sp>
      <p:sp>
        <p:nvSpPr>
          <p:cNvPr id="23" name="Rectangle 22"/>
          <p:cNvSpPr/>
          <p:nvPr/>
        </p:nvSpPr>
        <p:spPr>
          <a:xfrm>
            <a:off x="274320" y="4462272"/>
            <a:ext cx="8595360" cy="5029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462272"/>
            <a:ext cx="50292" cy="502920"/>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507992"/>
            <a:ext cx="8229600" cy="411480"/>
          </a:xfrm>
          <a:prstGeom prst="rect">
            <a:avLst/>
          </a:prstGeom>
          <a:noFill/>
        </p:spPr>
        <p:txBody>
          <a:bodyPr wrap="square">
            <a:spAutoFit/>
          </a:bodyPr>
          <a:lstStyle/>
          <a:p>
            <a:pPr algn="l">
              <a:spcAft>
                <a:spcPts val="200"/>
              </a:spcAft>
            </a:pPr>
            <a:r>
              <a:rPr sz="1050" b="0">
                <a:solidFill>
                  <a:srgbClr val="7A92B8"/>
                </a:solidFill>
                <a:latin typeface="Calibri"/>
              </a:rPr>
              <a:t>Why does combining models work? → Error Diversification: models trained differently make DIFFERENT mistakes.</a:t>
            </a:r>
          </a:p>
          <a:p>
            <a:pPr algn="l">
              <a:spcAft>
                <a:spcPts val="200"/>
              </a:spcAft>
            </a:pPr>
            <a:r>
              <a:rPr sz="1050" b="0">
                <a:solidFill>
                  <a:srgbClr val="7A92B8"/>
                </a:solidFill>
                <a:latin typeface="Calibri"/>
              </a:rPr>
              <a:t>If Tree A is wrong about passenger X, Tree B might be right. Averaging cancels out individual errors.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26</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Bagging — Bootstrap Aggregating Explained</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How do you create many DIFFERENT trees from the SAME dataset?</a:t>
            </a:r>
          </a:p>
        </p:txBody>
      </p:sp>
      <p:sp>
        <p:nvSpPr>
          <p:cNvPr id="8" name="Rectangle 7"/>
          <p:cNvSpPr/>
          <p:nvPr/>
        </p:nvSpPr>
        <p:spPr>
          <a:xfrm>
            <a:off x="274320" y="1005840"/>
            <a:ext cx="8595360" cy="1097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109728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42416"/>
            <a:ext cx="822960" cy="320040"/>
          </a:xfrm>
          <a:prstGeom prst="rect">
            <a:avLst/>
          </a:prstGeom>
          <a:noFill/>
        </p:spPr>
        <p:txBody>
          <a:bodyPr wrap="square">
            <a:spAutoFit/>
          </a:bodyPr>
          <a:lstStyle/>
          <a:p>
            <a:pPr algn="l"/>
            <a:r>
              <a:rPr sz="1050" b="1" i="0">
                <a:solidFill>
                  <a:srgbClr val="00C2CB"/>
                </a:solidFill>
                <a:latin typeface="Calibri"/>
              </a:rPr>
              <a:t>Step 1</a:t>
            </a:r>
          </a:p>
        </p:txBody>
      </p:sp>
      <p:sp>
        <p:nvSpPr>
          <p:cNvPr id="11" name="TextBox 10"/>
          <p:cNvSpPr txBox="1"/>
          <p:nvPr/>
        </p:nvSpPr>
        <p:spPr>
          <a:xfrm>
            <a:off x="1325880" y="1042416"/>
            <a:ext cx="3200400" cy="320040"/>
          </a:xfrm>
          <a:prstGeom prst="rect">
            <a:avLst/>
          </a:prstGeom>
          <a:noFill/>
        </p:spPr>
        <p:txBody>
          <a:bodyPr wrap="square">
            <a:spAutoFit/>
          </a:bodyPr>
          <a:lstStyle/>
          <a:p>
            <a:pPr algn="l"/>
            <a:r>
              <a:rPr sz="1300" b="1" i="0">
                <a:solidFill>
                  <a:srgbClr val="FFFFFF"/>
                </a:solidFill>
                <a:latin typeface="Calibri"/>
              </a:rPr>
              <a:t>Bootstrap Sampling</a:t>
            </a:r>
          </a:p>
        </p:txBody>
      </p:sp>
      <p:sp>
        <p:nvSpPr>
          <p:cNvPr id="12" name="TextBox 11"/>
          <p:cNvSpPr txBox="1"/>
          <p:nvPr/>
        </p:nvSpPr>
        <p:spPr>
          <a:xfrm>
            <a:off x="457200" y="1463040"/>
            <a:ext cx="8046720" cy="594360"/>
          </a:xfrm>
          <a:prstGeom prst="rect">
            <a:avLst/>
          </a:prstGeom>
          <a:noFill/>
        </p:spPr>
        <p:txBody>
          <a:bodyPr wrap="square">
            <a:spAutoFit/>
          </a:bodyPr>
          <a:lstStyle/>
          <a:p>
            <a:pPr algn="l"/>
            <a:r>
              <a:rPr sz="1100" b="0" i="0">
                <a:solidFill>
                  <a:srgbClr val="7A92B8"/>
                </a:solidFill>
                <a:latin typeface="Calibri"/>
              </a:rPr>
              <a:t>Take the original dataset (N rows). Sample N rows WITH REPLACEMENT. Some rows appear 2–3 times; others are left out (~37% of data not selected = 'out-of-bag' samples).</a:t>
            </a:r>
          </a:p>
        </p:txBody>
      </p:sp>
      <p:sp>
        <p:nvSpPr>
          <p:cNvPr id="13" name="Rectangle 12"/>
          <p:cNvSpPr/>
          <p:nvPr/>
        </p:nvSpPr>
        <p:spPr>
          <a:xfrm>
            <a:off x="274320" y="2240280"/>
            <a:ext cx="8595360" cy="1097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240280"/>
            <a:ext cx="50292" cy="109728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2276856"/>
            <a:ext cx="822960" cy="320040"/>
          </a:xfrm>
          <a:prstGeom prst="rect">
            <a:avLst/>
          </a:prstGeom>
          <a:noFill/>
        </p:spPr>
        <p:txBody>
          <a:bodyPr wrap="square">
            <a:spAutoFit/>
          </a:bodyPr>
          <a:lstStyle/>
          <a:p>
            <a:pPr algn="l"/>
            <a:r>
              <a:rPr sz="1050" b="1" i="0">
                <a:solidFill>
                  <a:srgbClr val="39D353"/>
                </a:solidFill>
                <a:latin typeface="Calibri"/>
              </a:rPr>
              <a:t>Step 2</a:t>
            </a:r>
          </a:p>
        </p:txBody>
      </p:sp>
      <p:sp>
        <p:nvSpPr>
          <p:cNvPr id="16" name="TextBox 15"/>
          <p:cNvSpPr txBox="1"/>
          <p:nvPr/>
        </p:nvSpPr>
        <p:spPr>
          <a:xfrm>
            <a:off x="1325880" y="2276856"/>
            <a:ext cx="3200400" cy="320040"/>
          </a:xfrm>
          <a:prstGeom prst="rect">
            <a:avLst/>
          </a:prstGeom>
          <a:noFill/>
        </p:spPr>
        <p:txBody>
          <a:bodyPr wrap="square">
            <a:spAutoFit/>
          </a:bodyPr>
          <a:lstStyle/>
          <a:p>
            <a:pPr algn="l"/>
            <a:r>
              <a:rPr sz="1300" b="1" i="0">
                <a:solidFill>
                  <a:srgbClr val="FFFFFF"/>
                </a:solidFill>
                <a:latin typeface="Calibri"/>
              </a:rPr>
              <a:t>Train Independent Trees</a:t>
            </a:r>
          </a:p>
        </p:txBody>
      </p:sp>
      <p:sp>
        <p:nvSpPr>
          <p:cNvPr id="17" name="TextBox 16"/>
          <p:cNvSpPr txBox="1"/>
          <p:nvPr/>
        </p:nvSpPr>
        <p:spPr>
          <a:xfrm>
            <a:off x="457200" y="2697480"/>
            <a:ext cx="8046720" cy="594360"/>
          </a:xfrm>
          <a:prstGeom prst="rect">
            <a:avLst/>
          </a:prstGeom>
          <a:noFill/>
        </p:spPr>
        <p:txBody>
          <a:bodyPr wrap="square">
            <a:spAutoFit/>
          </a:bodyPr>
          <a:lstStyle/>
          <a:p>
            <a:pPr algn="l"/>
            <a:r>
              <a:rPr sz="1100" b="0" i="0">
                <a:solidFill>
                  <a:srgbClr val="7A92B8"/>
                </a:solidFill>
                <a:latin typeface="Calibri"/>
              </a:rPr>
              <a:t>Build a full Decision Tree on each bootstrapped sample. Each tree is trained in isolation — they don't know about each other. Can be parallelized on multiple CPU cores.</a:t>
            </a:r>
          </a:p>
        </p:txBody>
      </p:sp>
      <p:sp>
        <p:nvSpPr>
          <p:cNvPr id="18" name="Rectangle 17"/>
          <p:cNvSpPr/>
          <p:nvPr/>
        </p:nvSpPr>
        <p:spPr>
          <a:xfrm>
            <a:off x="274320" y="3474720"/>
            <a:ext cx="8595360" cy="1097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474720"/>
            <a:ext cx="50292" cy="10972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511296"/>
            <a:ext cx="822960" cy="320040"/>
          </a:xfrm>
          <a:prstGeom prst="rect">
            <a:avLst/>
          </a:prstGeom>
          <a:noFill/>
        </p:spPr>
        <p:txBody>
          <a:bodyPr wrap="square">
            <a:spAutoFit/>
          </a:bodyPr>
          <a:lstStyle/>
          <a:p>
            <a:pPr algn="l"/>
            <a:r>
              <a:rPr sz="1050" b="1" i="0">
                <a:solidFill>
                  <a:srgbClr val="FFC400"/>
                </a:solidFill>
                <a:latin typeface="Calibri"/>
              </a:rPr>
              <a:t>Step 3</a:t>
            </a:r>
          </a:p>
        </p:txBody>
      </p:sp>
      <p:sp>
        <p:nvSpPr>
          <p:cNvPr id="21" name="TextBox 20"/>
          <p:cNvSpPr txBox="1"/>
          <p:nvPr/>
        </p:nvSpPr>
        <p:spPr>
          <a:xfrm>
            <a:off x="1325880" y="3511296"/>
            <a:ext cx="3200400" cy="320040"/>
          </a:xfrm>
          <a:prstGeom prst="rect">
            <a:avLst/>
          </a:prstGeom>
          <a:noFill/>
        </p:spPr>
        <p:txBody>
          <a:bodyPr wrap="square">
            <a:spAutoFit/>
          </a:bodyPr>
          <a:lstStyle/>
          <a:p>
            <a:pPr algn="l"/>
            <a:r>
              <a:rPr sz="1300" b="1" i="0">
                <a:solidFill>
                  <a:srgbClr val="FFFFFF"/>
                </a:solidFill>
                <a:latin typeface="Calibri"/>
              </a:rPr>
              <a:t>Aggregate Predictions</a:t>
            </a:r>
          </a:p>
        </p:txBody>
      </p:sp>
      <p:sp>
        <p:nvSpPr>
          <p:cNvPr id="22" name="TextBox 21"/>
          <p:cNvSpPr txBox="1"/>
          <p:nvPr/>
        </p:nvSpPr>
        <p:spPr>
          <a:xfrm>
            <a:off x="457200" y="3931920"/>
            <a:ext cx="8046720" cy="594360"/>
          </a:xfrm>
          <a:prstGeom prst="rect">
            <a:avLst/>
          </a:prstGeom>
          <a:noFill/>
        </p:spPr>
        <p:txBody>
          <a:bodyPr wrap="square">
            <a:spAutoFit/>
          </a:bodyPr>
          <a:lstStyle/>
          <a:p>
            <a:pPr algn="l"/>
            <a:r>
              <a:rPr sz="1100" b="0" i="0">
                <a:solidFill>
                  <a:srgbClr val="7A92B8"/>
                </a:solidFill>
                <a:latin typeface="Calibri"/>
              </a:rPr>
              <a:t>For classification: take the MAJORITY VOTE across all trees. For regression: take the AVERAGE across all trees. Result is much more stable than any single tree.</a:t>
            </a:r>
          </a:p>
        </p:txBody>
      </p:sp>
      <p:sp>
        <p:nvSpPr>
          <p:cNvPr id="23" name="Rectangle 22"/>
          <p:cNvSpPr/>
          <p:nvPr/>
        </p:nvSpPr>
        <p:spPr>
          <a:xfrm>
            <a:off x="274320" y="4526280"/>
            <a:ext cx="8595360" cy="4389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526280"/>
            <a:ext cx="50292" cy="4389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557824"/>
            <a:ext cx="8229600" cy="347472"/>
          </a:xfrm>
          <a:prstGeom prst="rect">
            <a:avLst/>
          </a:prstGeom>
          <a:noFill/>
        </p:spPr>
        <p:txBody>
          <a:bodyPr wrap="square">
            <a:spAutoFit/>
          </a:bodyPr>
          <a:lstStyle/>
          <a:p>
            <a:pPr algn="l"/>
            <a:r>
              <a:rPr sz="1050" b="0" i="0" dirty="0">
                <a:solidFill>
                  <a:srgbClr val="7A92B8"/>
                </a:solidFill>
                <a:latin typeface="Calibri"/>
              </a:rPr>
              <a:t>Out-of-Bag (OOB) Validation: The ~37% of data NOT selected for each tree can be used as an automatic validation set — no need for a separate test split!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00C2CB"/>
                </a:solidFill>
                <a:latin typeface="Arial Black"/>
              </a:rPr>
              <a:t>05</a:t>
            </a:r>
          </a:p>
        </p:txBody>
      </p:sp>
      <p:sp>
        <p:nvSpPr>
          <p:cNvPr id="5" name="TextBox 4"/>
          <p:cNvSpPr txBox="1"/>
          <p:nvPr/>
        </p:nvSpPr>
        <p:spPr>
          <a:xfrm>
            <a:off x="457200" y="3200400"/>
            <a:ext cx="5486400" cy="731520"/>
          </a:xfrm>
          <a:prstGeom prst="rect">
            <a:avLst/>
          </a:prstGeom>
          <a:noFill/>
        </p:spPr>
        <p:txBody>
          <a:bodyPr wrap="square">
            <a:spAutoFit/>
          </a:bodyPr>
          <a:lstStyle/>
          <a:p>
            <a:pPr algn="l"/>
            <a:r>
              <a:rPr sz="3400" b="1" i="0">
                <a:solidFill>
                  <a:srgbClr val="FFFFFF"/>
                </a:solidFill>
                <a:latin typeface="Calibri"/>
              </a:rPr>
              <a:t>Random Forest</a:t>
            </a:r>
          </a:p>
        </p:txBody>
      </p:sp>
      <p:sp>
        <p:nvSpPr>
          <p:cNvPr id="6" name="Rectangle 5"/>
          <p:cNvSpPr/>
          <p:nvPr/>
        </p:nvSpPr>
        <p:spPr>
          <a:xfrm>
            <a:off x="457200" y="3063240"/>
            <a:ext cx="3657600"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28</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Random Forest — Bagging + Feature Randomness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Random Forest = Bagging + one extra trick: random feature selection at each split</a:t>
            </a:r>
          </a:p>
        </p:txBody>
      </p:sp>
      <p:sp>
        <p:nvSpPr>
          <p:cNvPr id="8" name="TextBox 7"/>
          <p:cNvSpPr txBox="1"/>
          <p:nvPr/>
        </p:nvSpPr>
        <p:spPr>
          <a:xfrm>
            <a:off x="3474720" y="960120"/>
            <a:ext cx="2194560" cy="502920"/>
          </a:xfrm>
          <a:prstGeom prst="rect">
            <a:avLst/>
          </a:prstGeom>
          <a:noFill/>
        </p:spPr>
        <p:txBody>
          <a:bodyPr wrap="square">
            <a:spAutoFit/>
          </a:bodyPr>
          <a:lstStyle/>
          <a:p>
            <a:pPr algn="ctr"/>
            <a:r>
              <a:rPr sz="1100" b="1" i="0">
                <a:solidFill>
                  <a:srgbClr val="FFFFFF"/>
                </a:solidFill>
                <a:latin typeface="Calibri"/>
              </a:rPr>
              <a:t>Training Data
(668 passengers)</a:t>
            </a:r>
          </a:p>
        </p:txBody>
      </p:sp>
      <p:sp>
        <p:nvSpPr>
          <p:cNvPr id="9" name="Rectangle 8"/>
          <p:cNvSpPr/>
          <p:nvPr/>
        </p:nvSpPr>
        <p:spPr>
          <a:xfrm>
            <a:off x="3474720" y="960120"/>
            <a:ext cx="2194560" cy="50292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691640"/>
            <a:ext cx="210312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709928"/>
            <a:ext cx="2103120" cy="438912"/>
          </a:xfrm>
          <a:prstGeom prst="rect">
            <a:avLst/>
          </a:prstGeom>
          <a:noFill/>
        </p:spPr>
        <p:txBody>
          <a:bodyPr wrap="square">
            <a:spAutoFit/>
          </a:bodyPr>
          <a:lstStyle/>
          <a:p>
            <a:pPr algn="ctr"/>
            <a:r>
              <a:rPr sz="1000" b="0" i="0">
                <a:solidFill>
                  <a:srgbClr val="00C2CB"/>
                </a:solidFill>
                <a:latin typeface="Calibri"/>
              </a:rPr>
              <a:t>Bootstrap
Sample 1</a:t>
            </a:r>
          </a:p>
        </p:txBody>
      </p:sp>
      <p:sp>
        <p:nvSpPr>
          <p:cNvPr id="12" name="TextBox 11"/>
          <p:cNvSpPr txBox="1"/>
          <p:nvPr/>
        </p:nvSpPr>
        <p:spPr>
          <a:xfrm>
            <a:off x="914400" y="2240280"/>
            <a:ext cx="1188720" cy="347472"/>
          </a:xfrm>
          <a:prstGeom prst="rect">
            <a:avLst/>
          </a:prstGeom>
          <a:noFill/>
        </p:spPr>
        <p:txBody>
          <a:bodyPr wrap="square">
            <a:spAutoFit/>
          </a:bodyPr>
          <a:lstStyle/>
          <a:p>
            <a:pPr algn="ctr"/>
            <a:r>
              <a:rPr sz="900" b="0" i="0">
                <a:solidFill>
                  <a:srgbClr val="7A92B8"/>
                </a:solidFill>
                <a:latin typeface="Calibri"/>
              </a:rPr>
              <a:t>↓ Random
  features</a:t>
            </a:r>
          </a:p>
        </p:txBody>
      </p:sp>
      <p:sp>
        <p:nvSpPr>
          <p:cNvPr id="13" name="Rectangle 12"/>
          <p:cNvSpPr/>
          <p:nvPr/>
        </p:nvSpPr>
        <p:spPr>
          <a:xfrm>
            <a:off x="457200" y="2670048"/>
            <a:ext cx="2103120" cy="530352"/>
          </a:xfrm>
          <a:prstGeom prst="rect">
            <a:avLst/>
          </a:prstGeom>
          <a:solidFill>
            <a:srgbClr val="02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688336"/>
            <a:ext cx="2103120" cy="219456"/>
          </a:xfrm>
          <a:prstGeom prst="rect">
            <a:avLst/>
          </a:prstGeom>
          <a:noFill/>
        </p:spPr>
        <p:txBody>
          <a:bodyPr wrap="square">
            <a:spAutoFit/>
          </a:bodyPr>
          <a:lstStyle/>
          <a:p>
            <a:pPr algn="ctr"/>
            <a:r>
              <a:rPr sz="1050" b="1" i="0">
                <a:solidFill>
                  <a:srgbClr val="00C2CB"/>
                </a:solidFill>
                <a:latin typeface="Calibri"/>
              </a:rPr>
              <a:t>Tree 1</a:t>
            </a:r>
          </a:p>
        </p:txBody>
      </p:sp>
      <p:sp>
        <p:nvSpPr>
          <p:cNvPr id="15" name="TextBox 14"/>
          <p:cNvSpPr txBox="1"/>
          <p:nvPr/>
        </p:nvSpPr>
        <p:spPr>
          <a:xfrm>
            <a:off x="457200" y="2907792"/>
            <a:ext cx="2103120" cy="256032"/>
          </a:xfrm>
          <a:prstGeom prst="rect">
            <a:avLst/>
          </a:prstGeom>
          <a:noFill/>
        </p:spPr>
        <p:txBody>
          <a:bodyPr wrap="square">
            <a:spAutoFit/>
          </a:bodyPr>
          <a:lstStyle/>
          <a:p>
            <a:pPr algn="ctr"/>
            <a:r>
              <a:rPr sz="1000" b="0" i="0">
                <a:solidFill>
                  <a:srgbClr val="06D679"/>
                </a:solidFill>
                <a:latin typeface="Calibri"/>
              </a:rPr>
              <a:t>→ Survived</a:t>
            </a:r>
          </a:p>
        </p:txBody>
      </p:sp>
      <p:sp>
        <p:nvSpPr>
          <p:cNvPr id="16" name="Rectangle 15"/>
          <p:cNvSpPr/>
          <p:nvPr/>
        </p:nvSpPr>
        <p:spPr>
          <a:xfrm>
            <a:off x="3291840" y="1691640"/>
            <a:ext cx="210312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709928"/>
            <a:ext cx="2103120" cy="438912"/>
          </a:xfrm>
          <a:prstGeom prst="rect">
            <a:avLst/>
          </a:prstGeom>
          <a:noFill/>
        </p:spPr>
        <p:txBody>
          <a:bodyPr wrap="square">
            <a:spAutoFit/>
          </a:bodyPr>
          <a:lstStyle/>
          <a:p>
            <a:pPr algn="ctr"/>
            <a:r>
              <a:rPr sz="1000" b="0" i="0">
                <a:solidFill>
                  <a:srgbClr val="00C2CB"/>
                </a:solidFill>
                <a:latin typeface="Calibri"/>
              </a:rPr>
              <a:t>Bootstrap
Sample 2</a:t>
            </a:r>
          </a:p>
        </p:txBody>
      </p:sp>
      <p:sp>
        <p:nvSpPr>
          <p:cNvPr id="18" name="TextBox 17"/>
          <p:cNvSpPr txBox="1"/>
          <p:nvPr/>
        </p:nvSpPr>
        <p:spPr>
          <a:xfrm>
            <a:off x="3749039" y="2240280"/>
            <a:ext cx="1188720" cy="347472"/>
          </a:xfrm>
          <a:prstGeom prst="rect">
            <a:avLst/>
          </a:prstGeom>
          <a:noFill/>
        </p:spPr>
        <p:txBody>
          <a:bodyPr wrap="square">
            <a:spAutoFit/>
          </a:bodyPr>
          <a:lstStyle/>
          <a:p>
            <a:pPr algn="ctr"/>
            <a:r>
              <a:rPr sz="900" b="0" i="0">
                <a:solidFill>
                  <a:srgbClr val="7A92B8"/>
                </a:solidFill>
                <a:latin typeface="Calibri"/>
              </a:rPr>
              <a:t>↓ Random
  features</a:t>
            </a:r>
          </a:p>
        </p:txBody>
      </p:sp>
      <p:sp>
        <p:nvSpPr>
          <p:cNvPr id="19" name="Rectangle 18"/>
          <p:cNvSpPr/>
          <p:nvPr/>
        </p:nvSpPr>
        <p:spPr>
          <a:xfrm>
            <a:off x="3291840" y="2670048"/>
            <a:ext cx="2103120" cy="530352"/>
          </a:xfrm>
          <a:prstGeom prst="rect">
            <a:avLst/>
          </a:prstGeom>
          <a:solidFill>
            <a:srgbClr val="02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2688336"/>
            <a:ext cx="2103120" cy="219456"/>
          </a:xfrm>
          <a:prstGeom prst="rect">
            <a:avLst/>
          </a:prstGeom>
          <a:noFill/>
        </p:spPr>
        <p:txBody>
          <a:bodyPr wrap="square">
            <a:spAutoFit/>
          </a:bodyPr>
          <a:lstStyle/>
          <a:p>
            <a:pPr algn="ctr"/>
            <a:r>
              <a:rPr sz="1050" b="1" i="0">
                <a:solidFill>
                  <a:srgbClr val="00C2CB"/>
                </a:solidFill>
                <a:latin typeface="Calibri"/>
              </a:rPr>
              <a:t>Tree 2</a:t>
            </a:r>
          </a:p>
        </p:txBody>
      </p:sp>
      <p:sp>
        <p:nvSpPr>
          <p:cNvPr id="21" name="TextBox 20"/>
          <p:cNvSpPr txBox="1"/>
          <p:nvPr/>
        </p:nvSpPr>
        <p:spPr>
          <a:xfrm>
            <a:off x="3291840" y="2907792"/>
            <a:ext cx="2103120" cy="256032"/>
          </a:xfrm>
          <a:prstGeom prst="rect">
            <a:avLst/>
          </a:prstGeom>
          <a:noFill/>
        </p:spPr>
        <p:txBody>
          <a:bodyPr wrap="square">
            <a:spAutoFit/>
          </a:bodyPr>
          <a:lstStyle/>
          <a:p>
            <a:pPr algn="ctr"/>
            <a:r>
              <a:rPr sz="1000" b="0" i="0">
                <a:solidFill>
                  <a:srgbClr val="FF4B4B"/>
                </a:solidFill>
                <a:latin typeface="Calibri"/>
              </a:rPr>
              <a:t>→ Not Survived</a:t>
            </a:r>
          </a:p>
        </p:txBody>
      </p:sp>
      <p:sp>
        <p:nvSpPr>
          <p:cNvPr id="22" name="Rectangle 21"/>
          <p:cNvSpPr/>
          <p:nvPr/>
        </p:nvSpPr>
        <p:spPr>
          <a:xfrm>
            <a:off x="6217920" y="1691640"/>
            <a:ext cx="2103120" cy="457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0" y="1709928"/>
            <a:ext cx="2103120" cy="438912"/>
          </a:xfrm>
          <a:prstGeom prst="rect">
            <a:avLst/>
          </a:prstGeom>
          <a:noFill/>
        </p:spPr>
        <p:txBody>
          <a:bodyPr wrap="square">
            <a:spAutoFit/>
          </a:bodyPr>
          <a:lstStyle/>
          <a:p>
            <a:pPr algn="ctr"/>
            <a:r>
              <a:rPr sz="1000" b="0" i="0">
                <a:solidFill>
                  <a:srgbClr val="00C2CB"/>
                </a:solidFill>
                <a:latin typeface="Calibri"/>
              </a:rPr>
              <a:t>Bootstrap
Sample N</a:t>
            </a:r>
          </a:p>
        </p:txBody>
      </p:sp>
      <p:sp>
        <p:nvSpPr>
          <p:cNvPr id="24" name="TextBox 23"/>
          <p:cNvSpPr txBox="1"/>
          <p:nvPr/>
        </p:nvSpPr>
        <p:spPr>
          <a:xfrm>
            <a:off x="6675120" y="2240280"/>
            <a:ext cx="1188720" cy="347472"/>
          </a:xfrm>
          <a:prstGeom prst="rect">
            <a:avLst/>
          </a:prstGeom>
          <a:noFill/>
        </p:spPr>
        <p:txBody>
          <a:bodyPr wrap="square">
            <a:spAutoFit/>
          </a:bodyPr>
          <a:lstStyle/>
          <a:p>
            <a:pPr algn="ctr"/>
            <a:r>
              <a:rPr sz="900" b="0" i="0">
                <a:solidFill>
                  <a:srgbClr val="7A92B8"/>
                </a:solidFill>
                <a:latin typeface="Calibri"/>
              </a:rPr>
              <a:t>↓ Random
  features</a:t>
            </a:r>
          </a:p>
        </p:txBody>
      </p:sp>
      <p:sp>
        <p:nvSpPr>
          <p:cNvPr id="25" name="Rectangle 24"/>
          <p:cNvSpPr/>
          <p:nvPr/>
        </p:nvSpPr>
        <p:spPr>
          <a:xfrm>
            <a:off x="6217920" y="2670048"/>
            <a:ext cx="2103120" cy="530352"/>
          </a:xfrm>
          <a:prstGeom prst="rect">
            <a:avLst/>
          </a:prstGeom>
          <a:solidFill>
            <a:srgbClr val="02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0" y="2688336"/>
            <a:ext cx="2103120" cy="219456"/>
          </a:xfrm>
          <a:prstGeom prst="rect">
            <a:avLst/>
          </a:prstGeom>
          <a:noFill/>
        </p:spPr>
        <p:txBody>
          <a:bodyPr wrap="square">
            <a:spAutoFit/>
          </a:bodyPr>
          <a:lstStyle/>
          <a:p>
            <a:pPr algn="ctr"/>
            <a:r>
              <a:rPr sz="1050" b="1" i="0">
                <a:solidFill>
                  <a:srgbClr val="00C2CB"/>
                </a:solidFill>
                <a:latin typeface="Calibri"/>
              </a:rPr>
              <a:t>Tree 3</a:t>
            </a:r>
          </a:p>
        </p:txBody>
      </p:sp>
      <p:sp>
        <p:nvSpPr>
          <p:cNvPr id="27" name="TextBox 26"/>
          <p:cNvSpPr txBox="1"/>
          <p:nvPr/>
        </p:nvSpPr>
        <p:spPr>
          <a:xfrm>
            <a:off x="6217920" y="2907792"/>
            <a:ext cx="2103120" cy="256032"/>
          </a:xfrm>
          <a:prstGeom prst="rect">
            <a:avLst/>
          </a:prstGeom>
          <a:noFill/>
        </p:spPr>
        <p:txBody>
          <a:bodyPr wrap="square">
            <a:spAutoFit/>
          </a:bodyPr>
          <a:lstStyle/>
          <a:p>
            <a:pPr algn="ctr"/>
            <a:r>
              <a:rPr sz="1000" b="0" i="0">
                <a:solidFill>
                  <a:srgbClr val="06D679"/>
                </a:solidFill>
                <a:latin typeface="Calibri"/>
              </a:rPr>
              <a:t>→ Survived</a:t>
            </a:r>
          </a:p>
        </p:txBody>
      </p:sp>
      <p:sp>
        <p:nvSpPr>
          <p:cNvPr id="28" name="TextBox 27"/>
          <p:cNvSpPr txBox="1"/>
          <p:nvPr/>
        </p:nvSpPr>
        <p:spPr>
          <a:xfrm>
            <a:off x="2286000" y="3291840"/>
            <a:ext cx="4572000" cy="292608"/>
          </a:xfrm>
          <a:prstGeom prst="rect">
            <a:avLst/>
          </a:prstGeom>
          <a:noFill/>
        </p:spPr>
        <p:txBody>
          <a:bodyPr wrap="square">
            <a:spAutoFit/>
          </a:bodyPr>
          <a:lstStyle/>
          <a:p>
            <a:pPr algn="ctr"/>
            <a:r>
              <a:rPr sz="1100" b="0" i="0">
                <a:solidFill>
                  <a:srgbClr val="39D353"/>
                </a:solidFill>
                <a:latin typeface="Calibri"/>
              </a:rPr>
              <a:t>↓  Majority Vote: 2 Survived vs 1 Not Survived</a:t>
            </a:r>
          </a:p>
        </p:txBody>
      </p:sp>
      <p:sp>
        <p:nvSpPr>
          <p:cNvPr id="29" name="Rectangle 28"/>
          <p:cNvSpPr/>
          <p:nvPr/>
        </p:nvSpPr>
        <p:spPr>
          <a:xfrm>
            <a:off x="2743200" y="3639312"/>
            <a:ext cx="3474720" cy="475488"/>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61488" y="3648456"/>
            <a:ext cx="3438144" cy="457200"/>
          </a:xfrm>
          <a:prstGeom prst="rect">
            <a:avLst/>
          </a:prstGeom>
          <a:noFill/>
        </p:spPr>
        <p:txBody>
          <a:bodyPr wrap="square">
            <a:spAutoFit/>
          </a:bodyPr>
          <a:lstStyle/>
          <a:p>
            <a:pPr algn="ctr"/>
            <a:r>
              <a:rPr sz="1400" b="1" i="0">
                <a:solidFill>
                  <a:srgbClr val="0F1B2D"/>
                </a:solidFill>
                <a:latin typeface="Calibri"/>
              </a:rPr>
              <a:t>✅  FINAL: Survived</a:t>
            </a:r>
          </a:p>
        </p:txBody>
      </p:sp>
      <p:sp>
        <p:nvSpPr>
          <p:cNvPr id="31" name="Rectangle 30"/>
          <p:cNvSpPr/>
          <p:nvPr/>
        </p:nvSpPr>
        <p:spPr>
          <a:xfrm>
            <a:off x="274320" y="4224528"/>
            <a:ext cx="8595360" cy="7315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4224528"/>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4315968"/>
            <a:ext cx="3657600" cy="276999"/>
          </a:xfrm>
          <a:prstGeom prst="rect">
            <a:avLst/>
          </a:prstGeom>
          <a:noFill/>
        </p:spPr>
        <p:txBody>
          <a:bodyPr wrap="square">
            <a:spAutoFit/>
          </a:bodyPr>
          <a:lstStyle/>
          <a:p>
            <a:pPr algn="l"/>
            <a:r>
              <a:rPr sz="1200" b="1" i="0" dirty="0">
                <a:solidFill>
                  <a:srgbClr val="FFC400"/>
                </a:solidFill>
                <a:latin typeface="Calibri"/>
              </a:rPr>
              <a:t>  The Secret Ingredient — Feature Randomness:</a:t>
            </a:r>
          </a:p>
        </p:txBody>
      </p:sp>
      <p:sp>
        <p:nvSpPr>
          <p:cNvPr id="34" name="TextBox 33"/>
          <p:cNvSpPr txBox="1"/>
          <p:nvPr/>
        </p:nvSpPr>
        <p:spPr>
          <a:xfrm>
            <a:off x="457200" y="4557118"/>
            <a:ext cx="8229600" cy="237744"/>
          </a:xfrm>
          <a:prstGeom prst="rect">
            <a:avLst/>
          </a:prstGeom>
          <a:noFill/>
        </p:spPr>
        <p:txBody>
          <a:bodyPr wrap="square">
            <a:spAutoFit/>
          </a:bodyPr>
          <a:lstStyle/>
          <a:p>
            <a:pPr algn="l"/>
            <a:r>
              <a:rPr sz="1050" b="0" i="0" dirty="0">
                <a:solidFill>
                  <a:srgbClr val="FFFFFF"/>
                </a:solidFill>
                <a:latin typeface="Calibri"/>
              </a:rPr>
              <a:t>At each node split, only a RANDOM SUBSET of features is considered (√n features by default). This forces trees to be different from each other, which is what makes the ensemble powerful. Without this, all trees would be similar and the ensemble wouldn't help much.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29</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Random Forest — Key Hyperparameters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What you tune to control how the forest grows</a:t>
            </a:r>
          </a:p>
        </p:txBody>
      </p:sp>
      <p:sp>
        <p:nvSpPr>
          <p:cNvPr id="8" name="Rectangle 7"/>
          <p:cNvSpPr/>
          <p:nvPr/>
        </p:nvSpPr>
        <p:spPr>
          <a:xfrm>
            <a:off x="274320" y="960120"/>
            <a:ext cx="8595360" cy="3474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987552"/>
            <a:ext cx="1645920" cy="274320"/>
          </a:xfrm>
          <a:prstGeom prst="rect">
            <a:avLst/>
          </a:prstGeom>
          <a:noFill/>
        </p:spPr>
        <p:txBody>
          <a:bodyPr wrap="square">
            <a:spAutoFit/>
          </a:bodyPr>
          <a:lstStyle/>
          <a:p>
            <a:pPr algn="l"/>
            <a:r>
              <a:rPr sz="1000" b="1" i="0">
                <a:solidFill>
                  <a:srgbClr val="00C2CB"/>
                </a:solidFill>
                <a:latin typeface="Calibri"/>
              </a:rPr>
              <a:t>Parameter</a:t>
            </a:r>
          </a:p>
        </p:txBody>
      </p:sp>
      <p:sp>
        <p:nvSpPr>
          <p:cNvPr id="10" name="TextBox 9"/>
          <p:cNvSpPr txBox="1"/>
          <p:nvPr/>
        </p:nvSpPr>
        <p:spPr>
          <a:xfrm>
            <a:off x="2011680" y="987552"/>
            <a:ext cx="1645920" cy="274320"/>
          </a:xfrm>
          <a:prstGeom prst="rect">
            <a:avLst/>
          </a:prstGeom>
          <a:noFill/>
        </p:spPr>
        <p:txBody>
          <a:bodyPr wrap="square">
            <a:spAutoFit/>
          </a:bodyPr>
          <a:lstStyle/>
          <a:p>
            <a:pPr algn="l"/>
            <a:r>
              <a:rPr sz="1000" b="1" i="0">
                <a:solidFill>
                  <a:srgbClr val="00C2CB"/>
                </a:solidFill>
                <a:latin typeface="Calibri"/>
              </a:rPr>
              <a:t>Default</a:t>
            </a:r>
          </a:p>
        </p:txBody>
      </p:sp>
      <p:sp>
        <p:nvSpPr>
          <p:cNvPr id="11" name="TextBox 10"/>
          <p:cNvSpPr txBox="1"/>
          <p:nvPr/>
        </p:nvSpPr>
        <p:spPr>
          <a:xfrm>
            <a:off x="3017520" y="987552"/>
            <a:ext cx="1645920" cy="274320"/>
          </a:xfrm>
          <a:prstGeom prst="rect">
            <a:avLst/>
          </a:prstGeom>
          <a:noFill/>
        </p:spPr>
        <p:txBody>
          <a:bodyPr wrap="square">
            <a:spAutoFit/>
          </a:bodyPr>
          <a:lstStyle/>
          <a:p>
            <a:pPr algn="l"/>
            <a:r>
              <a:rPr sz="1000" b="1" i="0">
                <a:solidFill>
                  <a:srgbClr val="00C2CB"/>
                </a:solidFill>
                <a:latin typeface="Calibri"/>
              </a:rPr>
              <a:t>Recommended</a:t>
            </a:r>
          </a:p>
        </p:txBody>
      </p:sp>
      <p:sp>
        <p:nvSpPr>
          <p:cNvPr id="12" name="TextBox 11"/>
          <p:cNvSpPr txBox="1"/>
          <p:nvPr/>
        </p:nvSpPr>
        <p:spPr>
          <a:xfrm>
            <a:off x="4572000" y="987552"/>
            <a:ext cx="1645920" cy="274320"/>
          </a:xfrm>
          <a:prstGeom prst="rect">
            <a:avLst/>
          </a:prstGeom>
          <a:noFill/>
        </p:spPr>
        <p:txBody>
          <a:bodyPr wrap="square">
            <a:spAutoFit/>
          </a:bodyPr>
          <a:lstStyle/>
          <a:p>
            <a:pPr algn="l"/>
            <a:r>
              <a:rPr sz="1000" b="1" i="0">
                <a:solidFill>
                  <a:srgbClr val="00C2CB"/>
                </a:solidFill>
                <a:latin typeface="Calibri"/>
              </a:rPr>
              <a:t>Why It Matters</a:t>
            </a:r>
          </a:p>
        </p:txBody>
      </p:sp>
      <p:sp>
        <p:nvSpPr>
          <p:cNvPr id="13" name="Rectangle 12"/>
          <p:cNvSpPr/>
          <p:nvPr/>
        </p:nvSpPr>
        <p:spPr>
          <a:xfrm>
            <a:off x="274320" y="1353312"/>
            <a:ext cx="8595360" cy="6675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1353312"/>
            <a:ext cx="45720" cy="6675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26464"/>
            <a:ext cx="1554480" cy="256032"/>
          </a:xfrm>
          <a:prstGeom prst="rect">
            <a:avLst/>
          </a:prstGeom>
          <a:noFill/>
        </p:spPr>
        <p:txBody>
          <a:bodyPr wrap="square">
            <a:spAutoFit/>
          </a:bodyPr>
          <a:lstStyle/>
          <a:p>
            <a:pPr algn="l"/>
            <a:r>
              <a:rPr sz="1100" b="1" i="0">
                <a:solidFill>
                  <a:srgbClr val="00C2CB"/>
                </a:solidFill>
                <a:latin typeface="Consolas"/>
              </a:rPr>
              <a:t>n_estimators</a:t>
            </a:r>
          </a:p>
        </p:txBody>
      </p:sp>
      <p:sp>
        <p:nvSpPr>
          <p:cNvPr id="16" name="TextBox 15"/>
          <p:cNvSpPr txBox="1"/>
          <p:nvPr/>
        </p:nvSpPr>
        <p:spPr>
          <a:xfrm>
            <a:off x="2011680" y="1426464"/>
            <a:ext cx="960120" cy="256032"/>
          </a:xfrm>
          <a:prstGeom prst="rect">
            <a:avLst/>
          </a:prstGeom>
          <a:noFill/>
        </p:spPr>
        <p:txBody>
          <a:bodyPr wrap="square">
            <a:spAutoFit/>
          </a:bodyPr>
          <a:lstStyle/>
          <a:p>
            <a:pPr algn="l"/>
            <a:r>
              <a:rPr sz="1050" b="0" i="0">
                <a:solidFill>
                  <a:srgbClr val="7A92B8"/>
                </a:solidFill>
                <a:latin typeface="Consolas"/>
              </a:rPr>
              <a:t>100</a:t>
            </a:r>
          </a:p>
        </p:txBody>
      </p:sp>
      <p:sp>
        <p:nvSpPr>
          <p:cNvPr id="17" name="TextBox 16"/>
          <p:cNvSpPr txBox="1"/>
          <p:nvPr/>
        </p:nvSpPr>
        <p:spPr>
          <a:xfrm>
            <a:off x="3017520" y="1426464"/>
            <a:ext cx="1508760" cy="256032"/>
          </a:xfrm>
          <a:prstGeom prst="rect">
            <a:avLst/>
          </a:prstGeom>
          <a:noFill/>
        </p:spPr>
        <p:txBody>
          <a:bodyPr wrap="square">
            <a:spAutoFit/>
          </a:bodyPr>
          <a:lstStyle/>
          <a:p>
            <a:pPr algn="l"/>
            <a:r>
              <a:rPr sz="1050" b="0" i="0">
                <a:solidFill>
                  <a:srgbClr val="00C2CB"/>
                </a:solidFill>
                <a:latin typeface="Consolas"/>
              </a:rPr>
              <a:t>100–500</a:t>
            </a:r>
          </a:p>
        </p:txBody>
      </p:sp>
      <p:sp>
        <p:nvSpPr>
          <p:cNvPr id="18" name="TextBox 17"/>
          <p:cNvSpPr txBox="1"/>
          <p:nvPr/>
        </p:nvSpPr>
        <p:spPr>
          <a:xfrm>
            <a:off x="4572000" y="1426464"/>
            <a:ext cx="4206240" cy="502920"/>
          </a:xfrm>
          <a:prstGeom prst="rect">
            <a:avLst/>
          </a:prstGeom>
          <a:noFill/>
        </p:spPr>
        <p:txBody>
          <a:bodyPr wrap="square">
            <a:spAutoFit/>
          </a:bodyPr>
          <a:lstStyle/>
          <a:p>
            <a:pPr algn="l"/>
            <a:r>
              <a:rPr sz="1050" b="0" i="0">
                <a:solidFill>
                  <a:srgbClr val="FFFFFF"/>
                </a:solidFill>
                <a:latin typeface="Calibri"/>
              </a:rPr>
              <a:t>More trees = more stable predictions. Diminishing returns after ~200. Increases training time.</a:t>
            </a:r>
          </a:p>
        </p:txBody>
      </p:sp>
      <p:sp>
        <p:nvSpPr>
          <p:cNvPr id="19" name="Rectangle 18"/>
          <p:cNvSpPr/>
          <p:nvPr/>
        </p:nvSpPr>
        <p:spPr>
          <a:xfrm>
            <a:off x="274320" y="2066543"/>
            <a:ext cx="8595360" cy="66751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2066543"/>
            <a:ext cx="45720" cy="66751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39696"/>
            <a:ext cx="1554480" cy="256032"/>
          </a:xfrm>
          <a:prstGeom prst="rect">
            <a:avLst/>
          </a:prstGeom>
          <a:noFill/>
        </p:spPr>
        <p:txBody>
          <a:bodyPr wrap="square">
            <a:spAutoFit/>
          </a:bodyPr>
          <a:lstStyle/>
          <a:p>
            <a:pPr algn="l"/>
            <a:r>
              <a:rPr sz="1100" b="1" i="0">
                <a:solidFill>
                  <a:srgbClr val="39D353"/>
                </a:solidFill>
                <a:latin typeface="Consolas"/>
              </a:rPr>
              <a:t>max_depth</a:t>
            </a:r>
          </a:p>
        </p:txBody>
      </p:sp>
      <p:sp>
        <p:nvSpPr>
          <p:cNvPr id="22" name="TextBox 21"/>
          <p:cNvSpPr txBox="1"/>
          <p:nvPr/>
        </p:nvSpPr>
        <p:spPr>
          <a:xfrm>
            <a:off x="2011680" y="2139696"/>
            <a:ext cx="960120" cy="256032"/>
          </a:xfrm>
          <a:prstGeom prst="rect">
            <a:avLst/>
          </a:prstGeom>
          <a:noFill/>
        </p:spPr>
        <p:txBody>
          <a:bodyPr wrap="square">
            <a:spAutoFit/>
          </a:bodyPr>
          <a:lstStyle/>
          <a:p>
            <a:pPr algn="l"/>
            <a:r>
              <a:rPr sz="1050" b="0" i="0">
                <a:solidFill>
                  <a:srgbClr val="7A92B8"/>
                </a:solidFill>
                <a:latin typeface="Consolas"/>
              </a:rPr>
              <a:t>None</a:t>
            </a:r>
          </a:p>
        </p:txBody>
      </p:sp>
      <p:sp>
        <p:nvSpPr>
          <p:cNvPr id="23" name="TextBox 22"/>
          <p:cNvSpPr txBox="1"/>
          <p:nvPr/>
        </p:nvSpPr>
        <p:spPr>
          <a:xfrm>
            <a:off x="3017520" y="2139696"/>
            <a:ext cx="1508760" cy="256032"/>
          </a:xfrm>
          <a:prstGeom prst="rect">
            <a:avLst/>
          </a:prstGeom>
          <a:noFill/>
        </p:spPr>
        <p:txBody>
          <a:bodyPr wrap="square">
            <a:spAutoFit/>
          </a:bodyPr>
          <a:lstStyle/>
          <a:p>
            <a:pPr algn="l"/>
            <a:r>
              <a:rPr sz="1050" b="0" i="0">
                <a:solidFill>
                  <a:srgbClr val="39D353"/>
                </a:solidFill>
                <a:latin typeface="Consolas"/>
              </a:rPr>
              <a:t>5–10</a:t>
            </a:r>
          </a:p>
        </p:txBody>
      </p:sp>
      <p:sp>
        <p:nvSpPr>
          <p:cNvPr id="24" name="TextBox 23"/>
          <p:cNvSpPr txBox="1"/>
          <p:nvPr/>
        </p:nvSpPr>
        <p:spPr>
          <a:xfrm>
            <a:off x="4572000" y="2139696"/>
            <a:ext cx="4206240" cy="502920"/>
          </a:xfrm>
          <a:prstGeom prst="rect">
            <a:avLst/>
          </a:prstGeom>
          <a:noFill/>
        </p:spPr>
        <p:txBody>
          <a:bodyPr wrap="square">
            <a:spAutoFit/>
          </a:bodyPr>
          <a:lstStyle/>
          <a:p>
            <a:pPr algn="l"/>
            <a:r>
              <a:rPr sz="1050" b="0" i="0">
                <a:solidFill>
                  <a:srgbClr val="FFFFFF"/>
                </a:solidFill>
                <a:latin typeface="Calibri"/>
              </a:rPr>
              <a:t>Shallow trees reduce overfitting per tree. Forest averaging compensates for simplicity.</a:t>
            </a:r>
          </a:p>
        </p:txBody>
      </p:sp>
      <p:sp>
        <p:nvSpPr>
          <p:cNvPr id="25" name="Rectangle 24"/>
          <p:cNvSpPr/>
          <p:nvPr/>
        </p:nvSpPr>
        <p:spPr>
          <a:xfrm>
            <a:off x="274320" y="2779776"/>
            <a:ext cx="8595360" cy="6675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 y="2779776"/>
            <a:ext cx="45720" cy="66751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52928"/>
            <a:ext cx="1554480" cy="256032"/>
          </a:xfrm>
          <a:prstGeom prst="rect">
            <a:avLst/>
          </a:prstGeom>
          <a:noFill/>
        </p:spPr>
        <p:txBody>
          <a:bodyPr wrap="square">
            <a:spAutoFit/>
          </a:bodyPr>
          <a:lstStyle/>
          <a:p>
            <a:pPr algn="l"/>
            <a:r>
              <a:rPr sz="1100" b="1" i="0">
                <a:solidFill>
                  <a:srgbClr val="FFC400"/>
                </a:solidFill>
                <a:latin typeface="Consolas"/>
              </a:rPr>
              <a:t>min_samples_leaf</a:t>
            </a:r>
          </a:p>
        </p:txBody>
      </p:sp>
      <p:sp>
        <p:nvSpPr>
          <p:cNvPr id="28" name="TextBox 27"/>
          <p:cNvSpPr txBox="1"/>
          <p:nvPr/>
        </p:nvSpPr>
        <p:spPr>
          <a:xfrm>
            <a:off x="2011680" y="2852928"/>
            <a:ext cx="960120" cy="256032"/>
          </a:xfrm>
          <a:prstGeom prst="rect">
            <a:avLst/>
          </a:prstGeom>
          <a:noFill/>
        </p:spPr>
        <p:txBody>
          <a:bodyPr wrap="square">
            <a:spAutoFit/>
          </a:bodyPr>
          <a:lstStyle/>
          <a:p>
            <a:pPr algn="l"/>
            <a:r>
              <a:rPr sz="1050" b="0" i="0">
                <a:solidFill>
                  <a:srgbClr val="7A92B8"/>
                </a:solidFill>
                <a:latin typeface="Consolas"/>
              </a:rPr>
              <a:t>1</a:t>
            </a:r>
          </a:p>
        </p:txBody>
      </p:sp>
      <p:sp>
        <p:nvSpPr>
          <p:cNvPr id="29" name="TextBox 28"/>
          <p:cNvSpPr txBox="1"/>
          <p:nvPr/>
        </p:nvSpPr>
        <p:spPr>
          <a:xfrm>
            <a:off x="3017520" y="2852928"/>
            <a:ext cx="1508760" cy="256032"/>
          </a:xfrm>
          <a:prstGeom prst="rect">
            <a:avLst/>
          </a:prstGeom>
          <a:noFill/>
        </p:spPr>
        <p:txBody>
          <a:bodyPr wrap="square">
            <a:spAutoFit/>
          </a:bodyPr>
          <a:lstStyle/>
          <a:p>
            <a:pPr algn="l"/>
            <a:r>
              <a:rPr sz="1050" b="0" i="0">
                <a:solidFill>
                  <a:srgbClr val="FFC400"/>
                </a:solidFill>
                <a:latin typeface="Consolas"/>
              </a:rPr>
              <a:t>5–20</a:t>
            </a:r>
          </a:p>
        </p:txBody>
      </p:sp>
      <p:sp>
        <p:nvSpPr>
          <p:cNvPr id="30" name="TextBox 29"/>
          <p:cNvSpPr txBox="1"/>
          <p:nvPr/>
        </p:nvSpPr>
        <p:spPr>
          <a:xfrm>
            <a:off x="4572000" y="2852928"/>
            <a:ext cx="4206240" cy="502920"/>
          </a:xfrm>
          <a:prstGeom prst="rect">
            <a:avLst/>
          </a:prstGeom>
          <a:noFill/>
        </p:spPr>
        <p:txBody>
          <a:bodyPr wrap="square">
            <a:spAutoFit/>
          </a:bodyPr>
          <a:lstStyle/>
          <a:p>
            <a:pPr algn="l"/>
            <a:r>
              <a:rPr sz="1050" b="0" i="0">
                <a:solidFill>
                  <a:srgbClr val="FFFFFF"/>
                </a:solidFill>
                <a:latin typeface="Calibri"/>
              </a:rPr>
              <a:t>Larger values prevent noisy, tiny leaf nodes. Helps with overfitting on small datasets.</a:t>
            </a:r>
          </a:p>
        </p:txBody>
      </p:sp>
      <p:sp>
        <p:nvSpPr>
          <p:cNvPr id="31" name="Rectangle 30"/>
          <p:cNvSpPr/>
          <p:nvPr/>
        </p:nvSpPr>
        <p:spPr>
          <a:xfrm>
            <a:off x="274320" y="3493008"/>
            <a:ext cx="8595360" cy="66751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3493008"/>
            <a:ext cx="45720" cy="667512"/>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1554480" cy="256032"/>
          </a:xfrm>
          <a:prstGeom prst="rect">
            <a:avLst/>
          </a:prstGeom>
          <a:noFill/>
        </p:spPr>
        <p:txBody>
          <a:bodyPr wrap="square">
            <a:spAutoFit/>
          </a:bodyPr>
          <a:lstStyle/>
          <a:p>
            <a:pPr algn="l"/>
            <a:r>
              <a:rPr sz="1100" b="1" i="0">
                <a:solidFill>
                  <a:srgbClr val="FF4D88"/>
                </a:solidFill>
                <a:latin typeface="Consolas"/>
              </a:rPr>
              <a:t>max_features</a:t>
            </a:r>
          </a:p>
        </p:txBody>
      </p:sp>
      <p:sp>
        <p:nvSpPr>
          <p:cNvPr id="34" name="TextBox 33"/>
          <p:cNvSpPr txBox="1"/>
          <p:nvPr/>
        </p:nvSpPr>
        <p:spPr>
          <a:xfrm>
            <a:off x="2011680" y="3566160"/>
            <a:ext cx="960120" cy="256032"/>
          </a:xfrm>
          <a:prstGeom prst="rect">
            <a:avLst/>
          </a:prstGeom>
          <a:noFill/>
        </p:spPr>
        <p:txBody>
          <a:bodyPr wrap="square">
            <a:spAutoFit/>
          </a:bodyPr>
          <a:lstStyle/>
          <a:p>
            <a:pPr algn="l"/>
            <a:r>
              <a:rPr sz="1050" b="0" i="0">
                <a:solidFill>
                  <a:srgbClr val="7A92B8"/>
                </a:solidFill>
                <a:latin typeface="Consolas"/>
              </a:rPr>
              <a:t>'sqrt'</a:t>
            </a:r>
          </a:p>
        </p:txBody>
      </p:sp>
      <p:sp>
        <p:nvSpPr>
          <p:cNvPr id="35" name="TextBox 34"/>
          <p:cNvSpPr txBox="1"/>
          <p:nvPr/>
        </p:nvSpPr>
        <p:spPr>
          <a:xfrm>
            <a:off x="3017520" y="3566160"/>
            <a:ext cx="1508760" cy="256032"/>
          </a:xfrm>
          <a:prstGeom prst="rect">
            <a:avLst/>
          </a:prstGeom>
          <a:noFill/>
        </p:spPr>
        <p:txBody>
          <a:bodyPr wrap="square">
            <a:spAutoFit/>
          </a:bodyPr>
          <a:lstStyle/>
          <a:p>
            <a:pPr algn="l"/>
            <a:r>
              <a:rPr sz="1050" b="0" i="0">
                <a:solidFill>
                  <a:srgbClr val="FF4D88"/>
                </a:solidFill>
                <a:latin typeface="Consolas"/>
              </a:rPr>
              <a:t>'sqrt' or 'log2'</a:t>
            </a:r>
          </a:p>
        </p:txBody>
      </p:sp>
      <p:sp>
        <p:nvSpPr>
          <p:cNvPr id="36" name="TextBox 35"/>
          <p:cNvSpPr txBox="1"/>
          <p:nvPr/>
        </p:nvSpPr>
        <p:spPr>
          <a:xfrm>
            <a:off x="4572000" y="3566160"/>
            <a:ext cx="4206240" cy="502920"/>
          </a:xfrm>
          <a:prstGeom prst="rect">
            <a:avLst/>
          </a:prstGeom>
          <a:noFill/>
        </p:spPr>
        <p:txBody>
          <a:bodyPr wrap="square">
            <a:spAutoFit/>
          </a:bodyPr>
          <a:lstStyle/>
          <a:p>
            <a:pPr algn="l"/>
            <a:r>
              <a:rPr sz="1050" b="0" i="0">
                <a:solidFill>
                  <a:srgbClr val="FFFFFF"/>
                </a:solidFill>
                <a:latin typeface="Calibri"/>
              </a:rPr>
              <a:t>sqrt(n_features) is the proven default. Reduces feature correlation between trees.</a:t>
            </a:r>
          </a:p>
        </p:txBody>
      </p:sp>
      <p:sp>
        <p:nvSpPr>
          <p:cNvPr id="37" name="Rectangle 36"/>
          <p:cNvSpPr/>
          <p:nvPr/>
        </p:nvSpPr>
        <p:spPr>
          <a:xfrm>
            <a:off x="274320" y="4206240"/>
            <a:ext cx="8595360" cy="6675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74320" y="4206240"/>
            <a:ext cx="45720" cy="667512"/>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79392"/>
            <a:ext cx="1554480" cy="256032"/>
          </a:xfrm>
          <a:prstGeom prst="rect">
            <a:avLst/>
          </a:prstGeom>
          <a:noFill/>
        </p:spPr>
        <p:txBody>
          <a:bodyPr wrap="square">
            <a:spAutoFit/>
          </a:bodyPr>
          <a:lstStyle/>
          <a:p>
            <a:pPr algn="l"/>
            <a:r>
              <a:rPr sz="1100" b="1" i="0">
                <a:solidFill>
                  <a:srgbClr val="7A92B8"/>
                </a:solidFill>
                <a:latin typeface="Consolas"/>
              </a:rPr>
              <a:t>random_state</a:t>
            </a:r>
          </a:p>
        </p:txBody>
      </p:sp>
      <p:sp>
        <p:nvSpPr>
          <p:cNvPr id="40" name="TextBox 39"/>
          <p:cNvSpPr txBox="1"/>
          <p:nvPr/>
        </p:nvSpPr>
        <p:spPr>
          <a:xfrm>
            <a:off x="2011680" y="4279392"/>
            <a:ext cx="960120" cy="256032"/>
          </a:xfrm>
          <a:prstGeom prst="rect">
            <a:avLst/>
          </a:prstGeom>
          <a:noFill/>
        </p:spPr>
        <p:txBody>
          <a:bodyPr wrap="square">
            <a:spAutoFit/>
          </a:bodyPr>
          <a:lstStyle/>
          <a:p>
            <a:pPr algn="l"/>
            <a:r>
              <a:rPr sz="1050" b="0" i="0">
                <a:solidFill>
                  <a:srgbClr val="7A92B8"/>
                </a:solidFill>
                <a:latin typeface="Consolas"/>
              </a:rPr>
              <a:t>None</a:t>
            </a:r>
          </a:p>
        </p:txBody>
      </p:sp>
      <p:sp>
        <p:nvSpPr>
          <p:cNvPr id="41" name="TextBox 40"/>
          <p:cNvSpPr txBox="1"/>
          <p:nvPr/>
        </p:nvSpPr>
        <p:spPr>
          <a:xfrm>
            <a:off x="3017520" y="4279392"/>
            <a:ext cx="1508760" cy="256032"/>
          </a:xfrm>
          <a:prstGeom prst="rect">
            <a:avLst/>
          </a:prstGeom>
          <a:noFill/>
        </p:spPr>
        <p:txBody>
          <a:bodyPr wrap="square">
            <a:spAutoFit/>
          </a:bodyPr>
          <a:lstStyle/>
          <a:p>
            <a:pPr algn="l"/>
            <a:r>
              <a:rPr sz="1050" b="0" i="0">
                <a:solidFill>
                  <a:srgbClr val="7A92B8"/>
                </a:solidFill>
                <a:latin typeface="Consolas"/>
              </a:rPr>
              <a:t>42</a:t>
            </a:r>
          </a:p>
        </p:txBody>
      </p:sp>
      <p:sp>
        <p:nvSpPr>
          <p:cNvPr id="42" name="TextBox 41"/>
          <p:cNvSpPr txBox="1"/>
          <p:nvPr/>
        </p:nvSpPr>
        <p:spPr>
          <a:xfrm>
            <a:off x="4572000" y="4279392"/>
            <a:ext cx="4206240" cy="502920"/>
          </a:xfrm>
          <a:prstGeom prst="rect">
            <a:avLst/>
          </a:prstGeom>
          <a:noFill/>
        </p:spPr>
        <p:txBody>
          <a:bodyPr wrap="square">
            <a:spAutoFit/>
          </a:bodyPr>
          <a:lstStyle/>
          <a:p>
            <a:pPr algn="l"/>
            <a:r>
              <a:rPr sz="1050" b="0" i="0">
                <a:solidFill>
                  <a:srgbClr val="FFFFFF"/>
                </a:solidFill>
                <a:latin typeface="Calibri"/>
              </a:rPr>
              <a:t>Set this so your results are consistent every run. Essential for teaching and debugging.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30</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Feature Importance — What Did the Forest Learn?</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Random Forest tells you which features matter most for predictions</a:t>
            </a:r>
          </a:p>
        </p:txBody>
      </p:sp>
      <p:sp>
        <p:nvSpPr>
          <p:cNvPr id="8" name="Rectangle 7"/>
          <p:cNvSpPr/>
          <p:nvPr/>
        </p:nvSpPr>
        <p:spPr>
          <a:xfrm>
            <a:off x="1371600" y="1024128"/>
            <a:ext cx="5029200" cy="34747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005840" cy="274320"/>
          </a:xfrm>
          <a:prstGeom prst="rect">
            <a:avLst/>
          </a:prstGeom>
          <a:noFill/>
        </p:spPr>
        <p:txBody>
          <a:bodyPr wrap="square">
            <a:spAutoFit/>
          </a:bodyPr>
          <a:lstStyle/>
          <a:p>
            <a:pPr algn="r"/>
            <a:r>
              <a:rPr sz="1100" b="0" i="0">
                <a:solidFill>
                  <a:srgbClr val="FFFFFF"/>
                </a:solidFill>
                <a:latin typeface="Calibri"/>
              </a:rPr>
              <a:t>Sex</a:t>
            </a:r>
          </a:p>
        </p:txBody>
      </p:sp>
      <p:sp>
        <p:nvSpPr>
          <p:cNvPr id="10" name="TextBox 9"/>
          <p:cNvSpPr txBox="1"/>
          <p:nvPr/>
        </p:nvSpPr>
        <p:spPr>
          <a:xfrm>
            <a:off x="6446520" y="1078992"/>
            <a:ext cx="685800" cy="256032"/>
          </a:xfrm>
          <a:prstGeom prst="rect">
            <a:avLst/>
          </a:prstGeom>
          <a:noFill/>
        </p:spPr>
        <p:txBody>
          <a:bodyPr wrap="square">
            <a:spAutoFit/>
          </a:bodyPr>
          <a:lstStyle/>
          <a:p>
            <a:pPr algn="l"/>
            <a:r>
              <a:rPr sz="1050" b="1" i="0">
                <a:solidFill>
                  <a:srgbClr val="FFC400"/>
                </a:solidFill>
                <a:latin typeface="Calibri"/>
              </a:rPr>
              <a:t>28.5%</a:t>
            </a:r>
          </a:p>
        </p:txBody>
      </p:sp>
      <p:sp>
        <p:nvSpPr>
          <p:cNvPr id="11" name="Rectangle 10"/>
          <p:cNvSpPr/>
          <p:nvPr/>
        </p:nvSpPr>
        <p:spPr>
          <a:xfrm>
            <a:off x="1371600" y="1499616"/>
            <a:ext cx="4076298" cy="34747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1536192"/>
            <a:ext cx="1005840" cy="274320"/>
          </a:xfrm>
          <a:prstGeom prst="rect">
            <a:avLst/>
          </a:prstGeom>
          <a:noFill/>
        </p:spPr>
        <p:txBody>
          <a:bodyPr wrap="square">
            <a:spAutoFit/>
          </a:bodyPr>
          <a:lstStyle/>
          <a:p>
            <a:pPr algn="r"/>
            <a:r>
              <a:rPr sz="1100" b="0" i="0">
                <a:solidFill>
                  <a:srgbClr val="FFFFFF"/>
                </a:solidFill>
                <a:latin typeface="Calibri"/>
              </a:rPr>
              <a:t>Fare</a:t>
            </a:r>
          </a:p>
        </p:txBody>
      </p:sp>
      <p:sp>
        <p:nvSpPr>
          <p:cNvPr id="13" name="TextBox 12"/>
          <p:cNvSpPr txBox="1"/>
          <p:nvPr/>
        </p:nvSpPr>
        <p:spPr>
          <a:xfrm>
            <a:off x="5493618" y="1554480"/>
            <a:ext cx="685800" cy="256032"/>
          </a:xfrm>
          <a:prstGeom prst="rect">
            <a:avLst/>
          </a:prstGeom>
          <a:noFill/>
        </p:spPr>
        <p:txBody>
          <a:bodyPr wrap="square">
            <a:spAutoFit/>
          </a:bodyPr>
          <a:lstStyle/>
          <a:p>
            <a:pPr algn="l"/>
            <a:r>
              <a:rPr sz="1050" b="1" i="0">
                <a:solidFill>
                  <a:srgbClr val="00C2CB"/>
                </a:solidFill>
                <a:latin typeface="Calibri"/>
              </a:rPr>
              <a:t>23.1%</a:t>
            </a:r>
          </a:p>
        </p:txBody>
      </p:sp>
      <p:sp>
        <p:nvSpPr>
          <p:cNvPr id="14" name="Rectangle 13"/>
          <p:cNvSpPr/>
          <p:nvPr/>
        </p:nvSpPr>
        <p:spPr>
          <a:xfrm>
            <a:off x="1371600" y="1975104"/>
            <a:ext cx="3458677" cy="34747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2011680"/>
            <a:ext cx="1005840" cy="274320"/>
          </a:xfrm>
          <a:prstGeom prst="rect">
            <a:avLst/>
          </a:prstGeom>
          <a:noFill/>
        </p:spPr>
        <p:txBody>
          <a:bodyPr wrap="square">
            <a:spAutoFit/>
          </a:bodyPr>
          <a:lstStyle/>
          <a:p>
            <a:pPr algn="r"/>
            <a:r>
              <a:rPr sz="1100" b="0" i="0">
                <a:solidFill>
                  <a:srgbClr val="FFFFFF"/>
                </a:solidFill>
                <a:latin typeface="Calibri"/>
              </a:rPr>
              <a:t>Age</a:t>
            </a:r>
          </a:p>
        </p:txBody>
      </p:sp>
      <p:sp>
        <p:nvSpPr>
          <p:cNvPr id="16" name="TextBox 15"/>
          <p:cNvSpPr txBox="1"/>
          <p:nvPr/>
        </p:nvSpPr>
        <p:spPr>
          <a:xfrm>
            <a:off x="4875997" y="2029968"/>
            <a:ext cx="685800" cy="256032"/>
          </a:xfrm>
          <a:prstGeom prst="rect">
            <a:avLst/>
          </a:prstGeom>
          <a:noFill/>
        </p:spPr>
        <p:txBody>
          <a:bodyPr wrap="square">
            <a:spAutoFit/>
          </a:bodyPr>
          <a:lstStyle/>
          <a:p>
            <a:pPr algn="l"/>
            <a:r>
              <a:rPr sz="1050" b="1" i="0">
                <a:solidFill>
                  <a:srgbClr val="39D353"/>
                </a:solidFill>
                <a:latin typeface="Calibri"/>
              </a:rPr>
              <a:t>19.6%</a:t>
            </a:r>
          </a:p>
        </p:txBody>
      </p:sp>
      <p:sp>
        <p:nvSpPr>
          <p:cNvPr id="17" name="Rectangle 16"/>
          <p:cNvSpPr/>
          <p:nvPr/>
        </p:nvSpPr>
        <p:spPr>
          <a:xfrm>
            <a:off x="1371600" y="2450592"/>
            <a:ext cx="2329313" cy="34747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2487168"/>
            <a:ext cx="1005840" cy="274320"/>
          </a:xfrm>
          <a:prstGeom prst="rect">
            <a:avLst/>
          </a:prstGeom>
          <a:noFill/>
        </p:spPr>
        <p:txBody>
          <a:bodyPr wrap="square">
            <a:spAutoFit/>
          </a:bodyPr>
          <a:lstStyle/>
          <a:p>
            <a:pPr algn="r"/>
            <a:r>
              <a:rPr sz="1100" b="0" i="0">
                <a:solidFill>
                  <a:srgbClr val="FFFFFF"/>
                </a:solidFill>
                <a:latin typeface="Calibri"/>
              </a:rPr>
              <a:t>Pclass</a:t>
            </a:r>
          </a:p>
        </p:txBody>
      </p:sp>
      <p:sp>
        <p:nvSpPr>
          <p:cNvPr id="19" name="TextBox 18"/>
          <p:cNvSpPr txBox="1"/>
          <p:nvPr/>
        </p:nvSpPr>
        <p:spPr>
          <a:xfrm>
            <a:off x="3746633" y="2505456"/>
            <a:ext cx="685800" cy="256032"/>
          </a:xfrm>
          <a:prstGeom prst="rect">
            <a:avLst/>
          </a:prstGeom>
          <a:noFill/>
        </p:spPr>
        <p:txBody>
          <a:bodyPr wrap="square">
            <a:spAutoFit/>
          </a:bodyPr>
          <a:lstStyle/>
          <a:p>
            <a:pPr algn="l"/>
            <a:r>
              <a:rPr sz="1050" b="1" i="0">
                <a:solidFill>
                  <a:srgbClr val="00C2CB"/>
                </a:solidFill>
                <a:latin typeface="Calibri"/>
              </a:rPr>
              <a:t>13.2%</a:t>
            </a:r>
          </a:p>
        </p:txBody>
      </p:sp>
      <p:sp>
        <p:nvSpPr>
          <p:cNvPr id="20" name="Rectangle 19"/>
          <p:cNvSpPr/>
          <p:nvPr/>
        </p:nvSpPr>
        <p:spPr>
          <a:xfrm>
            <a:off x="1371600" y="2926080"/>
            <a:ext cx="1147010" cy="347472"/>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2962656"/>
            <a:ext cx="1005840" cy="274320"/>
          </a:xfrm>
          <a:prstGeom prst="rect">
            <a:avLst/>
          </a:prstGeom>
          <a:noFill/>
        </p:spPr>
        <p:txBody>
          <a:bodyPr wrap="square">
            <a:spAutoFit/>
          </a:bodyPr>
          <a:lstStyle/>
          <a:p>
            <a:pPr algn="r"/>
            <a:r>
              <a:rPr sz="1100" b="0" i="0">
                <a:solidFill>
                  <a:srgbClr val="FFFFFF"/>
                </a:solidFill>
                <a:latin typeface="Calibri"/>
              </a:rPr>
              <a:t>SibSp</a:t>
            </a:r>
          </a:p>
        </p:txBody>
      </p:sp>
      <p:sp>
        <p:nvSpPr>
          <p:cNvPr id="22" name="TextBox 21"/>
          <p:cNvSpPr txBox="1"/>
          <p:nvPr/>
        </p:nvSpPr>
        <p:spPr>
          <a:xfrm>
            <a:off x="2564330" y="2980944"/>
            <a:ext cx="685800" cy="256032"/>
          </a:xfrm>
          <a:prstGeom prst="rect">
            <a:avLst/>
          </a:prstGeom>
          <a:noFill/>
        </p:spPr>
        <p:txBody>
          <a:bodyPr wrap="square">
            <a:spAutoFit/>
          </a:bodyPr>
          <a:lstStyle/>
          <a:p>
            <a:pPr algn="l"/>
            <a:r>
              <a:rPr sz="1050" b="1" i="0">
                <a:solidFill>
                  <a:srgbClr val="7A92B8"/>
                </a:solidFill>
                <a:latin typeface="Calibri"/>
              </a:rPr>
              <a:t>6.5%</a:t>
            </a:r>
          </a:p>
        </p:txBody>
      </p:sp>
      <p:sp>
        <p:nvSpPr>
          <p:cNvPr id="23" name="Rectangle 22"/>
          <p:cNvSpPr/>
          <p:nvPr/>
        </p:nvSpPr>
        <p:spPr>
          <a:xfrm>
            <a:off x="1371600" y="3401568"/>
            <a:ext cx="864669" cy="347472"/>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3438144"/>
            <a:ext cx="1005840" cy="274320"/>
          </a:xfrm>
          <a:prstGeom prst="rect">
            <a:avLst/>
          </a:prstGeom>
          <a:noFill/>
        </p:spPr>
        <p:txBody>
          <a:bodyPr wrap="square">
            <a:spAutoFit/>
          </a:bodyPr>
          <a:lstStyle/>
          <a:p>
            <a:pPr algn="r"/>
            <a:r>
              <a:rPr sz="1100" b="0" i="0">
                <a:solidFill>
                  <a:srgbClr val="FFFFFF"/>
                </a:solidFill>
                <a:latin typeface="Calibri"/>
              </a:rPr>
              <a:t>Parch</a:t>
            </a:r>
          </a:p>
        </p:txBody>
      </p:sp>
      <p:sp>
        <p:nvSpPr>
          <p:cNvPr id="25" name="TextBox 24"/>
          <p:cNvSpPr txBox="1"/>
          <p:nvPr/>
        </p:nvSpPr>
        <p:spPr>
          <a:xfrm>
            <a:off x="2281989" y="3456432"/>
            <a:ext cx="685800" cy="256032"/>
          </a:xfrm>
          <a:prstGeom prst="rect">
            <a:avLst/>
          </a:prstGeom>
          <a:noFill/>
        </p:spPr>
        <p:txBody>
          <a:bodyPr wrap="square">
            <a:spAutoFit/>
          </a:bodyPr>
          <a:lstStyle/>
          <a:p>
            <a:pPr algn="l"/>
            <a:r>
              <a:rPr sz="1050" b="1" i="0">
                <a:solidFill>
                  <a:srgbClr val="7A92B8"/>
                </a:solidFill>
                <a:latin typeface="Calibri"/>
              </a:rPr>
              <a:t>4.9%</a:t>
            </a:r>
          </a:p>
        </p:txBody>
      </p:sp>
      <p:sp>
        <p:nvSpPr>
          <p:cNvPr id="26" name="Rectangle 25"/>
          <p:cNvSpPr/>
          <p:nvPr/>
        </p:nvSpPr>
        <p:spPr>
          <a:xfrm>
            <a:off x="1371600" y="3877056"/>
            <a:ext cx="494096" cy="347472"/>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3913632"/>
            <a:ext cx="1005840" cy="274320"/>
          </a:xfrm>
          <a:prstGeom prst="rect">
            <a:avLst/>
          </a:prstGeom>
          <a:noFill/>
        </p:spPr>
        <p:txBody>
          <a:bodyPr wrap="square">
            <a:spAutoFit/>
          </a:bodyPr>
          <a:lstStyle/>
          <a:p>
            <a:pPr algn="r"/>
            <a:r>
              <a:rPr sz="1100" b="0" i="0">
                <a:solidFill>
                  <a:srgbClr val="FFFFFF"/>
                </a:solidFill>
                <a:latin typeface="Calibri"/>
              </a:rPr>
              <a:t>Embarked_S</a:t>
            </a:r>
          </a:p>
        </p:txBody>
      </p:sp>
      <p:sp>
        <p:nvSpPr>
          <p:cNvPr id="28" name="TextBox 27"/>
          <p:cNvSpPr txBox="1"/>
          <p:nvPr/>
        </p:nvSpPr>
        <p:spPr>
          <a:xfrm>
            <a:off x="1911416" y="3931920"/>
            <a:ext cx="685800" cy="256032"/>
          </a:xfrm>
          <a:prstGeom prst="rect">
            <a:avLst/>
          </a:prstGeom>
          <a:noFill/>
        </p:spPr>
        <p:txBody>
          <a:bodyPr wrap="square">
            <a:spAutoFit/>
          </a:bodyPr>
          <a:lstStyle/>
          <a:p>
            <a:pPr algn="l"/>
            <a:r>
              <a:rPr sz="1050" b="1" i="0">
                <a:solidFill>
                  <a:srgbClr val="7A92B8"/>
                </a:solidFill>
                <a:latin typeface="Calibri"/>
              </a:rPr>
              <a:t>2.8%</a:t>
            </a:r>
          </a:p>
        </p:txBody>
      </p:sp>
      <p:sp>
        <p:nvSpPr>
          <p:cNvPr id="29" name="Rectangle 28"/>
          <p:cNvSpPr/>
          <p:nvPr/>
        </p:nvSpPr>
        <p:spPr>
          <a:xfrm>
            <a:off x="1371600" y="4352544"/>
            <a:ext cx="247048" cy="347472"/>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4389120"/>
            <a:ext cx="1005840" cy="274320"/>
          </a:xfrm>
          <a:prstGeom prst="rect">
            <a:avLst/>
          </a:prstGeom>
          <a:noFill/>
        </p:spPr>
        <p:txBody>
          <a:bodyPr wrap="square">
            <a:spAutoFit/>
          </a:bodyPr>
          <a:lstStyle/>
          <a:p>
            <a:pPr algn="r"/>
            <a:r>
              <a:rPr sz="1100" b="0" i="0">
                <a:solidFill>
                  <a:srgbClr val="FFFFFF"/>
                </a:solidFill>
                <a:latin typeface="Calibri"/>
              </a:rPr>
              <a:t>Embarked_Q</a:t>
            </a:r>
          </a:p>
        </p:txBody>
      </p:sp>
      <p:sp>
        <p:nvSpPr>
          <p:cNvPr id="31" name="TextBox 30"/>
          <p:cNvSpPr txBox="1"/>
          <p:nvPr/>
        </p:nvSpPr>
        <p:spPr>
          <a:xfrm>
            <a:off x="1664368" y="4407407"/>
            <a:ext cx="685800" cy="256032"/>
          </a:xfrm>
          <a:prstGeom prst="rect">
            <a:avLst/>
          </a:prstGeom>
          <a:noFill/>
        </p:spPr>
        <p:txBody>
          <a:bodyPr wrap="square">
            <a:spAutoFit/>
          </a:bodyPr>
          <a:lstStyle/>
          <a:p>
            <a:pPr algn="l"/>
            <a:r>
              <a:rPr sz="1050" b="1" i="0">
                <a:solidFill>
                  <a:srgbClr val="7A92B8"/>
                </a:solidFill>
                <a:latin typeface="Calibri"/>
              </a:rPr>
              <a:t>1.4%</a:t>
            </a:r>
          </a:p>
        </p:txBody>
      </p:sp>
      <p:sp>
        <p:nvSpPr>
          <p:cNvPr id="32" name="Rectangle 31"/>
          <p:cNvSpPr/>
          <p:nvPr/>
        </p:nvSpPr>
        <p:spPr>
          <a:xfrm>
            <a:off x="6492240" y="987552"/>
            <a:ext cx="2423160" cy="39319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92240" y="987552"/>
            <a:ext cx="24231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1078992"/>
            <a:ext cx="2103120" cy="320040"/>
          </a:xfrm>
          <a:prstGeom prst="rect">
            <a:avLst/>
          </a:prstGeom>
          <a:noFill/>
        </p:spPr>
        <p:txBody>
          <a:bodyPr wrap="square">
            <a:spAutoFit/>
          </a:bodyPr>
          <a:lstStyle/>
          <a:p>
            <a:pPr algn="l"/>
            <a:r>
              <a:rPr sz="1200" b="1" i="0">
                <a:solidFill>
                  <a:srgbClr val="FFC400"/>
                </a:solidFill>
                <a:latin typeface="Calibri"/>
              </a:rPr>
              <a:t>What This Tells Us:</a:t>
            </a:r>
          </a:p>
        </p:txBody>
      </p:sp>
      <p:sp>
        <p:nvSpPr>
          <p:cNvPr id="35" name="TextBox 34"/>
          <p:cNvSpPr txBox="1"/>
          <p:nvPr/>
        </p:nvSpPr>
        <p:spPr>
          <a:xfrm>
            <a:off x="6675120" y="1444752"/>
            <a:ext cx="2148840" cy="3337560"/>
          </a:xfrm>
          <a:prstGeom prst="rect">
            <a:avLst/>
          </a:prstGeom>
          <a:noFill/>
        </p:spPr>
        <p:txBody>
          <a:bodyPr wrap="square">
            <a:spAutoFit/>
          </a:bodyPr>
          <a:lstStyle/>
          <a:p>
            <a:pPr algn="l">
              <a:spcAft>
                <a:spcPts val="200"/>
              </a:spcAft>
            </a:pPr>
            <a:r>
              <a:rPr sz="1000" b="0">
                <a:solidFill>
                  <a:srgbClr val="FFFFFF"/>
                </a:solidFill>
                <a:latin typeface="Calibri"/>
              </a:rPr>
              <a:t>Sex (28.5%):</a:t>
            </a:r>
          </a:p>
          <a:p>
            <a:pPr algn="l">
              <a:spcAft>
                <a:spcPts val="200"/>
              </a:spcAft>
            </a:pPr>
            <a:r>
              <a:rPr sz="1000" b="0">
                <a:solidFill>
                  <a:srgbClr val="FFFFFF"/>
                </a:solidFill>
                <a:latin typeface="Calibri"/>
              </a:rPr>
              <a:t>  Most important — gender</a:t>
            </a:r>
          </a:p>
          <a:p>
            <a:pPr algn="l">
              <a:spcAft>
                <a:spcPts val="200"/>
              </a:spcAft>
            </a:pPr>
            <a:r>
              <a:rPr sz="1000" b="0">
                <a:solidFill>
                  <a:srgbClr val="FFFFFF"/>
                </a:solidFill>
                <a:latin typeface="Calibri"/>
              </a:rPr>
              <a:t>  was the #1 survival factor</a:t>
            </a:r>
          </a:p>
          <a:p>
            <a:pPr algn="l">
              <a:spcAft>
                <a:spcPts val="200"/>
              </a:spcAft>
            </a:pPr>
            <a:endParaRPr sz="1000" b="0">
              <a:solidFill>
                <a:srgbClr val="FFFFFF"/>
              </a:solidFill>
              <a:latin typeface="Calibri"/>
            </a:endParaRPr>
          </a:p>
          <a:p>
            <a:pPr algn="l">
              <a:spcAft>
                <a:spcPts val="200"/>
              </a:spcAft>
            </a:pPr>
            <a:r>
              <a:rPr sz="1000" b="0">
                <a:solidFill>
                  <a:srgbClr val="FFFFFF"/>
                </a:solidFill>
                <a:latin typeface="Calibri"/>
              </a:rPr>
              <a:t>Fare (23.1%):</a:t>
            </a:r>
          </a:p>
          <a:p>
            <a:pPr algn="l">
              <a:spcAft>
                <a:spcPts val="200"/>
              </a:spcAft>
            </a:pPr>
            <a:r>
              <a:rPr sz="1000" b="0">
                <a:solidFill>
                  <a:srgbClr val="FFFFFF"/>
                </a:solidFill>
                <a:latin typeface="Calibri"/>
              </a:rPr>
              <a:t>  Price = wealth = access</a:t>
            </a:r>
          </a:p>
          <a:p>
            <a:pPr algn="l">
              <a:spcAft>
                <a:spcPts val="200"/>
              </a:spcAft>
            </a:pPr>
            <a:r>
              <a:rPr sz="1000" b="0">
                <a:solidFill>
                  <a:srgbClr val="FFFFFF"/>
                </a:solidFill>
                <a:latin typeface="Calibri"/>
              </a:rPr>
              <a:t>  to lifeboats</a:t>
            </a:r>
          </a:p>
          <a:p>
            <a:pPr algn="l">
              <a:spcAft>
                <a:spcPts val="200"/>
              </a:spcAft>
            </a:pPr>
            <a:endParaRPr sz="1000" b="0">
              <a:solidFill>
                <a:srgbClr val="FFFFFF"/>
              </a:solidFill>
              <a:latin typeface="Calibri"/>
            </a:endParaRPr>
          </a:p>
          <a:p>
            <a:pPr algn="l">
              <a:spcAft>
                <a:spcPts val="200"/>
              </a:spcAft>
            </a:pPr>
            <a:r>
              <a:rPr sz="1000" b="0">
                <a:solidFill>
                  <a:srgbClr val="FFFFFF"/>
                </a:solidFill>
                <a:latin typeface="Calibri"/>
              </a:rPr>
              <a:t>Age (19.6%):</a:t>
            </a:r>
          </a:p>
          <a:p>
            <a:pPr algn="l">
              <a:spcAft>
                <a:spcPts val="200"/>
              </a:spcAft>
            </a:pPr>
            <a:r>
              <a:rPr sz="1000" b="0">
                <a:solidFill>
                  <a:srgbClr val="FFFFFF"/>
                </a:solidFill>
                <a:latin typeface="Calibri"/>
              </a:rPr>
              <a:t>  Children first policy</a:t>
            </a:r>
          </a:p>
          <a:p>
            <a:pPr algn="l">
              <a:spcAft>
                <a:spcPts val="200"/>
              </a:spcAft>
            </a:pPr>
            <a:r>
              <a:rPr sz="1000" b="0">
                <a:solidFill>
                  <a:srgbClr val="FFFFFF"/>
                </a:solidFill>
                <a:latin typeface="Calibri"/>
              </a:rPr>
              <a:t>  shows clearly in data</a:t>
            </a:r>
          </a:p>
          <a:p>
            <a:pPr algn="l">
              <a:spcAft>
                <a:spcPts val="200"/>
              </a:spcAft>
            </a:pPr>
            <a:endParaRPr sz="1000" b="0">
              <a:solidFill>
                <a:srgbClr val="FFFFFF"/>
              </a:solidFill>
              <a:latin typeface="Calibri"/>
            </a:endParaRPr>
          </a:p>
          <a:p>
            <a:pPr algn="l">
              <a:spcAft>
                <a:spcPts val="200"/>
              </a:spcAft>
            </a:pPr>
            <a:r>
              <a:rPr sz="1000" b="0">
                <a:solidFill>
                  <a:srgbClr val="FFFFFF"/>
                </a:solidFill>
                <a:latin typeface="Calibri"/>
              </a:rPr>
              <a:t>Embarked (4.2%):</a:t>
            </a:r>
          </a:p>
          <a:p>
            <a:pPr algn="l">
              <a:spcAft>
                <a:spcPts val="200"/>
              </a:spcAft>
            </a:pPr>
            <a:r>
              <a:rPr sz="1000" b="0">
                <a:solidFill>
                  <a:srgbClr val="FFFFFF"/>
                </a:solidFill>
                <a:latin typeface="Calibri"/>
              </a:rPr>
              <a:t>  Very low importance →</a:t>
            </a:r>
          </a:p>
          <a:p>
            <a:pPr algn="l">
              <a:spcAft>
                <a:spcPts val="200"/>
              </a:spcAft>
            </a:pPr>
            <a:r>
              <a:rPr sz="1000" b="0">
                <a:solidFill>
                  <a:srgbClr val="FFFFFF"/>
                </a:solidFill>
                <a:latin typeface="Calibri"/>
              </a:rPr>
              <a:t>  Could be removed</a:t>
            </a:r>
          </a:p>
          <a:p>
            <a:pPr algn="l">
              <a:spcAft>
                <a:spcPts val="200"/>
              </a:spcAft>
            </a:pPr>
            <a:endParaRPr sz="1000" b="0">
              <a:solidFill>
                <a:srgbClr val="FFFFFF"/>
              </a:solidFill>
              <a:latin typeface="Calibri"/>
            </a:endParaRPr>
          </a:p>
          <a:p>
            <a:pPr algn="l">
              <a:spcAft>
                <a:spcPts val="200"/>
              </a:spcAft>
            </a:pPr>
            <a:r>
              <a:rPr sz="1000" b="0">
                <a:solidFill>
                  <a:srgbClr val="FFFFFF"/>
                </a:solidFill>
                <a:latin typeface="Calibri"/>
              </a:rPr>
              <a:t>Job was IGNORED in our</a:t>
            </a:r>
          </a:p>
          <a:p>
            <a:pPr algn="l">
              <a:spcAft>
                <a:spcPts val="200"/>
              </a:spcAft>
            </a:pPr>
            <a:r>
              <a:rPr sz="1000" b="0">
                <a:solidFill>
                  <a:srgbClr val="FFFFFF"/>
                </a:solidFill>
                <a:latin typeface="Calibri"/>
              </a:rPr>
              <a:t>bank tree — same idea!</a:t>
            </a:r>
          </a:p>
        </p:txBody>
      </p:sp>
      <p:sp>
        <p:nvSpPr>
          <p:cNvPr id="36" name="TextBox 35"/>
          <p:cNvSpPr txBox="1"/>
          <p:nvPr/>
        </p:nvSpPr>
        <p:spPr>
          <a:xfrm>
            <a:off x="274320" y="4846320"/>
            <a:ext cx="8595360" cy="256032"/>
          </a:xfrm>
          <a:prstGeom prst="rect">
            <a:avLst/>
          </a:prstGeom>
          <a:noFill/>
        </p:spPr>
        <p:txBody>
          <a:bodyPr wrap="square">
            <a:spAutoFit/>
          </a:bodyPr>
          <a:lstStyle/>
          <a:p>
            <a:pPr algn="l"/>
            <a:r>
              <a:rPr sz="1050" b="0" i="0">
                <a:solidFill>
                  <a:srgbClr val="00C2CB"/>
                </a:solidFill>
                <a:latin typeface="Consolas"/>
              </a:rPr>
              <a:t>rf.feature_importances_  →  returns an array of importance scores (sum = 1.0)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31</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Random Forest — Strengths &amp; Weaknesses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Know these before you choose your model</a:t>
            </a:r>
          </a:p>
        </p:txBody>
      </p:sp>
      <p:sp>
        <p:nvSpPr>
          <p:cNvPr id="8" name="Rectangle 7"/>
          <p:cNvSpPr/>
          <p:nvPr/>
        </p:nvSpPr>
        <p:spPr>
          <a:xfrm>
            <a:off x="274320" y="960120"/>
            <a:ext cx="4160520" cy="3749039"/>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416052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51560"/>
            <a:ext cx="3749039" cy="347472"/>
          </a:xfrm>
          <a:prstGeom prst="rect">
            <a:avLst/>
          </a:prstGeom>
          <a:noFill/>
        </p:spPr>
        <p:txBody>
          <a:bodyPr wrap="square">
            <a:spAutoFit/>
          </a:bodyPr>
          <a:lstStyle/>
          <a:p>
            <a:pPr algn="l"/>
            <a:r>
              <a:rPr sz="1400" b="1" i="0">
                <a:solidFill>
                  <a:srgbClr val="39D353"/>
                </a:solidFill>
                <a:latin typeface="Calibri"/>
              </a:rPr>
              <a:t>✅  Strengths</a:t>
            </a:r>
          </a:p>
        </p:txBody>
      </p:sp>
      <p:sp>
        <p:nvSpPr>
          <p:cNvPr id="11" name="TextBox 10"/>
          <p:cNvSpPr txBox="1"/>
          <p:nvPr/>
        </p:nvSpPr>
        <p:spPr>
          <a:xfrm>
            <a:off x="457200" y="1481328"/>
            <a:ext cx="3749039" cy="237744"/>
          </a:xfrm>
          <a:prstGeom prst="rect">
            <a:avLst/>
          </a:prstGeom>
          <a:noFill/>
        </p:spPr>
        <p:txBody>
          <a:bodyPr wrap="square">
            <a:spAutoFit/>
          </a:bodyPr>
          <a:lstStyle/>
          <a:p>
            <a:pPr algn="l"/>
            <a:r>
              <a:rPr sz="1100" b="1" i="0">
                <a:solidFill>
                  <a:srgbClr val="39D353"/>
                </a:solidFill>
                <a:latin typeface="Calibri"/>
              </a:rPr>
              <a:t>• Resistant to overfitting</a:t>
            </a:r>
          </a:p>
        </p:txBody>
      </p:sp>
      <p:sp>
        <p:nvSpPr>
          <p:cNvPr id="12" name="TextBox 11"/>
          <p:cNvSpPr txBox="1"/>
          <p:nvPr/>
        </p:nvSpPr>
        <p:spPr>
          <a:xfrm>
            <a:off x="457200" y="1700784"/>
            <a:ext cx="3749039" cy="219456"/>
          </a:xfrm>
          <a:prstGeom prst="rect">
            <a:avLst/>
          </a:prstGeom>
          <a:noFill/>
        </p:spPr>
        <p:txBody>
          <a:bodyPr wrap="square">
            <a:spAutoFit/>
          </a:bodyPr>
          <a:lstStyle/>
          <a:p>
            <a:pPr algn="l"/>
            <a:r>
              <a:rPr sz="1000" b="0" i="0">
                <a:solidFill>
                  <a:srgbClr val="7A92B8"/>
                </a:solidFill>
                <a:latin typeface="Calibri"/>
              </a:rPr>
              <a:t>Averaging many trees cancels out individual errors</a:t>
            </a:r>
          </a:p>
        </p:txBody>
      </p:sp>
      <p:sp>
        <p:nvSpPr>
          <p:cNvPr id="13" name="TextBox 12"/>
          <p:cNvSpPr txBox="1"/>
          <p:nvPr/>
        </p:nvSpPr>
        <p:spPr>
          <a:xfrm>
            <a:off x="457200" y="1938528"/>
            <a:ext cx="3749039" cy="237744"/>
          </a:xfrm>
          <a:prstGeom prst="rect">
            <a:avLst/>
          </a:prstGeom>
          <a:noFill/>
        </p:spPr>
        <p:txBody>
          <a:bodyPr wrap="square">
            <a:spAutoFit/>
          </a:bodyPr>
          <a:lstStyle/>
          <a:p>
            <a:pPr algn="l"/>
            <a:r>
              <a:rPr sz="1100" b="1" i="0">
                <a:solidFill>
                  <a:srgbClr val="39D353"/>
                </a:solidFill>
                <a:latin typeface="Calibri"/>
              </a:rPr>
              <a:t>• No feature scaling needed</a:t>
            </a:r>
          </a:p>
        </p:txBody>
      </p:sp>
      <p:sp>
        <p:nvSpPr>
          <p:cNvPr id="14" name="TextBox 13"/>
          <p:cNvSpPr txBox="1"/>
          <p:nvPr/>
        </p:nvSpPr>
        <p:spPr>
          <a:xfrm>
            <a:off x="457200" y="2157984"/>
            <a:ext cx="3749039" cy="219456"/>
          </a:xfrm>
          <a:prstGeom prst="rect">
            <a:avLst/>
          </a:prstGeom>
          <a:noFill/>
        </p:spPr>
        <p:txBody>
          <a:bodyPr wrap="square">
            <a:spAutoFit/>
          </a:bodyPr>
          <a:lstStyle/>
          <a:p>
            <a:pPr algn="l"/>
            <a:r>
              <a:rPr sz="1000" b="0" i="0">
                <a:solidFill>
                  <a:srgbClr val="7A92B8"/>
                </a:solidFill>
                <a:latin typeface="Calibri"/>
              </a:rPr>
              <a:t>Tree splits use thresholds, not distances</a:t>
            </a:r>
          </a:p>
        </p:txBody>
      </p:sp>
      <p:sp>
        <p:nvSpPr>
          <p:cNvPr id="15" name="TextBox 14"/>
          <p:cNvSpPr txBox="1"/>
          <p:nvPr/>
        </p:nvSpPr>
        <p:spPr>
          <a:xfrm>
            <a:off x="457200" y="2395728"/>
            <a:ext cx="3749039" cy="237744"/>
          </a:xfrm>
          <a:prstGeom prst="rect">
            <a:avLst/>
          </a:prstGeom>
          <a:noFill/>
        </p:spPr>
        <p:txBody>
          <a:bodyPr wrap="square">
            <a:spAutoFit/>
          </a:bodyPr>
          <a:lstStyle/>
          <a:p>
            <a:pPr algn="l"/>
            <a:r>
              <a:rPr sz="1100" b="1" i="0">
                <a:solidFill>
                  <a:srgbClr val="39D353"/>
                </a:solidFill>
                <a:latin typeface="Calibri"/>
              </a:rPr>
              <a:t>• Handles missing data</a:t>
            </a:r>
          </a:p>
        </p:txBody>
      </p:sp>
      <p:sp>
        <p:nvSpPr>
          <p:cNvPr id="16" name="TextBox 15"/>
          <p:cNvSpPr txBox="1"/>
          <p:nvPr/>
        </p:nvSpPr>
        <p:spPr>
          <a:xfrm>
            <a:off x="457200" y="2615184"/>
            <a:ext cx="3749039" cy="219456"/>
          </a:xfrm>
          <a:prstGeom prst="rect">
            <a:avLst/>
          </a:prstGeom>
          <a:noFill/>
        </p:spPr>
        <p:txBody>
          <a:bodyPr wrap="square">
            <a:spAutoFit/>
          </a:bodyPr>
          <a:lstStyle/>
          <a:p>
            <a:pPr algn="l"/>
            <a:r>
              <a:rPr sz="1000" b="0" i="0">
                <a:solidFill>
                  <a:srgbClr val="7A92B8"/>
                </a:solidFill>
                <a:latin typeface="Calibri"/>
              </a:rPr>
              <a:t>OOB samples provide automatic cross-validation</a:t>
            </a:r>
          </a:p>
        </p:txBody>
      </p:sp>
      <p:sp>
        <p:nvSpPr>
          <p:cNvPr id="17" name="TextBox 16"/>
          <p:cNvSpPr txBox="1"/>
          <p:nvPr/>
        </p:nvSpPr>
        <p:spPr>
          <a:xfrm>
            <a:off x="457200" y="2852928"/>
            <a:ext cx="3749039" cy="237744"/>
          </a:xfrm>
          <a:prstGeom prst="rect">
            <a:avLst/>
          </a:prstGeom>
          <a:noFill/>
        </p:spPr>
        <p:txBody>
          <a:bodyPr wrap="square">
            <a:spAutoFit/>
          </a:bodyPr>
          <a:lstStyle/>
          <a:p>
            <a:pPr algn="l"/>
            <a:r>
              <a:rPr sz="1100" b="1" i="0">
                <a:solidFill>
                  <a:srgbClr val="39D353"/>
                </a:solidFill>
                <a:latin typeface="Calibri"/>
              </a:rPr>
              <a:t>• Feature importance</a:t>
            </a:r>
          </a:p>
        </p:txBody>
      </p:sp>
      <p:sp>
        <p:nvSpPr>
          <p:cNvPr id="18" name="TextBox 17"/>
          <p:cNvSpPr txBox="1"/>
          <p:nvPr/>
        </p:nvSpPr>
        <p:spPr>
          <a:xfrm>
            <a:off x="457200" y="3072384"/>
            <a:ext cx="3749039" cy="219456"/>
          </a:xfrm>
          <a:prstGeom prst="rect">
            <a:avLst/>
          </a:prstGeom>
          <a:noFill/>
        </p:spPr>
        <p:txBody>
          <a:bodyPr wrap="square">
            <a:spAutoFit/>
          </a:bodyPr>
          <a:lstStyle/>
          <a:p>
            <a:pPr algn="l"/>
            <a:r>
              <a:rPr sz="1000" b="0" i="0">
                <a:solidFill>
                  <a:srgbClr val="7A92B8"/>
                </a:solidFill>
                <a:latin typeface="Calibri"/>
              </a:rPr>
              <a:t>Built-in ranking of which features matter</a:t>
            </a:r>
          </a:p>
        </p:txBody>
      </p:sp>
      <p:sp>
        <p:nvSpPr>
          <p:cNvPr id="19" name="TextBox 18"/>
          <p:cNvSpPr txBox="1"/>
          <p:nvPr/>
        </p:nvSpPr>
        <p:spPr>
          <a:xfrm>
            <a:off x="457200" y="3310128"/>
            <a:ext cx="3749039" cy="237744"/>
          </a:xfrm>
          <a:prstGeom prst="rect">
            <a:avLst/>
          </a:prstGeom>
          <a:noFill/>
        </p:spPr>
        <p:txBody>
          <a:bodyPr wrap="square">
            <a:spAutoFit/>
          </a:bodyPr>
          <a:lstStyle/>
          <a:p>
            <a:pPr algn="l"/>
            <a:r>
              <a:rPr sz="1100" b="1" i="0">
                <a:solidFill>
                  <a:srgbClr val="39D353"/>
                </a:solidFill>
                <a:latin typeface="Calibri"/>
              </a:rPr>
              <a:t>• Works out of the box</a:t>
            </a:r>
          </a:p>
        </p:txBody>
      </p:sp>
      <p:sp>
        <p:nvSpPr>
          <p:cNvPr id="20" name="TextBox 19"/>
          <p:cNvSpPr txBox="1"/>
          <p:nvPr/>
        </p:nvSpPr>
        <p:spPr>
          <a:xfrm>
            <a:off x="457200" y="3529584"/>
            <a:ext cx="3749039" cy="219456"/>
          </a:xfrm>
          <a:prstGeom prst="rect">
            <a:avLst/>
          </a:prstGeom>
          <a:noFill/>
        </p:spPr>
        <p:txBody>
          <a:bodyPr wrap="square">
            <a:spAutoFit/>
          </a:bodyPr>
          <a:lstStyle/>
          <a:p>
            <a:pPr algn="l"/>
            <a:r>
              <a:rPr sz="1000" b="0" i="0">
                <a:solidFill>
                  <a:srgbClr val="7A92B8"/>
                </a:solidFill>
                <a:latin typeface="Calibri"/>
              </a:rPr>
              <a:t>Good default settings, minimal tuning needed</a:t>
            </a:r>
          </a:p>
        </p:txBody>
      </p:sp>
      <p:sp>
        <p:nvSpPr>
          <p:cNvPr id="21" name="TextBox 20"/>
          <p:cNvSpPr txBox="1"/>
          <p:nvPr/>
        </p:nvSpPr>
        <p:spPr>
          <a:xfrm>
            <a:off x="457200" y="3767328"/>
            <a:ext cx="3749039" cy="237744"/>
          </a:xfrm>
          <a:prstGeom prst="rect">
            <a:avLst/>
          </a:prstGeom>
          <a:noFill/>
        </p:spPr>
        <p:txBody>
          <a:bodyPr wrap="square">
            <a:spAutoFit/>
          </a:bodyPr>
          <a:lstStyle/>
          <a:p>
            <a:pPr algn="l"/>
            <a:r>
              <a:rPr sz="1100" b="1" i="0">
                <a:solidFill>
                  <a:srgbClr val="39D353"/>
                </a:solidFill>
                <a:latin typeface="Calibri"/>
              </a:rPr>
              <a:t>• Handles both types</a:t>
            </a:r>
          </a:p>
        </p:txBody>
      </p:sp>
      <p:sp>
        <p:nvSpPr>
          <p:cNvPr id="22" name="TextBox 21"/>
          <p:cNvSpPr txBox="1"/>
          <p:nvPr/>
        </p:nvSpPr>
        <p:spPr>
          <a:xfrm>
            <a:off x="457200" y="3986784"/>
            <a:ext cx="3749039" cy="219456"/>
          </a:xfrm>
          <a:prstGeom prst="rect">
            <a:avLst/>
          </a:prstGeom>
          <a:noFill/>
        </p:spPr>
        <p:txBody>
          <a:bodyPr wrap="square">
            <a:spAutoFit/>
          </a:bodyPr>
          <a:lstStyle/>
          <a:p>
            <a:pPr algn="l"/>
            <a:r>
              <a:rPr sz="1000" b="0" i="0">
                <a:solidFill>
                  <a:srgbClr val="7A92B8"/>
                </a:solidFill>
                <a:latin typeface="Calibri"/>
              </a:rPr>
              <a:t>Classification AND regression with same code</a:t>
            </a:r>
          </a:p>
        </p:txBody>
      </p:sp>
      <p:sp>
        <p:nvSpPr>
          <p:cNvPr id="23" name="TextBox 22"/>
          <p:cNvSpPr txBox="1"/>
          <p:nvPr/>
        </p:nvSpPr>
        <p:spPr>
          <a:xfrm>
            <a:off x="457200" y="4224528"/>
            <a:ext cx="3749039" cy="237744"/>
          </a:xfrm>
          <a:prstGeom prst="rect">
            <a:avLst/>
          </a:prstGeom>
          <a:noFill/>
        </p:spPr>
        <p:txBody>
          <a:bodyPr wrap="square">
            <a:spAutoFit/>
          </a:bodyPr>
          <a:lstStyle/>
          <a:p>
            <a:pPr algn="l"/>
            <a:r>
              <a:rPr sz="1100" b="1" i="0">
                <a:solidFill>
                  <a:srgbClr val="39D353"/>
                </a:solidFill>
                <a:latin typeface="Calibri"/>
              </a:rPr>
              <a:t>• Parallel training</a:t>
            </a:r>
          </a:p>
        </p:txBody>
      </p:sp>
      <p:sp>
        <p:nvSpPr>
          <p:cNvPr id="24" name="TextBox 23"/>
          <p:cNvSpPr txBox="1"/>
          <p:nvPr/>
        </p:nvSpPr>
        <p:spPr>
          <a:xfrm>
            <a:off x="457200" y="4443984"/>
            <a:ext cx="3749039" cy="219456"/>
          </a:xfrm>
          <a:prstGeom prst="rect">
            <a:avLst/>
          </a:prstGeom>
          <a:noFill/>
        </p:spPr>
        <p:txBody>
          <a:bodyPr wrap="square">
            <a:spAutoFit/>
          </a:bodyPr>
          <a:lstStyle/>
          <a:p>
            <a:pPr algn="l"/>
            <a:r>
              <a:rPr sz="1000" b="0" i="0">
                <a:solidFill>
                  <a:srgbClr val="7A92B8"/>
                </a:solidFill>
                <a:latin typeface="Calibri"/>
              </a:rPr>
              <a:t>Each tree is independent — use all CPU cores</a:t>
            </a:r>
          </a:p>
        </p:txBody>
      </p:sp>
      <p:sp>
        <p:nvSpPr>
          <p:cNvPr id="25" name="Rectangle 24"/>
          <p:cNvSpPr/>
          <p:nvPr/>
        </p:nvSpPr>
        <p:spPr>
          <a:xfrm>
            <a:off x="4709160" y="960120"/>
            <a:ext cx="4160520" cy="3749039"/>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709160" y="960120"/>
            <a:ext cx="4160520" cy="5029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1051560"/>
            <a:ext cx="3749039" cy="347472"/>
          </a:xfrm>
          <a:prstGeom prst="rect">
            <a:avLst/>
          </a:prstGeom>
          <a:noFill/>
        </p:spPr>
        <p:txBody>
          <a:bodyPr wrap="square">
            <a:spAutoFit/>
          </a:bodyPr>
          <a:lstStyle/>
          <a:p>
            <a:pPr algn="l"/>
            <a:r>
              <a:rPr sz="1400" b="1" i="0">
                <a:solidFill>
                  <a:srgbClr val="FF4B4B"/>
                </a:solidFill>
                <a:latin typeface="Calibri"/>
              </a:rPr>
              <a:t>❌  Weaknesses</a:t>
            </a:r>
          </a:p>
        </p:txBody>
      </p:sp>
      <p:sp>
        <p:nvSpPr>
          <p:cNvPr id="28" name="TextBox 27"/>
          <p:cNvSpPr txBox="1"/>
          <p:nvPr/>
        </p:nvSpPr>
        <p:spPr>
          <a:xfrm>
            <a:off x="4892040" y="1481328"/>
            <a:ext cx="3749039" cy="237744"/>
          </a:xfrm>
          <a:prstGeom prst="rect">
            <a:avLst/>
          </a:prstGeom>
          <a:noFill/>
        </p:spPr>
        <p:txBody>
          <a:bodyPr wrap="square">
            <a:spAutoFit/>
          </a:bodyPr>
          <a:lstStyle/>
          <a:p>
            <a:pPr algn="l"/>
            <a:r>
              <a:rPr sz="1100" b="1" i="0">
                <a:solidFill>
                  <a:srgbClr val="FF4B4B"/>
                </a:solidFill>
                <a:latin typeface="Calibri"/>
              </a:rPr>
              <a:t>• Not interpretable</a:t>
            </a:r>
          </a:p>
        </p:txBody>
      </p:sp>
      <p:sp>
        <p:nvSpPr>
          <p:cNvPr id="29" name="TextBox 28"/>
          <p:cNvSpPr txBox="1"/>
          <p:nvPr/>
        </p:nvSpPr>
        <p:spPr>
          <a:xfrm>
            <a:off x="4892040" y="1700784"/>
            <a:ext cx="3749039" cy="310896"/>
          </a:xfrm>
          <a:prstGeom prst="rect">
            <a:avLst/>
          </a:prstGeom>
          <a:noFill/>
        </p:spPr>
        <p:txBody>
          <a:bodyPr wrap="square">
            <a:spAutoFit/>
          </a:bodyPr>
          <a:lstStyle/>
          <a:p>
            <a:pPr algn="l"/>
            <a:r>
              <a:rPr sz="1000" b="0" i="0">
                <a:solidFill>
                  <a:srgbClr val="7A92B8"/>
                </a:solidFill>
                <a:latin typeface="Calibri"/>
              </a:rPr>
              <a:t>You CAN'T read 100 trees like you can read 1 tree</a:t>
            </a:r>
          </a:p>
        </p:txBody>
      </p:sp>
      <p:sp>
        <p:nvSpPr>
          <p:cNvPr id="30" name="TextBox 29"/>
          <p:cNvSpPr txBox="1"/>
          <p:nvPr/>
        </p:nvSpPr>
        <p:spPr>
          <a:xfrm>
            <a:off x="4892040" y="2048256"/>
            <a:ext cx="3749039" cy="237744"/>
          </a:xfrm>
          <a:prstGeom prst="rect">
            <a:avLst/>
          </a:prstGeom>
          <a:noFill/>
        </p:spPr>
        <p:txBody>
          <a:bodyPr wrap="square">
            <a:spAutoFit/>
          </a:bodyPr>
          <a:lstStyle/>
          <a:p>
            <a:pPr algn="l"/>
            <a:r>
              <a:rPr sz="1100" b="1" i="0">
                <a:solidFill>
                  <a:srgbClr val="FF4B4B"/>
                </a:solidFill>
                <a:latin typeface="Calibri"/>
              </a:rPr>
              <a:t>• Slow for large data</a:t>
            </a:r>
          </a:p>
        </p:txBody>
      </p:sp>
      <p:sp>
        <p:nvSpPr>
          <p:cNvPr id="31" name="TextBox 30"/>
          <p:cNvSpPr txBox="1"/>
          <p:nvPr/>
        </p:nvSpPr>
        <p:spPr>
          <a:xfrm>
            <a:off x="4892040" y="2267712"/>
            <a:ext cx="3749039" cy="310896"/>
          </a:xfrm>
          <a:prstGeom prst="rect">
            <a:avLst/>
          </a:prstGeom>
          <a:noFill/>
        </p:spPr>
        <p:txBody>
          <a:bodyPr wrap="square">
            <a:spAutoFit/>
          </a:bodyPr>
          <a:lstStyle/>
          <a:p>
            <a:pPr algn="l"/>
            <a:r>
              <a:rPr sz="1000" b="0" i="0">
                <a:solidFill>
                  <a:srgbClr val="7A92B8"/>
                </a:solidFill>
                <a:latin typeface="Calibri"/>
              </a:rPr>
              <a:t>100+ trees × millions of rows = slow prediction</a:t>
            </a:r>
          </a:p>
        </p:txBody>
      </p:sp>
      <p:sp>
        <p:nvSpPr>
          <p:cNvPr id="32" name="TextBox 31"/>
          <p:cNvSpPr txBox="1"/>
          <p:nvPr/>
        </p:nvSpPr>
        <p:spPr>
          <a:xfrm>
            <a:off x="4892040" y="2615184"/>
            <a:ext cx="3749039" cy="237744"/>
          </a:xfrm>
          <a:prstGeom prst="rect">
            <a:avLst/>
          </a:prstGeom>
          <a:noFill/>
        </p:spPr>
        <p:txBody>
          <a:bodyPr wrap="square">
            <a:spAutoFit/>
          </a:bodyPr>
          <a:lstStyle/>
          <a:p>
            <a:pPr algn="l"/>
            <a:r>
              <a:rPr sz="1100" b="1" i="0">
                <a:solidFill>
                  <a:srgbClr val="FF4B4B"/>
                </a:solidFill>
                <a:latin typeface="Calibri"/>
              </a:rPr>
              <a:t>• Memory intensive</a:t>
            </a:r>
          </a:p>
        </p:txBody>
      </p:sp>
      <p:sp>
        <p:nvSpPr>
          <p:cNvPr id="33" name="TextBox 32"/>
          <p:cNvSpPr txBox="1"/>
          <p:nvPr/>
        </p:nvSpPr>
        <p:spPr>
          <a:xfrm>
            <a:off x="4892040" y="2834640"/>
            <a:ext cx="3749039" cy="310896"/>
          </a:xfrm>
          <a:prstGeom prst="rect">
            <a:avLst/>
          </a:prstGeom>
          <a:noFill/>
        </p:spPr>
        <p:txBody>
          <a:bodyPr wrap="square">
            <a:spAutoFit/>
          </a:bodyPr>
          <a:lstStyle/>
          <a:p>
            <a:pPr algn="l"/>
            <a:r>
              <a:rPr sz="1000" b="0" i="0">
                <a:solidFill>
                  <a:srgbClr val="7A92B8"/>
                </a:solidFill>
                <a:latin typeface="Calibri"/>
              </a:rPr>
              <a:t>Stores all N trees in memory simultaneously</a:t>
            </a:r>
          </a:p>
        </p:txBody>
      </p:sp>
      <p:sp>
        <p:nvSpPr>
          <p:cNvPr id="34" name="TextBox 33"/>
          <p:cNvSpPr txBox="1"/>
          <p:nvPr/>
        </p:nvSpPr>
        <p:spPr>
          <a:xfrm>
            <a:off x="4892040" y="3182112"/>
            <a:ext cx="3749039" cy="237744"/>
          </a:xfrm>
          <a:prstGeom prst="rect">
            <a:avLst/>
          </a:prstGeom>
          <a:noFill/>
        </p:spPr>
        <p:txBody>
          <a:bodyPr wrap="square">
            <a:spAutoFit/>
          </a:bodyPr>
          <a:lstStyle/>
          <a:p>
            <a:pPr algn="l"/>
            <a:r>
              <a:rPr sz="1100" b="1" i="0">
                <a:solidFill>
                  <a:srgbClr val="FF4B4B"/>
                </a:solidFill>
                <a:latin typeface="Calibri"/>
              </a:rPr>
              <a:t>• Can still overfit</a:t>
            </a:r>
          </a:p>
        </p:txBody>
      </p:sp>
      <p:sp>
        <p:nvSpPr>
          <p:cNvPr id="35" name="TextBox 34"/>
          <p:cNvSpPr txBox="1"/>
          <p:nvPr/>
        </p:nvSpPr>
        <p:spPr>
          <a:xfrm>
            <a:off x="4892040" y="3401568"/>
            <a:ext cx="3749039" cy="310896"/>
          </a:xfrm>
          <a:prstGeom prst="rect">
            <a:avLst/>
          </a:prstGeom>
          <a:noFill/>
        </p:spPr>
        <p:txBody>
          <a:bodyPr wrap="square">
            <a:spAutoFit/>
          </a:bodyPr>
          <a:lstStyle/>
          <a:p>
            <a:pPr algn="l"/>
            <a:r>
              <a:rPr sz="1000" b="0" i="0">
                <a:solidFill>
                  <a:srgbClr val="7A92B8"/>
                </a:solidFill>
                <a:latin typeface="Calibri"/>
              </a:rPr>
              <a:t>With very noisy features, the forest can still struggle</a:t>
            </a:r>
          </a:p>
        </p:txBody>
      </p:sp>
      <p:sp>
        <p:nvSpPr>
          <p:cNvPr id="36" name="TextBox 35"/>
          <p:cNvSpPr txBox="1"/>
          <p:nvPr/>
        </p:nvSpPr>
        <p:spPr>
          <a:xfrm>
            <a:off x="4892040" y="3749039"/>
            <a:ext cx="3749039" cy="237744"/>
          </a:xfrm>
          <a:prstGeom prst="rect">
            <a:avLst/>
          </a:prstGeom>
          <a:noFill/>
        </p:spPr>
        <p:txBody>
          <a:bodyPr wrap="square">
            <a:spAutoFit/>
          </a:bodyPr>
          <a:lstStyle/>
          <a:p>
            <a:pPr algn="l"/>
            <a:r>
              <a:rPr sz="1100" b="1" i="0">
                <a:solidFill>
                  <a:srgbClr val="FF4B4B"/>
                </a:solidFill>
                <a:latin typeface="Calibri"/>
              </a:rPr>
              <a:t>• Extrapolation fails</a:t>
            </a:r>
          </a:p>
        </p:txBody>
      </p:sp>
      <p:sp>
        <p:nvSpPr>
          <p:cNvPr id="37" name="TextBox 36"/>
          <p:cNvSpPr txBox="1"/>
          <p:nvPr/>
        </p:nvSpPr>
        <p:spPr>
          <a:xfrm>
            <a:off x="4892040" y="3968496"/>
            <a:ext cx="3749039" cy="310896"/>
          </a:xfrm>
          <a:prstGeom prst="rect">
            <a:avLst/>
          </a:prstGeom>
          <a:noFill/>
        </p:spPr>
        <p:txBody>
          <a:bodyPr wrap="square">
            <a:spAutoFit/>
          </a:bodyPr>
          <a:lstStyle/>
          <a:p>
            <a:pPr algn="l"/>
            <a:r>
              <a:rPr sz="1000" b="0" i="0">
                <a:solidFill>
                  <a:srgbClr val="7A92B8"/>
                </a:solidFill>
                <a:latin typeface="Calibri"/>
              </a:rPr>
              <a:t>Trees can't predict values outside training range</a:t>
            </a:r>
          </a:p>
        </p:txBody>
      </p:sp>
      <p:sp>
        <p:nvSpPr>
          <p:cNvPr id="38" name="TextBox 37"/>
          <p:cNvSpPr txBox="1"/>
          <p:nvPr/>
        </p:nvSpPr>
        <p:spPr>
          <a:xfrm>
            <a:off x="274320" y="4791456"/>
            <a:ext cx="8595360" cy="253916"/>
          </a:xfrm>
          <a:prstGeom prst="rect">
            <a:avLst/>
          </a:prstGeom>
          <a:noFill/>
        </p:spPr>
        <p:txBody>
          <a:bodyPr wrap="square">
            <a:spAutoFit/>
          </a:bodyPr>
          <a:lstStyle/>
          <a:p>
            <a:pPr algn="l"/>
            <a:r>
              <a:rPr sz="1050" b="0" i="0" dirty="0">
                <a:solidFill>
                  <a:srgbClr val="FFC400"/>
                </a:solidFill>
                <a:latin typeface="Calibri"/>
              </a:rPr>
              <a:t> Rule of thumb: Start with Random Forest. If you need better accuracy, switch to </a:t>
            </a:r>
            <a:r>
              <a:rPr sz="1050" b="0" i="0" dirty="0" err="1">
                <a:solidFill>
                  <a:srgbClr val="FFC400"/>
                </a:solidFill>
                <a:latin typeface="Calibri"/>
              </a:rPr>
              <a:t>XGBoost</a:t>
            </a:r>
            <a:r>
              <a:rPr sz="1050" b="0" i="0" dirty="0">
                <a:solidFill>
                  <a:srgbClr val="FFC400"/>
                </a:solidFill>
                <a:latin typeface="Calibri"/>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39D353"/>
                </a:solidFill>
                <a:latin typeface="Arial Black"/>
              </a:rPr>
              <a:t>06</a:t>
            </a:r>
          </a:p>
        </p:txBody>
      </p:sp>
      <p:sp>
        <p:nvSpPr>
          <p:cNvPr id="5" name="TextBox 4"/>
          <p:cNvSpPr txBox="1"/>
          <p:nvPr/>
        </p:nvSpPr>
        <p:spPr>
          <a:xfrm>
            <a:off x="457200" y="3200400"/>
            <a:ext cx="7623544" cy="615553"/>
          </a:xfrm>
          <a:prstGeom prst="rect">
            <a:avLst/>
          </a:prstGeom>
          <a:noFill/>
        </p:spPr>
        <p:txBody>
          <a:bodyPr wrap="square">
            <a:spAutoFit/>
          </a:bodyPr>
          <a:lstStyle/>
          <a:p>
            <a:pPr algn="l"/>
            <a:r>
              <a:rPr sz="3400" b="1" i="0" dirty="0" err="1">
                <a:solidFill>
                  <a:srgbClr val="FFFFFF"/>
                </a:solidFill>
                <a:latin typeface="Calibri"/>
              </a:rPr>
              <a:t>XGBoost</a:t>
            </a:r>
            <a:r>
              <a:rPr sz="3400" b="1" i="0" dirty="0">
                <a:solidFill>
                  <a:srgbClr val="FFFFFF"/>
                </a:solidFill>
                <a:latin typeface="Calibri"/>
              </a:rPr>
              <a:t> — Extreme Gradient Boosting</a:t>
            </a:r>
          </a:p>
        </p:txBody>
      </p:sp>
      <p:sp>
        <p:nvSpPr>
          <p:cNvPr id="6" name="Rectangle 5"/>
          <p:cNvSpPr/>
          <p:nvPr/>
        </p:nvSpPr>
        <p:spPr>
          <a:xfrm>
            <a:off x="457200" y="3063240"/>
            <a:ext cx="3657600" cy="54864"/>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33</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XGBoost — Extreme Gradient Boosting</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 algorithm that dominates data science competitions worldwide</a:t>
            </a:r>
          </a:p>
        </p:txBody>
      </p:sp>
      <p:sp>
        <p:nvSpPr>
          <p:cNvPr id="8" name="Rectangle 7"/>
          <p:cNvSpPr/>
          <p:nvPr/>
        </p:nvSpPr>
        <p:spPr>
          <a:xfrm>
            <a:off x="274320" y="960120"/>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384048"/>
          </a:xfrm>
          <a:prstGeom prst="rect">
            <a:avLst/>
          </a:prstGeom>
          <a:noFill/>
        </p:spPr>
        <p:txBody>
          <a:bodyPr wrap="square">
            <a:spAutoFit/>
          </a:bodyPr>
          <a:lstStyle/>
          <a:p>
            <a:pPr algn="ctr"/>
            <a:r>
              <a:rPr sz="1300" b="1" i="0">
                <a:solidFill>
                  <a:srgbClr val="FFFFFF"/>
                </a:solidFill>
                <a:latin typeface="Calibri"/>
              </a:rPr>
              <a:t>Key Idea: Build trees SEQUENTIALLY — each new tree focuses on correcting the errors of all previous trees</a:t>
            </a:r>
          </a:p>
        </p:txBody>
      </p:sp>
      <p:sp>
        <p:nvSpPr>
          <p:cNvPr id="11" name="Rectangle 10"/>
          <p:cNvSpPr/>
          <p:nvPr/>
        </p:nvSpPr>
        <p:spPr>
          <a:xfrm>
            <a:off x="274320" y="1664208"/>
            <a:ext cx="1938528" cy="1737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64208"/>
            <a:ext cx="50292" cy="173736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737360"/>
            <a:ext cx="1755648" cy="384048"/>
          </a:xfrm>
          <a:prstGeom prst="rect">
            <a:avLst/>
          </a:prstGeom>
          <a:noFill/>
        </p:spPr>
        <p:txBody>
          <a:bodyPr wrap="square">
            <a:spAutoFit/>
          </a:bodyPr>
          <a:lstStyle/>
          <a:p>
            <a:pPr algn="l"/>
            <a:r>
              <a:rPr sz="1150" b="1" i="0">
                <a:solidFill>
                  <a:srgbClr val="00C2CB"/>
                </a:solidFill>
                <a:latin typeface="Calibri"/>
              </a:rPr>
              <a:t>Tree 1
(shallow)</a:t>
            </a:r>
          </a:p>
        </p:txBody>
      </p:sp>
      <p:sp>
        <p:nvSpPr>
          <p:cNvPr id="14" name="TextBox 13"/>
          <p:cNvSpPr txBox="1"/>
          <p:nvPr/>
        </p:nvSpPr>
        <p:spPr>
          <a:xfrm>
            <a:off x="365760" y="2148840"/>
            <a:ext cx="1755648" cy="384048"/>
          </a:xfrm>
          <a:prstGeom prst="rect">
            <a:avLst/>
          </a:prstGeom>
          <a:noFill/>
        </p:spPr>
        <p:txBody>
          <a:bodyPr wrap="square">
            <a:spAutoFit/>
          </a:bodyPr>
          <a:lstStyle/>
          <a:p>
            <a:pPr algn="l"/>
            <a:r>
              <a:rPr sz="950" b="0" i="0">
                <a:solidFill>
                  <a:srgbClr val="7A92B8"/>
                </a:solidFill>
                <a:latin typeface="Calibri"/>
              </a:rPr>
              <a:t>Predicts using
all features</a:t>
            </a:r>
          </a:p>
        </p:txBody>
      </p:sp>
      <p:sp>
        <p:nvSpPr>
          <p:cNvPr id="15" name="Rectangle 14"/>
          <p:cNvSpPr/>
          <p:nvPr/>
        </p:nvSpPr>
        <p:spPr>
          <a:xfrm>
            <a:off x="347472" y="2578608"/>
            <a:ext cx="1792224" cy="4572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651760"/>
            <a:ext cx="1755648" cy="621792"/>
          </a:xfrm>
          <a:prstGeom prst="rect">
            <a:avLst/>
          </a:prstGeom>
          <a:noFill/>
        </p:spPr>
        <p:txBody>
          <a:bodyPr wrap="square">
            <a:spAutoFit/>
          </a:bodyPr>
          <a:lstStyle/>
          <a:p>
            <a:pPr algn="l"/>
            <a:r>
              <a:rPr sz="1100" b="0" i="0">
                <a:solidFill>
                  <a:srgbClr val="FFFFFF"/>
                </a:solidFill>
                <a:latin typeface="Calibri"/>
              </a:rPr>
              <a:t>89 errors
remaining</a:t>
            </a:r>
          </a:p>
        </p:txBody>
      </p:sp>
      <p:sp>
        <p:nvSpPr>
          <p:cNvPr id="17" name="TextBox 16"/>
          <p:cNvSpPr txBox="1"/>
          <p:nvPr/>
        </p:nvSpPr>
        <p:spPr>
          <a:xfrm>
            <a:off x="2121408" y="2240280"/>
            <a:ext cx="365760" cy="384048"/>
          </a:xfrm>
          <a:prstGeom prst="rect">
            <a:avLst/>
          </a:prstGeom>
          <a:noFill/>
        </p:spPr>
        <p:txBody>
          <a:bodyPr wrap="square">
            <a:spAutoFit/>
          </a:bodyPr>
          <a:lstStyle/>
          <a:p>
            <a:pPr algn="ctr"/>
            <a:r>
              <a:rPr sz="1600" b="0" i="0">
                <a:solidFill>
                  <a:srgbClr val="00C2CB"/>
                </a:solidFill>
                <a:latin typeface="Calibri"/>
              </a:rPr>
              <a:t>→</a:t>
            </a:r>
          </a:p>
        </p:txBody>
      </p:sp>
      <p:sp>
        <p:nvSpPr>
          <p:cNvPr id="18" name="Rectangle 17"/>
          <p:cNvSpPr/>
          <p:nvPr/>
        </p:nvSpPr>
        <p:spPr>
          <a:xfrm>
            <a:off x="2450591" y="1664208"/>
            <a:ext cx="1938528" cy="1737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450591" y="1664208"/>
            <a:ext cx="50292" cy="173736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42032" y="1737360"/>
            <a:ext cx="1755648" cy="384048"/>
          </a:xfrm>
          <a:prstGeom prst="rect">
            <a:avLst/>
          </a:prstGeom>
          <a:noFill/>
        </p:spPr>
        <p:txBody>
          <a:bodyPr wrap="square">
            <a:spAutoFit/>
          </a:bodyPr>
          <a:lstStyle/>
          <a:p>
            <a:pPr algn="l"/>
            <a:r>
              <a:rPr sz="1150" b="1" i="0">
                <a:solidFill>
                  <a:srgbClr val="39D353"/>
                </a:solidFill>
                <a:latin typeface="Calibri"/>
              </a:rPr>
              <a:t>Tree 2
(shallow)</a:t>
            </a:r>
          </a:p>
        </p:txBody>
      </p:sp>
      <p:sp>
        <p:nvSpPr>
          <p:cNvPr id="21" name="TextBox 20"/>
          <p:cNvSpPr txBox="1"/>
          <p:nvPr/>
        </p:nvSpPr>
        <p:spPr>
          <a:xfrm>
            <a:off x="2542032" y="2148840"/>
            <a:ext cx="1755648" cy="384048"/>
          </a:xfrm>
          <a:prstGeom prst="rect">
            <a:avLst/>
          </a:prstGeom>
          <a:noFill/>
        </p:spPr>
        <p:txBody>
          <a:bodyPr wrap="square">
            <a:spAutoFit/>
          </a:bodyPr>
          <a:lstStyle/>
          <a:p>
            <a:pPr algn="l"/>
            <a:r>
              <a:rPr sz="950" b="0" i="0">
                <a:solidFill>
                  <a:srgbClr val="7A92B8"/>
                </a:solidFill>
                <a:latin typeface="Calibri"/>
              </a:rPr>
              <a:t>Corrects Tree 1's
worst mistakes</a:t>
            </a:r>
          </a:p>
        </p:txBody>
      </p:sp>
      <p:sp>
        <p:nvSpPr>
          <p:cNvPr id="22" name="Rectangle 21"/>
          <p:cNvSpPr/>
          <p:nvPr/>
        </p:nvSpPr>
        <p:spPr>
          <a:xfrm>
            <a:off x="2523744" y="2578608"/>
            <a:ext cx="1792224" cy="4572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42032" y="2651760"/>
            <a:ext cx="1755648" cy="621792"/>
          </a:xfrm>
          <a:prstGeom prst="rect">
            <a:avLst/>
          </a:prstGeom>
          <a:noFill/>
        </p:spPr>
        <p:txBody>
          <a:bodyPr wrap="square">
            <a:spAutoFit/>
          </a:bodyPr>
          <a:lstStyle/>
          <a:p>
            <a:pPr algn="l"/>
            <a:r>
              <a:rPr sz="1100" b="0" i="0">
                <a:solidFill>
                  <a:srgbClr val="FFFFFF"/>
                </a:solidFill>
                <a:latin typeface="Calibri"/>
              </a:rPr>
              <a:t>52 errors
remaining</a:t>
            </a:r>
          </a:p>
        </p:txBody>
      </p:sp>
      <p:sp>
        <p:nvSpPr>
          <p:cNvPr id="24" name="TextBox 23"/>
          <p:cNvSpPr txBox="1"/>
          <p:nvPr/>
        </p:nvSpPr>
        <p:spPr>
          <a:xfrm>
            <a:off x="4297679" y="2240280"/>
            <a:ext cx="365760" cy="384048"/>
          </a:xfrm>
          <a:prstGeom prst="rect">
            <a:avLst/>
          </a:prstGeom>
          <a:noFill/>
        </p:spPr>
        <p:txBody>
          <a:bodyPr wrap="square">
            <a:spAutoFit/>
          </a:bodyPr>
          <a:lstStyle/>
          <a:p>
            <a:pPr algn="ctr"/>
            <a:r>
              <a:rPr sz="1600" b="0" i="0">
                <a:solidFill>
                  <a:srgbClr val="00C2CB"/>
                </a:solidFill>
                <a:latin typeface="Calibri"/>
              </a:rPr>
              <a:t>→</a:t>
            </a:r>
          </a:p>
        </p:txBody>
      </p:sp>
      <p:sp>
        <p:nvSpPr>
          <p:cNvPr id="25" name="Rectangle 24"/>
          <p:cNvSpPr/>
          <p:nvPr/>
        </p:nvSpPr>
        <p:spPr>
          <a:xfrm>
            <a:off x="4626864" y="1664208"/>
            <a:ext cx="1938528" cy="1737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626864" y="1664208"/>
            <a:ext cx="50292" cy="17373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18303" y="1737360"/>
            <a:ext cx="1755648" cy="384048"/>
          </a:xfrm>
          <a:prstGeom prst="rect">
            <a:avLst/>
          </a:prstGeom>
          <a:noFill/>
        </p:spPr>
        <p:txBody>
          <a:bodyPr wrap="square">
            <a:spAutoFit/>
          </a:bodyPr>
          <a:lstStyle/>
          <a:p>
            <a:pPr algn="l"/>
            <a:r>
              <a:rPr sz="1150" b="1" i="0">
                <a:solidFill>
                  <a:srgbClr val="FFC400"/>
                </a:solidFill>
                <a:latin typeface="Calibri"/>
              </a:rPr>
              <a:t>Tree 3
(shallow)</a:t>
            </a:r>
          </a:p>
        </p:txBody>
      </p:sp>
      <p:sp>
        <p:nvSpPr>
          <p:cNvPr id="28" name="TextBox 27"/>
          <p:cNvSpPr txBox="1"/>
          <p:nvPr/>
        </p:nvSpPr>
        <p:spPr>
          <a:xfrm>
            <a:off x="4718303" y="2148840"/>
            <a:ext cx="1755648" cy="384048"/>
          </a:xfrm>
          <a:prstGeom prst="rect">
            <a:avLst/>
          </a:prstGeom>
          <a:noFill/>
        </p:spPr>
        <p:txBody>
          <a:bodyPr wrap="square">
            <a:spAutoFit/>
          </a:bodyPr>
          <a:lstStyle/>
          <a:p>
            <a:pPr algn="l"/>
            <a:r>
              <a:rPr sz="950" b="0" i="0">
                <a:solidFill>
                  <a:srgbClr val="7A92B8"/>
                </a:solidFill>
                <a:latin typeface="Calibri"/>
              </a:rPr>
              <a:t>Corrects Trees
1+2 mistakes</a:t>
            </a:r>
          </a:p>
        </p:txBody>
      </p:sp>
      <p:sp>
        <p:nvSpPr>
          <p:cNvPr id="29" name="Rectangle 28"/>
          <p:cNvSpPr/>
          <p:nvPr/>
        </p:nvSpPr>
        <p:spPr>
          <a:xfrm>
            <a:off x="4700016" y="2578608"/>
            <a:ext cx="1792224" cy="4572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18303" y="2651760"/>
            <a:ext cx="1755648" cy="621792"/>
          </a:xfrm>
          <a:prstGeom prst="rect">
            <a:avLst/>
          </a:prstGeom>
          <a:noFill/>
        </p:spPr>
        <p:txBody>
          <a:bodyPr wrap="square">
            <a:spAutoFit/>
          </a:bodyPr>
          <a:lstStyle/>
          <a:p>
            <a:pPr algn="l"/>
            <a:r>
              <a:rPr sz="1100" b="0" i="0">
                <a:solidFill>
                  <a:srgbClr val="FFFFFF"/>
                </a:solidFill>
                <a:latin typeface="Calibri"/>
              </a:rPr>
              <a:t>34 errors
remaining</a:t>
            </a:r>
          </a:p>
        </p:txBody>
      </p:sp>
      <p:sp>
        <p:nvSpPr>
          <p:cNvPr id="31" name="TextBox 30"/>
          <p:cNvSpPr txBox="1"/>
          <p:nvPr/>
        </p:nvSpPr>
        <p:spPr>
          <a:xfrm>
            <a:off x="6473952" y="2240280"/>
            <a:ext cx="365760" cy="384048"/>
          </a:xfrm>
          <a:prstGeom prst="rect">
            <a:avLst/>
          </a:prstGeom>
          <a:noFill/>
        </p:spPr>
        <p:txBody>
          <a:bodyPr wrap="square">
            <a:spAutoFit/>
          </a:bodyPr>
          <a:lstStyle/>
          <a:p>
            <a:pPr algn="ctr"/>
            <a:r>
              <a:rPr sz="1600" b="0" i="0">
                <a:solidFill>
                  <a:srgbClr val="00C2CB"/>
                </a:solidFill>
                <a:latin typeface="Calibri"/>
              </a:rPr>
              <a:t>→</a:t>
            </a:r>
          </a:p>
        </p:txBody>
      </p:sp>
      <p:sp>
        <p:nvSpPr>
          <p:cNvPr id="32" name="Rectangle 31"/>
          <p:cNvSpPr/>
          <p:nvPr/>
        </p:nvSpPr>
        <p:spPr>
          <a:xfrm>
            <a:off x="6803136" y="1664208"/>
            <a:ext cx="1938528" cy="173736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03136" y="1664208"/>
            <a:ext cx="50292" cy="173736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94575" y="1737360"/>
            <a:ext cx="1755648" cy="384048"/>
          </a:xfrm>
          <a:prstGeom prst="rect">
            <a:avLst/>
          </a:prstGeom>
          <a:noFill/>
        </p:spPr>
        <p:txBody>
          <a:bodyPr wrap="square">
            <a:spAutoFit/>
          </a:bodyPr>
          <a:lstStyle/>
          <a:p>
            <a:pPr algn="l"/>
            <a:r>
              <a:rPr sz="1150" b="1" i="0">
                <a:solidFill>
                  <a:srgbClr val="FF4D88"/>
                </a:solidFill>
                <a:latin typeface="Calibri"/>
              </a:rPr>
              <a:t>Tree N
(N=100)</a:t>
            </a:r>
          </a:p>
        </p:txBody>
      </p:sp>
      <p:sp>
        <p:nvSpPr>
          <p:cNvPr id="35" name="TextBox 34"/>
          <p:cNvSpPr txBox="1"/>
          <p:nvPr/>
        </p:nvSpPr>
        <p:spPr>
          <a:xfrm>
            <a:off x="6894575" y="2148840"/>
            <a:ext cx="1755648" cy="384048"/>
          </a:xfrm>
          <a:prstGeom prst="rect">
            <a:avLst/>
          </a:prstGeom>
          <a:noFill/>
        </p:spPr>
        <p:txBody>
          <a:bodyPr wrap="square">
            <a:spAutoFit/>
          </a:bodyPr>
          <a:lstStyle/>
          <a:p>
            <a:pPr algn="l"/>
            <a:r>
              <a:rPr sz="950" b="0" i="0">
                <a:solidFill>
                  <a:srgbClr val="7A92B8"/>
                </a:solidFill>
                <a:latin typeface="Calibri"/>
              </a:rPr>
              <a:t>Keeps correcting
residual errors</a:t>
            </a:r>
          </a:p>
        </p:txBody>
      </p:sp>
      <p:sp>
        <p:nvSpPr>
          <p:cNvPr id="36" name="Rectangle 35"/>
          <p:cNvSpPr/>
          <p:nvPr/>
        </p:nvSpPr>
        <p:spPr>
          <a:xfrm>
            <a:off x="6876288" y="2578608"/>
            <a:ext cx="1792224" cy="4572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94575" y="2651760"/>
            <a:ext cx="1755648" cy="621792"/>
          </a:xfrm>
          <a:prstGeom prst="rect">
            <a:avLst/>
          </a:prstGeom>
          <a:noFill/>
        </p:spPr>
        <p:txBody>
          <a:bodyPr wrap="square">
            <a:spAutoFit/>
          </a:bodyPr>
          <a:lstStyle/>
          <a:p>
            <a:pPr algn="l"/>
            <a:r>
              <a:rPr sz="1100" b="0" i="0">
                <a:solidFill>
                  <a:srgbClr val="FFFFFF"/>
                </a:solidFill>
                <a:latin typeface="Calibri"/>
              </a:rPr>
              <a:t>~18 errors
remaining</a:t>
            </a:r>
          </a:p>
        </p:txBody>
      </p:sp>
      <p:sp>
        <p:nvSpPr>
          <p:cNvPr id="38" name="Rectangle 37"/>
          <p:cNvSpPr/>
          <p:nvPr/>
        </p:nvSpPr>
        <p:spPr>
          <a:xfrm>
            <a:off x="274320" y="3493008"/>
            <a:ext cx="8595360" cy="457200"/>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3547872"/>
            <a:ext cx="8229600" cy="347472"/>
          </a:xfrm>
          <a:prstGeom prst="rect">
            <a:avLst/>
          </a:prstGeom>
          <a:noFill/>
        </p:spPr>
        <p:txBody>
          <a:bodyPr wrap="square">
            <a:spAutoFit/>
          </a:bodyPr>
          <a:lstStyle/>
          <a:p>
            <a:pPr algn="ctr"/>
            <a:r>
              <a:rPr sz="1250" b="1" i="0">
                <a:solidFill>
                  <a:srgbClr val="0F1B2D"/>
                </a:solidFill>
                <a:latin typeface="Calibri"/>
              </a:rPr>
              <a:t>Final Prediction = Weighted Sum of ALL 100 Trees  →  Much more accurate than any single tree!</a:t>
            </a:r>
          </a:p>
        </p:txBody>
      </p:sp>
      <p:sp>
        <p:nvSpPr>
          <p:cNvPr id="40" name="Rectangle 39"/>
          <p:cNvSpPr/>
          <p:nvPr/>
        </p:nvSpPr>
        <p:spPr>
          <a:xfrm>
            <a:off x="274320" y="4041648"/>
            <a:ext cx="859536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4041648"/>
            <a:ext cx="50292" cy="9144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7200" y="4114800"/>
            <a:ext cx="8229600" cy="777240"/>
          </a:xfrm>
          <a:prstGeom prst="rect">
            <a:avLst/>
          </a:prstGeom>
          <a:noFill/>
        </p:spPr>
        <p:txBody>
          <a:bodyPr wrap="square">
            <a:spAutoFit/>
          </a:bodyPr>
          <a:lstStyle/>
          <a:p>
            <a:pPr algn="l">
              <a:spcAft>
                <a:spcPts val="200"/>
              </a:spcAft>
            </a:pPr>
            <a:r>
              <a:rPr sz="1100" b="0">
                <a:solidFill>
                  <a:srgbClr val="FFFFFF"/>
                </a:solidFill>
                <a:latin typeface="Calibri"/>
              </a:rPr>
              <a:t>Why is this called GRADIENT Boosting?   Each new tree is trained on the RESIDUALS (errors) of the previous predictions.</a:t>
            </a:r>
          </a:p>
          <a:p>
            <a:pPr algn="l">
              <a:spcAft>
                <a:spcPts val="200"/>
              </a:spcAft>
            </a:pPr>
            <a:r>
              <a:rPr sz="1100" b="0">
                <a:solidFill>
                  <a:srgbClr val="FFFFFF"/>
                </a:solidFill>
                <a:latin typeface="Calibri"/>
              </a:rPr>
              <a:t>This is equivalent to performing gradient descent in function space — the model 'descends' toward lower error.</a:t>
            </a:r>
          </a:p>
          <a:p>
            <a:pPr algn="l">
              <a:spcAft>
                <a:spcPts val="200"/>
              </a:spcAft>
            </a:pPr>
            <a:r>
              <a:rPr sz="1100" b="0">
                <a:solidFill>
                  <a:srgbClr val="FFFFFF"/>
                </a:solidFill>
                <a:latin typeface="Calibri"/>
              </a:rPr>
              <a:t>XGBoost adds: regularization (L1/L2), second-order optimization, parallel computation → faster and more accurate than basic GBM.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34</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XGBoost — Hyperparameters Deep Dive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Understanding what each parameter controls and why it matters</a:t>
            </a:r>
          </a:p>
        </p:txBody>
      </p:sp>
      <p:sp>
        <p:nvSpPr>
          <p:cNvPr id="8" name="Rectangle 7"/>
          <p:cNvSpPr/>
          <p:nvPr/>
        </p:nvSpPr>
        <p:spPr>
          <a:xfrm>
            <a:off x="274320" y="960120"/>
            <a:ext cx="8595360" cy="34747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987552"/>
            <a:ext cx="1645920" cy="274320"/>
          </a:xfrm>
          <a:prstGeom prst="rect">
            <a:avLst/>
          </a:prstGeom>
          <a:noFill/>
        </p:spPr>
        <p:txBody>
          <a:bodyPr wrap="square">
            <a:spAutoFit/>
          </a:bodyPr>
          <a:lstStyle/>
          <a:p>
            <a:pPr algn="l"/>
            <a:r>
              <a:rPr sz="1050" b="1" i="0">
                <a:solidFill>
                  <a:srgbClr val="39D353"/>
                </a:solidFill>
                <a:latin typeface="Calibri"/>
              </a:rPr>
              <a:t>Parameter</a:t>
            </a:r>
          </a:p>
        </p:txBody>
      </p:sp>
      <p:sp>
        <p:nvSpPr>
          <p:cNvPr id="10" name="TextBox 9"/>
          <p:cNvSpPr txBox="1"/>
          <p:nvPr/>
        </p:nvSpPr>
        <p:spPr>
          <a:xfrm>
            <a:off x="1920240" y="987552"/>
            <a:ext cx="1645920" cy="274320"/>
          </a:xfrm>
          <a:prstGeom prst="rect">
            <a:avLst/>
          </a:prstGeom>
          <a:noFill/>
        </p:spPr>
        <p:txBody>
          <a:bodyPr wrap="square">
            <a:spAutoFit/>
          </a:bodyPr>
          <a:lstStyle/>
          <a:p>
            <a:pPr algn="l"/>
            <a:r>
              <a:rPr sz="1050" b="1" i="0">
                <a:solidFill>
                  <a:srgbClr val="39D353"/>
                </a:solidFill>
                <a:latin typeface="Calibri"/>
              </a:rPr>
              <a:t>Default</a:t>
            </a:r>
          </a:p>
        </p:txBody>
      </p:sp>
      <p:sp>
        <p:nvSpPr>
          <p:cNvPr id="11" name="TextBox 10"/>
          <p:cNvSpPr txBox="1"/>
          <p:nvPr/>
        </p:nvSpPr>
        <p:spPr>
          <a:xfrm>
            <a:off x="2743200" y="987552"/>
            <a:ext cx="1645920" cy="274320"/>
          </a:xfrm>
          <a:prstGeom prst="rect">
            <a:avLst/>
          </a:prstGeom>
          <a:noFill/>
        </p:spPr>
        <p:txBody>
          <a:bodyPr wrap="square">
            <a:spAutoFit/>
          </a:bodyPr>
          <a:lstStyle/>
          <a:p>
            <a:pPr algn="l"/>
            <a:r>
              <a:rPr sz="1050" b="1" i="0">
                <a:solidFill>
                  <a:srgbClr val="39D353"/>
                </a:solidFill>
                <a:latin typeface="Calibri"/>
              </a:rPr>
              <a:t>Recommended</a:t>
            </a:r>
          </a:p>
        </p:txBody>
      </p:sp>
      <p:sp>
        <p:nvSpPr>
          <p:cNvPr id="12" name="TextBox 11"/>
          <p:cNvSpPr txBox="1"/>
          <p:nvPr/>
        </p:nvSpPr>
        <p:spPr>
          <a:xfrm>
            <a:off x="4434840" y="987552"/>
            <a:ext cx="1645920" cy="274320"/>
          </a:xfrm>
          <a:prstGeom prst="rect">
            <a:avLst/>
          </a:prstGeom>
          <a:noFill/>
        </p:spPr>
        <p:txBody>
          <a:bodyPr wrap="square">
            <a:spAutoFit/>
          </a:bodyPr>
          <a:lstStyle/>
          <a:p>
            <a:pPr algn="l"/>
            <a:r>
              <a:rPr sz="1050" b="1" i="0">
                <a:solidFill>
                  <a:srgbClr val="39D353"/>
                </a:solidFill>
                <a:latin typeface="Calibri"/>
              </a:rPr>
              <a:t>Why It Matters</a:t>
            </a:r>
          </a:p>
        </p:txBody>
      </p:sp>
      <p:sp>
        <p:nvSpPr>
          <p:cNvPr id="13" name="Rectangle 12"/>
          <p:cNvSpPr/>
          <p:nvPr/>
        </p:nvSpPr>
        <p:spPr>
          <a:xfrm>
            <a:off x="274320" y="1353312"/>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1353312"/>
            <a:ext cx="45720" cy="56692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17320"/>
            <a:ext cx="1463040" cy="256032"/>
          </a:xfrm>
          <a:prstGeom prst="rect">
            <a:avLst/>
          </a:prstGeom>
          <a:noFill/>
        </p:spPr>
        <p:txBody>
          <a:bodyPr wrap="square">
            <a:spAutoFit/>
          </a:bodyPr>
          <a:lstStyle/>
          <a:p>
            <a:pPr algn="l"/>
            <a:r>
              <a:rPr sz="1050" b="1" i="0">
                <a:solidFill>
                  <a:srgbClr val="00C2CB"/>
                </a:solidFill>
                <a:latin typeface="Consolas"/>
              </a:rPr>
              <a:t>n_estimators</a:t>
            </a:r>
          </a:p>
        </p:txBody>
      </p:sp>
      <p:sp>
        <p:nvSpPr>
          <p:cNvPr id="16" name="TextBox 15"/>
          <p:cNvSpPr txBox="1"/>
          <p:nvPr/>
        </p:nvSpPr>
        <p:spPr>
          <a:xfrm>
            <a:off x="1920240" y="1417320"/>
            <a:ext cx="777240" cy="256032"/>
          </a:xfrm>
          <a:prstGeom prst="rect">
            <a:avLst/>
          </a:prstGeom>
          <a:noFill/>
        </p:spPr>
        <p:txBody>
          <a:bodyPr wrap="square">
            <a:spAutoFit/>
          </a:bodyPr>
          <a:lstStyle/>
          <a:p>
            <a:pPr algn="l"/>
            <a:r>
              <a:rPr sz="1000" b="0" i="0">
                <a:solidFill>
                  <a:srgbClr val="7A92B8"/>
                </a:solidFill>
                <a:latin typeface="Consolas"/>
              </a:rPr>
              <a:t>100</a:t>
            </a:r>
          </a:p>
        </p:txBody>
      </p:sp>
      <p:sp>
        <p:nvSpPr>
          <p:cNvPr id="17" name="TextBox 16"/>
          <p:cNvSpPr txBox="1"/>
          <p:nvPr/>
        </p:nvSpPr>
        <p:spPr>
          <a:xfrm>
            <a:off x="2743200" y="1417320"/>
            <a:ext cx="1645920" cy="256032"/>
          </a:xfrm>
          <a:prstGeom prst="rect">
            <a:avLst/>
          </a:prstGeom>
          <a:noFill/>
        </p:spPr>
        <p:txBody>
          <a:bodyPr wrap="square">
            <a:spAutoFit/>
          </a:bodyPr>
          <a:lstStyle/>
          <a:p>
            <a:pPr algn="l"/>
            <a:r>
              <a:rPr sz="1000" b="0" i="0">
                <a:solidFill>
                  <a:srgbClr val="00C2CB"/>
                </a:solidFill>
                <a:latin typeface="Consolas"/>
              </a:rPr>
              <a:t>100–300</a:t>
            </a:r>
          </a:p>
        </p:txBody>
      </p:sp>
      <p:sp>
        <p:nvSpPr>
          <p:cNvPr id="18" name="TextBox 17"/>
          <p:cNvSpPr txBox="1"/>
          <p:nvPr/>
        </p:nvSpPr>
        <p:spPr>
          <a:xfrm>
            <a:off x="4434840" y="1417320"/>
            <a:ext cx="4389120" cy="457200"/>
          </a:xfrm>
          <a:prstGeom prst="rect">
            <a:avLst/>
          </a:prstGeom>
          <a:noFill/>
        </p:spPr>
        <p:txBody>
          <a:bodyPr wrap="square">
            <a:spAutoFit/>
          </a:bodyPr>
          <a:lstStyle/>
          <a:p>
            <a:pPr algn="l"/>
            <a:r>
              <a:rPr sz="1050" b="0" i="0">
                <a:solidFill>
                  <a:srgbClr val="FFFFFF"/>
                </a:solidFill>
                <a:latin typeface="Calibri"/>
              </a:rPr>
              <a:t>More trees = better, but slower. Watch for overfitting past ~500.</a:t>
            </a:r>
          </a:p>
        </p:txBody>
      </p:sp>
      <p:sp>
        <p:nvSpPr>
          <p:cNvPr id="19" name="Rectangle 18"/>
          <p:cNvSpPr/>
          <p:nvPr/>
        </p:nvSpPr>
        <p:spPr>
          <a:xfrm>
            <a:off x="274320" y="1965960"/>
            <a:ext cx="8595360" cy="566928"/>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1965960"/>
            <a:ext cx="45720" cy="56692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029967"/>
            <a:ext cx="1463040" cy="256032"/>
          </a:xfrm>
          <a:prstGeom prst="rect">
            <a:avLst/>
          </a:prstGeom>
          <a:noFill/>
        </p:spPr>
        <p:txBody>
          <a:bodyPr wrap="square">
            <a:spAutoFit/>
          </a:bodyPr>
          <a:lstStyle/>
          <a:p>
            <a:pPr algn="l"/>
            <a:r>
              <a:rPr sz="1050" b="1" i="0">
                <a:solidFill>
                  <a:srgbClr val="39D353"/>
                </a:solidFill>
                <a:latin typeface="Consolas"/>
              </a:rPr>
              <a:t>max_depth</a:t>
            </a:r>
          </a:p>
        </p:txBody>
      </p:sp>
      <p:sp>
        <p:nvSpPr>
          <p:cNvPr id="22" name="TextBox 21"/>
          <p:cNvSpPr txBox="1"/>
          <p:nvPr/>
        </p:nvSpPr>
        <p:spPr>
          <a:xfrm>
            <a:off x="1920240" y="2029967"/>
            <a:ext cx="777240" cy="256032"/>
          </a:xfrm>
          <a:prstGeom prst="rect">
            <a:avLst/>
          </a:prstGeom>
          <a:noFill/>
        </p:spPr>
        <p:txBody>
          <a:bodyPr wrap="square">
            <a:spAutoFit/>
          </a:bodyPr>
          <a:lstStyle/>
          <a:p>
            <a:pPr algn="l"/>
            <a:r>
              <a:rPr sz="1000" b="0" i="0">
                <a:solidFill>
                  <a:srgbClr val="7A92B8"/>
                </a:solidFill>
                <a:latin typeface="Consolas"/>
              </a:rPr>
              <a:t>6</a:t>
            </a:r>
          </a:p>
        </p:txBody>
      </p:sp>
      <p:sp>
        <p:nvSpPr>
          <p:cNvPr id="23" name="TextBox 22"/>
          <p:cNvSpPr txBox="1"/>
          <p:nvPr/>
        </p:nvSpPr>
        <p:spPr>
          <a:xfrm>
            <a:off x="2743200" y="2029967"/>
            <a:ext cx="1645920" cy="256032"/>
          </a:xfrm>
          <a:prstGeom prst="rect">
            <a:avLst/>
          </a:prstGeom>
          <a:noFill/>
        </p:spPr>
        <p:txBody>
          <a:bodyPr wrap="square">
            <a:spAutoFit/>
          </a:bodyPr>
          <a:lstStyle/>
          <a:p>
            <a:pPr algn="l"/>
            <a:r>
              <a:rPr sz="1000" b="0" i="0">
                <a:solidFill>
                  <a:srgbClr val="39D353"/>
                </a:solidFill>
                <a:latin typeface="Consolas"/>
              </a:rPr>
              <a:t>3–5</a:t>
            </a:r>
          </a:p>
        </p:txBody>
      </p:sp>
      <p:sp>
        <p:nvSpPr>
          <p:cNvPr id="24" name="TextBox 23"/>
          <p:cNvSpPr txBox="1"/>
          <p:nvPr/>
        </p:nvSpPr>
        <p:spPr>
          <a:xfrm>
            <a:off x="4434840" y="2029967"/>
            <a:ext cx="4389120" cy="457200"/>
          </a:xfrm>
          <a:prstGeom prst="rect">
            <a:avLst/>
          </a:prstGeom>
          <a:noFill/>
        </p:spPr>
        <p:txBody>
          <a:bodyPr wrap="square">
            <a:spAutoFit/>
          </a:bodyPr>
          <a:lstStyle/>
          <a:p>
            <a:pPr algn="l"/>
            <a:r>
              <a:rPr sz="1050" b="0" i="0">
                <a:solidFill>
                  <a:srgbClr val="FFFFFF"/>
                </a:solidFill>
                <a:latin typeface="Calibri"/>
              </a:rPr>
              <a:t>Keep trees SHALLOW (3–4 levels). Boosting works best with simple 'weak learners'.</a:t>
            </a:r>
          </a:p>
        </p:txBody>
      </p:sp>
      <p:sp>
        <p:nvSpPr>
          <p:cNvPr id="25" name="Rectangle 24"/>
          <p:cNvSpPr/>
          <p:nvPr/>
        </p:nvSpPr>
        <p:spPr>
          <a:xfrm>
            <a:off x="274320" y="2578608"/>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 y="2578608"/>
            <a:ext cx="45720" cy="56692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642616"/>
            <a:ext cx="1463040" cy="256032"/>
          </a:xfrm>
          <a:prstGeom prst="rect">
            <a:avLst/>
          </a:prstGeom>
          <a:noFill/>
        </p:spPr>
        <p:txBody>
          <a:bodyPr wrap="square">
            <a:spAutoFit/>
          </a:bodyPr>
          <a:lstStyle/>
          <a:p>
            <a:pPr algn="l"/>
            <a:r>
              <a:rPr sz="1050" b="1" i="0">
                <a:solidFill>
                  <a:srgbClr val="FFC400"/>
                </a:solidFill>
                <a:latin typeface="Consolas"/>
              </a:rPr>
              <a:t>learning_rate</a:t>
            </a:r>
          </a:p>
        </p:txBody>
      </p:sp>
      <p:sp>
        <p:nvSpPr>
          <p:cNvPr id="28" name="TextBox 27"/>
          <p:cNvSpPr txBox="1"/>
          <p:nvPr/>
        </p:nvSpPr>
        <p:spPr>
          <a:xfrm>
            <a:off x="1920240" y="2642616"/>
            <a:ext cx="777240" cy="256032"/>
          </a:xfrm>
          <a:prstGeom prst="rect">
            <a:avLst/>
          </a:prstGeom>
          <a:noFill/>
        </p:spPr>
        <p:txBody>
          <a:bodyPr wrap="square">
            <a:spAutoFit/>
          </a:bodyPr>
          <a:lstStyle/>
          <a:p>
            <a:pPr algn="l"/>
            <a:r>
              <a:rPr sz="1000" b="0" i="0">
                <a:solidFill>
                  <a:srgbClr val="7A92B8"/>
                </a:solidFill>
                <a:latin typeface="Consolas"/>
              </a:rPr>
              <a:t>0.3</a:t>
            </a:r>
          </a:p>
        </p:txBody>
      </p:sp>
      <p:sp>
        <p:nvSpPr>
          <p:cNvPr id="29" name="TextBox 28"/>
          <p:cNvSpPr txBox="1"/>
          <p:nvPr/>
        </p:nvSpPr>
        <p:spPr>
          <a:xfrm>
            <a:off x="2743200" y="2642616"/>
            <a:ext cx="1645920" cy="256032"/>
          </a:xfrm>
          <a:prstGeom prst="rect">
            <a:avLst/>
          </a:prstGeom>
          <a:noFill/>
        </p:spPr>
        <p:txBody>
          <a:bodyPr wrap="square">
            <a:spAutoFit/>
          </a:bodyPr>
          <a:lstStyle/>
          <a:p>
            <a:pPr algn="l"/>
            <a:r>
              <a:rPr sz="1000" b="0" i="0">
                <a:solidFill>
                  <a:srgbClr val="FFC400"/>
                </a:solidFill>
                <a:latin typeface="Consolas"/>
              </a:rPr>
              <a:t>0.05–0.1</a:t>
            </a:r>
          </a:p>
        </p:txBody>
      </p:sp>
      <p:sp>
        <p:nvSpPr>
          <p:cNvPr id="30" name="TextBox 29"/>
          <p:cNvSpPr txBox="1"/>
          <p:nvPr/>
        </p:nvSpPr>
        <p:spPr>
          <a:xfrm>
            <a:off x="4434840" y="2642616"/>
            <a:ext cx="4389120" cy="457200"/>
          </a:xfrm>
          <a:prstGeom prst="rect">
            <a:avLst/>
          </a:prstGeom>
          <a:noFill/>
        </p:spPr>
        <p:txBody>
          <a:bodyPr wrap="square">
            <a:spAutoFit/>
          </a:bodyPr>
          <a:lstStyle/>
          <a:p>
            <a:pPr algn="l"/>
            <a:r>
              <a:rPr sz="1050" b="0" i="0">
                <a:solidFill>
                  <a:srgbClr val="FFFFFF"/>
                </a:solidFill>
                <a:latin typeface="Calibri"/>
              </a:rPr>
              <a:t>Lower = more careful correction. Lower rate + more trees → usually better accuracy.</a:t>
            </a:r>
          </a:p>
        </p:txBody>
      </p:sp>
      <p:sp>
        <p:nvSpPr>
          <p:cNvPr id="31" name="Rectangle 30"/>
          <p:cNvSpPr/>
          <p:nvPr/>
        </p:nvSpPr>
        <p:spPr>
          <a:xfrm>
            <a:off x="274320" y="3191256"/>
            <a:ext cx="8595360" cy="566928"/>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3191256"/>
            <a:ext cx="45720" cy="566928"/>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255264"/>
            <a:ext cx="1463040" cy="256032"/>
          </a:xfrm>
          <a:prstGeom prst="rect">
            <a:avLst/>
          </a:prstGeom>
          <a:noFill/>
        </p:spPr>
        <p:txBody>
          <a:bodyPr wrap="square">
            <a:spAutoFit/>
          </a:bodyPr>
          <a:lstStyle/>
          <a:p>
            <a:pPr algn="l"/>
            <a:r>
              <a:rPr sz="1050" b="1" i="0">
                <a:solidFill>
                  <a:srgbClr val="FF4D88"/>
                </a:solidFill>
                <a:latin typeface="Consolas"/>
              </a:rPr>
              <a:t>subsample</a:t>
            </a:r>
          </a:p>
        </p:txBody>
      </p:sp>
      <p:sp>
        <p:nvSpPr>
          <p:cNvPr id="34" name="TextBox 33"/>
          <p:cNvSpPr txBox="1"/>
          <p:nvPr/>
        </p:nvSpPr>
        <p:spPr>
          <a:xfrm>
            <a:off x="1920240" y="3255264"/>
            <a:ext cx="777240" cy="256032"/>
          </a:xfrm>
          <a:prstGeom prst="rect">
            <a:avLst/>
          </a:prstGeom>
          <a:noFill/>
        </p:spPr>
        <p:txBody>
          <a:bodyPr wrap="square">
            <a:spAutoFit/>
          </a:bodyPr>
          <a:lstStyle/>
          <a:p>
            <a:pPr algn="l"/>
            <a:r>
              <a:rPr sz="1000" b="0" i="0">
                <a:solidFill>
                  <a:srgbClr val="7A92B8"/>
                </a:solidFill>
                <a:latin typeface="Consolas"/>
              </a:rPr>
              <a:t>1.0</a:t>
            </a:r>
          </a:p>
        </p:txBody>
      </p:sp>
      <p:sp>
        <p:nvSpPr>
          <p:cNvPr id="35" name="TextBox 34"/>
          <p:cNvSpPr txBox="1"/>
          <p:nvPr/>
        </p:nvSpPr>
        <p:spPr>
          <a:xfrm>
            <a:off x="2743200" y="3255264"/>
            <a:ext cx="1645920" cy="256032"/>
          </a:xfrm>
          <a:prstGeom prst="rect">
            <a:avLst/>
          </a:prstGeom>
          <a:noFill/>
        </p:spPr>
        <p:txBody>
          <a:bodyPr wrap="square">
            <a:spAutoFit/>
          </a:bodyPr>
          <a:lstStyle/>
          <a:p>
            <a:pPr algn="l"/>
            <a:r>
              <a:rPr sz="1000" b="0" i="0">
                <a:solidFill>
                  <a:srgbClr val="FF4D88"/>
                </a:solidFill>
                <a:latin typeface="Consolas"/>
              </a:rPr>
              <a:t>0.7–0.9</a:t>
            </a:r>
          </a:p>
        </p:txBody>
      </p:sp>
      <p:sp>
        <p:nvSpPr>
          <p:cNvPr id="36" name="TextBox 35"/>
          <p:cNvSpPr txBox="1"/>
          <p:nvPr/>
        </p:nvSpPr>
        <p:spPr>
          <a:xfrm>
            <a:off x="4434840" y="3255264"/>
            <a:ext cx="4389120" cy="457200"/>
          </a:xfrm>
          <a:prstGeom prst="rect">
            <a:avLst/>
          </a:prstGeom>
          <a:noFill/>
        </p:spPr>
        <p:txBody>
          <a:bodyPr wrap="square">
            <a:spAutoFit/>
          </a:bodyPr>
          <a:lstStyle/>
          <a:p>
            <a:pPr algn="l"/>
            <a:r>
              <a:rPr sz="1050" b="0" i="0">
                <a:solidFill>
                  <a:srgbClr val="FFFFFF"/>
                </a:solidFill>
                <a:latin typeface="Calibri"/>
              </a:rPr>
              <a:t>Using less than 100% adds randomness → prevents overfitting. Similar to bagging.</a:t>
            </a:r>
          </a:p>
        </p:txBody>
      </p:sp>
      <p:sp>
        <p:nvSpPr>
          <p:cNvPr id="37" name="Rectangle 36"/>
          <p:cNvSpPr/>
          <p:nvPr/>
        </p:nvSpPr>
        <p:spPr>
          <a:xfrm>
            <a:off x="274320" y="3803904"/>
            <a:ext cx="8595360" cy="56692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74320" y="3803904"/>
            <a:ext cx="45720" cy="56692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3867912"/>
            <a:ext cx="1463040" cy="256032"/>
          </a:xfrm>
          <a:prstGeom prst="rect">
            <a:avLst/>
          </a:prstGeom>
          <a:noFill/>
        </p:spPr>
        <p:txBody>
          <a:bodyPr wrap="square">
            <a:spAutoFit/>
          </a:bodyPr>
          <a:lstStyle/>
          <a:p>
            <a:pPr algn="l"/>
            <a:r>
              <a:rPr sz="1050" b="1" i="0">
                <a:solidFill>
                  <a:srgbClr val="00C2CB"/>
                </a:solidFill>
                <a:latin typeface="Consolas"/>
              </a:rPr>
              <a:t>colsample_bytree</a:t>
            </a:r>
          </a:p>
        </p:txBody>
      </p:sp>
      <p:sp>
        <p:nvSpPr>
          <p:cNvPr id="40" name="TextBox 39"/>
          <p:cNvSpPr txBox="1"/>
          <p:nvPr/>
        </p:nvSpPr>
        <p:spPr>
          <a:xfrm>
            <a:off x="1920240" y="3867912"/>
            <a:ext cx="777240" cy="256032"/>
          </a:xfrm>
          <a:prstGeom prst="rect">
            <a:avLst/>
          </a:prstGeom>
          <a:noFill/>
        </p:spPr>
        <p:txBody>
          <a:bodyPr wrap="square">
            <a:spAutoFit/>
          </a:bodyPr>
          <a:lstStyle/>
          <a:p>
            <a:pPr algn="l"/>
            <a:r>
              <a:rPr sz="1000" b="0" i="0">
                <a:solidFill>
                  <a:srgbClr val="7A92B8"/>
                </a:solidFill>
                <a:latin typeface="Consolas"/>
              </a:rPr>
              <a:t>1.0</a:t>
            </a:r>
          </a:p>
        </p:txBody>
      </p:sp>
      <p:sp>
        <p:nvSpPr>
          <p:cNvPr id="41" name="TextBox 40"/>
          <p:cNvSpPr txBox="1"/>
          <p:nvPr/>
        </p:nvSpPr>
        <p:spPr>
          <a:xfrm>
            <a:off x="2743200" y="3867912"/>
            <a:ext cx="1645920" cy="256032"/>
          </a:xfrm>
          <a:prstGeom prst="rect">
            <a:avLst/>
          </a:prstGeom>
          <a:noFill/>
        </p:spPr>
        <p:txBody>
          <a:bodyPr wrap="square">
            <a:spAutoFit/>
          </a:bodyPr>
          <a:lstStyle/>
          <a:p>
            <a:pPr algn="l"/>
            <a:r>
              <a:rPr sz="1000" b="0" i="0">
                <a:solidFill>
                  <a:srgbClr val="00C2CB"/>
                </a:solidFill>
                <a:latin typeface="Consolas"/>
              </a:rPr>
              <a:t>0.7–0.9</a:t>
            </a:r>
          </a:p>
        </p:txBody>
      </p:sp>
      <p:sp>
        <p:nvSpPr>
          <p:cNvPr id="42" name="TextBox 41"/>
          <p:cNvSpPr txBox="1"/>
          <p:nvPr/>
        </p:nvSpPr>
        <p:spPr>
          <a:xfrm>
            <a:off x="4434840" y="3867912"/>
            <a:ext cx="4389120" cy="457200"/>
          </a:xfrm>
          <a:prstGeom prst="rect">
            <a:avLst/>
          </a:prstGeom>
          <a:noFill/>
        </p:spPr>
        <p:txBody>
          <a:bodyPr wrap="square">
            <a:spAutoFit/>
          </a:bodyPr>
          <a:lstStyle/>
          <a:p>
            <a:pPr algn="l"/>
            <a:r>
              <a:rPr sz="1050" b="0" i="0">
                <a:solidFill>
                  <a:srgbClr val="FFFFFF"/>
                </a:solidFill>
                <a:latin typeface="Calibri"/>
              </a:rPr>
              <a:t>Similar to Random Forest's feature randomness. Reduces correlation between trees.</a:t>
            </a:r>
          </a:p>
        </p:txBody>
      </p:sp>
      <p:sp>
        <p:nvSpPr>
          <p:cNvPr id="43" name="Rectangle 42"/>
          <p:cNvSpPr/>
          <p:nvPr/>
        </p:nvSpPr>
        <p:spPr>
          <a:xfrm>
            <a:off x="274320" y="4416552"/>
            <a:ext cx="8595360" cy="566928"/>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74320" y="4416552"/>
            <a:ext cx="45720" cy="566928"/>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480560"/>
            <a:ext cx="1463040" cy="256032"/>
          </a:xfrm>
          <a:prstGeom prst="rect">
            <a:avLst/>
          </a:prstGeom>
          <a:noFill/>
        </p:spPr>
        <p:txBody>
          <a:bodyPr wrap="square">
            <a:spAutoFit/>
          </a:bodyPr>
          <a:lstStyle/>
          <a:p>
            <a:pPr algn="l"/>
            <a:r>
              <a:rPr sz="1050" b="1" i="0">
                <a:solidFill>
                  <a:srgbClr val="7A92B8"/>
                </a:solidFill>
                <a:latin typeface="Consolas"/>
              </a:rPr>
              <a:t>reg_alpha/lambda</a:t>
            </a:r>
          </a:p>
        </p:txBody>
      </p:sp>
      <p:sp>
        <p:nvSpPr>
          <p:cNvPr id="46" name="TextBox 45"/>
          <p:cNvSpPr txBox="1"/>
          <p:nvPr/>
        </p:nvSpPr>
        <p:spPr>
          <a:xfrm>
            <a:off x="1920240" y="4480560"/>
            <a:ext cx="777240" cy="256032"/>
          </a:xfrm>
          <a:prstGeom prst="rect">
            <a:avLst/>
          </a:prstGeom>
          <a:noFill/>
        </p:spPr>
        <p:txBody>
          <a:bodyPr wrap="square">
            <a:spAutoFit/>
          </a:bodyPr>
          <a:lstStyle/>
          <a:p>
            <a:pPr algn="l"/>
            <a:r>
              <a:rPr sz="1000" b="0" i="0">
                <a:solidFill>
                  <a:srgbClr val="7A92B8"/>
                </a:solidFill>
                <a:latin typeface="Consolas"/>
              </a:rPr>
              <a:t>0/1</a:t>
            </a:r>
          </a:p>
        </p:txBody>
      </p:sp>
      <p:sp>
        <p:nvSpPr>
          <p:cNvPr id="47" name="TextBox 46"/>
          <p:cNvSpPr txBox="1"/>
          <p:nvPr/>
        </p:nvSpPr>
        <p:spPr>
          <a:xfrm>
            <a:off x="2743200" y="4480560"/>
            <a:ext cx="1645920" cy="256032"/>
          </a:xfrm>
          <a:prstGeom prst="rect">
            <a:avLst/>
          </a:prstGeom>
          <a:noFill/>
        </p:spPr>
        <p:txBody>
          <a:bodyPr wrap="square">
            <a:spAutoFit/>
          </a:bodyPr>
          <a:lstStyle/>
          <a:p>
            <a:pPr algn="l"/>
            <a:r>
              <a:rPr sz="1000" b="0" i="0">
                <a:solidFill>
                  <a:srgbClr val="7A92B8"/>
                </a:solidFill>
                <a:latin typeface="Consolas"/>
              </a:rPr>
              <a:t>Tune via CV</a:t>
            </a:r>
          </a:p>
        </p:txBody>
      </p:sp>
      <p:sp>
        <p:nvSpPr>
          <p:cNvPr id="48" name="TextBox 47"/>
          <p:cNvSpPr txBox="1"/>
          <p:nvPr/>
        </p:nvSpPr>
        <p:spPr>
          <a:xfrm>
            <a:off x="4434840" y="4480560"/>
            <a:ext cx="4389120" cy="457200"/>
          </a:xfrm>
          <a:prstGeom prst="rect">
            <a:avLst/>
          </a:prstGeom>
          <a:noFill/>
        </p:spPr>
        <p:txBody>
          <a:bodyPr wrap="square">
            <a:spAutoFit/>
          </a:bodyPr>
          <a:lstStyle/>
          <a:p>
            <a:pPr algn="l"/>
            <a:r>
              <a:rPr sz="1050" b="0" i="0">
                <a:solidFill>
                  <a:srgbClr val="FFFFFF"/>
                </a:solidFill>
                <a:latin typeface="Calibri"/>
              </a:rPr>
              <a:t>Penalizes complex models → reduces overfitting. Lambda is usually more useful.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565767"/>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547479"/>
            <a:ext cx="365760" cy="274320"/>
          </a:xfrm>
          <a:prstGeom prst="rect">
            <a:avLst/>
          </a:prstGeom>
          <a:noFill/>
        </p:spPr>
        <p:txBody>
          <a:bodyPr wrap="square">
            <a:spAutoFit/>
          </a:bodyPr>
          <a:lstStyle/>
          <a:p>
            <a:pPr algn="ctr"/>
            <a:r>
              <a:rPr sz="900" b="1" i="0">
                <a:solidFill>
                  <a:srgbClr val="FFFFFF"/>
                </a:solidFill>
                <a:latin typeface="Calibri"/>
              </a:rPr>
              <a:t>35</a:t>
            </a:r>
          </a:p>
        </p:txBody>
      </p:sp>
      <p:sp>
        <p:nvSpPr>
          <p:cNvPr id="6" name="TextBox 5"/>
          <p:cNvSpPr txBox="1"/>
          <p:nvPr/>
        </p:nvSpPr>
        <p:spPr>
          <a:xfrm>
            <a:off x="274320" y="65359"/>
            <a:ext cx="8503920" cy="457200"/>
          </a:xfrm>
          <a:prstGeom prst="rect">
            <a:avLst/>
          </a:prstGeom>
          <a:noFill/>
        </p:spPr>
        <p:txBody>
          <a:bodyPr wrap="square">
            <a:spAutoFit/>
          </a:bodyPr>
          <a:lstStyle/>
          <a:p>
            <a:pPr algn="l"/>
            <a:r>
              <a:rPr sz="2700" b="1" i="0" dirty="0">
                <a:solidFill>
                  <a:srgbClr val="FFFFFF"/>
                </a:solidFill>
                <a:latin typeface="Calibri"/>
              </a:rPr>
              <a:t>Bagging vs Boosting — Side by Side</a:t>
            </a:r>
          </a:p>
        </p:txBody>
      </p:sp>
      <p:sp>
        <p:nvSpPr>
          <p:cNvPr id="7" name="TextBox 6"/>
          <p:cNvSpPr txBox="1"/>
          <p:nvPr/>
        </p:nvSpPr>
        <p:spPr>
          <a:xfrm>
            <a:off x="274320" y="480027"/>
            <a:ext cx="8229600" cy="274320"/>
          </a:xfrm>
          <a:prstGeom prst="rect">
            <a:avLst/>
          </a:prstGeom>
          <a:noFill/>
        </p:spPr>
        <p:txBody>
          <a:bodyPr wrap="square">
            <a:spAutoFit/>
          </a:bodyPr>
          <a:lstStyle/>
          <a:p>
            <a:pPr algn="l"/>
            <a:r>
              <a:rPr sz="1100" b="0" i="0" dirty="0">
                <a:solidFill>
                  <a:srgbClr val="7A92B8"/>
                </a:solidFill>
                <a:latin typeface="Calibri"/>
              </a:rPr>
              <a:t>Two fundamentally different approaches to combining trees</a:t>
            </a:r>
          </a:p>
        </p:txBody>
      </p:sp>
      <p:sp>
        <p:nvSpPr>
          <p:cNvPr id="8" name="Rectangle 7"/>
          <p:cNvSpPr/>
          <p:nvPr/>
        </p:nvSpPr>
        <p:spPr>
          <a:xfrm>
            <a:off x="274320" y="704943"/>
            <a:ext cx="8595360" cy="3840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725287"/>
            <a:ext cx="3383280" cy="274320"/>
          </a:xfrm>
          <a:prstGeom prst="rect">
            <a:avLst/>
          </a:prstGeom>
          <a:noFill/>
        </p:spPr>
        <p:txBody>
          <a:bodyPr wrap="square">
            <a:spAutoFit/>
          </a:bodyPr>
          <a:lstStyle/>
          <a:p>
            <a:pPr algn="l"/>
            <a:r>
              <a:rPr sz="1150" b="1" i="0">
                <a:solidFill>
                  <a:srgbClr val="00C2CB"/>
                </a:solidFill>
                <a:latin typeface="Calibri"/>
              </a:rPr>
              <a:t>Aspect</a:t>
            </a:r>
          </a:p>
        </p:txBody>
      </p:sp>
      <p:sp>
        <p:nvSpPr>
          <p:cNvPr id="10" name="TextBox 9"/>
          <p:cNvSpPr txBox="1"/>
          <p:nvPr/>
        </p:nvSpPr>
        <p:spPr>
          <a:xfrm>
            <a:off x="2286000" y="725287"/>
            <a:ext cx="3383280" cy="274320"/>
          </a:xfrm>
          <a:prstGeom prst="rect">
            <a:avLst/>
          </a:prstGeom>
          <a:noFill/>
        </p:spPr>
        <p:txBody>
          <a:bodyPr wrap="square">
            <a:spAutoFit/>
          </a:bodyPr>
          <a:lstStyle/>
          <a:p>
            <a:pPr algn="l"/>
            <a:r>
              <a:rPr sz="1150" b="1" i="0">
                <a:solidFill>
                  <a:srgbClr val="00C2CB"/>
                </a:solidFill>
                <a:latin typeface="Calibri"/>
              </a:rPr>
              <a:t>Bagging (Random Forest)</a:t>
            </a:r>
          </a:p>
        </p:txBody>
      </p:sp>
      <p:sp>
        <p:nvSpPr>
          <p:cNvPr id="11" name="TextBox 10"/>
          <p:cNvSpPr txBox="1"/>
          <p:nvPr/>
        </p:nvSpPr>
        <p:spPr>
          <a:xfrm>
            <a:off x="5760720" y="725287"/>
            <a:ext cx="3383280" cy="274320"/>
          </a:xfrm>
          <a:prstGeom prst="rect">
            <a:avLst/>
          </a:prstGeom>
          <a:noFill/>
        </p:spPr>
        <p:txBody>
          <a:bodyPr wrap="square">
            <a:spAutoFit/>
          </a:bodyPr>
          <a:lstStyle/>
          <a:p>
            <a:pPr algn="l"/>
            <a:r>
              <a:rPr sz="1150" b="1" i="0">
                <a:solidFill>
                  <a:srgbClr val="00C2CB"/>
                </a:solidFill>
                <a:latin typeface="Calibri"/>
              </a:rPr>
              <a:t>Boosting (XGBoost)</a:t>
            </a:r>
          </a:p>
        </p:txBody>
      </p:sp>
      <p:sp>
        <p:nvSpPr>
          <p:cNvPr id="12" name="Rectangle 11"/>
          <p:cNvSpPr/>
          <p:nvPr/>
        </p:nvSpPr>
        <p:spPr>
          <a:xfrm>
            <a:off x="274320" y="1127623"/>
            <a:ext cx="8595360" cy="420624"/>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1200775"/>
            <a:ext cx="1828800" cy="274320"/>
          </a:xfrm>
          <a:prstGeom prst="rect">
            <a:avLst/>
          </a:prstGeom>
          <a:noFill/>
        </p:spPr>
        <p:txBody>
          <a:bodyPr wrap="square">
            <a:spAutoFit/>
          </a:bodyPr>
          <a:lstStyle/>
          <a:p>
            <a:pPr algn="l"/>
            <a:r>
              <a:rPr sz="1100" b="1" i="0">
                <a:solidFill>
                  <a:srgbClr val="7A92B8"/>
                </a:solidFill>
                <a:latin typeface="Calibri"/>
              </a:rPr>
              <a:t>How trees are built</a:t>
            </a:r>
          </a:p>
        </p:txBody>
      </p:sp>
      <p:sp>
        <p:nvSpPr>
          <p:cNvPr id="14" name="TextBox 13"/>
          <p:cNvSpPr txBox="1"/>
          <p:nvPr/>
        </p:nvSpPr>
        <p:spPr>
          <a:xfrm>
            <a:off x="2286000" y="1200775"/>
            <a:ext cx="3383280" cy="274320"/>
          </a:xfrm>
          <a:prstGeom prst="rect">
            <a:avLst/>
          </a:prstGeom>
          <a:noFill/>
        </p:spPr>
        <p:txBody>
          <a:bodyPr wrap="square">
            <a:spAutoFit/>
          </a:bodyPr>
          <a:lstStyle/>
          <a:p>
            <a:pPr algn="l"/>
            <a:r>
              <a:rPr sz="1100" b="0" i="0">
                <a:solidFill>
                  <a:srgbClr val="00C2CB"/>
                </a:solidFill>
                <a:latin typeface="Calibri"/>
              </a:rPr>
              <a:t>In PARALLEL (independently)</a:t>
            </a:r>
          </a:p>
        </p:txBody>
      </p:sp>
      <p:sp>
        <p:nvSpPr>
          <p:cNvPr id="15" name="TextBox 14"/>
          <p:cNvSpPr txBox="1"/>
          <p:nvPr/>
        </p:nvSpPr>
        <p:spPr>
          <a:xfrm>
            <a:off x="5760720" y="1200775"/>
            <a:ext cx="2926080" cy="274320"/>
          </a:xfrm>
          <a:prstGeom prst="rect">
            <a:avLst/>
          </a:prstGeom>
          <a:noFill/>
        </p:spPr>
        <p:txBody>
          <a:bodyPr wrap="square">
            <a:spAutoFit/>
          </a:bodyPr>
          <a:lstStyle/>
          <a:p>
            <a:pPr algn="l"/>
            <a:r>
              <a:rPr sz="1100" b="0" i="0">
                <a:solidFill>
                  <a:srgbClr val="39D353"/>
                </a:solidFill>
                <a:latin typeface="Calibri"/>
              </a:rPr>
              <a:t>SEQUENTIALLY (each builds on last)</a:t>
            </a:r>
          </a:p>
        </p:txBody>
      </p:sp>
      <p:sp>
        <p:nvSpPr>
          <p:cNvPr id="16" name="Rectangle 15"/>
          <p:cNvSpPr/>
          <p:nvPr/>
        </p:nvSpPr>
        <p:spPr>
          <a:xfrm>
            <a:off x="274320" y="1584823"/>
            <a:ext cx="8595360" cy="420624"/>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1657975"/>
            <a:ext cx="1828800" cy="274320"/>
          </a:xfrm>
          <a:prstGeom prst="rect">
            <a:avLst/>
          </a:prstGeom>
          <a:noFill/>
        </p:spPr>
        <p:txBody>
          <a:bodyPr wrap="square">
            <a:spAutoFit/>
          </a:bodyPr>
          <a:lstStyle/>
          <a:p>
            <a:pPr algn="l"/>
            <a:r>
              <a:rPr sz="1100" b="1" i="0">
                <a:solidFill>
                  <a:srgbClr val="7A92B8"/>
                </a:solidFill>
                <a:latin typeface="Calibri"/>
              </a:rPr>
              <a:t>What each tree sees</a:t>
            </a:r>
          </a:p>
        </p:txBody>
      </p:sp>
      <p:sp>
        <p:nvSpPr>
          <p:cNvPr id="18" name="TextBox 17"/>
          <p:cNvSpPr txBox="1"/>
          <p:nvPr/>
        </p:nvSpPr>
        <p:spPr>
          <a:xfrm>
            <a:off x="2286000" y="1657975"/>
            <a:ext cx="3383280" cy="274320"/>
          </a:xfrm>
          <a:prstGeom prst="rect">
            <a:avLst/>
          </a:prstGeom>
          <a:noFill/>
        </p:spPr>
        <p:txBody>
          <a:bodyPr wrap="square">
            <a:spAutoFit/>
          </a:bodyPr>
          <a:lstStyle/>
          <a:p>
            <a:pPr algn="l"/>
            <a:r>
              <a:rPr sz="1100" b="0" i="0">
                <a:solidFill>
                  <a:srgbClr val="00C2CB"/>
                </a:solidFill>
                <a:latin typeface="Calibri"/>
              </a:rPr>
              <a:t>Random bootstrap sample</a:t>
            </a:r>
          </a:p>
        </p:txBody>
      </p:sp>
      <p:sp>
        <p:nvSpPr>
          <p:cNvPr id="19" name="TextBox 18"/>
          <p:cNvSpPr txBox="1"/>
          <p:nvPr/>
        </p:nvSpPr>
        <p:spPr>
          <a:xfrm>
            <a:off x="5760720" y="1657975"/>
            <a:ext cx="2926080" cy="274320"/>
          </a:xfrm>
          <a:prstGeom prst="rect">
            <a:avLst/>
          </a:prstGeom>
          <a:noFill/>
        </p:spPr>
        <p:txBody>
          <a:bodyPr wrap="square">
            <a:spAutoFit/>
          </a:bodyPr>
          <a:lstStyle/>
          <a:p>
            <a:pPr algn="l"/>
            <a:r>
              <a:rPr sz="1100" b="0" i="0">
                <a:solidFill>
                  <a:srgbClr val="39D353"/>
                </a:solidFill>
                <a:latin typeface="Calibri"/>
              </a:rPr>
              <a:t>Residuals / errors of previous trees</a:t>
            </a:r>
          </a:p>
        </p:txBody>
      </p:sp>
      <p:sp>
        <p:nvSpPr>
          <p:cNvPr id="20" name="Rectangle 19"/>
          <p:cNvSpPr/>
          <p:nvPr/>
        </p:nvSpPr>
        <p:spPr>
          <a:xfrm>
            <a:off x="274320" y="2042023"/>
            <a:ext cx="8595360" cy="420624"/>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15175"/>
            <a:ext cx="1828800" cy="274320"/>
          </a:xfrm>
          <a:prstGeom prst="rect">
            <a:avLst/>
          </a:prstGeom>
          <a:noFill/>
        </p:spPr>
        <p:txBody>
          <a:bodyPr wrap="square">
            <a:spAutoFit/>
          </a:bodyPr>
          <a:lstStyle/>
          <a:p>
            <a:pPr algn="l"/>
            <a:r>
              <a:rPr sz="1100" b="1" i="0">
                <a:solidFill>
                  <a:srgbClr val="7A92B8"/>
                </a:solidFill>
                <a:latin typeface="Calibri"/>
              </a:rPr>
              <a:t>What it fixes</a:t>
            </a:r>
          </a:p>
        </p:txBody>
      </p:sp>
      <p:sp>
        <p:nvSpPr>
          <p:cNvPr id="22" name="TextBox 21"/>
          <p:cNvSpPr txBox="1"/>
          <p:nvPr/>
        </p:nvSpPr>
        <p:spPr>
          <a:xfrm>
            <a:off x="2286000" y="2115175"/>
            <a:ext cx="3383280" cy="274320"/>
          </a:xfrm>
          <a:prstGeom prst="rect">
            <a:avLst/>
          </a:prstGeom>
          <a:noFill/>
        </p:spPr>
        <p:txBody>
          <a:bodyPr wrap="square">
            <a:spAutoFit/>
          </a:bodyPr>
          <a:lstStyle/>
          <a:p>
            <a:pPr algn="l"/>
            <a:r>
              <a:rPr sz="1100" b="0" i="0">
                <a:solidFill>
                  <a:srgbClr val="00C2CB"/>
                </a:solidFill>
                <a:latin typeface="Calibri"/>
              </a:rPr>
              <a:t>High Variance (overfitting)</a:t>
            </a:r>
          </a:p>
        </p:txBody>
      </p:sp>
      <p:sp>
        <p:nvSpPr>
          <p:cNvPr id="23" name="TextBox 22"/>
          <p:cNvSpPr txBox="1"/>
          <p:nvPr/>
        </p:nvSpPr>
        <p:spPr>
          <a:xfrm>
            <a:off x="5760720" y="2115175"/>
            <a:ext cx="2926080" cy="274320"/>
          </a:xfrm>
          <a:prstGeom prst="rect">
            <a:avLst/>
          </a:prstGeom>
          <a:noFill/>
        </p:spPr>
        <p:txBody>
          <a:bodyPr wrap="square">
            <a:spAutoFit/>
          </a:bodyPr>
          <a:lstStyle/>
          <a:p>
            <a:pPr algn="l"/>
            <a:r>
              <a:rPr sz="1100" b="0" i="0">
                <a:solidFill>
                  <a:srgbClr val="39D353"/>
                </a:solidFill>
                <a:latin typeface="Calibri"/>
              </a:rPr>
              <a:t>High Bias (underfitting)</a:t>
            </a:r>
          </a:p>
        </p:txBody>
      </p:sp>
      <p:sp>
        <p:nvSpPr>
          <p:cNvPr id="24" name="Rectangle 23"/>
          <p:cNvSpPr/>
          <p:nvPr/>
        </p:nvSpPr>
        <p:spPr>
          <a:xfrm>
            <a:off x="274320" y="2499223"/>
            <a:ext cx="8595360" cy="420624"/>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2572375"/>
            <a:ext cx="1828800" cy="274320"/>
          </a:xfrm>
          <a:prstGeom prst="rect">
            <a:avLst/>
          </a:prstGeom>
          <a:noFill/>
        </p:spPr>
        <p:txBody>
          <a:bodyPr wrap="square">
            <a:spAutoFit/>
          </a:bodyPr>
          <a:lstStyle/>
          <a:p>
            <a:pPr algn="l"/>
            <a:r>
              <a:rPr sz="1100" b="1" i="0">
                <a:solidFill>
                  <a:srgbClr val="7A92B8"/>
                </a:solidFill>
                <a:latin typeface="Calibri"/>
              </a:rPr>
              <a:t>Speed (training)</a:t>
            </a:r>
          </a:p>
        </p:txBody>
      </p:sp>
      <p:sp>
        <p:nvSpPr>
          <p:cNvPr id="26" name="TextBox 25"/>
          <p:cNvSpPr txBox="1"/>
          <p:nvPr/>
        </p:nvSpPr>
        <p:spPr>
          <a:xfrm>
            <a:off x="2286000" y="2572375"/>
            <a:ext cx="3383280" cy="274320"/>
          </a:xfrm>
          <a:prstGeom prst="rect">
            <a:avLst/>
          </a:prstGeom>
          <a:noFill/>
        </p:spPr>
        <p:txBody>
          <a:bodyPr wrap="square">
            <a:spAutoFit/>
          </a:bodyPr>
          <a:lstStyle/>
          <a:p>
            <a:pPr algn="l"/>
            <a:r>
              <a:rPr sz="1100" b="0" i="0">
                <a:solidFill>
                  <a:srgbClr val="00C2CB"/>
                </a:solidFill>
                <a:latin typeface="Calibri"/>
              </a:rPr>
              <a:t>Fast — parallel processing</a:t>
            </a:r>
          </a:p>
        </p:txBody>
      </p:sp>
      <p:sp>
        <p:nvSpPr>
          <p:cNvPr id="27" name="TextBox 26"/>
          <p:cNvSpPr txBox="1"/>
          <p:nvPr/>
        </p:nvSpPr>
        <p:spPr>
          <a:xfrm>
            <a:off x="5760720" y="2572375"/>
            <a:ext cx="2926080" cy="274320"/>
          </a:xfrm>
          <a:prstGeom prst="rect">
            <a:avLst/>
          </a:prstGeom>
          <a:noFill/>
        </p:spPr>
        <p:txBody>
          <a:bodyPr wrap="square">
            <a:spAutoFit/>
          </a:bodyPr>
          <a:lstStyle/>
          <a:p>
            <a:pPr algn="l"/>
            <a:r>
              <a:rPr sz="1100" b="0" i="0">
                <a:solidFill>
                  <a:srgbClr val="39D353"/>
                </a:solidFill>
                <a:latin typeface="Calibri"/>
              </a:rPr>
              <a:t>Slower — must be sequential</a:t>
            </a:r>
          </a:p>
        </p:txBody>
      </p:sp>
      <p:sp>
        <p:nvSpPr>
          <p:cNvPr id="28" name="Rectangle 27"/>
          <p:cNvSpPr/>
          <p:nvPr/>
        </p:nvSpPr>
        <p:spPr>
          <a:xfrm>
            <a:off x="274320" y="2956423"/>
            <a:ext cx="8595360" cy="420624"/>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3029575"/>
            <a:ext cx="1828800" cy="274320"/>
          </a:xfrm>
          <a:prstGeom prst="rect">
            <a:avLst/>
          </a:prstGeom>
          <a:noFill/>
        </p:spPr>
        <p:txBody>
          <a:bodyPr wrap="square">
            <a:spAutoFit/>
          </a:bodyPr>
          <a:lstStyle/>
          <a:p>
            <a:pPr algn="l"/>
            <a:r>
              <a:rPr sz="1100" b="1" i="0">
                <a:solidFill>
                  <a:srgbClr val="7A92B8"/>
                </a:solidFill>
                <a:latin typeface="Calibri"/>
              </a:rPr>
              <a:t>Overfitting risk</a:t>
            </a:r>
          </a:p>
        </p:txBody>
      </p:sp>
      <p:sp>
        <p:nvSpPr>
          <p:cNvPr id="30" name="TextBox 29"/>
          <p:cNvSpPr txBox="1"/>
          <p:nvPr/>
        </p:nvSpPr>
        <p:spPr>
          <a:xfrm>
            <a:off x="2286000" y="3029575"/>
            <a:ext cx="3383280" cy="274320"/>
          </a:xfrm>
          <a:prstGeom prst="rect">
            <a:avLst/>
          </a:prstGeom>
          <a:noFill/>
        </p:spPr>
        <p:txBody>
          <a:bodyPr wrap="square">
            <a:spAutoFit/>
          </a:bodyPr>
          <a:lstStyle/>
          <a:p>
            <a:pPr algn="l"/>
            <a:r>
              <a:rPr sz="1100" b="0" i="0">
                <a:solidFill>
                  <a:srgbClr val="00C2CB"/>
                </a:solidFill>
                <a:latin typeface="Calibri"/>
              </a:rPr>
              <a:t>Low (averaging helps)</a:t>
            </a:r>
          </a:p>
        </p:txBody>
      </p:sp>
      <p:sp>
        <p:nvSpPr>
          <p:cNvPr id="31" name="TextBox 30"/>
          <p:cNvSpPr txBox="1"/>
          <p:nvPr/>
        </p:nvSpPr>
        <p:spPr>
          <a:xfrm>
            <a:off x="5760720" y="3029575"/>
            <a:ext cx="2926080" cy="274320"/>
          </a:xfrm>
          <a:prstGeom prst="rect">
            <a:avLst/>
          </a:prstGeom>
          <a:noFill/>
        </p:spPr>
        <p:txBody>
          <a:bodyPr wrap="square">
            <a:spAutoFit/>
          </a:bodyPr>
          <a:lstStyle/>
          <a:p>
            <a:pPr algn="l"/>
            <a:r>
              <a:rPr sz="1100" b="0" i="0">
                <a:solidFill>
                  <a:srgbClr val="39D353"/>
                </a:solidFill>
                <a:latin typeface="Calibri"/>
              </a:rPr>
              <a:t>Higher — must tune carefully</a:t>
            </a:r>
          </a:p>
        </p:txBody>
      </p:sp>
      <p:sp>
        <p:nvSpPr>
          <p:cNvPr id="32" name="Rectangle 31"/>
          <p:cNvSpPr/>
          <p:nvPr/>
        </p:nvSpPr>
        <p:spPr>
          <a:xfrm>
            <a:off x="274320" y="3413622"/>
            <a:ext cx="8595360" cy="420624"/>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486774"/>
            <a:ext cx="1828800" cy="274320"/>
          </a:xfrm>
          <a:prstGeom prst="rect">
            <a:avLst/>
          </a:prstGeom>
          <a:noFill/>
        </p:spPr>
        <p:txBody>
          <a:bodyPr wrap="square">
            <a:spAutoFit/>
          </a:bodyPr>
          <a:lstStyle/>
          <a:p>
            <a:pPr algn="l"/>
            <a:r>
              <a:rPr sz="1100" b="1" i="0">
                <a:solidFill>
                  <a:srgbClr val="7A92B8"/>
                </a:solidFill>
                <a:latin typeface="Calibri"/>
              </a:rPr>
              <a:t>Accuracy (typical)</a:t>
            </a:r>
          </a:p>
        </p:txBody>
      </p:sp>
      <p:sp>
        <p:nvSpPr>
          <p:cNvPr id="34" name="TextBox 33"/>
          <p:cNvSpPr txBox="1"/>
          <p:nvPr/>
        </p:nvSpPr>
        <p:spPr>
          <a:xfrm>
            <a:off x="2286000" y="3486774"/>
            <a:ext cx="3383280" cy="274320"/>
          </a:xfrm>
          <a:prstGeom prst="rect">
            <a:avLst/>
          </a:prstGeom>
          <a:noFill/>
        </p:spPr>
        <p:txBody>
          <a:bodyPr wrap="square">
            <a:spAutoFit/>
          </a:bodyPr>
          <a:lstStyle/>
          <a:p>
            <a:pPr algn="l"/>
            <a:r>
              <a:rPr sz="1100" b="0" i="0">
                <a:solidFill>
                  <a:srgbClr val="00C2CB"/>
                </a:solidFill>
                <a:latin typeface="Calibri"/>
              </a:rPr>
              <a:t>Very good</a:t>
            </a:r>
          </a:p>
        </p:txBody>
      </p:sp>
      <p:sp>
        <p:nvSpPr>
          <p:cNvPr id="35" name="TextBox 34"/>
          <p:cNvSpPr txBox="1"/>
          <p:nvPr/>
        </p:nvSpPr>
        <p:spPr>
          <a:xfrm>
            <a:off x="5760720" y="3486774"/>
            <a:ext cx="2926080" cy="274320"/>
          </a:xfrm>
          <a:prstGeom prst="rect">
            <a:avLst/>
          </a:prstGeom>
          <a:noFill/>
        </p:spPr>
        <p:txBody>
          <a:bodyPr wrap="square">
            <a:spAutoFit/>
          </a:bodyPr>
          <a:lstStyle/>
          <a:p>
            <a:pPr algn="l"/>
            <a:r>
              <a:rPr sz="1100" b="0" i="0">
                <a:solidFill>
                  <a:srgbClr val="39D353"/>
                </a:solidFill>
                <a:latin typeface="Calibri"/>
              </a:rPr>
              <a:t>Often slightly better than RF</a:t>
            </a:r>
          </a:p>
        </p:txBody>
      </p:sp>
      <p:sp>
        <p:nvSpPr>
          <p:cNvPr id="36" name="Rectangle 35"/>
          <p:cNvSpPr/>
          <p:nvPr/>
        </p:nvSpPr>
        <p:spPr>
          <a:xfrm>
            <a:off x="274320" y="3870822"/>
            <a:ext cx="8595360" cy="420624"/>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943975"/>
            <a:ext cx="1828800" cy="274320"/>
          </a:xfrm>
          <a:prstGeom prst="rect">
            <a:avLst/>
          </a:prstGeom>
          <a:noFill/>
        </p:spPr>
        <p:txBody>
          <a:bodyPr wrap="square">
            <a:spAutoFit/>
          </a:bodyPr>
          <a:lstStyle/>
          <a:p>
            <a:pPr algn="l"/>
            <a:r>
              <a:rPr sz="1100" b="1" i="0">
                <a:solidFill>
                  <a:srgbClr val="7A92B8"/>
                </a:solidFill>
                <a:latin typeface="Calibri"/>
              </a:rPr>
              <a:t>Interpretability</a:t>
            </a:r>
          </a:p>
        </p:txBody>
      </p:sp>
      <p:sp>
        <p:nvSpPr>
          <p:cNvPr id="38" name="TextBox 37"/>
          <p:cNvSpPr txBox="1"/>
          <p:nvPr/>
        </p:nvSpPr>
        <p:spPr>
          <a:xfrm>
            <a:off x="2286000" y="3943975"/>
            <a:ext cx="3383280" cy="274320"/>
          </a:xfrm>
          <a:prstGeom prst="rect">
            <a:avLst/>
          </a:prstGeom>
          <a:noFill/>
        </p:spPr>
        <p:txBody>
          <a:bodyPr wrap="square">
            <a:spAutoFit/>
          </a:bodyPr>
          <a:lstStyle/>
          <a:p>
            <a:pPr algn="l"/>
            <a:r>
              <a:rPr sz="1100" b="0" i="0">
                <a:solidFill>
                  <a:srgbClr val="00C2CB"/>
                </a:solidFill>
                <a:latin typeface="Calibri"/>
              </a:rPr>
              <a:t>Low (forest)</a:t>
            </a:r>
          </a:p>
        </p:txBody>
      </p:sp>
      <p:sp>
        <p:nvSpPr>
          <p:cNvPr id="39" name="TextBox 38"/>
          <p:cNvSpPr txBox="1"/>
          <p:nvPr/>
        </p:nvSpPr>
        <p:spPr>
          <a:xfrm>
            <a:off x="5760720" y="3943975"/>
            <a:ext cx="2926080" cy="274320"/>
          </a:xfrm>
          <a:prstGeom prst="rect">
            <a:avLst/>
          </a:prstGeom>
          <a:noFill/>
        </p:spPr>
        <p:txBody>
          <a:bodyPr wrap="square">
            <a:spAutoFit/>
          </a:bodyPr>
          <a:lstStyle/>
          <a:p>
            <a:pPr algn="l"/>
            <a:r>
              <a:rPr sz="1100" b="0" i="0">
                <a:solidFill>
                  <a:srgbClr val="39D353"/>
                </a:solidFill>
                <a:latin typeface="Calibri"/>
              </a:rPr>
              <a:t>Low (gradient path)</a:t>
            </a:r>
          </a:p>
        </p:txBody>
      </p:sp>
      <p:sp>
        <p:nvSpPr>
          <p:cNvPr id="40" name="Rectangle 39"/>
          <p:cNvSpPr/>
          <p:nvPr/>
        </p:nvSpPr>
        <p:spPr>
          <a:xfrm>
            <a:off x="274320" y="4328023"/>
            <a:ext cx="8595360" cy="420624"/>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1480" y="4401175"/>
            <a:ext cx="1828800" cy="274320"/>
          </a:xfrm>
          <a:prstGeom prst="rect">
            <a:avLst/>
          </a:prstGeom>
          <a:noFill/>
        </p:spPr>
        <p:txBody>
          <a:bodyPr wrap="square">
            <a:spAutoFit/>
          </a:bodyPr>
          <a:lstStyle/>
          <a:p>
            <a:pPr algn="l"/>
            <a:r>
              <a:rPr sz="1100" b="1" i="0">
                <a:solidFill>
                  <a:srgbClr val="7A92B8"/>
                </a:solidFill>
                <a:latin typeface="Calibri"/>
              </a:rPr>
              <a:t>When to use</a:t>
            </a:r>
          </a:p>
        </p:txBody>
      </p:sp>
      <p:sp>
        <p:nvSpPr>
          <p:cNvPr id="42" name="TextBox 41"/>
          <p:cNvSpPr txBox="1"/>
          <p:nvPr/>
        </p:nvSpPr>
        <p:spPr>
          <a:xfrm>
            <a:off x="2286000" y="4401175"/>
            <a:ext cx="3383280" cy="274320"/>
          </a:xfrm>
          <a:prstGeom prst="rect">
            <a:avLst/>
          </a:prstGeom>
          <a:noFill/>
        </p:spPr>
        <p:txBody>
          <a:bodyPr wrap="square">
            <a:spAutoFit/>
          </a:bodyPr>
          <a:lstStyle/>
          <a:p>
            <a:pPr algn="l"/>
            <a:r>
              <a:rPr sz="1100" b="0" i="0">
                <a:solidFill>
                  <a:srgbClr val="00C2CB"/>
                </a:solidFill>
                <a:latin typeface="Calibri"/>
              </a:rPr>
              <a:t>First model, noisy data</a:t>
            </a:r>
          </a:p>
        </p:txBody>
      </p:sp>
      <p:sp>
        <p:nvSpPr>
          <p:cNvPr id="43" name="TextBox 42"/>
          <p:cNvSpPr txBox="1"/>
          <p:nvPr/>
        </p:nvSpPr>
        <p:spPr>
          <a:xfrm>
            <a:off x="5760720" y="4401175"/>
            <a:ext cx="2926080" cy="274320"/>
          </a:xfrm>
          <a:prstGeom prst="rect">
            <a:avLst/>
          </a:prstGeom>
          <a:noFill/>
        </p:spPr>
        <p:txBody>
          <a:bodyPr wrap="square">
            <a:spAutoFit/>
          </a:bodyPr>
          <a:lstStyle/>
          <a:p>
            <a:pPr algn="l"/>
            <a:r>
              <a:rPr sz="1100" b="0" i="0">
                <a:solidFill>
                  <a:srgbClr val="39D353"/>
                </a:solidFill>
                <a:latin typeface="Calibri"/>
              </a:rPr>
              <a:t>Maximum accuracy needed</a:t>
            </a:r>
          </a:p>
        </p:txBody>
      </p:sp>
      <p:sp>
        <p:nvSpPr>
          <p:cNvPr id="44" name="Rectangle 43"/>
          <p:cNvSpPr/>
          <p:nvPr/>
        </p:nvSpPr>
        <p:spPr>
          <a:xfrm>
            <a:off x="274320" y="4821799"/>
            <a:ext cx="8595360" cy="2743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74320" y="4821799"/>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7200" y="4830943"/>
            <a:ext cx="8229600" cy="237744"/>
          </a:xfrm>
          <a:prstGeom prst="rect">
            <a:avLst/>
          </a:prstGeom>
          <a:noFill/>
        </p:spPr>
        <p:txBody>
          <a:bodyPr wrap="square">
            <a:spAutoFit/>
          </a:bodyPr>
          <a:lstStyle/>
          <a:p>
            <a:pPr algn="l"/>
            <a:r>
              <a:rPr sz="1050" b="0" i="0">
                <a:solidFill>
                  <a:srgbClr val="FFFFFF"/>
                </a:solidFill>
                <a:latin typeface="Calibri"/>
              </a:rPr>
              <a:t>💡 Practical Strategy: Start with Random Forest (quick, reliable). Squeeze extra accuracy with XGBoost. Use CV to compare.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36</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300" b="1" i="0">
                <a:solidFill>
                  <a:srgbClr val="FFFFFF"/>
                </a:solidFill>
                <a:latin typeface="Calibri"/>
              </a:rPr>
              <a:t>Learning Rate — The Most Important XGBoost Parameter</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Controls how aggressively each new tree corrects the residual errors</a:t>
            </a:r>
          </a:p>
        </p:txBody>
      </p:sp>
      <p:sp>
        <p:nvSpPr>
          <p:cNvPr id="8" name="Rectangle 7"/>
          <p:cNvSpPr/>
          <p:nvPr/>
        </p:nvSpPr>
        <p:spPr>
          <a:xfrm>
            <a:off x="274320" y="960120"/>
            <a:ext cx="2788920" cy="3383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50292" cy="338328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79" y="1005840"/>
            <a:ext cx="2057400" cy="475488"/>
          </a:xfrm>
          <a:prstGeom prst="rect">
            <a:avLst/>
          </a:prstGeom>
          <a:noFill/>
        </p:spPr>
        <p:txBody>
          <a:bodyPr wrap="square">
            <a:spAutoFit/>
          </a:bodyPr>
          <a:lstStyle/>
          <a:p>
            <a:pPr algn="l"/>
            <a:r>
              <a:rPr sz="1100" b="1" i="0">
                <a:solidFill>
                  <a:srgbClr val="FF4B4B"/>
                </a:solidFill>
                <a:latin typeface="Consolas"/>
              </a:rPr>
              <a:t>learning_rate = 0.3
(Too High)</a:t>
            </a:r>
          </a:p>
        </p:txBody>
      </p:sp>
      <p:sp>
        <p:nvSpPr>
          <p:cNvPr id="12" name="TextBox 11"/>
          <p:cNvSpPr txBox="1"/>
          <p:nvPr/>
        </p:nvSpPr>
        <p:spPr>
          <a:xfrm>
            <a:off x="411479" y="1536192"/>
            <a:ext cx="2514600" cy="347472"/>
          </a:xfrm>
          <a:prstGeom prst="rect">
            <a:avLst/>
          </a:prstGeom>
          <a:noFill/>
        </p:spPr>
        <p:txBody>
          <a:bodyPr wrap="square">
            <a:spAutoFit/>
          </a:bodyPr>
          <a:lstStyle/>
          <a:p>
            <a:pPr algn="l"/>
            <a:r>
              <a:rPr sz="1000" b="0" i="0">
                <a:solidFill>
                  <a:srgbClr val="7A92B8"/>
                </a:solidFill>
                <a:latin typeface="Calibri"/>
              </a:rPr>
              <a:t>Aggressive corrections.
Big steps toward lower error.</a:t>
            </a:r>
          </a:p>
        </p:txBody>
      </p:sp>
      <p:sp>
        <p:nvSpPr>
          <p:cNvPr id="13" name="Rectangle 12"/>
          <p:cNvSpPr/>
          <p:nvPr/>
        </p:nvSpPr>
        <p:spPr>
          <a:xfrm>
            <a:off x="365760" y="1938528"/>
            <a:ext cx="2606040" cy="4572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2029968"/>
            <a:ext cx="2514600" cy="457200"/>
          </a:xfrm>
          <a:prstGeom prst="rect">
            <a:avLst/>
          </a:prstGeom>
          <a:noFill/>
        </p:spPr>
        <p:txBody>
          <a:bodyPr wrap="square">
            <a:spAutoFit/>
          </a:bodyPr>
          <a:lstStyle/>
          <a:p>
            <a:pPr algn="l"/>
            <a:r>
              <a:rPr sz="1100" b="0" i="0">
                <a:solidFill>
                  <a:srgbClr val="06D679"/>
                </a:solidFill>
                <a:latin typeface="Calibri"/>
              </a:rPr>
              <a:t>+ Trains fast (few trees)</a:t>
            </a:r>
          </a:p>
        </p:txBody>
      </p:sp>
      <p:sp>
        <p:nvSpPr>
          <p:cNvPr id="15" name="TextBox 14"/>
          <p:cNvSpPr txBox="1"/>
          <p:nvPr/>
        </p:nvSpPr>
        <p:spPr>
          <a:xfrm>
            <a:off x="411479" y="2505456"/>
            <a:ext cx="2514600" cy="457200"/>
          </a:xfrm>
          <a:prstGeom prst="rect">
            <a:avLst/>
          </a:prstGeom>
          <a:noFill/>
        </p:spPr>
        <p:txBody>
          <a:bodyPr wrap="square">
            <a:spAutoFit/>
          </a:bodyPr>
          <a:lstStyle/>
          <a:p>
            <a:pPr algn="l"/>
            <a:r>
              <a:rPr sz="1100" b="0" i="0">
                <a:solidFill>
                  <a:srgbClr val="FF4B4B"/>
                </a:solidFill>
                <a:latin typeface="Calibri"/>
              </a:rPr>
              <a:t>− Can overshoot the minimum</a:t>
            </a:r>
          </a:p>
        </p:txBody>
      </p:sp>
      <p:sp>
        <p:nvSpPr>
          <p:cNvPr id="16" name="TextBox 15"/>
          <p:cNvSpPr txBox="1"/>
          <p:nvPr/>
        </p:nvSpPr>
        <p:spPr>
          <a:xfrm>
            <a:off x="411479" y="2980944"/>
            <a:ext cx="2514600" cy="457200"/>
          </a:xfrm>
          <a:prstGeom prst="rect">
            <a:avLst/>
          </a:prstGeom>
          <a:noFill/>
        </p:spPr>
        <p:txBody>
          <a:bodyPr wrap="square">
            <a:spAutoFit/>
          </a:bodyPr>
          <a:lstStyle/>
          <a:p>
            <a:pPr algn="l"/>
            <a:r>
              <a:rPr sz="1100" b="0" i="0">
                <a:solidFill>
                  <a:srgbClr val="FF4B4B"/>
                </a:solidFill>
                <a:latin typeface="Calibri"/>
              </a:rPr>
              <a:t>− Model is unstable</a:t>
            </a:r>
          </a:p>
        </p:txBody>
      </p:sp>
      <p:sp>
        <p:nvSpPr>
          <p:cNvPr id="17" name="TextBox 16"/>
          <p:cNvSpPr txBox="1"/>
          <p:nvPr/>
        </p:nvSpPr>
        <p:spPr>
          <a:xfrm>
            <a:off x="411479" y="3456432"/>
            <a:ext cx="2514600" cy="457200"/>
          </a:xfrm>
          <a:prstGeom prst="rect">
            <a:avLst/>
          </a:prstGeom>
          <a:noFill/>
        </p:spPr>
        <p:txBody>
          <a:bodyPr wrap="square">
            <a:spAutoFit/>
          </a:bodyPr>
          <a:lstStyle/>
          <a:p>
            <a:pPr algn="l"/>
            <a:r>
              <a:rPr sz="1100" b="0" i="0">
                <a:solidFill>
                  <a:srgbClr val="FF4B4B"/>
                </a:solidFill>
                <a:latin typeface="Calibri"/>
              </a:rPr>
              <a:t>− Often overfits</a:t>
            </a:r>
          </a:p>
        </p:txBody>
      </p:sp>
      <p:sp>
        <p:nvSpPr>
          <p:cNvPr id="18" name="Rectangle 17"/>
          <p:cNvSpPr/>
          <p:nvPr/>
        </p:nvSpPr>
        <p:spPr>
          <a:xfrm>
            <a:off x="3218688" y="960120"/>
            <a:ext cx="2788920" cy="3383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18688" y="960120"/>
            <a:ext cx="50292" cy="338328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55848" y="1005840"/>
            <a:ext cx="2057400" cy="475488"/>
          </a:xfrm>
          <a:prstGeom prst="rect">
            <a:avLst/>
          </a:prstGeom>
          <a:noFill/>
        </p:spPr>
        <p:txBody>
          <a:bodyPr wrap="square">
            <a:spAutoFit/>
          </a:bodyPr>
          <a:lstStyle/>
          <a:p>
            <a:pPr algn="l"/>
            <a:r>
              <a:rPr sz="1100" b="1" i="0">
                <a:solidFill>
                  <a:srgbClr val="FFC400"/>
                </a:solidFill>
                <a:latin typeface="Consolas"/>
              </a:rPr>
              <a:t>learning_rate = 0.1
(Standard)</a:t>
            </a:r>
          </a:p>
        </p:txBody>
      </p:sp>
      <p:sp>
        <p:nvSpPr>
          <p:cNvPr id="22" name="TextBox 21"/>
          <p:cNvSpPr txBox="1"/>
          <p:nvPr/>
        </p:nvSpPr>
        <p:spPr>
          <a:xfrm>
            <a:off x="3355848" y="1536192"/>
            <a:ext cx="2514600" cy="347472"/>
          </a:xfrm>
          <a:prstGeom prst="rect">
            <a:avLst/>
          </a:prstGeom>
          <a:noFill/>
        </p:spPr>
        <p:txBody>
          <a:bodyPr wrap="square">
            <a:spAutoFit/>
          </a:bodyPr>
          <a:lstStyle/>
          <a:p>
            <a:pPr algn="l"/>
            <a:r>
              <a:rPr sz="1000" b="0" i="0">
                <a:solidFill>
                  <a:srgbClr val="7A92B8"/>
                </a:solidFill>
                <a:latin typeface="Calibri"/>
              </a:rPr>
              <a:t>Balanced correction.
Medium steps.</a:t>
            </a:r>
          </a:p>
        </p:txBody>
      </p:sp>
      <p:sp>
        <p:nvSpPr>
          <p:cNvPr id="23" name="Rectangle 22"/>
          <p:cNvSpPr/>
          <p:nvPr/>
        </p:nvSpPr>
        <p:spPr>
          <a:xfrm>
            <a:off x="3310128" y="1938528"/>
            <a:ext cx="2606040" cy="4572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55848" y="2029968"/>
            <a:ext cx="2514600" cy="457200"/>
          </a:xfrm>
          <a:prstGeom prst="rect">
            <a:avLst/>
          </a:prstGeom>
          <a:noFill/>
        </p:spPr>
        <p:txBody>
          <a:bodyPr wrap="square">
            <a:spAutoFit/>
          </a:bodyPr>
          <a:lstStyle/>
          <a:p>
            <a:pPr algn="l"/>
            <a:r>
              <a:rPr sz="1100" b="0" i="0">
                <a:solidFill>
                  <a:srgbClr val="06D679"/>
                </a:solidFill>
                <a:latin typeface="Calibri"/>
              </a:rPr>
              <a:t>+ Good balance speed/accuracy</a:t>
            </a:r>
          </a:p>
        </p:txBody>
      </p:sp>
      <p:sp>
        <p:nvSpPr>
          <p:cNvPr id="25" name="TextBox 24"/>
          <p:cNvSpPr txBox="1"/>
          <p:nvPr/>
        </p:nvSpPr>
        <p:spPr>
          <a:xfrm>
            <a:off x="3355848" y="2505456"/>
            <a:ext cx="2514600" cy="457200"/>
          </a:xfrm>
          <a:prstGeom prst="rect">
            <a:avLst/>
          </a:prstGeom>
          <a:noFill/>
        </p:spPr>
        <p:txBody>
          <a:bodyPr wrap="square">
            <a:spAutoFit/>
          </a:bodyPr>
          <a:lstStyle/>
          <a:p>
            <a:pPr algn="l"/>
            <a:r>
              <a:rPr sz="1100" b="0" i="0">
                <a:solidFill>
                  <a:srgbClr val="06D679"/>
                </a:solidFill>
                <a:latin typeface="Calibri"/>
              </a:rPr>
              <a:t>+ sklearn/XGBoost default</a:t>
            </a:r>
          </a:p>
        </p:txBody>
      </p:sp>
      <p:sp>
        <p:nvSpPr>
          <p:cNvPr id="26" name="TextBox 25"/>
          <p:cNvSpPr txBox="1"/>
          <p:nvPr/>
        </p:nvSpPr>
        <p:spPr>
          <a:xfrm>
            <a:off x="3355848" y="2980944"/>
            <a:ext cx="2514600" cy="457200"/>
          </a:xfrm>
          <a:prstGeom prst="rect">
            <a:avLst/>
          </a:prstGeom>
          <a:noFill/>
        </p:spPr>
        <p:txBody>
          <a:bodyPr wrap="square">
            <a:spAutoFit/>
          </a:bodyPr>
          <a:lstStyle/>
          <a:p>
            <a:pPr algn="l"/>
            <a:r>
              <a:rPr sz="1100" b="0" i="0">
                <a:solidFill>
                  <a:srgbClr val="06D679"/>
                </a:solidFill>
                <a:latin typeface="Calibri"/>
              </a:rPr>
              <a:t>+ Works for most problems</a:t>
            </a:r>
          </a:p>
        </p:txBody>
      </p:sp>
      <p:sp>
        <p:nvSpPr>
          <p:cNvPr id="27" name="TextBox 26"/>
          <p:cNvSpPr txBox="1"/>
          <p:nvPr/>
        </p:nvSpPr>
        <p:spPr>
          <a:xfrm>
            <a:off x="3355848" y="3456432"/>
            <a:ext cx="2514600" cy="457200"/>
          </a:xfrm>
          <a:prstGeom prst="rect">
            <a:avLst/>
          </a:prstGeom>
          <a:noFill/>
        </p:spPr>
        <p:txBody>
          <a:bodyPr wrap="square">
            <a:spAutoFit/>
          </a:bodyPr>
          <a:lstStyle/>
          <a:p>
            <a:pPr algn="l"/>
            <a:r>
              <a:rPr sz="1100" b="0" i="0">
                <a:solidFill>
                  <a:srgbClr val="7A92B8"/>
                </a:solidFill>
                <a:latin typeface="Calibri"/>
              </a:rPr>
              <a:t>Typical: 100 trees needed</a:t>
            </a:r>
          </a:p>
        </p:txBody>
      </p:sp>
      <p:sp>
        <p:nvSpPr>
          <p:cNvPr id="28" name="Rectangle 27"/>
          <p:cNvSpPr/>
          <p:nvPr/>
        </p:nvSpPr>
        <p:spPr>
          <a:xfrm>
            <a:off x="6163056" y="960120"/>
            <a:ext cx="2788920" cy="338328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3056" y="960120"/>
            <a:ext cx="50292" cy="338328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0216" y="1005840"/>
            <a:ext cx="2057400" cy="475488"/>
          </a:xfrm>
          <a:prstGeom prst="rect">
            <a:avLst/>
          </a:prstGeom>
          <a:noFill/>
        </p:spPr>
        <p:txBody>
          <a:bodyPr wrap="square">
            <a:spAutoFit/>
          </a:bodyPr>
          <a:lstStyle/>
          <a:p>
            <a:pPr algn="l"/>
            <a:r>
              <a:rPr sz="1100" b="1" i="0">
                <a:solidFill>
                  <a:srgbClr val="00C2CB"/>
                </a:solidFill>
                <a:latin typeface="Consolas"/>
              </a:rPr>
              <a:t>learning_rate = 0.01
(Too Low)</a:t>
            </a:r>
          </a:p>
        </p:txBody>
      </p:sp>
      <p:sp>
        <p:nvSpPr>
          <p:cNvPr id="32" name="TextBox 31"/>
          <p:cNvSpPr txBox="1"/>
          <p:nvPr/>
        </p:nvSpPr>
        <p:spPr>
          <a:xfrm>
            <a:off x="6300216" y="1536192"/>
            <a:ext cx="2514600" cy="347472"/>
          </a:xfrm>
          <a:prstGeom prst="rect">
            <a:avLst/>
          </a:prstGeom>
          <a:noFill/>
        </p:spPr>
        <p:txBody>
          <a:bodyPr wrap="square">
            <a:spAutoFit/>
          </a:bodyPr>
          <a:lstStyle/>
          <a:p>
            <a:pPr algn="l"/>
            <a:r>
              <a:rPr sz="1000" b="0" i="0">
                <a:solidFill>
                  <a:srgbClr val="7A92B8"/>
                </a:solidFill>
                <a:latin typeface="Calibri"/>
              </a:rPr>
              <a:t>Very careful corrections.
Tiny steps.</a:t>
            </a:r>
          </a:p>
        </p:txBody>
      </p:sp>
      <p:sp>
        <p:nvSpPr>
          <p:cNvPr id="33" name="Rectangle 32"/>
          <p:cNvSpPr/>
          <p:nvPr/>
        </p:nvSpPr>
        <p:spPr>
          <a:xfrm>
            <a:off x="6254496" y="1938528"/>
            <a:ext cx="2606040" cy="4572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00216" y="2029968"/>
            <a:ext cx="2514600" cy="457200"/>
          </a:xfrm>
          <a:prstGeom prst="rect">
            <a:avLst/>
          </a:prstGeom>
          <a:noFill/>
        </p:spPr>
        <p:txBody>
          <a:bodyPr wrap="square">
            <a:spAutoFit/>
          </a:bodyPr>
          <a:lstStyle/>
          <a:p>
            <a:pPr algn="l"/>
            <a:r>
              <a:rPr sz="1100" b="0" i="0">
                <a:solidFill>
                  <a:srgbClr val="06D679"/>
                </a:solidFill>
                <a:latin typeface="Calibri"/>
              </a:rPr>
              <a:t>+ Very accurate (if patient)</a:t>
            </a:r>
          </a:p>
        </p:txBody>
      </p:sp>
      <p:sp>
        <p:nvSpPr>
          <p:cNvPr id="35" name="TextBox 34"/>
          <p:cNvSpPr txBox="1"/>
          <p:nvPr/>
        </p:nvSpPr>
        <p:spPr>
          <a:xfrm>
            <a:off x="6300216" y="2505456"/>
            <a:ext cx="2514600" cy="457200"/>
          </a:xfrm>
          <a:prstGeom prst="rect">
            <a:avLst/>
          </a:prstGeom>
          <a:noFill/>
        </p:spPr>
        <p:txBody>
          <a:bodyPr wrap="square">
            <a:spAutoFit/>
          </a:bodyPr>
          <a:lstStyle/>
          <a:p>
            <a:pPr algn="l"/>
            <a:r>
              <a:rPr sz="1100" b="0" i="0">
                <a:solidFill>
                  <a:srgbClr val="06D679"/>
                </a:solidFill>
                <a:latin typeface="Calibri"/>
              </a:rPr>
              <a:t>− Needs MANY more trees (1000+)</a:t>
            </a:r>
          </a:p>
        </p:txBody>
      </p:sp>
      <p:sp>
        <p:nvSpPr>
          <p:cNvPr id="36" name="TextBox 35"/>
          <p:cNvSpPr txBox="1"/>
          <p:nvPr/>
        </p:nvSpPr>
        <p:spPr>
          <a:xfrm>
            <a:off x="6300216" y="2980944"/>
            <a:ext cx="2514600" cy="457200"/>
          </a:xfrm>
          <a:prstGeom prst="rect">
            <a:avLst/>
          </a:prstGeom>
          <a:noFill/>
        </p:spPr>
        <p:txBody>
          <a:bodyPr wrap="square">
            <a:spAutoFit/>
          </a:bodyPr>
          <a:lstStyle/>
          <a:p>
            <a:pPr algn="l"/>
            <a:r>
              <a:rPr sz="1100" b="0" i="0">
                <a:solidFill>
                  <a:srgbClr val="FF4B4B"/>
                </a:solidFill>
                <a:latin typeface="Calibri"/>
              </a:rPr>
              <a:t>− Very slow to train</a:t>
            </a:r>
          </a:p>
        </p:txBody>
      </p:sp>
      <p:sp>
        <p:nvSpPr>
          <p:cNvPr id="37" name="TextBox 36"/>
          <p:cNvSpPr txBox="1"/>
          <p:nvPr/>
        </p:nvSpPr>
        <p:spPr>
          <a:xfrm>
            <a:off x="6300216" y="3456432"/>
            <a:ext cx="2514600" cy="457200"/>
          </a:xfrm>
          <a:prstGeom prst="rect">
            <a:avLst/>
          </a:prstGeom>
          <a:noFill/>
        </p:spPr>
        <p:txBody>
          <a:bodyPr wrap="square">
            <a:spAutoFit/>
          </a:bodyPr>
          <a:lstStyle/>
          <a:p>
            <a:pPr algn="l"/>
            <a:r>
              <a:rPr sz="1100" b="0" i="0">
                <a:solidFill>
                  <a:srgbClr val="7A92B8"/>
                </a:solidFill>
                <a:latin typeface="Calibri"/>
              </a:rPr>
              <a:t>Use with large n_estimators</a:t>
            </a:r>
          </a:p>
        </p:txBody>
      </p:sp>
      <p:sp>
        <p:nvSpPr>
          <p:cNvPr id="38" name="Rectangle 37"/>
          <p:cNvSpPr/>
          <p:nvPr/>
        </p:nvSpPr>
        <p:spPr>
          <a:xfrm>
            <a:off x="274320" y="4462272"/>
            <a:ext cx="8595360" cy="53035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 y="4462272"/>
            <a:ext cx="8595360" cy="502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4544568"/>
            <a:ext cx="8229600" cy="384048"/>
          </a:xfrm>
          <a:prstGeom prst="rect">
            <a:avLst/>
          </a:prstGeom>
          <a:noFill/>
        </p:spPr>
        <p:txBody>
          <a:bodyPr wrap="square">
            <a:spAutoFit/>
          </a:bodyPr>
          <a:lstStyle/>
          <a:p>
            <a:pPr algn="ctr"/>
            <a:r>
              <a:rPr sz="1150" b="0" i="0">
                <a:solidFill>
                  <a:srgbClr val="FFFFFF"/>
                </a:solidFill>
                <a:latin typeface="Calibri"/>
              </a:rPr>
              <a:t>Golden Rule:  Lower learning_rate + More n_estimators = Better accuracy (but slower).  lr=0.05 to 0.1 with 200-500 trees is a common sweet spot.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FFC400"/>
                </a:solidFill>
                <a:latin typeface="Arial Black"/>
              </a:rPr>
              <a:t>07</a:t>
            </a:r>
          </a:p>
        </p:txBody>
      </p:sp>
      <p:sp>
        <p:nvSpPr>
          <p:cNvPr id="5" name="TextBox 4"/>
          <p:cNvSpPr txBox="1"/>
          <p:nvPr/>
        </p:nvSpPr>
        <p:spPr>
          <a:xfrm>
            <a:off x="457199" y="3200400"/>
            <a:ext cx="6829647" cy="615553"/>
          </a:xfrm>
          <a:prstGeom prst="rect">
            <a:avLst/>
          </a:prstGeom>
          <a:noFill/>
        </p:spPr>
        <p:txBody>
          <a:bodyPr wrap="square">
            <a:spAutoFit/>
          </a:bodyPr>
          <a:lstStyle/>
          <a:p>
            <a:pPr algn="l"/>
            <a:r>
              <a:rPr sz="3400" b="1" i="0" dirty="0">
                <a:solidFill>
                  <a:srgbClr val="FFFFFF"/>
                </a:solidFill>
                <a:latin typeface="Calibri"/>
              </a:rPr>
              <a:t>Model Comparison &amp; Selection</a:t>
            </a:r>
          </a:p>
        </p:txBody>
      </p:sp>
      <p:sp>
        <p:nvSpPr>
          <p:cNvPr id="6" name="Rectangle 5"/>
          <p:cNvSpPr/>
          <p:nvPr/>
        </p:nvSpPr>
        <p:spPr>
          <a:xfrm>
            <a:off x="457200" y="3063240"/>
            <a:ext cx="3657600" cy="54864"/>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38</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All 4 Models — Side by Side Comparison</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Based on the Titanic dataset (25% test set, 223 passengers)</a:t>
            </a:r>
          </a:p>
        </p:txBody>
      </p:sp>
      <p:sp>
        <p:nvSpPr>
          <p:cNvPr id="8" name="Rectangle 7"/>
          <p:cNvSpPr/>
          <p:nvPr/>
        </p:nvSpPr>
        <p:spPr>
          <a:xfrm>
            <a:off x="274320" y="960120"/>
            <a:ext cx="8595360" cy="3840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987552"/>
            <a:ext cx="1371600" cy="274320"/>
          </a:xfrm>
          <a:prstGeom prst="rect">
            <a:avLst/>
          </a:prstGeom>
          <a:noFill/>
        </p:spPr>
        <p:txBody>
          <a:bodyPr wrap="square">
            <a:spAutoFit/>
          </a:bodyPr>
          <a:lstStyle/>
          <a:p>
            <a:pPr algn="l"/>
            <a:r>
              <a:rPr sz="1050" b="1" i="0">
                <a:solidFill>
                  <a:srgbClr val="FFC400"/>
                </a:solidFill>
                <a:latin typeface="Calibri"/>
              </a:rPr>
              <a:t>Model</a:t>
            </a:r>
          </a:p>
        </p:txBody>
      </p:sp>
      <p:sp>
        <p:nvSpPr>
          <p:cNvPr id="10" name="TextBox 9"/>
          <p:cNvSpPr txBox="1"/>
          <p:nvPr/>
        </p:nvSpPr>
        <p:spPr>
          <a:xfrm>
            <a:off x="2148840" y="987552"/>
            <a:ext cx="1371600" cy="274320"/>
          </a:xfrm>
          <a:prstGeom prst="rect">
            <a:avLst/>
          </a:prstGeom>
          <a:noFill/>
        </p:spPr>
        <p:txBody>
          <a:bodyPr wrap="square">
            <a:spAutoFit/>
          </a:bodyPr>
          <a:lstStyle/>
          <a:p>
            <a:pPr algn="l"/>
            <a:r>
              <a:rPr sz="1050" b="1" i="0">
                <a:solidFill>
                  <a:srgbClr val="FFC400"/>
                </a:solidFill>
                <a:latin typeface="Calibri"/>
              </a:rPr>
              <a:t>Accuracy</a:t>
            </a:r>
          </a:p>
        </p:txBody>
      </p:sp>
      <p:sp>
        <p:nvSpPr>
          <p:cNvPr id="11" name="TextBox 10"/>
          <p:cNvSpPr txBox="1"/>
          <p:nvPr/>
        </p:nvSpPr>
        <p:spPr>
          <a:xfrm>
            <a:off x="3337560" y="987552"/>
            <a:ext cx="1371600" cy="274320"/>
          </a:xfrm>
          <a:prstGeom prst="rect">
            <a:avLst/>
          </a:prstGeom>
          <a:noFill/>
        </p:spPr>
        <p:txBody>
          <a:bodyPr wrap="square">
            <a:spAutoFit/>
          </a:bodyPr>
          <a:lstStyle/>
          <a:p>
            <a:pPr algn="l"/>
            <a:r>
              <a:rPr sz="1050" b="1" i="0">
                <a:solidFill>
                  <a:srgbClr val="FFC400"/>
                </a:solidFill>
                <a:latin typeface="Calibri"/>
              </a:rPr>
              <a:t>Precision</a:t>
            </a:r>
          </a:p>
        </p:txBody>
      </p:sp>
      <p:sp>
        <p:nvSpPr>
          <p:cNvPr id="12" name="TextBox 11"/>
          <p:cNvSpPr txBox="1"/>
          <p:nvPr/>
        </p:nvSpPr>
        <p:spPr>
          <a:xfrm>
            <a:off x="4434840" y="987552"/>
            <a:ext cx="1371600" cy="274320"/>
          </a:xfrm>
          <a:prstGeom prst="rect">
            <a:avLst/>
          </a:prstGeom>
          <a:noFill/>
        </p:spPr>
        <p:txBody>
          <a:bodyPr wrap="square">
            <a:spAutoFit/>
          </a:bodyPr>
          <a:lstStyle/>
          <a:p>
            <a:pPr algn="l"/>
            <a:r>
              <a:rPr sz="1050" b="1" i="0">
                <a:solidFill>
                  <a:srgbClr val="FFC400"/>
                </a:solidFill>
                <a:latin typeface="Calibri"/>
              </a:rPr>
              <a:t>Recall</a:t>
            </a:r>
          </a:p>
        </p:txBody>
      </p:sp>
      <p:sp>
        <p:nvSpPr>
          <p:cNvPr id="13" name="TextBox 12"/>
          <p:cNvSpPr txBox="1"/>
          <p:nvPr/>
        </p:nvSpPr>
        <p:spPr>
          <a:xfrm>
            <a:off x="5486400" y="987552"/>
            <a:ext cx="1371600" cy="274320"/>
          </a:xfrm>
          <a:prstGeom prst="rect">
            <a:avLst/>
          </a:prstGeom>
          <a:noFill/>
        </p:spPr>
        <p:txBody>
          <a:bodyPr wrap="square">
            <a:spAutoFit/>
          </a:bodyPr>
          <a:lstStyle/>
          <a:p>
            <a:pPr algn="l"/>
            <a:r>
              <a:rPr sz="1050" b="1" i="0">
                <a:solidFill>
                  <a:srgbClr val="FFC400"/>
                </a:solidFill>
                <a:latin typeface="Calibri"/>
              </a:rPr>
              <a:t>F1-Score</a:t>
            </a:r>
          </a:p>
        </p:txBody>
      </p:sp>
      <p:sp>
        <p:nvSpPr>
          <p:cNvPr id="14" name="TextBox 13"/>
          <p:cNvSpPr txBox="1"/>
          <p:nvPr/>
        </p:nvSpPr>
        <p:spPr>
          <a:xfrm>
            <a:off x="6537960" y="987552"/>
            <a:ext cx="1371600" cy="274320"/>
          </a:xfrm>
          <a:prstGeom prst="rect">
            <a:avLst/>
          </a:prstGeom>
          <a:noFill/>
        </p:spPr>
        <p:txBody>
          <a:bodyPr wrap="square">
            <a:spAutoFit/>
          </a:bodyPr>
          <a:lstStyle/>
          <a:p>
            <a:pPr algn="l"/>
            <a:r>
              <a:rPr sz="1050" b="1" i="0">
                <a:solidFill>
                  <a:srgbClr val="FFC400"/>
                </a:solidFill>
                <a:latin typeface="Calibri"/>
              </a:rPr>
              <a:t>Needs Scaling?</a:t>
            </a:r>
          </a:p>
        </p:txBody>
      </p:sp>
      <p:sp>
        <p:nvSpPr>
          <p:cNvPr id="15" name="Rectangle 14"/>
          <p:cNvSpPr/>
          <p:nvPr/>
        </p:nvSpPr>
        <p:spPr>
          <a:xfrm>
            <a:off x="274320" y="1389888"/>
            <a:ext cx="8595360" cy="6675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1389888"/>
            <a:ext cx="45720" cy="6675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1572768"/>
            <a:ext cx="1691640" cy="320040"/>
          </a:xfrm>
          <a:prstGeom prst="rect">
            <a:avLst/>
          </a:prstGeom>
          <a:noFill/>
        </p:spPr>
        <p:txBody>
          <a:bodyPr wrap="square">
            <a:spAutoFit/>
          </a:bodyPr>
          <a:lstStyle/>
          <a:p>
            <a:pPr algn="l"/>
            <a:r>
              <a:rPr sz="1200" b="1" i="0">
                <a:solidFill>
                  <a:srgbClr val="00C2CB"/>
                </a:solidFill>
                <a:latin typeface="Calibri"/>
              </a:rPr>
              <a:t>KNN (K=5)</a:t>
            </a:r>
          </a:p>
        </p:txBody>
      </p:sp>
      <p:sp>
        <p:nvSpPr>
          <p:cNvPr id="18" name="TextBox 17"/>
          <p:cNvSpPr txBox="1"/>
          <p:nvPr/>
        </p:nvSpPr>
        <p:spPr>
          <a:xfrm>
            <a:off x="2148840" y="1572768"/>
            <a:ext cx="1051560" cy="320040"/>
          </a:xfrm>
          <a:prstGeom prst="rect">
            <a:avLst/>
          </a:prstGeom>
          <a:noFill/>
        </p:spPr>
        <p:txBody>
          <a:bodyPr wrap="square">
            <a:spAutoFit/>
          </a:bodyPr>
          <a:lstStyle/>
          <a:p>
            <a:pPr algn="l"/>
            <a:r>
              <a:rPr sz="1250" b="1" i="0">
                <a:solidFill>
                  <a:srgbClr val="7A92B8"/>
                </a:solidFill>
                <a:latin typeface="Calibri"/>
              </a:rPr>
              <a:t>78.9%</a:t>
            </a:r>
          </a:p>
        </p:txBody>
      </p:sp>
      <p:sp>
        <p:nvSpPr>
          <p:cNvPr id="19" name="TextBox 18"/>
          <p:cNvSpPr txBox="1"/>
          <p:nvPr/>
        </p:nvSpPr>
        <p:spPr>
          <a:xfrm>
            <a:off x="3337560" y="1572768"/>
            <a:ext cx="1051560" cy="320040"/>
          </a:xfrm>
          <a:prstGeom prst="rect">
            <a:avLst/>
          </a:prstGeom>
          <a:noFill/>
        </p:spPr>
        <p:txBody>
          <a:bodyPr wrap="square">
            <a:spAutoFit/>
          </a:bodyPr>
          <a:lstStyle/>
          <a:p>
            <a:pPr algn="l"/>
            <a:r>
              <a:rPr sz="1250" b="1" i="0">
                <a:solidFill>
                  <a:srgbClr val="7A92B8"/>
                </a:solidFill>
                <a:latin typeface="Calibri"/>
              </a:rPr>
              <a:t>74.1%</a:t>
            </a:r>
          </a:p>
        </p:txBody>
      </p:sp>
      <p:sp>
        <p:nvSpPr>
          <p:cNvPr id="20" name="TextBox 19"/>
          <p:cNvSpPr txBox="1"/>
          <p:nvPr/>
        </p:nvSpPr>
        <p:spPr>
          <a:xfrm>
            <a:off x="4434840" y="1572768"/>
            <a:ext cx="1051560" cy="320040"/>
          </a:xfrm>
          <a:prstGeom prst="rect">
            <a:avLst/>
          </a:prstGeom>
          <a:noFill/>
        </p:spPr>
        <p:txBody>
          <a:bodyPr wrap="square">
            <a:spAutoFit/>
          </a:bodyPr>
          <a:lstStyle/>
          <a:p>
            <a:pPr algn="l"/>
            <a:r>
              <a:rPr sz="1250" b="1" i="0">
                <a:solidFill>
                  <a:srgbClr val="7A92B8"/>
                </a:solidFill>
                <a:latin typeface="Calibri"/>
              </a:rPr>
              <a:t>73.0%</a:t>
            </a:r>
          </a:p>
        </p:txBody>
      </p:sp>
      <p:sp>
        <p:nvSpPr>
          <p:cNvPr id="21" name="TextBox 20"/>
          <p:cNvSpPr txBox="1"/>
          <p:nvPr/>
        </p:nvSpPr>
        <p:spPr>
          <a:xfrm>
            <a:off x="5486400" y="1572768"/>
            <a:ext cx="1051560" cy="320040"/>
          </a:xfrm>
          <a:prstGeom prst="rect">
            <a:avLst/>
          </a:prstGeom>
          <a:noFill/>
        </p:spPr>
        <p:txBody>
          <a:bodyPr wrap="square">
            <a:spAutoFit/>
          </a:bodyPr>
          <a:lstStyle/>
          <a:p>
            <a:pPr algn="l"/>
            <a:r>
              <a:rPr sz="1250" b="1" i="0">
                <a:solidFill>
                  <a:srgbClr val="7A92B8"/>
                </a:solidFill>
                <a:latin typeface="Calibri"/>
              </a:rPr>
              <a:t>73.6%</a:t>
            </a:r>
          </a:p>
        </p:txBody>
      </p:sp>
      <p:sp>
        <p:nvSpPr>
          <p:cNvPr id="22" name="TextBox 21"/>
          <p:cNvSpPr txBox="1"/>
          <p:nvPr/>
        </p:nvSpPr>
        <p:spPr>
          <a:xfrm>
            <a:off x="6537960" y="1572768"/>
            <a:ext cx="1508760" cy="320040"/>
          </a:xfrm>
          <a:prstGeom prst="rect">
            <a:avLst/>
          </a:prstGeom>
          <a:noFill/>
        </p:spPr>
        <p:txBody>
          <a:bodyPr wrap="square">
            <a:spAutoFit/>
          </a:bodyPr>
          <a:lstStyle/>
          <a:p>
            <a:pPr algn="l"/>
            <a:r>
              <a:rPr sz="1200" b="0" i="0">
                <a:solidFill>
                  <a:srgbClr val="FFC400"/>
                </a:solidFill>
                <a:latin typeface="Calibri"/>
              </a:rPr>
              <a:t>✅ Yes</a:t>
            </a:r>
          </a:p>
        </p:txBody>
      </p:sp>
      <p:sp>
        <p:nvSpPr>
          <p:cNvPr id="23" name="Rectangle 22"/>
          <p:cNvSpPr/>
          <p:nvPr/>
        </p:nvSpPr>
        <p:spPr>
          <a:xfrm>
            <a:off x="274320" y="2103120"/>
            <a:ext cx="8595360" cy="66751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2103120"/>
            <a:ext cx="45720" cy="66751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2286000"/>
            <a:ext cx="1691640" cy="320040"/>
          </a:xfrm>
          <a:prstGeom prst="rect">
            <a:avLst/>
          </a:prstGeom>
          <a:noFill/>
        </p:spPr>
        <p:txBody>
          <a:bodyPr wrap="square">
            <a:spAutoFit/>
          </a:bodyPr>
          <a:lstStyle/>
          <a:p>
            <a:pPr algn="l"/>
            <a:r>
              <a:rPr sz="1200" b="1" i="0">
                <a:solidFill>
                  <a:srgbClr val="39D353"/>
                </a:solidFill>
                <a:latin typeface="Calibri"/>
              </a:rPr>
              <a:t>Decision Tree</a:t>
            </a:r>
          </a:p>
        </p:txBody>
      </p:sp>
      <p:sp>
        <p:nvSpPr>
          <p:cNvPr id="26" name="TextBox 25"/>
          <p:cNvSpPr txBox="1"/>
          <p:nvPr/>
        </p:nvSpPr>
        <p:spPr>
          <a:xfrm>
            <a:off x="2148840" y="2286000"/>
            <a:ext cx="1051560" cy="320040"/>
          </a:xfrm>
          <a:prstGeom prst="rect">
            <a:avLst/>
          </a:prstGeom>
          <a:noFill/>
        </p:spPr>
        <p:txBody>
          <a:bodyPr wrap="square">
            <a:spAutoFit/>
          </a:bodyPr>
          <a:lstStyle/>
          <a:p>
            <a:pPr algn="l"/>
            <a:r>
              <a:rPr sz="1250" b="1" i="0">
                <a:solidFill>
                  <a:srgbClr val="06D679"/>
                </a:solidFill>
                <a:latin typeface="Calibri"/>
              </a:rPr>
              <a:t>80.7%</a:t>
            </a:r>
          </a:p>
        </p:txBody>
      </p:sp>
      <p:sp>
        <p:nvSpPr>
          <p:cNvPr id="27" name="TextBox 26"/>
          <p:cNvSpPr txBox="1"/>
          <p:nvPr/>
        </p:nvSpPr>
        <p:spPr>
          <a:xfrm>
            <a:off x="3337560" y="2286000"/>
            <a:ext cx="1051560" cy="320040"/>
          </a:xfrm>
          <a:prstGeom prst="rect">
            <a:avLst/>
          </a:prstGeom>
          <a:noFill/>
        </p:spPr>
        <p:txBody>
          <a:bodyPr wrap="square">
            <a:spAutoFit/>
          </a:bodyPr>
          <a:lstStyle/>
          <a:p>
            <a:pPr algn="l"/>
            <a:r>
              <a:rPr sz="1250" b="1" i="0">
                <a:solidFill>
                  <a:srgbClr val="7A92B8"/>
                </a:solidFill>
                <a:latin typeface="Calibri"/>
              </a:rPr>
              <a:t>76.2%</a:t>
            </a:r>
          </a:p>
        </p:txBody>
      </p:sp>
      <p:sp>
        <p:nvSpPr>
          <p:cNvPr id="28" name="TextBox 27"/>
          <p:cNvSpPr txBox="1"/>
          <p:nvPr/>
        </p:nvSpPr>
        <p:spPr>
          <a:xfrm>
            <a:off x="4434840" y="2286000"/>
            <a:ext cx="1051560" cy="320040"/>
          </a:xfrm>
          <a:prstGeom prst="rect">
            <a:avLst/>
          </a:prstGeom>
          <a:noFill/>
        </p:spPr>
        <p:txBody>
          <a:bodyPr wrap="square">
            <a:spAutoFit/>
          </a:bodyPr>
          <a:lstStyle/>
          <a:p>
            <a:pPr algn="l"/>
            <a:r>
              <a:rPr sz="1250" b="1" i="0">
                <a:solidFill>
                  <a:srgbClr val="7A92B8"/>
                </a:solidFill>
                <a:latin typeface="Calibri"/>
              </a:rPr>
              <a:t>74.2%</a:t>
            </a:r>
          </a:p>
        </p:txBody>
      </p:sp>
      <p:sp>
        <p:nvSpPr>
          <p:cNvPr id="29" name="TextBox 28"/>
          <p:cNvSpPr txBox="1"/>
          <p:nvPr/>
        </p:nvSpPr>
        <p:spPr>
          <a:xfrm>
            <a:off x="5486400" y="2286000"/>
            <a:ext cx="1051560" cy="320040"/>
          </a:xfrm>
          <a:prstGeom prst="rect">
            <a:avLst/>
          </a:prstGeom>
          <a:noFill/>
        </p:spPr>
        <p:txBody>
          <a:bodyPr wrap="square">
            <a:spAutoFit/>
          </a:bodyPr>
          <a:lstStyle/>
          <a:p>
            <a:pPr algn="l"/>
            <a:r>
              <a:rPr sz="1250" b="1" i="0">
                <a:solidFill>
                  <a:srgbClr val="7A92B8"/>
                </a:solidFill>
                <a:latin typeface="Calibri"/>
              </a:rPr>
              <a:t>75.2%</a:t>
            </a:r>
          </a:p>
        </p:txBody>
      </p:sp>
      <p:sp>
        <p:nvSpPr>
          <p:cNvPr id="30" name="TextBox 29"/>
          <p:cNvSpPr txBox="1"/>
          <p:nvPr/>
        </p:nvSpPr>
        <p:spPr>
          <a:xfrm>
            <a:off x="6537960" y="2286000"/>
            <a:ext cx="1508760" cy="320040"/>
          </a:xfrm>
          <a:prstGeom prst="rect">
            <a:avLst/>
          </a:prstGeom>
          <a:noFill/>
        </p:spPr>
        <p:txBody>
          <a:bodyPr wrap="square">
            <a:spAutoFit/>
          </a:bodyPr>
          <a:lstStyle/>
          <a:p>
            <a:pPr algn="l"/>
            <a:r>
              <a:rPr sz="1200" b="0" i="0">
                <a:solidFill>
                  <a:srgbClr val="7A92B8"/>
                </a:solidFill>
                <a:latin typeface="Calibri"/>
              </a:rPr>
              <a:t>❌ No</a:t>
            </a:r>
          </a:p>
        </p:txBody>
      </p:sp>
      <p:sp>
        <p:nvSpPr>
          <p:cNvPr id="31" name="Rectangle 30"/>
          <p:cNvSpPr/>
          <p:nvPr/>
        </p:nvSpPr>
        <p:spPr>
          <a:xfrm>
            <a:off x="274320" y="2816352"/>
            <a:ext cx="8595360" cy="6675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2816352"/>
            <a:ext cx="45720" cy="6675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2999232"/>
            <a:ext cx="1691640" cy="320040"/>
          </a:xfrm>
          <a:prstGeom prst="rect">
            <a:avLst/>
          </a:prstGeom>
          <a:noFill/>
        </p:spPr>
        <p:txBody>
          <a:bodyPr wrap="square">
            <a:spAutoFit/>
          </a:bodyPr>
          <a:lstStyle/>
          <a:p>
            <a:pPr algn="l"/>
            <a:r>
              <a:rPr sz="1200" b="1" i="0">
                <a:solidFill>
                  <a:srgbClr val="00C2CB"/>
                </a:solidFill>
                <a:latin typeface="Calibri"/>
              </a:rPr>
              <a:t>Random Forest</a:t>
            </a:r>
          </a:p>
        </p:txBody>
      </p:sp>
      <p:sp>
        <p:nvSpPr>
          <p:cNvPr id="34" name="TextBox 33"/>
          <p:cNvSpPr txBox="1"/>
          <p:nvPr/>
        </p:nvSpPr>
        <p:spPr>
          <a:xfrm>
            <a:off x="2148840" y="2999232"/>
            <a:ext cx="1051560" cy="320040"/>
          </a:xfrm>
          <a:prstGeom prst="rect">
            <a:avLst/>
          </a:prstGeom>
          <a:noFill/>
        </p:spPr>
        <p:txBody>
          <a:bodyPr wrap="square">
            <a:spAutoFit/>
          </a:bodyPr>
          <a:lstStyle/>
          <a:p>
            <a:pPr algn="l"/>
            <a:r>
              <a:rPr sz="1250" b="1" i="0">
                <a:solidFill>
                  <a:srgbClr val="06D679"/>
                </a:solidFill>
                <a:latin typeface="Calibri"/>
              </a:rPr>
              <a:t>81.6%</a:t>
            </a:r>
          </a:p>
        </p:txBody>
      </p:sp>
      <p:sp>
        <p:nvSpPr>
          <p:cNvPr id="35" name="TextBox 34"/>
          <p:cNvSpPr txBox="1"/>
          <p:nvPr/>
        </p:nvSpPr>
        <p:spPr>
          <a:xfrm>
            <a:off x="3337560" y="2999232"/>
            <a:ext cx="1051560" cy="320040"/>
          </a:xfrm>
          <a:prstGeom prst="rect">
            <a:avLst/>
          </a:prstGeom>
          <a:noFill/>
        </p:spPr>
        <p:txBody>
          <a:bodyPr wrap="square">
            <a:spAutoFit/>
          </a:bodyPr>
          <a:lstStyle/>
          <a:p>
            <a:pPr algn="l"/>
            <a:r>
              <a:rPr sz="1250" b="1" i="0">
                <a:solidFill>
                  <a:srgbClr val="06D679"/>
                </a:solidFill>
                <a:latin typeface="Calibri"/>
              </a:rPr>
              <a:t>80.8%</a:t>
            </a:r>
          </a:p>
        </p:txBody>
      </p:sp>
      <p:sp>
        <p:nvSpPr>
          <p:cNvPr id="36" name="TextBox 35"/>
          <p:cNvSpPr txBox="1"/>
          <p:nvPr/>
        </p:nvSpPr>
        <p:spPr>
          <a:xfrm>
            <a:off x="4434840" y="2999232"/>
            <a:ext cx="1051560" cy="320040"/>
          </a:xfrm>
          <a:prstGeom prst="rect">
            <a:avLst/>
          </a:prstGeom>
          <a:noFill/>
        </p:spPr>
        <p:txBody>
          <a:bodyPr wrap="square">
            <a:spAutoFit/>
          </a:bodyPr>
          <a:lstStyle/>
          <a:p>
            <a:pPr algn="l"/>
            <a:r>
              <a:rPr sz="1250" b="1" i="0">
                <a:solidFill>
                  <a:srgbClr val="7A92B8"/>
                </a:solidFill>
                <a:latin typeface="Calibri"/>
              </a:rPr>
              <a:t>70.8%</a:t>
            </a:r>
          </a:p>
        </p:txBody>
      </p:sp>
      <p:sp>
        <p:nvSpPr>
          <p:cNvPr id="37" name="TextBox 36"/>
          <p:cNvSpPr txBox="1"/>
          <p:nvPr/>
        </p:nvSpPr>
        <p:spPr>
          <a:xfrm>
            <a:off x="5486400" y="2999232"/>
            <a:ext cx="1051560" cy="320040"/>
          </a:xfrm>
          <a:prstGeom prst="rect">
            <a:avLst/>
          </a:prstGeom>
          <a:noFill/>
        </p:spPr>
        <p:txBody>
          <a:bodyPr wrap="square">
            <a:spAutoFit/>
          </a:bodyPr>
          <a:lstStyle/>
          <a:p>
            <a:pPr algn="l"/>
            <a:r>
              <a:rPr sz="1250" b="1" i="0">
                <a:solidFill>
                  <a:srgbClr val="7A92B8"/>
                </a:solidFill>
                <a:latin typeface="Calibri"/>
              </a:rPr>
              <a:t>75.4%</a:t>
            </a:r>
          </a:p>
        </p:txBody>
      </p:sp>
      <p:sp>
        <p:nvSpPr>
          <p:cNvPr id="38" name="TextBox 37"/>
          <p:cNvSpPr txBox="1"/>
          <p:nvPr/>
        </p:nvSpPr>
        <p:spPr>
          <a:xfrm>
            <a:off x="6537960" y="2999232"/>
            <a:ext cx="1508760" cy="320040"/>
          </a:xfrm>
          <a:prstGeom prst="rect">
            <a:avLst/>
          </a:prstGeom>
          <a:noFill/>
        </p:spPr>
        <p:txBody>
          <a:bodyPr wrap="square">
            <a:spAutoFit/>
          </a:bodyPr>
          <a:lstStyle/>
          <a:p>
            <a:pPr algn="l"/>
            <a:r>
              <a:rPr sz="1200" b="0" i="0">
                <a:solidFill>
                  <a:srgbClr val="7A92B8"/>
                </a:solidFill>
                <a:latin typeface="Calibri"/>
              </a:rPr>
              <a:t>❌ No</a:t>
            </a:r>
          </a:p>
        </p:txBody>
      </p:sp>
      <p:sp>
        <p:nvSpPr>
          <p:cNvPr id="39" name="Rectangle 38"/>
          <p:cNvSpPr/>
          <p:nvPr/>
        </p:nvSpPr>
        <p:spPr>
          <a:xfrm>
            <a:off x="274320" y="3529584"/>
            <a:ext cx="8595360" cy="667512"/>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74320" y="3529584"/>
            <a:ext cx="45720" cy="66751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1480" y="3712463"/>
            <a:ext cx="1691640" cy="320040"/>
          </a:xfrm>
          <a:prstGeom prst="rect">
            <a:avLst/>
          </a:prstGeom>
          <a:noFill/>
        </p:spPr>
        <p:txBody>
          <a:bodyPr wrap="square">
            <a:spAutoFit/>
          </a:bodyPr>
          <a:lstStyle/>
          <a:p>
            <a:pPr algn="l"/>
            <a:r>
              <a:rPr sz="1200" b="1" i="0">
                <a:solidFill>
                  <a:srgbClr val="39D353"/>
                </a:solidFill>
                <a:latin typeface="Calibri"/>
              </a:rPr>
              <a:t>XGBoost</a:t>
            </a:r>
          </a:p>
        </p:txBody>
      </p:sp>
      <p:sp>
        <p:nvSpPr>
          <p:cNvPr id="42" name="TextBox 41"/>
          <p:cNvSpPr txBox="1"/>
          <p:nvPr/>
        </p:nvSpPr>
        <p:spPr>
          <a:xfrm>
            <a:off x="2148840" y="3712463"/>
            <a:ext cx="1051560" cy="320040"/>
          </a:xfrm>
          <a:prstGeom prst="rect">
            <a:avLst/>
          </a:prstGeom>
          <a:noFill/>
        </p:spPr>
        <p:txBody>
          <a:bodyPr wrap="square">
            <a:spAutoFit/>
          </a:bodyPr>
          <a:lstStyle/>
          <a:p>
            <a:pPr algn="l"/>
            <a:r>
              <a:rPr sz="1250" b="1" i="0">
                <a:solidFill>
                  <a:srgbClr val="06D679"/>
                </a:solidFill>
                <a:latin typeface="Calibri"/>
              </a:rPr>
              <a:t>82.5%</a:t>
            </a:r>
          </a:p>
        </p:txBody>
      </p:sp>
      <p:sp>
        <p:nvSpPr>
          <p:cNvPr id="43" name="TextBox 42"/>
          <p:cNvSpPr txBox="1"/>
          <p:nvPr/>
        </p:nvSpPr>
        <p:spPr>
          <a:xfrm>
            <a:off x="3337560" y="3712463"/>
            <a:ext cx="1051560" cy="320040"/>
          </a:xfrm>
          <a:prstGeom prst="rect">
            <a:avLst/>
          </a:prstGeom>
          <a:noFill/>
        </p:spPr>
        <p:txBody>
          <a:bodyPr wrap="square">
            <a:spAutoFit/>
          </a:bodyPr>
          <a:lstStyle/>
          <a:p>
            <a:pPr algn="l"/>
            <a:r>
              <a:rPr sz="1250" b="1" i="0">
                <a:solidFill>
                  <a:srgbClr val="06D679"/>
                </a:solidFill>
                <a:latin typeface="Calibri"/>
              </a:rPr>
              <a:t>83.8%</a:t>
            </a:r>
          </a:p>
        </p:txBody>
      </p:sp>
      <p:sp>
        <p:nvSpPr>
          <p:cNvPr id="44" name="TextBox 43"/>
          <p:cNvSpPr txBox="1"/>
          <p:nvPr/>
        </p:nvSpPr>
        <p:spPr>
          <a:xfrm>
            <a:off x="4434840" y="3712463"/>
            <a:ext cx="1051560" cy="320040"/>
          </a:xfrm>
          <a:prstGeom prst="rect">
            <a:avLst/>
          </a:prstGeom>
          <a:noFill/>
        </p:spPr>
        <p:txBody>
          <a:bodyPr wrap="square">
            <a:spAutoFit/>
          </a:bodyPr>
          <a:lstStyle/>
          <a:p>
            <a:pPr algn="l"/>
            <a:r>
              <a:rPr sz="1250" b="1" i="0">
                <a:solidFill>
                  <a:srgbClr val="7A92B8"/>
                </a:solidFill>
                <a:latin typeface="Calibri"/>
              </a:rPr>
              <a:t>69.7%</a:t>
            </a:r>
          </a:p>
        </p:txBody>
      </p:sp>
      <p:sp>
        <p:nvSpPr>
          <p:cNvPr id="45" name="TextBox 44"/>
          <p:cNvSpPr txBox="1"/>
          <p:nvPr/>
        </p:nvSpPr>
        <p:spPr>
          <a:xfrm>
            <a:off x="5486400" y="3712463"/>
            <a:ext cx="1051560" cy="320040"/>
          </a:xfrm>
          <a:prstGeom prst="rect">
            <a:avLst/>
          </a:prstGeom>
          <a:noFill/>
        </p:spPr>
        <p:txBody>
          <a:bodyPr wrap="square">
            <a:spAutoFit/>
          </a:bodyPr>
          <a:lstStyle/>
          <a:p>
            <a:pPr algn="l"/>
            <a:r>
              <a:rPr sz="1250" b="1" i="0">
                <a:solidFill>
                  <a:srgbClr val="7A92B8"/>
                </a:solidFill>
                <a:latin typeface="Calibri"/>
              </a:rPr>
              <a:t>76.1%</a:t>
            </a:r>
          </a:p>
        </p:txBody>
      </p:sp>
      <p:sp>
        <p:nvSpPr>
          <p:cNvPr id="46" name="TextBox 45"/>
          <p:cNvSpPr txBox="1"/>
          <p:nvPr/>
        </p:nvSpPr>
        <p:spPr>
          <a:xfrm>
            <a:off x="6537960" y="3712463"/>
            <a:ext cx="1508760" cy="320040"/>
          </a:xfrm>
          <a:prstGeom prst="rect">
            <a:avLst/>
          </a:prstGeom>
          <a:noFill/>
        </p:spPr>
        <p:txBody>
          <a:bodyPr wrap="square">
            <a:spAutoFit/>
          </a:bodyPr>
          <a:lstStyle/>
          <a:p>
            <a:pPr algn="l"/>
            <a:r>
              <a:rPr sz="1200" b="0" i="0">
                <a:solidFill>
                  <a:srgbClr val="7A92B8"/>
                </a:solidFill>
                <a:latin typeface="Calibri"/>
              </a:rPr>
              <a:t>❌ No</a:t>
            </a:r>
          </a:p>
        </p:txBody>
      </p:sp>
      <p:sp>
        <p:nvSpPr>
          <p:cNvPr id="47" name="Rectangle 46"/>
          <p:cNvSpPr/>
          <p:nvPr/>
        </p:nvSpPr>
        <p:spPr>
          <a:xfrm>
            <a:off x="274320" y="4279392"/>
            <a:ext cx="8595360" cy="530352"/>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4343400"/>
            <a:ext cx="8229600" cy="276999"/>
          </a:xfrm>
          <a:prstGeom prst="rect">
            <a:avLst/>
          </a:prstGeom>
          <a:noFill/>
        </p:spPr>
        <p:txBody>
          <a:bodyPr wrap="square">
            <a:spAutoFit/>
          </a:bodyPr>
          <a:lstStyle/>
          <a:p>
            <a:pPr algn="ctr"/>
            <a:r>
              <a:rPr sz="1200" b="1" i="0" dirty="0">
                <a:solidFill>
                  <a:srgbClr val="FFC400"/>
                </a:solidFill>
                <a:latin typeface="Calibri"/>
              </a:rPr>
              <a:t>  Winner: </a:t>
            </a:r>
            <a:r>
              <a:rPr sz="1200" b="1" i="0" dirty="0" err="1">
                <a:solidFill>
                  <a:srgbClr val="FFC400"/>
                </a:solidFill>
                <a:latin typeface="Calibri"/>
              </a:rPr>
              <a:t>XGBoost</a:t>
            </a:r>
            <a:r>
              <a:rPr sz="1200" b="1" i="0" dirty="0">
                <a:solidFill>
                  <a:srgbClr val="FFC400"/>
                </a:solidFill>
                <a:latin typeface="Calibri"/>
              </a:rPr>
              <a:t> (F1=76.1%)  |  Best Recall: Decision Tree  |  Best Precision: </a:t>
            </a:r>
            <a:r>
              <a:rPr sz="1200" b="1" i="0" dirty="0" err="1">
                <a:solidFill>
                  <a:srgbClr val="FFC400"/>
                </a:solidFill>
                <a:latin typeface="Calibri"/>
              </a:rPr>
              <a:t>XGBoost</a:t>
            </a:r>
            <a:endParaRPr sz="1200" b="1" i="0" dirty="0">
              <a:solidFill>
                <a:srgbClr val="FFC400"/>
              </a:solidFill>
              <a:latin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39</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How to Choose the Right Model</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1">
                <a:solidFill>
                  <a:srgbClr val="7A92B8"/>
                </a:solidFill>
                <a:latin typeface="Calibri"/>
              </a:rPr>
              <a:t>There is no 'best' algorithm — it depends entirely on your situation</a:t>
            </a:r>
          </a:p>
        </p:txBody>
      </p:sp>
      <p:sp>
        <p:nvSpPr>
          <p:cNvPr id="8" name="Rectangle 7"/>
          <p:cNvSpPr/>
          <p:nvPr/>
        </p:nvSpPr>
        <p:spPr>
          <a:xfrm>
            <a:off x="274320" y="1005840"/>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143000"/>
            <a:ext cx="1280160" cy="276999"/>
          </a:xfrm>
          <a:prstGeom prst="rect">
            <a:avLst/>
          </a:prstGeom>
          <a:noFill/>
        </p:spPr>
        <p:txBody>
          <a:bodyPr wrap="square">
            <a:spAutoFit/>
          </a:bodyPr>
          <a:lstStyle/>
          <a:p>
            <a:pPr algn="l"/>
            <a:r>
              <a:rPr sz="1200" b="1" i="0" dirty="0">
                <a:solidFill>
                  <a:srgbClr val="FFC400"/>
                </a:solidFill>
                <a:latin typeface="Calibri"/>
              </a:rPr>
              <a:t> Data Size</a:t>
            </a:r>
          </a:p>
        </p:txBody>
      </p:sp>
      <p:sp>
        <p:nvSpPr>
          <p:cNvPr id="11" name="Rectangle 10"/>
          <p:cNvSpPr/>
          <p:nvPr/>
        </p:nvSpPr>
        <p:spPr>
          <a:xfrm>
            <a:off x="1783080" y="1078992"/>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874519" y="1097280"/>
            <a:ext cx="3246120" cy="219456"/>
          </a:xfrm>
          <a:prstGeom prst="rect">
            <a:avLst/>
          </a:prstGeom>
          <a:noFill/>
        </p:spPr>
        <p:txBody>
          <a:bodyPr wrap="square">
            <a:spAutoFit/>
          </a:bodyPr>
          <a:lstStyle/>
          <a:p>
            <a:pPr algn="l"/>
            <a:r>
              <a:rPr sz="950" b="0" i="0">
                <a:solidFill>
                  <a:srgbClr val="7A92B8"/>
                </a:solidFill>
                <a:latin typeface="Calibri"/>
              </a:rPr>
              <a:t>If:  Small (&lt;1000 rows)</a:t>
            </a:r>
          </a:p>
        </p:txBody>
      </p:sp>
      <p:sp>
        <p:nvSpPr>
          <p:cNvPr id="13" name="TextBox 12"/>
          <p:cNvSpPr txBox="1"/>
          <p:nvPr/>
        </p:nvSpPr>
        <p:spPr>
          <a:xfrm>
            <a:off x="1874519" y="1316736"/>
            <a:ext cx="3246120" cy="219456"/>
          </a:xfrm>
          <a:prstGeom prst="rect">
            <a:avLst/>
          </a:prstGeom>
          <a:noFill/>
        </p:spPr>
        <p:txBody>
          <a:bodyPr wrap="square">
            <a:spAutoFit/>
          </a:bodyPr>
          <a:lstStyle/>
          <a:p>
            <a:pPr algn="l"/>
            <a:r>
              <a:rPr sz="1100" b="1" i="0">
                <a:solidFill>
                  <a:srgbClr val="00C2CB"/>
                </a:solidFill>
                <a:latin typeface="Calibri"/>
              </a:rPr>
              <a:t>→   KNN or Decision Tree</a:t>
            </a:r>
          </a:p>
        </p:txBody>
      </p:sp>
      <p:sp>
        <p:nvSpPr>
          <p:cNvPr id="14" name="Rectangle 13"/>
          <p:cNvSpPr/>
          <p:nvPr/>
        </p:nvSpPr>
        <p:spPr>
          <a:xfrm>
            <a:off x="5303520" y="1078992"/>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94960" y="1097280"/>
            <a:ext cx="3291840" cy="219456"/>
          </a:xfrm>
          <a:prstGeom prst="rect">
            <a:avLst/>
          </a:prstGeom>
          <a:noFill/>
        </p:spPr>
        <p:txBody>
          <a:bodyPr wrap="square">
            <a:spAutoFit/>
          </a:bodyPr>
          <a:lstStyle/>
          <a:p>
            <a:pPr algn="l"/>
            <a:r>
              <a:rPr sz="950" b="0" i="0">
                <a:solidFill>
                  <a:srgbClr val="7A92B8"/>
                </a:solidFill>
                <a:latin typeface="Calibri"/>
              </a:rPr>
              <a:t>If:  Large (&gt;10k rows)</a:t>
            </a:r>
          </a:p>
        </p:txBody>
      </p:sp>
      <p:sp>
        <p:nvSpPr>
          <p:cNvPr id="16" name="TextBox 15"/>
          <p:cNvSpPr txBox="1"/>
          <p:nvPr/>
        </p:nvSpPr>
        <p:spPr>
          <a:xfrm>
            <a:off x="5394960" y="1316736"/>
            <a:ext cx="3291840" cy="219456"/>
          </a:xfrm>
          <a:prstGeom prst="rect">
            <a:avLst/>
          </a:prstGeom>
          <a:noFill/>
        </p:spPr>
        <p:txBody>
          <a:bodyPr wrap="square">
            <a:spAutoFit/>
          </a:bodyPr>
          <a:lstStyle/>
          <a:p>
            <a:pPr algn="l"/>
            <a:r>
              <a:rPr sz="1100" b="1" i="0">
                <a:solidFill>
                  <a:srgbClr val="39D353"/>
                </a:solidFill>
                <a:latin typeface="Calibri"/>
              </a:rPr>
              <a:t>→   Random Forest or XGBoost</a:t>
            </a:r>
          </a:p>
        </p:txBody>
      </p:sp>
      <p:sp>
        <p:nvSpPr>
          <p:cNvPr id="17" name="Rectangle 16"/>
          <p:cNvSpPr/>
          <p:nvPr/>
        </p:nvSpPr>
        <p:spPr>
          <a:xfrm>
            <a:off x="274320" y="1691640"/>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4320" y="1691640"/>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1828800"/>
            <a:ext cx="1280160" cy="276999"/>
          </a:xfrm>
          <a:prstGeom prst="rect">
            <a:avLst/>
          </a:prstGeom>
          <a:noFill/>
        </p:spPr>
        <p:txBody>
          <a:bodyPr wrap="square">
            <a:spAutoFit/>
          </a:bodyPr>
          <a:lstStyle/>
          <a:p>
            <a:pPr algn="l"/>
            <a:r>
              <a:rPr sz="1200" b="1" i="0" dirty="0">
                <a:solidFill>
                  <a:srgbClr val="FFC400"/>
                </a:solidFill>
                <a:latin typeface="Calibri"/>
              </a:rPr>
              <a:t> Interpretability</a:t>
            </a:r>
          </a:p>
        </p:txBody>
      </p:sp>
      <p:sp>
        <p:nvSpPr>
          <p:cNvPr id="20" name="Rectangle 19"/>
          <p:cNvSpPr/>
          <p:nvPr/>
        </p:nvSpPr>
        <p:spPr>
          <a:xfrm>
            <a:off x="1783080" y="1764792"/>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74519" y="1783080"/>
            <a:ext cx="3246120" cy="219456"/>
          </a:xfrm>
          <a:prstGeom prst="rect">
            <a:avLst/>
          </a:prstGeom>
          <a:noFill/>
        </p:spPr>
        <p:txBody>
          <a:bodyPr wrap="square">
            <a:spAutoFit/>
          </a:bodyPr>
          <a:lstStyle/>
          <a:p>
            <a:pPr algn="l"/>
            <a:r>
              <a:rPr sz="950" b="0" i="0">
                <a:solidFill>
                  <a:srgbClr val="7A92B8"/>
                </a:solidFill>
                <a:latin typeface="Calibri"/>
              </a:rPr>
              <a:t>If:  Need to explain model</a:t>
            </a:r>
          </a:p>
        </p:txBody>
      </p:sp>
      <p:sp>
        <p:nvSpPr>
          <p:cNvPr id="22" name="TextBox 21"/>
          <p:cNvSpPr txBox="1"/>
          <p:nvPr/>
        </p:nvSpPr>
        <p:spPr>
          <a:xfrm>
            <a:off x="1874519" y="2002536"/>
            <a:ext cx="3246120" cy="219456"/>
          </a:xfrm>
          <a:prstGeom prst="rect">
            <a:avLst/>
          </a:prstGeom>
          <a:noFill/>
        </p:spPr>
        <p:txBody>
          <a:bodyPr wrap="square">
            <a:spAutoFit/>
          </a:bodyPr>
          <a:lstStyle/>
          <a:p>
            <a:pPr algn="l"/>
            <a:r>
              <a:rPr sz="1100" b="1" i="0">
                <a:solidFill>
                  <a:srgbClr val="00C2CB"/>
                </a:solidFill>
                <a:latin typeface="Calibri"/>
              </a:rPr>
              <a:t>→   Decision Tree (visual)</a:t>
            </a:r>
          </a:p>
        </p:txBody>
      </p:sp>
      <p:sp>
        <p:nvSpPr>
          <p:cNvPr id="23" name="Rectangle 22"/>
          <p:cNvSpPr/>
          <p:nvPr/>
        </p:nvSpPr>
        <p:spPr>
          <a:xfrm>
            <a:off x="5303520" y="1764792"/>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94960" y="1783080"/>
            <a:ext cx="3291840" cy="219456"/>
          </a:xfrm>
          <a:prstGeom prst="rect">
            <a:avLst/>
          </a:prstGeom>
          <a:noFill/>
        </p:spPr>
        <p:txBody>
          <a:bodyPr wrap="square">
            <a:spAutoFit/>
          </a:bodyPr>
          <a:lstStyle/>
          <a:p>
            <a:pPr algn="l"/>
            <a:r>
              <a:rPr sz="950" b="0" i="0">
                <a:solidFill>
                  <a:srgbClr val="7A92B8"/>
                </a:solidFill>
                <a:latin typeface="Calibri"/>
              </a:rPr>
              <a:t>If:  Only accuracy matters</a:t>
            </a:r>
          </a:p>
        </p:txBody>
      </p:sp>
      <p:sp>
        <p:nvSpPr>
          <p:cNvPr id="25" name="TextBox 24"/>
          <p:cNvSpPr txBox="1"/>
          <p:nvPr/>
        </p:nvSpPr>
        <p:spPr>
          <a:xfrm>
            <a:off x="5394960" y="2002536"/>
            <a:ext cx="3291840" cy="219456"/>
          </a:xfrm>
          <a:prstGeom prst="rect">
            <a:avLst/>
          </a:prstGeom>
          <a:noFill/>
        </p:spPr>
        <p:txBody>
          <a:bodyPr wrap="square">
            <a:spAutoFit/>
          </a:bodyPr>
          <a:lstStyle/>
          <a:p>
            <a:pPr algn="l"/>
            <a:r>
              <a:rPr sz="1100" b="1" i="0">
                <a:solidFill>
                  <a:srgbClr val="39D353"/>
                </a:solidFill>
                <a:latin typeface="Calibri"/>
              </a:rPr>
              <a:t>→   XGBoost or RF</a:t>
            </a:r>
          </a:p>
        </p:txBody>
      </p:sp>
      <p:sp>
        <p:nvSpPr>
          <p:cNvPr id="26" name="Rectangle 25"/>
          <p:cNvSpPr/>
          <p:nvPr/>
        </p:nvSpPr>
        <p:spPr>
          <a:xfrm>
            <a:off x="274320" y="2377440"/>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4320" y="2377440"/>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2514600"/>
            <a:ext cx="1280160" cy="276999"/>
          </a:xfrm>
          <a:prstGeom prst="rect">
            <a:avLst/>
          </a:prstGeom>
          <a:noFill/>
        </p:spPr>
        <p:txBody>
          <a:bodyPr wrap="square">
            <a:spAutoFit/>
          </a:bodyPr>
          <a:lstStyle/>
          <a:p>
            <a:pPr algn="l"/>
            <a:r>
              <a:rPr sz="1200" b="1" i="0" dirty="0">
                <a:solidFill>
                  <a:srgbClr val="FFC400"/>
                </a:solidFill>
                <a:latin typeface="Calibri"/>
              </a:rPr>
              <a:t> Speed</a:t>
            </a:r>
          </a:p>
        </p:txBody>
      </p:sp>
      <p:sp>
        <p:nvSpPr>
          <p:cNvPr id="29" name="Rectangle 28"/>
          <p:cNvSpPr/>
          <p:nvPr/>
        </p:nvSpPr>
        <p:spPr>
          <a:xfrm>
            <a:off x="1783080" y="2450592"/>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74519" y="2468880"/>
            <a:ext cx="3246120" cy="219456"/>
          </a:xfrm>
          <a:prstGeom prst="rect">
            <a:avLst/>
          </a:prstGeom>
          <a:noFill/>
        </p:spPr>
        <p:txBody>
          <a:bodyPr wrap="square">
            <a:spAutoFit/>
          </a:bodyPr>
          <a:lstStyle/>
          <a:p>
            <a:pPr algn="l"/>
            <a:r>
              <a:rPr sz="950" b="0" i="0">
                <a:solidFill>
                  <a:srgbClr val="7A92B8"/>
                </a:solidFill>
                <a:latin typeface="Calibri"/>
              </a:rPr>
              <a:t>If:  Need fast training</a:t>
            </a:r>
          </a:p>
        </p:txBody>
      </p:sp>
      <p:sp>
        <p:nvSpPr>
          <p:cNvPr id="31" name="TextBox 30"/>
          <p:cNvSpPr txBox="1"/>
          <p:nvPr/>
        </p:nvSpPr>
        <p:spPr>
          <a:xfrm>
            <a:off x="1874519" y="2688336"/>
            <a:ext cx="3246120" cy="219456"/>
          </a:xfrm>
          <a:prstGeom prst="rect">
            <a:avLst/>
          </a:prstGeom>
          <a:noFill/>
        </p:spPr>
        <p:txBody>
          <a:bodyPr wrap="square">
            <a:spAutoFit/>
          </a:bodyPr>
          <a:lstStyle/>
          <a:p>
            <a:pPr algn="l"/>
            <a:r>
              <a:rPr sz="1100" b="1" i="0">
                <a:solidFill>
                  <a:srgbClr val="00C2CB"/>
                </a:solidFill>
                <a:latin typeface="Calibri"/>
              </a:rPr>
              <a:t>→   Random Forest (parallel)</a:t>
            </a:r>
          </a:p>
        </p:txBody>
      </p:sp>
      <p:sp>
        <p:nvSpPr>
          <p:cNvPr id="32" name="Rectangle 31"/>
          <p:cNvSpPr/>
          <p:nvPr/>
        </p:nvSpPr>
        <p:spPr>
          <a:xfrm>
            <a:off x="5303520" y="2450592"/>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94960" y="2468880"/>
            <a:ext cx="3291840" cy="219456"/>
          </a:xfrm>
          <a:prstGeom prst="rect">
            <a:avLst/>
          </a:prstGeom>
          <a:noFill/>
        </p:spPr>
        <p:txBody>
          <a:bodyPr wrap="square">
            <a:spAutoFit/>
          </a:bodyPr>
          <a:lstStyle/>
          <a:p>
            <a:pPr algn="l"/>
            <a:r>
              <a:rPr sz="950" b="0" i="0">
                <a:solidFill>
                  <a:srgbClr val="7A92B8"/>
                </a:solidFill>
                <a:latin typeface="Calibri"/>
              </a:rPr>
              <a:t>If:  Can wait for results</a:t>
            </a:r>
          </a:p>
        </p:txBody>
      </p:sp>
      <p:sp>
        <p:nvSpPr>
          <p:cNvPr id="34" name="TextBox 33"/>
          <p:cNvSpPr txBox="1"/>
          <p:nvPr/>
        </p:nvSpPr>
        <p:spPr>
          <a:xfrm>
            <a:off x="5394960" y="2688336"/>
            <a:ext cx="3291840" cy="219456"/>
          </a:xfrm>
          <a:prstGeom prst="rect">
            <a:avLst/>
          </a:prstGeom>
          <a:noFill/>
        </p:spPr>
        <p:txBody>
          <a:bodyPr wrap="square">
            <a:spAutoFit/>
          </a:bodyPr>
          <a:lstStyle/>
          <a:p>
            <a:pPr algn="l"/>
            <a:r>
              <a:rPr sz="1100" b="1" i="0">
                <a:solidFill>
                  <a:srgbClr val="39D353"/>
                </a:solidFill>
                <a:latin typeface="Calibri"/>
              </a:rPr>
              <a:t>→   XGBoost</a:t>
            </a:r>
          </a:p>
        </p:txBody>
      </p:sp>
      <p:sp>
        <p:nvSpPr>
          <p:cNvPr id="35" name="Rectangle 34"/>
          <p:cNvSpPr/>
          <p:nvPr/>
        </p:nvSpPr>
        <p:spPr>
          <a:xfrm>
            <a:off x="274320" y="3063240"/>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3063240"/>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200400"/>
            <a:ext cx="1280160" cy="276999"/>
          </a:xfrm>
          <a:prstGeom prst="rect">
            <a:avLst/>
          </a:prstGeom>
          <a:noFill/>
        </p:spPr>
        <p:txBody>
          <a:bodyPr wrap="square">
            <a:spAutoFit/>
          </a:bodyPr>
          <a:lstStyle/>
          <a:p>
            <a:pPr algn="l"/>
            <a:r>
              <a:rPr sz="1200" b="1" i="0" dirty="0">
                <a:solidFill>
                  <a:srgbClr val="FFC400"/>
                </a:solidFill>
                <a:latin typeface="Calibri"/>
              </a:rPr>
              <a:t> Feature Scaling</a:t>
            </a:r>
          </a:p>
        </p:txBody>
      </p:sp>
      <p:sp>
        <p:nvSpPr>
          <p:cNvPr id="38" name="Rectangle 37"/>
          <p:cNvSpPr/>
          <p:nvPr/>
        </p:nvSpPr>
        <p:spPr>
          <a:xfrm>
            <a:off x="1783080" y="3136392"/>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74519" y="3154680"/>
            <a:ext cx="3246120" cy="219456"/>
          </a:xfrm>
          <a:prstGeom prst="rect">
            <a:avLst/>
          </a:prstGeom>
          <a:noFill/>
        </p:spPr>
        <p:txBody>
          <a:bodyPr wrap="square">
            <a:spAutoFit/>
          </a:bodyPr>
          <a:lstStyle/>
          <a:p>
            <a:pPr algn="l"/>
            <a:r>
              <a:rPr sz="950" b="0" i="0">
                <a:solidFill>
                  <a:srgbClr val="7A92B8"/>
                </a:solidFill>
                <a:latin typeface="Calibri"/>
              </a:rPr>
              <a:t>If:  No time to scale</a:t>
            </a:r>
          </a:p>
        </p:txBody>
      </p:sp>
      <p:sp>
        <p:nvSpPr>
          <p:cNvPr id="40" name="TextBox 39"/>
          <p:cNvSpPr txBox="1"/>
          <p:nvPr/>
        </p:nvSpPr>
        <p:spPr>
          <a:xfrm>
            <a:off x="1874519" y="3374136"/>
            <a:ext cx="3246120" cy="219456"/>
          </a:xfrm>
          <a:prstGeom prst="rect">
            <a:avLst/>
          </a:prstGeom>
          <a:noFill/>
        </p:spPr>
        <p:txBody>
          <a:bodyPr wrap="square">
            <a:spAutoFit/>
          </a:bodyPr>
          <a:lstStyle/>
          <a:p>
            <a:pPr algn="l"/>
            <a:r>
              <a:rPr sz="1100" b="1" i="0">
                <a:solidFill>
                  <a:srgbClr val="00C2CB"/>
                </a:solidFill>
                <a:latin typeface="Calibri"/>
              </a:rPr>
              <a:t>→   Any tree-based model</a:t>
            </a:r>
          </a:p>
        </p:txBody>
      </p:sp>
      <p:sp>
        <p:nvSpPr>
          <p:cNvPr id="41" name="Rectangle 40"/>
          <p:cNvSpPr/>
          <p:nvPr/>
        </p:nvSpPr>
        <p:spPr>
          <a:xfrm>
            <a:off x="5303520" y="3136392"/>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94960" y="3154680"/>
            <a:ext cx="3291840" cy="219456"/>
          </a:xfrm>
          <a:prstGeom prst="rect">
            <a:avLst/>
          </a:prstGeom>
          <a:noFill/>
        </p:spPr>
        <p:txBody>
          <a:bodyPr wrap="square">
            <a:spAutoFit/>
          </a:bodyPr>
          <a:lstStyle/>
          <a:p>
            <a:pPr algn="l"/>
            <a:r>
              <a:rPr sz="950" b="0" i="0">
                <a:solidFill>
                  <a:srgbClr val="7A92B8"/>
                </a:solidFill>
                <a:latin typeface="Calibri"/>
              </a:rPr>
              <a:t>If:  Willing to scale</a:t>
            </a:r>
          </a:p>
        </p:txBody>
      </p:sp>
      <p:sp>
        <p:nvSpPr>
          <p:cNvPr id="43" name="TextBox 42"/>
          <p:cNvSpPr txBox="1"/>
          <p:nvPr/>
        </p:nvSpPr>
        <p:spPr>
          <a:xfrm>
            <a:off x="5394960" y="3374136"/>
            <a:ext cx="3291840" cy="219456"/>
          </a:xfrm>
          <a:prstGeom prst="rect">
            <a:avLst/>
          </a:prstGeom>
          <a:noFill/>
        </p:spPr>
        <p:txBody>
          <a:bodyPr wrap="square">
            <a:spAutoFit/>
          </a:bodyPr>
          <a:lstStyle/>
          <a:p>
            <a:pPr algn="l"/>
            <a:r>
              <a:rPr sz="1100" b="1" i="0">
                <a:solidFill>
                  <a:srgbClr val="39D353"/>
                </a:solidFill>
                <a:latin typeface="Calibri"/>
              </a:rPr>
              <a:t>→   KNN (requires scaling)</a:t>
            </a:r>
          </a:p>
        </p:txBody>
      </p:sp>
      <p:sp>
        <p:nvSpPr>
          <p:cNvPr id="44" name="Rectangle 43"/>
          <p:cNvSpPr/>
          <p:nvPr/>
        </p:nvSpPr>
        <p:spPr>
          <a:xfrm>
            <a:off x="274320" y="3749039"/>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74320" y="3749039"/>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11480" y="3886200"/>
            <a:ext cx="1280160" cy="276999"/>
          </a:xfrm>
          <a:prstGeom prst="rect">
            <a:avLst/>
          </a:prstGeom>
          <a:noFill/>
        </p:spPr>
        <p:txBody>
          <a:bodyPr wrap="square">
            <a:spAutoFit/>
          </a:bodyPr>
          <a:lstStyle/>
          <a:p>
            <a:pPr algn="l"/>
            <a:r>
              <a:rPr sz="1200" b="1" i="0" dirty="0">
                <a:solidFill>
                  <a:srgbClr val="FFC400"/>
                </a:solidFill>
                <a:latin typeface="Calibri"/>
              </a:rPr>
              <a:t> Priority Metric</a:t>
            </a:r>
          </a:p>
        </p:txBody>
      </p:sp>
      <p:sp>
        <p:nvSpPr>
          <p:cNvPr id="47" name="Rectangle 46"/>
          <p:cNvSpPr/>
          <p:nvPr/>
        </p:nvSpPr>
        <p:spPr>
          <a:xfrm>
            <a:off x="1783080" y="3822191"/>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874519" y="3840479"/>
            <a:ext cx="3246120" cy="219456"/>
          </a:xfrm>
          <a:prstGeom prst="rect">
            <a:avLst/>
          </a:prstGeom>
          <a:noFill/>
        </p:spPr>
        <p:txBody>
          <a:bodyPr wrap="square">
            <a:spAutoFit/>
          </a:bodyPr>
          <a:lstStyle/>
          <a:p>
            <a:pPr algn="l"/>
            <a:r>
              <a:rPr sz="950" b="0" i="0">
                <a:solidFill>
                  <a:srgbClr val="7A92B8"/>
                </a:solidFill>
                <a:latin typeface="Calibri"/>
              </a:rPr>
              <a:t>If:  High Recall critical</a:t>
            </a:r>
          </a:p>
        </p:txBody>
      </p:sp>
      <p:sp>
        <p:nvSpPr>
          <p:cNvPr id="49" name="TextBox 48"/>
          <p:cNvSpPr txBox="1"/>
          <p:nvPr/>
        </p:nvSpPr>
        <p:spPr>
          <a:xfrm>
            <a:off x="1874519" y="4059935"/>
            <a:ext cx="3246120" cy="219456"/>
          </a:xfrm>
          <a:prstGeom prst="rect">
            <a:avLst/>
          </a:prstGeom>
          <a:noFill/>
        </p:spPr>
        <p:txBody>
          <a:bodyPr wrap="square">
            <a:spAutoFit/>
          </a:bodyPr>
          <a:lstStyle/>
          <a:p>
            <a:pPr algn="l"/>
            <a:r>
              <a:rPr sz="1100" b="1" i="0">
                <a:solidFill>
                  <a:srgbClr val="00C2CB"/>
                </a:solidFill>
                <a:latin typeface="Calibri"/>
              </a:rPr>
              <a:t>→   Tune threshold down</a:t>
            </a:r>
          </a:p>
        </p:txBody>
      </p:sp>
      <p:sp>
        <p:nvSpPr>
          <p:cNvPr id="50" name="Rectangle 49"/>
          <p:cNvSpPr/>
          <p:nvPr/>
        </p:nvSpPr>
        <p:spPr>
          <a:xfrm>
            <a:off x="5303520" y="3822191"/>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394960" y="3840479"/>
            <a:ext cx="3291840" cy="219456"/>
          </a:xfrm>
          <a:prstGeom prst="rect">
            <a:avLst/>
          </a:prstGeom>
          <a:noFill/>
        </p:spPr>
        <p:txBody>
          <a:bodyPr wrap="square">
            <a:spAutoFit/>
          </a:bodyPr>
          <a:lstStyle/>
          <a:p>
            <a:pPr algn="l"/>
            <a:r>
              <a:rPr sz="950" b="0" i="0">
                <a:solidFill>
                  <a:srgbClr val="7A92B8"/>
                </a:solidFill>
                <a:latin typeface="Calibri"/>
              </a:rPr>
              <a:t>If:  High Precision needed</a:t>
            </a:r>
          </a:p>
        </p:txBody>
      </p:sp>
      <p:sp>
        <p:nvSpPr>
          <p:cNvPr id="52" name="TextBox 51"/>
          <p:cNvSpPr txBox="1"/>
          <p:nvPr/>
        </p:nvSpPr>
        <p:spPr>
          <a:xfrm>
            <a:off x="5394960" y="4059935"/>
            <a:ext cx="3291840" cy="219456"/>
          </a:xfrm>
          <a:prstGeom prst="rect">
            <a:avLst/>
          </a:prstGeom>
          <a:noFill/>
        </p:spPr>
        <p:txBody>
          <a:bodyPr wrap="square">
            <a:spAutoFit/>
          </a:bodyPr>
          <a:lstStyle/>
          <a:p>
            <a:pPr algn="l"/>
            <a:r>
              <a:rPr sz="1100" b="1" i="0">
                <a:solidFill>
                  <a:srgbClr val="39D353"/>
                </a:solidFill>
                <a:latin typeface="Calibri"/>
              </a:rPr>
              <a:t>→   Tune threshold up</a:t>
            </a:r>
          </a:p>
        </p:txBody>
      </p:sp>
      <p:sp>
        <p:nvSpPr>
          <p:cNvPr id="53" name="Rectangle 52"/>
          <p:cNvSpPr/>
          <p:nvPr/>
        </p:nvSpPr>
        <p:spPr>
          <a:xfrm>
            <a:off x="274320" y="4434840"/>
            <a:ext cx="8595360" cy="62179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74320" y="4434840"/>
            <a:ext cx="50292" cy="6217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11480" y="4572000"/>
            <a:ext cx="1280160" cy="276999"/>
          </a:xfrm>
          <a:prstGeom prst="rect">
            <a:avLst/>
          </a:prstGeom>
          <a:noFill/>
        </p:spPr>
        <p:txBody>
          <a:bodyPr wrap="square">
            <a:spAutoFit/>
          </a:bodyPr>
          <a:lstStyle/>
          <a:p>
            <a:pPr algn="l"/>
            <a:r>
              <a:rPr sz="1200" b="1" i="0" dirty="0">
                <a:solidFill>
                  <a:srgbClr val="FFC400"/>
                </a:solidFill>
                <a:latin typeface="Calibri"/>
              </a:rPr>
              <a:t> First attempt</a:t>
            </a:r>
          </a:p>
        </p:txBody>
      </p:sp>
      <p:sp>
        <p:nvSpPr>
          <p:cNvPr id="56" name="Rectangle 55"/>
          <p:cNvSpPr/>
          <p:nvPr/>
        </p:nvSpPr>
        <p:spPr>
          <a:xfrm>
            <a:off x="1783080" y="4507992"/>
            <a:ext cx="338328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874519" y="4526279"/>
            <a:ext cx="3246120" cy="219456"/>
          </a:xfrm>
          <a:prstGeom prst="rect">
            <a:avLst/>
          </a:prstGeom>
          <a:noFill/>
        </p:spPr>
        <p:txBody>
          <a:bodyPr wrap="square">
            <a:spAutoFit/>
          </a:bodyPr>
          <a:lstStyle/>
          <a:p>
            <a:pPr algn="l"/>
            <a:r>
              <a:rPr sz="950" b="0" i="0">
                <a:solidFill>
                  <a:srgbClr val="7A92B8"/>
                </a:solidFill>
                <a:latin typeface="Calibri"/>
              </a:rPr>
              <a:t>If:  Always start here</a:t>
            </a:r>
          </a:p>
        </p:txBody>
      </p:sp>
      <p:sp>
        <p:nvSpPr>
          <p:cNvPr id="58" name="TextBox 57"/>
          <p:cNvSpPr txBox="1"/>
          <p:nvPr/>
        </p:nvSpPr>
        <p:spPr>
          <a:xfrm>
            <a:off x="1874519" y="4745736"/>
            <a:ext cx="3246120" cy="219456"/>
          </a:xfrm>
          <a:prstGeom prst="rect">
            <a:avLst/>
          </a:prstGeom>
          <a:noFill/>
        </p:spPr>
        <p:txBody>
          <a:bodyPr wrap="square">
            <a:spAutoFit/>
          </a:bodyPr>
          <a:lstStyle/>
          <a:p>
            <a:pPr algn="l"/>
            <a:r>
              <a:rPr sz="1100" b="1" i="0">
                <a:solidFill>
                  <a:srgbClr val="00C2CB"/>
                </a:solidFill>
                <a:latin typeface="Calibri"/>
              </a:rPr>
              <a:t>→   Random Forest → reliable</a:t>
            </a:r>
          </a:p>
        </p:txBody>
      </p:sp>
      <p:sp>
        <p:nvSpPr>
          <p:cNvPr id="59" name="Rectangle 58"/>
          <p:cNvSpPr/>
          <p:nvPr/>
        </p:nvSpPr>
        <p:spPr>
          <a:xfrm>
            <a:off x="5303520" y="4507992"/>
            <a:ext cx="3429000" cy="475488"/>
          </a:xfrm>
          <a:prstGeom prst="rect">
            <a:avLst/>
          </a:prstGeom>
          <a:solidFill>
            <a:srgbClr val="06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394960" y="4526279"/>
            <a:ext cx="3291840" cy="219456"/>
          </a:xfrm>
          <a:prstGeom prst="rect">
            <a:avLst/>
          </a:prstGeom>
          <a:noFill/>
        </p:spPr>
        <p:txBody>
          <a:bodyPr wrap="square">
            <a:spAutoFit/>
          </a:bodyPr>
          <a:lstStyle/>
          <a:p>
            <a:pPr algn="l"/>
            <a:r>
              <a:rPr sz="950" b="0" i="0">
                <a:solidFill>
                  <a:srgbClr val="7A92B8"/>
                </a:solidFill>
                <a:latin typeface="Calibri"/>
              </a:rPr>
              <a:t>If:  Need better accuracy</a:t>
            </a:r>
          </a:p>
        </p:txBody>
      </p:sp>
      <p:sp>
        <p:nvSpPr>
          <p:cNvPr id="61" name="TextBox 60"/>
          <p:cNvSpPr txBox="1"/>
          <p:nvPr/>
        </p:nvSpPr>
        <p:spPr>
          <a:xfrm>
            <a:off x="5394960" y="4745736"/>
            <a:ext cx="3291840" cy="219456"/>
          </a:xfrm>
          <a:prstGeom prst="rect">
            <a:avLst/>
          </a:prstGeom>
          <a:noFill/>
        </p:spPr>
        <p:txBody>
          <a:bodyPr wrap="square">
            <a:spAutoFit/>
          </a:bodyPr>
          <a:lstStyle/>
          <a:p>
            <a:pPr algn="l"/>
            <a:r>
              <a:rPr sz="1100" b="1" i="0">
                <a:solidFill>
                  <a:srgbClr val="39D353"/>
                </a:solidFill>
                <a:latin typeface="Calibri"/>
              </a:rPr>
              <a:t>→   XGBoost → powerful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40</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300" b="1" i="0">
                <a:solidFill>
                  <a:srgbClr val="FFFFFF"/>
                </a:solidFill>
                <a:latin typeface="Calibri"/>
              </a:rPr>
              <a:t>Reading the Classification Report — Titanic XGBoost</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Let's read a real sklearn output and understand every number</a:t>
            </a:r>
          </a:p>
        </p:txBody>
      </p:sp>
      <p:sp>
        <p:nvSpPr>
          <p:cNvPr id="8" name="Rectangle 7"/>
          <p:cNvSpPr/>
          <p:nvPr/>
        </p:nvSpPr>
        <p:spPr>
          <a:xfrm>
            <a:off x="274320" y="960120"/>
            <a:ext cx="8595360" cy="1691640"/>
          </a:xfrm>
          <a:prstGeom prst="rect">
            <a:avLst/>
          </a:prstGeom>
          <a:solidFill>
            <a:srgbClr val="06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005840"/>
            <a:ext cx="8321040" cy="192024"/>
          </a:xfrm>
          <a:prstGeom prst="rect">
            <a:avLst/>
          </a:prstGeom>
          <a:noFill/>
        </p:spPr>
        <p:txBody>
          <a:bodyPr wrap="square">
            <a:spAutoFit/>
          </a:bodyPr>
          <a:lstStyle/>
          <a:p>
            <a:pPr algn="l"/>
            <a:r>
              <a:rPr sz="1050" b="0" i="0">
                <a:solidFill>
                  <a:srgbClr val="E8F0FF"/>
                </a:solidFill>
                <a:latin typeface="Consolas"/>
              </a:rPr>
              <a:t>                  precision    recall  f1-score   support</a:t>
            </a:r>
          </a:p>
        </p:txBody>
      </p:sp>
      <p:sp>
        <p:nvSpPr>
          <p:cNvPr id="10" name="TextBox 9"/>
          <p:cNvSpPr txBox="1"/>
          <p:nvPr/>
        </p:nvSpPr>
        <p:spPr>
          <a:xfrm>
            <a:off x="411480" y="1207008"/>
            <a:ext cx="8321040" cy="192024"/>
          </a:xfrm>
          <a:prstGeom prst="rect">
            <a:avLst/>
          </a:prstGeom>
          <a:noFill/>
        </p:spPr>
        <p:txBody>
          <a:bodyPr wrap="square">
            <a:spAutoFit/>
          </a:bodyPr>
          <a:lstStyle/>
          <a:p>
            <a:pPr algn="l"/>
            <a:endParaRPr/>
          </a:p>
        </p:txBody>
      </p:sp>
      <p:sp>
        <p:nvSpPr>
          <p:cNvPr id="11" name="TextBox 10"/>
          <p:cNvSpPr txBox="1"/>
          <p:nvPr/>
        </p:nvSpPr>
        <p:spPr>
          <a:xfrm>
            <a:off x="411480" y="1408176"/>
            <a:ext cx="8321040" cy="192024"/>
          </a:xfrm>
          <a:prstGeom prst="rect">
            <a:avLst/>
          </a:prstGeom>
          <a:noFill/>
        </p:spPr>
        <p:txBody>
          <a:bodyPr wrap="square">
            <a:spAutoFit/>
          </a:bodyPr>
          <a:lstStyle/>
          <a:p>
            <a:pPr algn="l"/>
            <a:r>
              <a:rPr sz="1050" b="0" i="0">
                <a:solidFill>
                  <a:srgbClr val="E8F0FF"/>
                </a:solidFill>
                <a:latin typeface="Consolas"/>
              </a:rPr>
              <a:t>Did Not Survive     0.8188    0.9104    0.8622       134</a:t>
            </a:r>
          </a:p>
        </p:txBody>
      </p:sp>
      <p:sp>
        <p:nvSpPr>
          <p:cNvPr id="12" name="TextBox 11"/>
          <p:cNvSpPr txBox="1"/>
          <p:nvPr/>
        </p:nvSpPr>
        <p:spPr>
          <a:xfrm>
            <a:off x="411480" y="1609344"/>
            <a:ext cx="8321040" cy="192024"/>
          </a:xfrm>
          <a:prstGeom prst="rect">
            <a:avLst/>
          </a:prstGeom>
          <a:noFill/>
        </p:spPr>
        <p:txBody>
          <a:bodyPr wrap="square">
            <a:spAutoFit/>
          </a:bodyPr>
          <a:lstStyle/>
          <a:p>
            <a:pPr algn="l"/>
            <a:r>
              <a:rPr sz="1050" b="0" i="0">
                <a:solidFill>
                  <a:srgbClr val="00C2CB"/>
                </a:solidFill>
                <a:latin typeface="Consolas"/>
              </a:rPr>
              <a:t>       Survived     0.8378    0.6966    0.7607        89</a:t>
            </a:r>
          </a:p>
        </p:txBody>
      </p:sp>
      <p:sp>
        <p:nvSpPr>
          <p:cNvPr id="13" name="TextBox 12"/>
          <p:cNvSpPr txBox="1"/>
          <p:nvPr/>
        </p:nvSpPr>
        <p:spPr>
          <a:xfrm>
            <a:off x="411480" y="1810512"/>
            <a:ext cx="8321040" cy="192024"/>
          </a:xfrm>
          <a:prstGeom prst="rect">
            <a:avLst/>
          </a:prstGeom>
          <a:noFill/>
        </p:spPr>
        <p:txBody>
          <a:bodyPr wrap="square">
            <a:spAutoFit/>
          </a:bodyPr>
          <a:lstStyle/>
          <a:p>
            <a:pPr algn="l"/>
            <a:endParaRPr/>
          </a:p>
        </p:txBody>
      </p:sp>
      <p:sp>
        <p:nvSpPr>
          <p:cNvPr id="14" name="TextBox 13"/>
          <p:cNvSpPr txBox="1"/>
          <p:nvPr/>
        </p:nvSpPr>
        <p:spPr>
          <a:xfrm>
            <a:off x="411480" y="2011680"/>
            <a:ext cx="8321040" cy="192024"/>
          </a:xfrm>
          <a:prstGeom prst="rect">
            <a:avLst/>
          </a:prstGeom>
          <a:noFill/>
        </p:spPr>
        <p:txBody>
          <a:bodyPr wrap="square">
            <a:spAutoFit/>
          </a:bodyPr>
          <a:lstStyle/>
          <a:p>
            <a:pPr algn="l"/>
            <a:r>
              <a:rPr sz="1050" b="0" i="0">
                <a:solidFill>
                  <a:srgbClr val="39D353"/>
                </a:solidFill>
                <a:latin typeface="Consolas"/>
              </a:rPr>
              <a:t>       accuracy                         0.8251       223</a:t>
            </a:r>
          </a:p>
        </p:txBody>
      </p:sp>
      <p:sp>
        <p:nvSpPr>
          <p:cNvPr id="15" name="TextBox 14"/>
          <p:cNvSpPr txBox="1"/>
          <p:nvPr/>
        </p:nvSpPr>
        <p:spPr>
          <a:xfrm>
            <a:off x="411480" y="2212848"/>
            <a:ext cx="8321040" cy="192024"/>
          </a:xfrm>
          <a:prstGeom prst="rect">
            <a:avLst/>
          </a:prstGeom>
          <a:noFill/>
        </p:spPr>
        <p:txBody>
          <a:bodyPr wrap="square">
            <a:spAutoFit/>
          </a:bodyPr>
          <a:lstStyle/>
          <a:p>
            <a:pPr algn="l"/>
            <a:r>
              <a:rPr sz="1050" b="0" i="0">
                <a:solidFill>
                  <a:srgbClr val="E8F0FF"/>
                </a:solidFill>
                <a:latin typeface="Consolas"/>
              </a:rPr>
              <a:t>      macro avg     0.8283    0.8035    0.8115       223</a:t>
            </a:r>
          </a:p>
        </p:txBody>
      </p:sp>
      <p:sp>
        <p:nvSpPr>
          <p:cNvPr id="16" name="TextBox 15"/>
          <p:cNvSpPr txBox="1"/>
          <p:nvPr/>
        </p:nvSpPr>
        <p:spPr>
          <a:xfrm>
            <a:off x="411480" y="2414016"/>
            <a:ext cx="8321040" cy="192024"/>
          </a:xfrm>
          <a:prstGeom prst="rect">
            <a:avLst/>
          </a:prstGeom>
          <a:noFill/>
        </p:spPr>
        <p:txBody>
          <a:bodyPr wrap="square">
            <a:spAutoFit/>
          </a:bodyPr>
          <a:lstStyle/>
          <a:p>
            <a:pPr algn="l"/>
            <a:r>
              <a:rPr sz="1050" b="0" i="0">
                <a:solidFill>
                  <a:srgbClr val="E8F0FF"/>
                </a:solidFill>
                <a:latin typeface="Consolas"/>
              </a:rPr>
              <a:t>   weighted avg     0.8264    0.8251    0.8217       223</a:t>
            </a:r>
          </a:p>
        </p:txBody>
      </p:sp>
      <p:sp>
        <p:nvSpPr>
          <p:cNvPr id="17" name="TextBox 16"/>
          <p:cNvSpPr txBox="1"/>
          <p:nvPr/>
        </p:nvSpPr>
        <p:spPr>
          <a:xfrm>
            <a:off x="365760" y="2761488"/>
            <a:ext cx="2286000" cy="256032"/>
          </a:xfrm>
          <a:prstGeom prst="rect">
            <a:avLst/>
          </a:prstGeom>
          <a:noFill/>
        </p:spPr>
        <p:txBody>
          <a:bodyPr wrap="square">
            <a:spAutoFit/>
          </a:bodyPr>
          <a:lstStyle/>
          <a:p>
            <a:pPr algn="l"/>
            <a:r>
              <a:rPr sz="1050" b="1" i="0">
                <a:solidFill>
                  <a:srgbClr val="FFC400"/>
                </a:solidFill>
                <a:latin typeface="Consolas"/>
              </a:rPr>
              <a:t>precision = 0.8378</a:t>
            </a:r>
          </a:p>
        </p:txBody>
      </p:sp>
      <p:sp>
        <p:nvSpPr>
          <p:cNvPr id="18" name="TextBox 17"/>
          <p:cNvSpPr txBox="1"/>
          <p:nvPr/>
        </p:nvSpPr>
        <p:spPr>
          <a:xfrm>
            <a:off x="2697480" y="2761488"/>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19" name="TextBox 18"/>
          <p:cNvSpPr txBox="1"/>
          <p:nvPr/>
        </p:nvSpPr>
        <p:spPr>
          <a:xfrm>
            <a:off x="2926080" y="2761488"/>
            <a:ext cx="5943600" cy="256032"/>
          </a:xfrm>
          <a:prstGeom prst="rect">
            <a:avLst/>
          </a:prstGeom>
          <a:noFill/>
        </p:spPr>
        <p:txBody>
          <a:bodyPr wrap="square">
            <a:spAutoFit/>
          </a:bodyPr>
          <a:lstStyle/>
          <a:p>
            <a:pPr algn="l"/>
            <a:r>
              <a:rPr sz="1050" b="0" i="0">
                <a:solidFill>
                  <a:srgbClr val="FFFFFF"/>
                </a:solidFill>
                <a:latin typeface="Calibri"/>
              </a:rPr>
              <a:t>Of 100 passengers we predicted 'Survived', 83.8 actually did</a:t>
            </a:r>
          </a:p>
        </p:txBody>
      </p:sp>
      <p:sp>
        <p:nvSpPr>
          <p:cNvPr id="20" name="TextBox 19"/>
          <p:cNvSpPr txBox="1"/>
          <p:nvPr/>
        </p:nvSpPr>
        <p:spPr>
          <a:xfrm>
            <a:off x="365760" y="3145536"/>
            <a:ext cx="2286000" cy="256032"/>
          </a:xfrm>
          <a:prstGeom prst="rect">
            <a:avLst/>
          </a:prstGeom>
          <a:noFill/>
        </p:spPr>
        <p:txBody>
          <a:bodyPr wrap="square">
            <a:spAutoFit/>
          </a:bodyPr>
          <a:lstStyle/>
          <a:p>
            <a:pPr algn="l"/>
            <a:r>
              <a:rPr sz="1050" b="1" i="0">
                <a:solidFill>
                  <a:srgbClr val="FF8C00"/>
                </a:solidFill>
                <a:latin typeface="Consolas"/>
              </a:rPr>
              <a:t>recall = 0.6966</a:t>
            </a:r>
          </a:p>
        </p:txBody>
      </p:sp>
      <p:sp>
        <p:nvSpPr>
          <p:cNvPr id="21" name="TextBox 20"/>
          <p:cNvSpPr txBox="1"/>
          <p:nvPr/>
        </p:nvSpPr>
        <p:spPr>
          <a:xfrm>
            <a:off x="2697480" y="3145536"/>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22" name="TextBox 21"/>
          <p:cNvSpPr txBox="1"/>
          <p:nvPr/>
        </p:nvSpPr>
        <p:spPr>
          <a:xfrm>
            <a:off x="2926080" y="3145536"/>
            <a:ext cx="5943600" cy="256032"/>
          </a:xfrm>
          <a:prstGeom prst="rect">
            <a:avLst/>
          </a:prstGeom>
          <a:noFill/>
        </p:spPr>
        <p:txBody>
          <a:bodyPr wrap="square">
            <a:spAutoFit/>
          </a:bodyPr>
          <a:lstStyle/>
          <a:p>
            <a:pPr algn="l"/>
            <a:r>
              <a:rPr sz="1050" b="0" i="0">
                <a:solidFill>
                  <a:srgbClr val="FFFFFF"/>
                </a:solidFill>
                <a:latin typeface="Calibri"/>
              </a:rPr>
              <a:t>Of 89 actual survivors, we correctly identified 69.7% of them</a:t>
            </a:r>
          </a:p>
        </p:txBody>
      </p:sp>
      <p:sp>
        <p:nvSpPr>
          <p:cNvPr id="23" name="TextBox 22"/>
          <p:cNvSpPr txBox="1"/>
          <p:nvPr/>
        </p:nvSpPr>
        <p:spPr>
          <a:xfrm>
            <a:off x="365760" y="3529584"/>
            <a:ext cx="2286000" cy="256032"/>
          </a:xfrm>
          <a:prstGeom prst="rect">
            <a:avLst/>
          </a:prstGeom>
          <a:noFill/>
        </p:spPr>
        <p:txBody>
          <a:bodyPr wrap="square">
            <a:spAutoFit/>
          </a:bodyPr>
          <a:lstStyle/>
          <a:p>
            <a:pPr algn="l"/>
            <a:r>
              <a:rPr sz="1050" b="1" i="0">
                <a:solidFill>
                  <a:srgbClr val="39D353"/>
                </a:solidFill>
                <a:latin typeface="Consolas"/>
              </a:rPr>
              <a:t>f1-score = 0.7607</a:t>
            </a:r>
          </a:p>
        </p:txBody>
      </p:sp>
      <p:sp>
        <p:nvSpPr>
          <p:cNvPr id="24" name="TextBox 23"/>
          <p:cNvSpPr txBox="1"/>
          <p:nvPr/>
        </p:nvSpPr>
        <p:spPr>
          <a:xfrm>
            <a:off x="2697480" y="3529584"/>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25" name="TextBox 24"/>
          <p:cNvSpPr txBox="1"/>
          <p:nvPr/>
        </p:nvSpPr>
        <p:spPr>
          <a:xfrm>
            <a:off x="2926080" y="3529584"/>
            <a:ext cx="5943600" cy="256032"/>
          </a:xfrm>
          <a:prstGeom prst="rect">
            <a:avLst/>
          </a:prstGeom>
          <a:noFill/>
        </p:spPr>
        <p:txBody>
          <a:bodyPr wrap="square">
            <a:spAutoFit/>
          </a:bodyPr>
          <a:lstStyle/>
          <a:p>
            <a:pPr algn="l"/>
            <a:r>
              <a:rPr sz="1050" b="0" i="0">
                <a:solidFill>
                  <a:srgbClr val="FFFFFF"/>
                </a:solidFill>
                <a:latin typeface="Calibri"/>
              </a:rPr>
              <a:t>Harmonic mean of 0.84 precision and 0.70 recall</a:t>
            </a:r>
          </a:p>
        </p:txBody>
      </p:sp>
      <p:sp>
        <p:nvSpPr>
          <p:cNvPr id="26" name="TextBox 25"/>
          <p:cNvSpPr txBox="1"/>
          <p:nvPr/>
        </p:nvSpPr>
        <p:spPr>
          <a:xfrm>
            <a:off x="365760" y="3913632"/>
            <a:ext cx="2286000" cy="256032"/>
          </a:xfrm>
          <a:prstGeom prst="rect">
            <a:avLst/>
          </a:prstGeom>
          <a:noFill/>
        </p:spPr>
        <p:txBody>
          <a:bodyPr wrap="square">
            <a:spAutoFit/>
          </a:bodyPr>
          <a:lstStyle/>
          <a:p>
            <a:pPr algn="l"/>
            <a:r>
              <a:rPr sz="1050" b="1" i="0">
                <a:solidFill>
                  <a:srgbClr val="00C2CB"/>
                </a:solidFill>
                <a:latin typeface="Consolas"/>
              </a:rPr>
              <a:t>support = 89</a:t>
            </a:r>
          </a:p>
        </p:txBody>
      </p:sp>
      <p:sp>
        <p:nvSpPr>
          <p:cNvPr id="27" name="TextBox 26"/>
          <p:cNvSpPr txBox="1"/>
          <p:nvPr/>
        </p:nvSpPr>
        <p:spPr>
          <a:xfrm>
            <a:off x="2697480" y="3913632"/>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28" name="TextBox 27"/>
          <p:cNvSpPr txBox="1"/>
          <p:nvPr/>
        </p:nvSpPr>
        <p:spPr>
          <a:xfrm>
            <a:off x="2926080" y="3913632"/>
            <a:ext cx="5943600" cy="256032"/>
          </a:xfrm>
          <a:prstGeom prst="rect">
            <a:avLst/>
          </a:prstGeom>
          <a:noFill/>
        </p:spPr>
        <p:txBody>
          <a:bodyPr wrap="square">
            <a:spAutoFit/>
          </a:bodyPr>
          <a:lstStyle/>
          <a:p>
            <a:pPr algn="l"/>
            <a:r>
              <a:rPr sz="1050" b="0" i="0">
                <a:solidFill>
                  <a:srgbClr val="FFFFFF"/>
                </a:solidFill>
                <a:latin typeface="Calibri"/>
              </a:rPr>
              <a:t>There are 89 actual survivors in our test set of 223</a:t>
            </a:r>
          </a:p>
        </p:txBody>
      </p:sp>
      <p:sp>
        <p:nvSpPr>
          <p:cNvPr id="29" name="TextBox 28"/>
          <p:cNvSpPr txBox="1"/>
          <p:nvPr/>
        </p:nvSpPr>
        <p:spPr>
          <a:xfrm>
            <a:off x="365760" y="4297680"/>
            <a:ext cx="2286000" cy="256032"/>
          </a:xfrm>
          <a:prstGeom prst="rect">
            <a:avLst/>
          </a:prstGeom>
          <a:noFill/>
        </p:spPr>
        <p:txBody>
          <a:bodyPr wrap="square">
            <a:spAutoFit/>
          </a:bodyPr>
          <a:lstStyle/>
          <a:p>
            <a:pPr algn="l"/>
            <a:r>
              <a:rPr sz="1050" b="1" i="0">
                <a:solidFill>
                  <a:srgbClr val="06D679"/>
                </a:solidFill>
                <a:latin typeface="Consolas"/>
              </a:rPr>
              <a:t>accuracy = 0.8251</a:t>
            </a:r>
          </a:p>
        </p:txBody>
      </p:sp>
      <p:sp>
        <p:nvSpPr>
          <p:cNvPr id="30" name="TextBox 29"/>
          <p:cNvSpPr txBox="1"/>
          <p:nvPr/>
        </p:nvSpPr>
        <p:spPr>
          <a:xfrm>
            <a:off x="2697480" y="4297680"/>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31" name="TextBox 30"/>
          <p:cNvSpPr txBox="1"/>
          <p:nvPr/>
        </p:nvSpPr>
        <p:spPr>
          <a:xfrm>
            <a:off x="2926080" y="4297680"/>
            <a:ext cx="5943600" cy="256032"/>
          </a:xfrm>
          <a:prstGeom prst="rect">
            <a:avLst/>
          </a:prstGeom>
          <a:noFill/>
        </p:spPr>
        <p:txBody>
          <a:bodyPr wrap="square">
            <a:spAutoFit/>
          </a:bodyPr>
          <a:lstStyle/>
          <a:p>
            <a:pPr algn="l"/>
            <a:r>
              <a:rPr sz="1050" b="0" i="0">
                <a:solidFill>
                  <a:srgbClr val="FFFFFF"/>
                </a:solidFill>
                <a:latin typeface="Calibri"/>
              </a:rPr>
              <a:t>82.5% overall correct predictions (182/223)</a:t>
            </a:r>
          </a:p>
        </p:txBody>
      </p:sp>
      <p:sp>
        <p:nvSpPr>
          <p:cNvPr id="32" name="TextBox 31"/>
          <p:cNvSpPr txBox="1"/>
          <p:nvPr/>
        </p:nvSpPr>
        <p:spPr>
          <a:xfrm>
            <a:off x="365760" y="4681728"/>
            <a:ext cx="2286000" cy="256032"/>
          </a:xfrm>
          <a:prstGeom prst="rect">
            <a:avLst/>
          </a:prstGeom>
          <a:noFill/>
        </p:spPr>
        <p:txBody>
          <a:bodyPr wrap="square">
            <a:spAutoFit/>
          </a:bodyPr>
          <a:lstStyle/>
          <a:p>
            <a:pPr algn="l"/>
            <a:r>
              <a:rPr sz="1050" b="1" i="0">
                <a:solidFill>
                  <a:srgbClr val="7A92B8"/>
                </a:solidFill>
                <a:latin typeface="Consolas"/>
              </a:rPr>
              <a:t>macro avg</a:t>
            </a:r>
          </a:p>
        </p:txBody>
      </p:sp>
      <p:sp>
        <p:nvSpPr>
          <p:cNvPr id="33" name="TextBox 32"/>
          <p:cNvSpPr txBox="1"/>
          <p:nvPr/>
        </p:nvSpPr>
        <p:spPr>
          <a:xfrm>
            <a:off x="2697480" y="4681728"/>
            <a:ext cx="274320" cy="256032"/>
          </a:xfrm>
          <a:prstGeom prst="rect">
            <a:avLst/>
          </a:prstGeom>
          <a:noFill/>
        </p:spPr>
        <p:txBody>
          <a:bodyPr wrap="square">
            <a:spAutoFit/>
          </a:bodyPr>
          <a:lstStyle/>
          <a:p>
            <a:pPr algn="l"/>
            <a:r>
              <a:rPr sz="1050" b="0" i="0">
                <a:solidFill>
                  <a:srgbClr val="7A92B8"/>
                </a:solidFill>
                <a:latin typeface="Calibri"/>
              </a:rPr>
              <a:t>→</a:t>
            </a:r>
          </a:p>
        </p:txBody>
      </p:sp>
      <p:sp>
        <p:nvSpPr>
          <p:cNvPr id="34" name="TextBox 33"/>
          <p:cNvSpPr txBox="1"/>
          <p:nvPr/>
        </p:nvSpPr>
        <p:spPr>
          <a:xfrm>
            <a:off x="2926080" y="4681728"/>
            <a:ext cx="5943600" cy="256032"/>
          </a:xfrm>
          <a:prstGeom prst="rect">
            <a:avLst/>
          </a:prstGeom>
          <a:noFill/>
        </p:spPr>
        <p:txBody>
          <a:bodyPr wrap="square">
            <a:spAutoFit/>
          </a:bodyPr>
          <a:lstStyle/>
          <a:p>
            <a:pPr algn="l"/>
            <a:r>
              <a:rPr sz="1050" b="0" i="0">
                <a:solidFill>
                  <a:srgbClr val="FFFFFF"/>
                </a:solidFill>
                <a:latin typeface="Calibri"/>
              </a:rPr>
              <a:t>Simple average across both classes (treats both equally)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31520"/>
            <a:ext cx="2743200" cy="2286000"/>
          </a:xfrm>
          <a:prstGeom prst="rect">
            <a:avLst/>
          </a:prstGeom>
          <a:noFill/>
        </p:spPr>
        <p:txBody>
          <a:bodyPr wrap="square">
            <a:spAutoFit/>
          </a:bodyPr>
          <a:lstStyle/>
          <a:p>
            <a:pPr algn="l"/>
            <a:r>
              <a:rPr sz="12000" b="1" i="0">
                <a:solidFill>
                  <a:srgbClr val="00C2CB"/>
                </a:solidFill>
                <a:latin typeface="Arial Black"/>
              </a:rPr>
              <a:t>08</a:t>
            </a:r>
          </a:p>
        </p:txBody>
      </p:sp>
      <p:sp>
        <p:nvSpPr>
          <p:cNvPr id="5" name="TextBox 4"/>
          <p:cNvSpPr txBox="1"/>
          <p:nvPr/>
        </p:nvSpPr>
        <p:spPr>
          <a:xfrm>
            <a:off x="457200" y="3200400"/>
            <a:ext cx="5486400" cy="731520"/>
          </a:xfrm>
          <a:prstGeom prst="rect">
            <a:avLst/>
          </a:prstGeom>
          <a:noFill/>
        </p:spPr>
        <p:txBody>
          <a:bodyPr wrap="square">
            <a:spAutoFit/>
          </a:bodyPr>
          <a:lstStyle/>
          <a:p>
            <a:pPr algn="l"/>
            <a:r>
              <a:rPr sz="3400" b="1" i="0">
                <a:solidFill>
                  <a:srgbClr val="FFFFFF"/>
                </a:solidFill>
                <a:latin typeface="Calibri"/>
              </a:rPr>
              <a:t>Summary &amp; Cheat Sheet</a:t>
            </a:r>
          </a:p>
        </p:txBody>
      </p:sp>
      <p:sp>
        <p:nvSpPr>
          <p:cNvPr id="6" name="Rectangle 5"/>
          <p:cNvSpPr/>
          <p:nvPr/>
        </p:nvSpPr>
        <p:spPr>
          <a:xfrm>
            <a:off x="457200" y="3063240"/>
            <a:ext cx="3657600"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42</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700" b="1" i="0">
                <a:solidFill>
                  <a:srgbClr val="FFFFFF"/>
                </a:solidFill>
                <a:latin typeface="Calibri"/>
              </a:rPr>
              <a:t>All Formulas — Quick Reference Card</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Everything you need to know on one slide</a:t>
            </a:r>
          </a:p>
        </p:txBody>
      </p:sp>
      <p:sp>
        <p:nvSpPr>
          <p:cNvPr id="8" name="Rectangle 7"/>
          <p:cNvSpPr/>
          <p:nvPr/>
        </p:nvSpPr>
        <p:spPr>
          <a:xfrm>
            <a:off x="274320" y="105156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51560"/>
            <a:ext cx="50292" cy="84124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88136"/>
            <a:ext cx="3886200" cy="274320"/>
          </a:xfrm>
          <a:prstGeom prst="rect">
            <a:avLst/>
          </a:prstGeom>
          <a:noFill/>
        </p:spPr>
        <p:txBody>
          <a:bodyPr wrap="square">
            <a:spAutoFit/>
          </a:bodyPr>
          <a:lstStyle/>
          <a:p>
            <a:pPr algn="l"/>
            <a:r>
              <a:rPr sz="1100" b="1" i="0">
                <a:solidFill>
                  <a:srgbClr val="39D353"/>
                </a:solidFill>
                <a:latin typeface="Calibri"/>
              </a:rPr>
              <a:t>Gini Impurity</a:t>
            </a:r>
          </a:p>
        </p:txBody>
      </p:sp>
      <p:sp>
        <p:nvSpPr>
          <p:cNvPr id="11" name="TextBox 10"/>
          <p:cNvSpPr txBox="1"/>
          <p:nvPr/>
        </p:nvSpPr>
        <p:spPr>
          <a:xfrm>
            <a:off x="411479" y="1380743"/>
            <a:ext cx="3886200" cy="274320"/>
          </a:xfrm>
          <a:prstGeom prst="rect">
            <a:avLst/>
          </a:prstGeom>
          <a:noFill/>
        </p:spPr>
        <p:txBody>
          <a:bodyPr wrap="square">
            <a:spAutoFit/>
          </a:bodyPr>
          <a:lstStyle/>
          <a:p>
            <a:pPr algn="l"/>
            <a:r>
              <a:rPr sz="1050" b="0" i="0">
                <a:solidFill>
                  <a:srgbClr val="00C2CB"/>
                </a:solidFill>
                <a:latin typeface="Consolas"/>
              </a:rPr>
              <a:t>Gini(node) = 1 − Σ(pᵢ)²</a:t>
            </a:r>
          </a:p>
        </p:txBody>
      </p:sp>
      <p:sp>
        <p:nvSpPr>
          <p:cNvPr id="12" name="TextBox 11"/>
          <p:cNvSpPr txBox="1"/>
          <p:nvPr/>
        </p:nvSpPr>
        <p:spPr>
          <a:xfrm>
            <a:off x="411479" y="1645919"/>
            <a:ext cx="3886200" cy="219456"/>
          </a:xfrm>
          <a:prstGeom prst="rect">
            <a:avLst/>
          </a:prstGeom>
          <a:noFill/>
        </p:spPr>
        <p:txBody>
          <a:bodyPr wrap="square">
            <a:spAutoFit/>
          </a:bodyPr>
          <a:lstStyle/>
          <a:p>
            <a:pPr algn="l"/>
            <a:r>
              <a:rPr sz="950" b="0" i="0">
                <a:solidFill>
                  <a:srgbClr val="7A92B8"/>
                </a:solidFill>
                <a:latin typeface="Calibri"/>
              </a:rPr>
              <a:t>0 = pure, 0.5 = max impurity</a:t>
            </a:r>
          </a:p>
        </p:txBody>
      </p:sp>
      <p:sp>
        <p:nvSpPr>
          <p:cNvPr id="13" name="Rectangle 12"/>
          <p:cNvSpPr/>
          <p:nvPr/>
        </p:nvSpPr>
        <p:spPr>
          <a:xfrm>
            <a:off x="274320" y="201168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011680"/>
            <a:ext cx="50292" cy="84124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048256"/>
            <a:ext cx="3886200" cy="274320"/>
          </a:xfrm>
          <a:prstGeom prst="rect">
            <a:avLst/>
          </a:prstGeom>
          <a:noFill/>
        </p:spPr>
        <p:txBody>
          <a:bodyPr wrap="square">
            <a:spAutoFit/>
          </a:bodyPr>
          <a:lstStyle/>
          <a:p>
            <a:pPr algn="l"/>
            <a:r>
              <a:rPr sz="1100" b="1" i="0">
                <a:solidFill>
                  <a:srgbClr val="39D353"/>
                </a:solidFill>
                <a:latin typeface="Calibri"/>
              </a:rPr>
              <a:t>Gini Cost Function</a:t>
            </a:r>
          </a:p>
        </p:txBody>
      </p:sp>
      <p:sp>
        <p:nvSpPr>
          <p:cNvPr id="16" name="TextBox 15"/>
          <p:cNvSpPr txBox="1"/>
          <p:nvPr/>
        </p:nvSpPr>
        <p:spPr>
          <a:xfrm>
            <a:off x="411479" y="2340864"/>
            <a:ext cx="3886200" cy="274320"/>
          </a:xfrm>
          <a:prstGeom prst="rect">
            <a:avLst/>
          </a:prstGeom>
          <a:noFill/>
        </p:spPr>
        <p:txBody>
          <a:bodyPr wrap="square">
            <a:spAutoFit/>
          </a:bodyPr>
          <a:lstStyle/>
          <a:p>
            <a:pPr algn="l"/>
            <a:r>
              <a:rPr sz="1050" b="0" i="0">
                <a:solidFill>
                  <a:srgbClr val="00C2CB"/>
                </a:solidFill>
                <a:latin typeface="Consolas"/>
              </a:rPr>
              <a:t>Cost = (N_left/N)×Gini_L + (N_right/N)×Gini_R</a:t>
            </a:r>
          </a:p>
        </p:txBody>
      </p:sp>
      <p:sp>
        <p:nvSpPr>
          <p:cNvPr id="17" name="TextBox 16"/>
          <p:cNvSpPr txBox="1"/>
          <p:nvPr/>
        </p:nvSpPr>
        <p:spPr>
          <a:xfrm>
            <a:off x="411479" y="2606040"/>
            <a:ext cx="3886200" cy="219456"/>
          </a:xfrm>
          <a:prstGeom prst="rect">
            <a:avLst/>
          </a:prstGeom>
          <a:noFill/>
        </p:spPr>
        <p:txBody>
          <a:bodyPr wrap="square">
            <a:spAutoFit/>
          </a:bodyPr>
          <a:lstStyle/>
          <a:p>
            <a:pPr algn="l"/>
            <a:r>
              <a:rPr sz="950" b="0" i="0">
                <a:solidFill>
                  <a:srgbClr val="7A92B8"/>
                </a:solidFill>
                <a:latin typeface="Calibri"/>
              </a:rPr>
              <a:t>Pick lowest cost split</a:t>
            </a:r>
          </a:p>
        </p:txBody>
      </p:sp>
      <p:sp>
        <p:nvSpPr>
          <p:cNvPr id="18" name="Rectangle 17"/>
          <p:cNvSpPr/>
          <p:nvPr/>
        </p:nvSpPr>
        <p:spPr>
          <a:xfrm>
            <a:off x="274320" y="297180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971800"/>
            <a:ext cx="50292" cy="84124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3008376"/>
            <a:ext cx="3886200" cy="274320"/>
          </a:xfrm>
          <a:prstGeom prst="rect">
            <a:avLst/>
          </a:prstGeom>
          <a:noFill/>
        </p:spPr>
        <p:txBody>
          <a:bodyPr wrap="square">
            <a:spAutoFit/>
          </a:bodyPr>
          <a:lstStyle/>
          <a:p>
            <a:pPr algn="l"/>
            <a:r>
              <a:rPr sz="1100" b="1" i="0">
                <a:solidFill>
                  <a:srgbClr val="FFC400"/>
                </a:solidFill>
                <a:latin typeface="Calibri"/>
              </a:rPr>
              <a:t>Entropy</a:t>
            </a:r>
          </a:p>
        </p:txBody>
      </p:sp>
      <p:sp>
        <p:nvSpPr>
          <p:cNvPr id="21" name="TextBox 20"/>
          <p:cNvSpPr txBox="1"/>
          <p:nvPr/>
        </p:nvSpPr>
        <p:spPr>
          <a:xfrm>
            <a:off x="411479" y="3300984"/>
            <a:ext cx="3886200" cy="274320"/>
          </a:xfrm>
          <a:prstGeom prst="rect">
            <a:avLst/>
          </a:prstGeom>
          <a:noFill/>
        </p:spPr>
        <p:txBody>
          <a:bodyPr wrap="square">
            <a:spAutoFit/>
          </a:bodyPr>
          <a:lstStyle/>
          <a:p>
            <a:pPr algn="l"/>
            <a:r>
              <a:rPr sz="1050" b="0" i="0">
                <a:solidFill>
                  <a:srgbClr val="00C2CB"/>
                </a:solidFill>
                <a:latin typeface="Consolas"/>
              </a:rPr>
              <a:t>E(S) = −Σ pᵢ × log₂(pᵢ)</a:t>
            </a:r>
          </a:p>
        </p:txBody>
      </p:sp>
      <p:sp>
        <p:nvSpPr>
          <p:cNvPr id="22" name="TextBox 21"/>
          <p:cNvSpPr txBox="1"/>
          <p:nvPr/>
        </p:nvSpPr>
        <p:spPr>
          <a:xfrm>
            <a:off x="411479" y="3566160"/>
            <a:ext cx="3886200" cy="219456"/>
          </a:xfrm>
          <a:prstGeom prst="rect">
            <a:avLst/>
          </a:prstGeom>
          <a:noFill/>
        </p:spPr>
        <p:txBody>
          <a:bodyPr wrap="square">
            <a:spAutoFit/>
          </a:bodyPr>
          <a:lstStyle/>
          <a:p>
            <a:pPr algn="l"/>
            <a:r>
              <a:rPr sz="950" b="0" i="0">
                <a:solidFill>
                  <a:srgbClr val="7A92B8"/>
                </a:solidFill>
                <a:latin typeface="Calibri"/>
              </a:rPr>
              <a:t>0 = pure, 1 = max impurity</a:t>
            </a:r>
          </a:p>
        </p:txBody>
      </p:sp>
      <p:sp>
        <p:nvSpPr>
          <p:cNvPr id="23" name="Rectangle 22"/>
          <p:cNvSpPr/>
          <p:nvPr/>
        </p:nvSpPr>
        <p:spPr>
          <a:xfrm>
            <a:off x="274320" y="393192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931920"/>
            <a:ext cx="50292" cy="84124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79" y="3968496"/>
            <a:ext cx="3886200" cy="274320"/>
          </a:xfrm>
          <a:prstGeom prst="rect">
            <a:avLst/>
          </a:prstGeom>
          <a:noFill/>
        </p:spPr>
        <p:txBody>
          <a:bodyPr wrap="square">
            <a:spAutoFit/>
          </a:bodyPr>
          <a:lstStyle/>
          <a:p>
            <a:pPr algn="l"/>
            <a:r>
              <a:rPr sz="1100" b="1" i="0">
                <a:solidFill>
                  <a:srgbClr val="FFC400"/>
                </a:solidFill>
                <a:latin typeface="Calibri"/>
              </a:rPr>
              <a:t>Information Gain</a:t>
            </a:r>
          </a:p>
        </p:txBody>
      </p:sp>
      <p:sp>
        <p:nvSpPr>
          <p:cNvPr id="26" name="TextBox 25"/>
          <p:cNvSpPr txBox="1"/>
          <p:nvPr/>
        </p:nvSpPr>
        <p:spPr>
          <a:xfrm>
            <a:off x="411479" y="4261104"/>
            <a:ext cx="3886200" cy="274320"/>
          </a:xfrm>
          <a:prstGeom prst="rect">
            <a:avLst/>
          </a:prstGeom>
          <a:noFill/>
        </p:spPr>
        <p:txBody>
          <a:bodyPr wrap="square">
            <a:spAutoFit/>
          </a:bodyPr>
          <a:lstStyle/>
          <a:p>
            <a:pPr algn="l"/>
            <a:r>
              <a:rPr sz="1050" b="0" i="0">
                <a:solidFill>
                  <a:srgbClr val="00C2CB"/>
                </a:solidFill>
                <a:latin typeface="Consolas"/>
              </a:rPr>
              <a:t>Gain(T,X) = E(T) − E(T,X)</a:t>
            </a:r>
          </a:p>
        </p:txBody>
      </p:sp>
      <p:sp>
        <p:nvSpPr>
          <p:cNvPr id="27" name="TextBox 26"/>
          <p:cNvSpPr txBox="1"/>
          <p:nvPr/>
        </p:nvSpPr>
        <p:spPr>
          <a:xfrm>
            <a:off x="411479" y="4526280"/>
            <a:ext cx="3886200" cy="219456"/>
          </a:xfrm>
          <a:prstGeom prst="rect">
            <a:avLst/>
          </a:prstGeom>
          <a:noFill/>
        </p:spPr>
        <p:txBody>
          <a:bodyPr wrap="square">
            <a:spAutoFit/>
          </a:bodyPr>
          <a:lstStyle/>
          <a:p>
            <a:pPr algn="l"/>
            <a:r>
              <a:rPr sz="950" b="0" i="0">
                <a:solidFill>
                  <a:srgbClr val="7A92B8"/>
                </a:solidFill>
                <a:latin typeface="Calibri"/>
              </a:rPr>
              <a:t>Pick highest gain feature</a:t>
            </a:r>
          </a:p>
        </p:txBody>
      </p:sp>
      <p:sp>
        <p:nvSpPr>
          <p:cNvPr id="28" name="Rectangle 27"/>
          <p:cNvSpPr/>
          <p:nvPr/>
        </p:nvSpPr>
        <p:spPr>
          <a:xfrm>
            <a:off x="4709159" y="105156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09159" y="1051560"/>
            <a:ext cx="50292" cy="841248"/>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46320" y="1088136"/>
            <a:ext cx="3886200" cy="274320"/>
          </a:xfrm>
          <a:prstGeom prst="rect">
            <a:avLst/>
          </a:prstGeom>
          <a:noFill/>
        </p:spPr>
        <p:txBody>
          <a:bodyPr wrap="square">
            <a:spAutoFit/>
          </a:bodyPr>
          <a:lstStyle/>
          <a:p>
            <a:pPr algn="l"/>
            <a:r>
              <a:rPr sz="1100" b="1" i="0">
                <a:solidFill>
                  <a:srgbClr val="7A92B8"/>
                </a:solidFill>
                <a:latin typeface="Calibri"/>
              </a:rPr>
              <a:t>Accuracy</a:t>
            </a:r>
          </a:p>
        </p:txBody>
      </p:sp>
      <p:sp>
        <p:nvSpPr>
          <p:cNvPr id="31" name="TextBox 30"/>
          <p:cNvSpPr txBox="1"/>
          <p:nvPr/>
        </p:nvSpPr>
        <p:spPr>
          <a:xfrm>
            <a:off x="4846320" y="1380743"/>
            <a:ext cx="3886200" cy="274320"/>
          </a:xfrm>
          <a:prstGeom prst="rect">
            <a:avLst/>
          </a:prstGeom>
          <a:noFill/>
        </p:spPr>
        <p:txBody>
          <a:bodyPr wrap="square">
            <a:spAutoFit/>
          </a:bodyPr>
          <a:lstStyle/>
          <a:p>
            <a:pPr algn="l"/>
            <a:r>
              <a:rPr sz="1050" b="0" i="0">
                <a:solidFill>
                  <a:srgbClr val="00C2CB"/>
                </a:solidFill>
                <a:latin typeface="Consolas"/>
              </a:rPr>
              <a:t>Accuracy = (TP + TN) / Total</a:t>
            </a:r>
          </a:p>
        </p:txBody>
      </p:sp>
      <p:sp>
        <p:nvSpPr>
          <p:cNvPr id="32" name="TextBox 31"/>
          <p:cNvSpPr txBox="1"/>
          <p:nvPr/>
        </p:nvSpPr>
        <p:spPr>
          <a:xfrm>
            <a:off x="4846320" y="1645919"/>
            <a:ext cx="3886200" cy="219456"/>
          </a:xfrm>
          <a:prstGeom prst="rect">
            <a:avLst/>
          </a:prstGeom>
          <a:noFill/>
        </p:spPr>
        <p:txBody>
          <a:bodyPr wrap="square">
            <a:spAutoFit/>
          </a:bodyPr>
          <a:lstStyle/>
          <a:p>
            <a:pPr algn="l"/>
            <a:r>
              <a:rPr sz="950" b="0" i="0">
                <a:solidFill>
                  <a:srgbClr val="7A92B8"/>
                </a:solidFill>
                <a:latin typeface="Calibri"/>
              </a:rPr>
              <a:t>Overall correct predictions</a:t>
            </a:r>
          </a:p>
        </p:txBody>
      </p:sp>
      <p:sp>
        <p:nvSpPr>
          <p:cNvPr id="33" name="Rectangle 32"/>
          <p:cNvSpPr/>
          <p:nvPr/>
        </p:nvSpPr>
        <p:spPr>
          <a:xfrm>
            <a:off x="4709159" y="201168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09159" y="2011680"/>
            <a:ext cx="50292" cy="84124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46320" y="2048256"/>
            <a:ext cx="3886200" cy="274320"/>
          </a:xfrm>
          <a:prstGeom prst="rect">
            <a:avLst/>
          </a:prstGeom>
          <a:noFill/>
        </p:spPr>
        <p:txBody>
          <a:bodyPr wrap="square">
            <a:spAutoFit/>
          </a:bodyPr>
          <a:lstStyle/>
          <a:p>
            <a:pPr algn="l"/>
            <a:r>
              <a:rPr sz="1100" b="1" i="0">
                <a:solidFill>
                  <a:srgbClr val="FF8C00"/>
                </a:solidFill>
                <a:latin typeface="Calibri"/>
              </a:rPr>
              <a:t>Precision</a:t>
            </a:r>
          </a:p>
        </p:txBody>
      </p:sp>
      <p:sp>
        <p:nvSpPr>
          <p:cNvPr id="36" name="TextBox 35"/>
          <p:cNvSpPr txBox="1"/>
          <p:nvPr/>
        </p:nvSpPr>
        <p:spPr>
          <a:xfrm>
            <a:off x="4846320" y="2340864"/>
            <a:ext cx="3886200" cy="274320"/>
          </a:xfrm>
          <a:prstGeom prst="rect">
            <a:avLst/>
          </a:prstGeom>
          <a:noFill/>
        </p:spPr>
        <p:txBody>
          <a:bodyPr wrap="square">
            <a:spAutoFit/>
          </a:bodyPr>
          <a:lstStyle/>
          <a:p>
            <a:pPr algn="l"/>
            <a:r>
              <a:rPr sz="1050" b="0" i="0">
                <a:solidFill>
                  <a:srgbClr val="00C2CB"/>
                </a:solidFill>
                <a:latin typeface="Consolas"/>
              </a:rPr>
              <a:t>Precision = TP / (TP + FP)</a:t>
            </a:r>
          </a:p>
        </p:txBody>
      </p:sp>
      <p:sp>
        <p:nvSpPr>
          <p:cNvPr id="37" name="TextBox 36"/>
          <p:cNvSpPr txBox="1"/>
          <p:nvPr/>
        </p:nvSpPr>
        <p:spPr>
          <a:xfrm>
            <a:off x="4846320" y="2606040"/>
            <a:ext cx="3886200" cy="219456"/>
          </a:xfrm>
          <a:prstGeom prst="rect">
            <a:avLst/>
          </a:prstGeom>
          <a:noFill/>
        </p:spPr>
        <p:txBody>
          <a:bodyPr wrap="square">
            <a:spAutoFit/>
          </a:bodyPr>
          <a:lstStyle/>
          <a:p>
            <a:pPr algn="l"/>
            <a:r>
              <a:rPr sz="950" b="0" i="0">
                <a:solidFill>
                  <a:srgbClr val="7A92B8"/>
                </a:solidFill>
                <a:latin typeface="Calibri"/>
              </a:rPr>
              <a:t>Quality of positive predictions</a:t>
            </a:r>
          </a:p>
        </p:txBody>
      </p:sp>
      <p:sp>
        <p:nvSpPr>
          <p:cNvPr id="38" name="Rectangle 37"/>
          <p:cNvSpPr/>
          <p:nvPr/>
        </p:nvSpPr>
        <p:spPr>
          <a:xfrm>
            <a:off x="4709159" y="297180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709159" y="2971800"/>
            <a:ext cx="50292" cy="84124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46320" y="3008376"/>
            <a:ext cx="3886200" cy="274320"/>
          </a:xfrm>
          <a:prstGeom prst="rect">
            <a:avLst/>
          </a:prstGeom>
          <a:noFill/>
        </p:spPr>
        <p:txBody>
          <a:bodyPr wrap="square">
            <a:spAutoFit/>
          </a:bodyPr>
          <a:lstStyle/>
          <a:p>
            <a:pPr algn="l"/>
            <a:r>
              <a:rPr sz="1100" b="1" i="0">
                <a:solidFill>
                  <a:srgbClr val="00C2CB"/>
                </a:solidFill>
                <a:latin typeface="Calibri"/>
              </a:rPr>
              <a:t>Recall</a:t>
            </a:r>
          </a:p>
        </p:txBody>
      </p:sp>
      <p:sp>
        <p:nvSpPr>
          <p:cNvPr id="41" name="TextBox 40"/>
          <p:cNvSpPr txBox="1"/>
          <p:nvPr/>
        </p:nvSpPr>
        <p:spPr>
          <a:xfrm>
            <a:off x="4846320" y="3300984"/>
            <a:ext cx="3886200" cy="274320"/>
          </a:xfrm>
          <a:prstGeom prst="rect">
            <a:avLst/>
          </a:prstGeom>
          <a:noFill/>
        </p:spPr>
        <p:txBody>
          <a:bodyPr wrap="square">
            <a:spAutoFit/>
          </a:bodyPr>
          <a:lstStyle/>
          <a:p>
            <a:pPr algn="l"/>
            <a:r>
              <a:rPr sz="1050" b="0" i="0">
                <a:solidFill>
                  <a:srgbClr val="00C2CB"/>
                </a:solidFill>
                <a:latin typeface="Consolas"/>
              </a:rPr>
              <a:t>Recall = TP / (TP + FN)</a:t>
            </a:r>
          </a:p>
        </p:txBody>
      </p:sp>
      <p:sp>
        <p:nvSpPr>
          <p:cNvPr id="42" name="TextBox 41"/>
          <p:cNvSpPr txBox="1"/>
          <p:nvPr/>
        </p:nvSpPr>
        <p:spPr>
          <a:xfrm>
            <a:off x="4846320" y="3566160"/>
            <a:ext cx="3886200" cy="219456"/>
          </a:xfrm>
          <a:prstGeom prst="rect">
            <a:avLst/>
          </a:prstGeom>
          <a:noFill/>
        </p:spPr>
        <p:txBody>
          <a:bodyPr wrap="square">
            <a:spAutoFit/>
          </a:bodyPr>
          <a:lstStyle/>
          <a:p>
            <a:pPr algn="l"/>
            <a:r>
              <a:rPr sz="950" b="0" i="0">
                <a:solidFill>
                  <a:srgbClr val="7A92B8"/>
                </a:solidFill>
                <a:latin typeface="Calibri"/>
              </a:rPr>
              <a:t>Coverage of actual positives</a:t>
            </a:r>
          </a:p>
        </p:txBody>
      </p:sp>
      <p:sp>
        <p:nvSpPr>
          <p:cNvPr id="43" name="Rectangle 42"/>
          <p:cNvSpPr/>
          <p:nvPr/>
        </p:nvSpPr>
        <p:spPr>
          <a:xfrm>
            <a:off x="4709159" y="3931920"/>
            <a:ext cx="4160520" cy="84124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709159" y="3931920"/>
            <a:ext cx="50292" cy="841248"/>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3968496"/>
            <a:ext cx="3886200" cy="274320"/>
          </a:xfrm>
          <a:prstGeom prst="rect">
            <a:avLst/>
          </a:prstGeom>
          <a:noFill/>
        </p:spPr>
        <p:txBody>
          <a:bodyPr wrap="square">
            <a:spAutoFit/>
          </a:bodyPr>
          <a:lstStyle/>
          <a:p>
            <a:pPr algn="l"/>
            <a:r>
              <a:rPr sz="1100" b="1" i="0">
                <a:solidFill>
                  <a:srgbClr val="06D679"/>
                </a:solidFill>
                <a:latin typeface="Calibri"/>
              </a:rPr>
              <a:t>F1-Score</a:t>
            </a:r>
          </a:p>
        </p:txBody>
      </p:sp>
      <p:sp>
        <p:nvSpPr>
          <p:cNvPr id="46" name="TextBox 45"/>
          <p:cNvSpPr txBox="1"/>
          <p:nvPr/>
        </p:nvSpPr>
        <p:spPr>
          <a:xfrm>
            <a:off x="4846320" y="4261104"/>
            <a:ext cx="3886200" cy="274320"/>
          </a:xfrm>
          <a:prstGeom prst="rect">
            <a:avLst/>
          </a:prstGeom>
          <a:noFill/>
        </p:spPr>
        <p:txBody>
          <a:bodyPr wrap="square">
            <a:spAutoFit/>
          </a:bodyPr>
          <a:lstStyle/>
          <a:p>
            <a:pPr algn="l"/>
            <a:r>
              <a:rPr sz="1050" b="0" i="0">
                <a:solidFill>
                  <a:srgbClr val="00C2CB"/>
                </a:solidFill>
                <a:latin typeface="Consolas"/>
              </a:rPr>
              <a:t>F1 = 2 × (P × R) / (P + R)</a:t>
            </a:r>
          </a:p>
        </p:txBody>
      </p:sp>
      <p:sp>
        <p:nvSpPr>
          <p:cNvPr id="47" name="TextBox 46"/>
          <p:cNvSpPr txBox="1"/>
          <p:nvPr/>
        </p:nvSpPr>
        <p:spPr>
          <a:xfrm>
            <a:off x="4846320" y="4526280"/>
            <a:ext cx="3886200" cy="219456"/>
          </a:xfrm>
          <a:prstGeom prst="rect">
            <a:avLst/>
          </a:prstGeom>
          <a:noFill/>
        </p:spPr>
        <p:txBody>
          <a:bodyPr wrap="square">
            <a:spAutoFit/>
          </a:bodyPr>
          <a:lstStyle/>
          <a:p>
            <a:pPr algn="l"/>
            <a:r>
              <a:rPr sz="950" b="0" i="0">
                <a:solidFill>
                  <a:srgbClr val="7A92B8"/>
                </a:solidFill>
                <a:latin typeface="Calibri"/>
              </a:rPr>
              <a:t>Harmonic mean: balanced metric</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43</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800" b="1" i="0">
                <a:solidFill>
                  <a:srgbClr val="FFFFFF"/>
                </a:solidFill>
                <a:latin typeface="Calibri"/>
              </a:rPr>
              <a:t>Key Concepts — Final Summary</a:t>
            </a:r>
          </a:p>
        </p:txBody>
      </p:sp>
      <p:sp>
        <p:nvSpPr>
          <p:cNvPr id="7" name="Rectangle 6"/>
          <p:cNvSpPr/>
          <p:nvPr/>
        </p:nvSpPr>
        <p:spPr>
          <a:xfrm>
            <a:off x="274320" y="868680"/>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868680"/>
            <a:ext cx="50292" cy="91440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905256"/>
            <a:ext cx="3886200" cy="301752"/>
          </a:xfrm>
          <a:prstGeom prst="rect">
            <a:avLst/>
          </a:prstGeom>
          <a:noFill/>
        </p:spPr>
        <p:txBody>
          <a:bodyPr wrap="square">
            <a:spAutoFit/>
          </a:bodyPr>
          <a:lstStyle/>
          <a:p>
            <a:pPr algn="l"/>
            <a:r>
              <a:rPr sz="1200" b="1" i="0">
                <a:solidFill>
                  <a:srgbClr val="FF4B4B"/>
                </a:solidFill>
                <a:latin typeface="Calibri"/>
              </a:rPr>
              <a:t>Overfitting</a:t>
            </a:r>
          </a:p>
        </p:txBody>
      </p:sp>
      <p:sp>
        <p:nvSpPr>
          <p:cNvPr id="10" name="TextBox 9"/>
          <p:cNvSpPr txBox="1"/>
          <p:nvPr/>
        </p:nvSpPr>
        <p:spPr>
          <a:xfrm>
            <a:off x="411479" y="1252728"/>
            <a:ext cx="3886200" cy="502920"/>
          </a:xfrm>
          <a:prstGeom prst="rect">
            <a:avLst/>
          </a:prstGeom>
          <a:noFill/>
        </p:spPr>
        <p:txBody>
          <a:bodyPr wrap="square">
            <a:spAutoFit/>
          </a:bodyPr>
          <a:lstStyle/>
          <a:p>
            <a:pPr algn="l"/>
            <a:r>
              <a:rPr sz="1000" b="0" i="0">
                <a:solidFill>
                  <a:srgbClr val="FFFFFF"/>
                </a:solidFill>
                <a:latin typeface="Calibri"/>
              </a:rPr>
              <a:t>Model memorizes training data. Train accuracy &gt;&gt; Test accuracy. Fix: max_depth, min_samples_leaf, more data.</a:t>
            </a:r>
          </a:p>
        </p:txBody>
      </p:sp>
      <p:sp>
        <p:nvSpPr>
          <p:cNvPr id="11" name="Rectangle 10"/>
          <p:cNvSpPr/>
          <p:nvPr/>
        </p:nvSpPr>
        <p:spPr>
          <a:xfrm>
            <a:off x="274320" y="1920239"/>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920239"/>
            <a:ext cx="50292" cy="9144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956815"/>
            <a:ext cx="3886200" cy="301752"/>
          </a:xfrm>
          <a:prstGeom prst="rect">
            <a:avLst/>
          </a:prstGeom>
          <a:noFill/>
        </p:spPr>
        <p:txBody>
          <a:bodyPr wrap="square">
            <a:spAutoFit/>
          </a:bodyPr>
          <a:lstStyle/>
          <a:p>
            <a:pPr algn="l"/>
            <a:r>
              <a:rPr sz="1200" b="1" i="0">
                <a:solidFill>
                  <a:srgbClr val="FF8C00"/>
                </a:solidFill>
                <a:latin typeface="Calibri"/>
              </a:rPr>
              <a:t>Underfitting</a:t>
            </a:r>
          </a:p>
        </p:txBody>
      </p:sp>
      <p:sp>
        <p:nvSpPr>
          <p:cNvPr id="14" name="TextBox 13"/>
          <p:cNvSpPr txBox="1"/>
          <p:nvPr/>
        </p:nvSpPr>
        <p:spPr>
          <a:xfrm>
            <a:off x="411479" y="2304287"/>
            <a:ext cx="3886200" cy="502920"/>
          </a:xfrm>
          <a:prstGeom prst="rect">
            <a:avLst/>
          </a:prstGeom>
          <a:noFill/>
        </p:spPr>
        <p:txBody>
          <a:bodyPr wrap="square">
            <a:spAutoFit/>
          </a:bodyPr>
          <a:lstStyle/>
          <a:p>
            <a:pPr algn="l"/>
            <a:r>
              <a:rPr sz="1000" b="0" i="0">
                <a:solidFill>
                  <a:srgbClr val="FFFFFF"/>
                </a:solidFill>
                <a:latin typeface="Calibri"/>
              </a:rPr>
              <a:t>Model too simple to learn patterns. Both train and test accuracy are low. Fix: increase depth, reduce constraints.</a:t>
            </a:r>
          </a:p>
        </p:txBody>
      </p:sp>
      <p:sp>
        <p:nvSpPr>
          <p:cNvPr id="15" name="Rectangle 14"/>
          <p:cNvSpPr/>
          <p:nvPr/>
        </p:nvSpPr>
        <p:spPr>
          <a:xfrm>
            <a:off x="274320" y="2971800"/>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2971800"/>
            <a:ext cx="50292" cy="9144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79" y="3008376"/>
            <a:ext cx="3886200" cy="301752"/>
          </a:xfrm>
          <a:prstGeom prst="rect">
            <a:avLst/>
          </a:prstGeom>
          <a:noFill/>
        </p:spPr>
        <p:txBody>
          <a:bodyPr wrap="square">
            <a:spAutoFit/>
          </a:bodyPr>
          <a:lstStyle/>
          <a:p>
            <a:pPr algn="l"/>
            <a:r>
              <a:rPr sz="1200" b="1" i="0">
                <a:solidFill>
                  <a:srgbClr val="00C2CB"/>
                </a:solidFill>
                <a:latin typeface="Calibri"/>
              </a:rPr>
              <a:t>Bagging</a:t>
            </a:r>
          </a:p>
        </p:txBody>
      </p:sp>
      <p:sp>
        <p:nvSpPr>
          <p:cNvPr id="18" name="TextBox 17"/>
          <p:cNvSpPr txBox="1"/>
          <p:nvPr/>
        </p:nvSpPr>
        <p:spPr>
          <a:xfrm>
            <a:off x="411479" y="3355848"/>
            <a:ext cx="3886200" cy="502920"/>
          </a:xfrm>
          <a:prstGeom prst="rect">
            <a:avLst/>
          </a:prstGeom>
          <a:noFill/>
        </p:spPr>
        <p:txBody>
          <a:bodyPr wrap="square">
            <a:spAutoFit/>
          </a:bodyPr>
          <a:lstStyle/>
          <a:p>
            <a:pPr algn="l"/>
            <a:r>
              <a:rPr sz="1000" b="0" i="0">
                <a:solidFill>
                  <a:srgbClr val="FFFFFF"/>
                </a:solidFill>
                <a:latin typeface="Calibri"/>
              </a:rPr>
              <a:t>Build N trees in PARALLEL on random data subsets. Average/vote predictions. Reduces VARIANCE. → Random Forest.</a:t>
            </a:r>
          </a:p>
        </p:txBody>
      </p:sp>
      <p:sp>
        <p:nvSpPr>
          <p:cNvPr id="19" name="Rectangle 18"/>
          <p:cNvSpPr/>
          <p:nvPr/>
        </p:nvSpPr>
        <p:spPr>
          <a:xfrm>
            <a:off x="274320" y="4023359"/>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4023359"/>
            <a:ext cx="50292" cy="9144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79" y="4059935"/>
            <a:ext cx="3886200" cy="301752"/>
          </a:xfrm>
          <a:prstGeom prst="rect">
            <a:avLst/>
          </a:prstGeom>
          <a:noFill/>
        </p:spPr>
        <p:txBody>
          <a:bodyPr wrap="square">
            <a:spAutoFit/>
          </a:bodyPr>
          <a:lstStyle/>
          <a:p>
            <a:pPr algn="l"/>
            <a:r>
              <a:rPr sz="1200" b="1" i="0">
                <a:solidFill>
                  <a:srgbClr val="39D353"/>
                </a:solidFill>
                <a:latin typeface="Calibri"/>
              </a:rPr>
              <a:t>Boosting</a:t>
            </a:r>
          </a:p>
        </p:txBody>
      </p:sp>
      <p:sp>
        <p:nvSpPr>
          <p:cNvPr id="22" name="TextBox 21"/>
          <p:cNvSpPr txBox="1"/>
          <p:nvPr/>
        </p:nvSpPr>
        <p:spPr>
          <a:xfrm>
            <a:off x="411479" y="4407407"/>
            <a:ext cx="3886200" cy="502920"/>
          </a:xfrm>
          <a:prstGeom prst="rect">
            <a:avLst/>
          </a:prstGeom>
          <a:noFill/>
        </p:spPr>
        <p:txBody>
          <a:bodyPr wrap="square">
            <a:spAutoFit/>
          </a:bodyPr>
          <a:lstStyle/>
          <a:p>
            <a:pPr algn="l"/>
            <a:r>
              <a:rPr sz="1000" b="0" i="0">
                <a:solidFill>
                  <a:srgbClr val="FFFFFF"/>
                </a:solidFill>
                <a:latin typeface="Calibri"/>
              </a:rPr>
              <a:t>Build N trees SEQUENTIALLY. Each fixes previous errors. Reduces BIAS. → XGBoost, AdaBoost, GBM.</a:t>
            </a:r>
          </a:p>
        </p:txBody>
      </p:sp>
      <p:sp>
        <p:nvSpPr>
          <p:cNvPr id="23" name="Rectangle 22"/>
          <p:cNvSpPr/>
          <p:nvPr/>
        </p:nvSpPr>
        <p:spPr>
          <a:xfrm>
            <a:off x="4709159" y="868680"/>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09159" y="868680"/>
            <a:ext cx="50292" cy="91440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0" y="905256"/>
            <a:ext cx="3886200" cy="301752"/>
          </a:xfrm>
          <a:prstGeom prst="rect">
            <a:avLst/>
          </a:prstGeom>
          <a:noFill/>
        </p:spPr>
        <p:txBody>
          <a:bodyPr wrap="square">
            <a:spAutoFit/>
          </a:bodyPr>
          <a:lstStyle/>
          <a:p>
            <a:pPr algn="l"/>
            <a:r>
              <a:rPr sz="1200" b="1" i="0">
                <a:solidFill>
                  <a:srgbClr val="FFC400"/>
                </a:solidFill>
                <a:latin typeface="Calibri"/>
              </a:rPr>
              <a:t>Feature Importance</a:t>
            </a:r>
          </a:p>
        </p:txBody>
      </p:sp>
      <p:sp>
        <p:nvSpPr>
          <p:cNvPr id="26" name="TextBox 25"/>
          <p:cNvSpPr txBox="1"/>
          <p:nvPr/>
        </p:nvSpPr>
        <p:spPr>
          <a:xfrm>
            <a:off x="4846320" y="1252728"/>
            <a:ext cx="3886200" cy="502920"/>
          </a:xfrm>
          <a:prstGeom prst="rect">
            <a:avLst/>
          </a:prstGeom>
          <a:noFill/>
        </p:spPr>
        <p:txBody>
          <a:bodyPr wrap="square">
            <a:spAutoFit/>
          </a:bodyPr>
          <a:lstStyle/>
          <a:p>
            <a:pPr algn="l"/>
            <a:r>
              <a:rPr sz="1000" b="0" i="0">
                <a:solidFill>
                  <a:srgbClr val="FFFFFF"/>
                </a:solidFill>
                <a:latin typeface="Calibri"/>
              </a:rPr>
              <a:t>Random Forest tracks how much each feature reduces Gini across all trees. High score = crucial feature.</a:t>
            </a:r>
          </a:p>
        </p:txBody>
      </p:sp>
      <p:sp>
        <p:nvSpPr>
          <p:cNvPr id="27" name="Rectangle 26"/>
          <p:cNvSpPr/>
          <p:nvPr/>
        </p:nvSpPr>
        <p:spPr>
          <a:xfrm>
            <a:off x="4709159" y="1920239"/>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709159" y="1920239"/>
            <a:ext cx="50292" cy="91440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46320" y="1956815"/>
            <a:ext cx="3886200" cy="301752"/>
          </a:xfrm>
          <a:prstGeom prst="rect">
            <a:avLst/>
          </a:prstGeom>
          <a:noFill/>
        </p:spPr>
        <p:txBody>
          <a:bodyPr wrap="square">
            <a:spAutoFit/>
          </a:bodyPr>
          <a:lstStyle/>
          <a:p>
            <a:pPr algn="l"/>
            <a:r>
              <a:rPr sz="1200" b="1" i="0">
                <a:solidFill>
                  <a:srgbClr val="FF4D88"/>
                </a:solidFill>
                <a:latin typeface="Calibri"/>
              </a:rPr>
              <a:t>Bootstrap Sampling</a:t>
            </a:r>
          </a:p>
        </p:txBody>
      </p:sp>
      <p:sp>
        <p:nvSpPr>
          <p:cNvPr id="30" name="TextBox 29"/>
          <p:cNvSpPr txBox="1"/>
          <p:nvPr/>
        </p:nvSpPr>
        <p:spPr>
          <a:xfrm>
            <a:off x="4846320" y="2304287"/>
            <a:ext cx="3886200" cy="502920"/>
          </a:xfrm>
          <a:prstGeom prst="rect">
            <a:avLst/>
          </a:prstGeom>
          <a:noFill/>
        </p:spPr>
        <p:txBody>
          <a:bodyPr wrap="square">
            <a:spAutoFit/>
          </a:bodyPr>
          <a:lstStyle/>
          <a:p>
            <a:pPr algn="l"/>
            <a:r>
              <a:rPr sz="1000" b="0" i="0">
                <a:solidFill>
                  <a:srgbClr val="FFFFFF"/>
                </a:solidFill>
                <a:latin typeface="Calibri"/>
              </a:rPr>
              <a:t>Sample N rows WITH replacement from dataset. ~63% unique rows, ~37% not selected (OOB = free validation set).</a:t>
            </a:r>
          </a:p>
        </p:txBody>
      </p:sp>
      <p:sp>
        <p:nvSpPr>
          <p:cNvPr id="31" name="Rectangle 30"/>
          <p:cNvSpPr/>
          <p:nvPr/>
        </p:nvSpPr>
        <p:spPr>
          <a:xfrm>
            <a:off x="4709159" y="2971800"/>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709159" y="2971800"/>
            <a:ext cx="50292" cy="91440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46320" y="3008376"/>
            <a:ext cx="3886200" cy="301752"/>
          </a:xfrm>
          <a:prstGeom prst="rect">
            <a:avLst/>
          </a:prstGeom>
          <a:noFill/>
        </p:spPr>
        <p:txBody>
          <a:bodyPr wrap="square">
            <a:spAutoFit/>
          </a:bodyPr>
          <a:lstStyle/>
          <a:p>
            <a:pPr algn="l"/>
            <a:r>
              <a:rPr sz="1200" b="1" i="0">
                <a:solidFill>
                  <a:srgbClr val="FF4B4B"/>
                </a:solidFill>
                <a:latin typeface="Calibri"/>
              </a:rPr>
              <a:t>Data Leakage</a:t>
            </a:r>
          </a:p>
        </p:txBody>
      </p:sp>
      <p:sp>
        <p:nvSpPr>
          <p:cNvPr id="34" name="TextBox 33"/>
          <p:cNvSpPr txBox="1"/>
          <p:nvPr/>
        </p:nvSpPr>
        <p:spPr>
          <a:xfrm>
            <a:off x="4846320" y="3355848"/>
            <a:ext cx="3886200" cy="502920"/>
          </a:xfrm>
          <a:prstGeom prst="rect">
            <a:avLst/>
          </a:prstGeom>
          <a:noFill/>
        </p:spPr>
        <p:txBody>
          <a:bodyPr wrap="square">
            <a:spAutoFit/>
          </a:bodyPr>
          <a:lstStyle/>
          <a:p>
            <a:pPr algn="l"/>
            <a:r>
              <a:rPr sz="1000" b="0" i="0">
                <a:solidFill>
                  <a:srgbClr val="FFFFFF"/>
                </a:solidFill>
                <a:latin typeface="Calibri"/>
              </a:rPr>
              <a:t>Accidentally using test data during training (e.g., scaling on all data). Makes results unrealistically high.</a:t>
            </a:r>
          </a:p>
        </p:txBody>
      </p:sp>
      <p:sp>
        <p:nvSpPr>
          <p:cNvPr id="35" name="Rectangle 34"/>
          <p:cNvSpPr/>
          <p:nvPr/>
        </p:nvSpPr>
        <p:spPr>
          <a:xfrm>
            <a:off x="4709159" y="4023359"/>
            <a:ext cx="4160520" cy="9144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709159" y="4023359"/>
            <a:ext cx="50292" cy="914400"/>
          </a:xfrm>
          <a:prstGeom prst="rect">
            <a:avLst/>
          </a:prstGeom>
          <a:solidFill>
            <a:srgbClr val="06D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46320" y="4059935"/>
            <a:ext cx="3886200" cy="301752"/>
          </a:xfrm>
          <a:prstGeom prst="rect">
            <a:avLst/>
          </a:prstGeom>
          <a:noFill/>
        </p:spPr>
        <p:txBody>
          <a:bodyPr wrap="square">
            <a:spAutoFit/>
          </a:bodyPr>
          <a:lstStyle/>
          <a:p>
            <a:pPr algn="l"/>
            <a:r>
              <a:rPr sz="1200" b="1" i="0">
                <a:solidFill>
                  <a:srgbClr val="06D679"/>
                </a:solidFill>
                <a:latin typeface="Calibri"/>
              </a:rPr>
              <a:t>Stratified Split</a:t>
            </a:r>
          </a:p>
        </p:txBody>
      </p:sp>
      <p:sp>
        <p:nvSpPr>
          <p:cNvPr id="38" name="TextBox 37"/>
          <p:cNvSpPr txBox="1"/>
          <p:nvPr/>
        </p:nvSpPr>
        <p:spPr>
          <a:xfrm>
            <a:off x="4846320" y="4407407"/>
            <a:ext cx="3886200" cy="502920"/>
          </a:xfrm>
          <a:prstGeom prst="rect">
            <a:avLst/>
          </a:prstGeom>
          <a:noFill/>
        </p:spPr>
        <p:txBody>
          <a:bodyPr wrap="square">
            <a:spAutoFit/>
          </a:bodyPr>
          <a:lstStyle/>
          <a:p>
            <a:pPr algn="l"/>
            <a:r>
              <a:rPr sz="1000" b="0" i="0">
                <a:solidFill>
                  <a:srgbClr val="FFFFFF"/>
                </a:solidFill>
                <a:latin typeface="Calibri"/>
              </a:rPr>
              <a:t>Ensures train and test have the SAME class ratios. Essential for imbalanced classification problems.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44</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Code Cheat Sheet — sklearn &amp; XGBoost</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Copy-paste ready patterns for every model in this session</a:t>
            </a:r>
          </a:p>
        </p:txBody>
      </p:sp>
      <p:sp>
        <p:nvSpPr>
          <p:cNvPr id="8" name="Rectangle 7"/>
          <p:cNvSpPr/>
          <p:nvPr/>
        </p:nvSpPr>
        <p:spPr>
          <a:xfrm>
            <a:off x="274320" y="1005840"/>
            <a:ext cx="4160520" cy="1920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192024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51560"/>
            <a:ext cx="3886200" cy="292608"/>
          </a:xfrm>
          <a:prstGeom prst="rect">
            <a:avLst/>
          </a:prstGeom>
          <a:noFill/>
        </p:spPr>
        <p:txBody>
          <a:bodyPr wrap="square">
            <a:spAutoFit/>
          </a:bodyPr>
          <a:lstStyle/>
          <a:p>
            <a:pPr algn="l"/>
            <a:r>
              <a:rPr sz="1250" b="1" i="0">
                <a:solidFill>
                  <a:srgbClr val="39D353"/>
                </a:solidFill>
                <a:latin typeface="Calibri"/>
              </a:rPr>
              <a:t>Decision Tree</a:t>
            </a:r>
          </a:p>
        </p:txBody>
      </p:sp>
      <p:sp>
        <p:nvSpPr>
          <p:cNvPr id="11" name="Rectangle 10"/>
          <p:cNvSpPr/>
          <p:nvPr/>
        </p:nvSpPr>
        <p:spPr>
          <a:xfrm>
            <a:off x="365760" y="1408176"/>
            <a:ext cx="3977639" cy="1463040"/>
          </a:xfrm>
          <a:prstGeom prst="rect">
            <a:avLst/>
          </a:prstGeom>
          <a:solidFill>
            <a:srgbClr val="06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 y="1463040"/>
            <a:ext cx="3886200" cy="320040"/>
          </a:xfrm>
          <a:prstGeom prst="rect">
            <a:avLst/>
          </a:prstGeom>
          <a:noFill/>
        </p:spPr>
        <p:txBody>
          <a:bodyPr wrap="square">
            <a:spAutoFit/>
          </a:bodyPr>
          <a:lstStyle/>
          <a:p>
            <a:pPr algn="l"/>
            <a:r>
              <a:rPr sz="950" b="0" i="0">
                <a:solidFill>
                  <a:srgbClr val="00C2CB"/>
                </a:solidFill>
                <a:latin typeface="Consolas"/>
              </a:rPr>
              <a:t>from sklearn.tree import DecisionTreeClassifier</a:t>
            </a:r>
          </a:p>
        </p:txBody>
      </p:sp>
      <p:sp>
        <p:nvSpPr>
          <p:cNvPr id="13" name="TextBox 12"/>
          <p:cNvSpPr txBox="1"/>
          <p:nvPr/>
        </p:nvSpPr>
        <p:spPr>
          <a:xfrm>
            <a:off x="438912" y="1810512"/>
            <a:ext cx="3886200" cy="320040"/>
          </a:xfrm>
          <a:prstGeom prst="rect">
            <a:avLst/>
          </a:prstGeom>
          <a:noFill/>
        </p:spPr>
        <p:txBody>
          <a:bodyPr wrap="square">
            <a:spAutoFit/>
          </a:bodyPr>
          <a:lstStyle/>
          <a:p>
            <a:pPr algn="l"/>
            <a:r>
              <a:rPr sz="950" b="0" i="0">
                <a:solidFill>
                  <a:srgbClr val="FFFFFF"/>
                </a:solidFill>
                <a:latin typeface="Consolas"/>
              </a:rPr>
              <a:t>dt = DecisionTreeClassifier(max_depth=4, min_samples_leaf=10, random_state=42)</a:t>
            </a:r>
          </a:p>
        </p:txBody>
      </p:sp>
      <p:sp>
        <p:nvSpPr>
          <p:cNvPr id="14" name="TextBox 13"/>
          <p:cNvSpPr txBox="1"/>
          <p:nvPr/>
        </p:nvSpPr>
        <p:spPr>
          <a:xfrm>
            <a:off x="438912" y="2157984"/>
            <a:ext cx="3886200" cy="320040"/>
          </a:xfrm>
          <a:prstGeom prst="rect">
            <a:avLst/>
          </a:prstGeom>
          <a:noFill/>
        </p:spPr>
        <p:txBody>
          <a:bodyPr wrap="square">
            <a:spAutoFit/>
          </a:bodyPr>
          <a:lstStyle/>
          <a:p>
            <a:pPr algn="l"/>
            <a:r>
              <a:rPr sz="950" b="0" i="0">
                <a:solidFill>
                  <a:srgbClr val="FFFFFF"/>
                </a:solidFill>
                <a:latin typeface="Consolas"/>
              </a:rPr>
              <a:t>dt.fit(X_train, y_train)</a:t>
            </a:r>
          </a:p>
        </p:txBody>
      </p:sp>
      <p:sp>
        <p:nvSpPr>
          <p:cNvPr id="15" name="TextBox 14"/>
          <p:cNvSpPr txBox="1"/>
          <p:nvPr/>
        </p:nvSpPr>
        <p:spPr>
          <a:xfrm>
            <a:off x="438912" y="2505456"/>
            <a:ext cx="3886200" cy="320040"/>
          </a:xfrm>
          <a:prstGeom prst="rect">
            <a:avLst/>
          </a:prstGeom>
          <a:noFill/>
        </p:spPr>
        <p:txBody>
          <a:bodyPr wrap="square">
            <a:spAutoFit/>
          </a:bodyPr>
          <a:lstStyle/>
          <a:p>
            <a:pPr algn="l"/>
            <a:r>
              <a:rPr sz="950" b="0" i="0">
                <a:solidFill>
                  <a:srgbClr val="FFFFFF"/>
                </a:solidFill>
                <a:latin typeface="Consolas"/>
              </a:rPr>
              <a:t>y_pred = dt.predict(X_test)</a:t>
            </a:r>
          </a:p>
        </p:txBody>
      </p:sp>
      <p:sp>
        <p:nvSpPr>
          <p:cNvPr id="16" name="Rectangle 15"/>
          <p:cNvSpPr/>
          <p:nvPr/>
        </p:nvSpPr>
        <p:spPr>
          <a:xfrm>
            <a:off x="274320" y="3063240"/>
            <a:ext cx="4160520" cy="1920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3063240"/>
            <a:ext cx="50292" cy="192024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79" y="3108960"/>
            <a:ext cx="3886200" cy="292608"/>
          </a:xfrm>
          <a:prstGeom prst="rect">
            <a:avLst/>
          </a:prstGeom>
          <a:noFill/>
        </p:spPr>
        <p:txBody>
          <a:bodyPr wrap="square">
            <a:spAutoFit/>
          </a:bodyPr>
          <a:lstStyle/>
          <a:p>
            <a:pPr algn="l"/>
            <a:r>
              <a:rPr sz="1250" b="1" i="0">
                <a:solidFill>
                  <a:srgbClr val="00C2CB"/>
                </a:solidFill>
                <a:latin typeface="Calibri"/>
              </a:rPr>
              <a:t>Random Forest</a:t>
            </a:r>
          </a:p>
        </p:txBody>
      </p:sp>
      <p:sp>
        <p:nvSpPr>
          <p:cNvPr id="19" name="Rectangle 18"/>
          <p:cNvSpPr/>
          <p:nvPr/>
        </p:nvSpPr>
        <p:spPr>
          <a:xfrm>
            <a:off x="365760" y="3465576"/>
            <a:ext cx="3977639" cy="1463040"/>
          </a:xfrm>
          <a:prstGeom prst="rect">
            <a:avLst/>
          </a:prstGeom>
          <a:solidFill>
            <a:srgbClr val="06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 y="3520440"/>
            <a:ext cx="3886200" cy="320040"/>
          </a:xfrm>
          <a:prstGeom prst="rect">
            <a:avLst/>
          </a:prstGeom>
          <a:noFill/>
        </p:spPr>
        <p:txBody>
          <a:bodyPr wrap="square">
            <a:spAutoFit/>
          </a:bodyPr>
          <a:lstStyle/>
          <a:p>
            <a:pPr algn="l"/>
            <a:r>
              <a:rPr sz="950" b="0" i="0">
                <a:solidFill>
                  <a:srgbClr val="00C2CB"/>
                </a:solidFill>
                <a:latin typeface="Consolas"/>
              </a:rPr>
              <a:t>from sklearn.ensemble import RandomForestClassifier</a:t>
            </a:r>
          </a:p>
        </p:txBody>
      </p:sp>
      <p:sp>
        <p:nvSpPr>
          <p:cNvPr id="21" name="TextBox 20"/>
          <p:cNvSpPr txBox="1"/>
          <p:nvPr/>
        </p:nvSpPr>
        <p:spPr>
          <a:xfrm>
            <a:off x="438912" y="3867912"/>
            <a:ext cx="3886200" cy="320040"/>
          </a:xfrm>
          <a:prstGeom prst="rect">
            <a:avLst/>
          </a:prstGeom>
          <a:noFill/>
        </p:spPr>
        <p:txBody>
          <a:bodyPr wrap="square">
            <a:spAutoFit/>
          </a:bodyPr>
          <a:lstStyle/>
          <a:p>
            <a:pPr algn="l"/>
            <a:r>
              <a:rPr sz="950" b="0" i="0">
                <a:solidFill>
                  <a:srgbClr val="FFFFFF"/>
                </a:solidFill>
                <a:latin typeface="Consolas"/>
              </a:rPr>
              <a:t>rf = RandomForestClassifier(n_estimators=100, max_depth=5, random_state=42)</a:t>
            </a:r>
          </a:p>
        </p:txBody>
      </p:sp>
      <p:sp>
        <p:nvSpPr>
          <p:cNvPr id="22" name="TextBox 21"/>
          <p:cNvSpPr txBox="1"/>
          <p:nvPr/>
        </p:nvSpPr>
        <p:spPr>
          <a:xfrm>
            <a:off x="438912" y="4215384"/>
            <a:ext cx="3886200" cy="320040"/>
          </a:xfrm>
          <a:prstGeom prst="rect">
            <a:avLst/>
          </a:prstGeom>
          <a:noFill/>
        </p:spPr>
        <p:txBody>
          <a:bodyPr wrap="square">
            <a:spAutoFit/>
          </a:bodyPr>
          <a:lstStyle/>
          <a:p>
            <a:pPr algn="l"/>
            <a:r>
              <a:rPr sz="950" b="0" i="0">
                <a:solidFill>
                  <a:srgbClr val="FFFFFF"/>
                </a:solidFill>
                <a:latin typeface="Consolas"/>
              </a:rPr>
              <a:t>rf.fit(X_train, y_train)</a:t>
            </a:r>
          </a:p>
        </p:txBody>
      </p:sp>
      <p:sp>
        <p:nvSpPr>
          <p:cNvPr id="23" name="TextBox 22"/>
          <p:cNvSpPr txBox="1"/>
          <p:nvPr/>
        </p:nvSpPr>
        <p:spPr>
          <a:xfrm>
            <a:off x="438912" y="4562856"/>
            <a:ext cx="3886200" cy="320040"/>
          </a:xfrm>
          <a:prstGeom prst="rect">
            <a:avLst/>
          </a:prstGeom>
          <a:noFill/>
        </p:spPr>
        <p:txBody>
          <a:bodyPr wrap="square">
            <a:spAutoFit/>
          </a:bodyPr>
          <a:lstStyle/>
          <a:p>
            <a:pPr algn="l"/>
            <a:r>
              <a:rPr sz="950" b="0" i="0">
                <a:solidFill>
                  <a:srgbClr val="00C2CB"/>
                </a:solidFill>
                <a:latin typeface="Consolas"/>
              </a:rPr>
              <a:t>importances = pd.Series(rf.feature_importances_, index=X.columns)</a:t>
            </a:r>
          </a:p>
        </p:txBody>
      </p:sp>
      <p:sp>
        <p:nvSpPr>
          <p:cNvPr id="24" name="Rectangle 23"/>
          <p:cNvSpPr/>
          <p:nvPr/>
        </p:nvSpPr>
        <p:spPr>
          <a:xfrm>
            <a:off x="4709159" y="1005840"/>
            <a:ext cx="4160520" cy="1920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09159" y="1005840"/>
            <a:ext cx="50292" cy="19202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0" y="1051560"/>
            <a:ext cx="3886200" cy="292608"/>
          </a:xfrm>
          <a:prstGeom prst="rect">
            <a:avLst/>
          </a:prstGeom>
          <a:noFill/>
        </p:spPr>
        <p:txBody>
          <a:bodyPr wrap="square">
            <a:spAutoFit/>
          </a:bodyPr>
          <a:lstStyle/>
          <a:p>
            <a:pPr algn="l"/>
            <a:r>
              <a:rPr sz="1250" b="1" i="0">
                <a:solidFill>
                  <a:srgbClr val="FFC400"/>
                </a:solidFill>
                <a:latin typeface="Calibri"/>
              </a:rPr>
              <a:t>XGBoost</a:t>
            </a:r>
          </a:p>
        </p:txBody>
      </p:sp>
      <p:sp>
        <p:nvSpPr>
          <p:cNvPr id="27" name="Rectangle 26"/>
          <p:cNvSpPr/>
          <p:nvPr/>
        </p:nvSpPr>
        <p:spPr>
          <a:xfrm>
            <a:off x="4800599" y="1408176"/>
            <a:ext cx="3977639" cy="1463040"/>
          </a:xfrm>
          <a:prstGeom prst="rect">
            <a:avLst/>
          </a:prstGeom>
          <a:solidFill>
            <a:srgbClr val="06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73751" y="1463040"/>
            <a:ext cx="3886200" cy="320040"/>
          </a:xfrm>
          <a:prstGeom prst="rect">
            <a:avLst/>
          </a:prstGeom>
          <a:noFill/>
        </p:spPr>
        <p:txBody>
          <a:bodyPr wrap="square">
            <a:spAutoFit/>
          </a:bodyPr>
          <a:lstStyle/>
          <a:p>
            <a:pPr algn="l"/>
            <a:r>
              <a:rPr sz="950" b="0" i="0">
                <a:solidFill>
                  <a:srgbClr val="00C2CB"/>
                </a:solidFill>
                <a:latin typeface="Consolas"/>
              </a:rPr>
              <a:t>from xgboost import XGBClassifier</a:t>
            </a:r>
          </a:p>
        </p:txBody>
      </p:sp>
      <p:sp>
        <p:nvSpPr>
          <p:cNvPr id="29" name="TextBox 28"/>
          <p:cNvSpPr txBox="1"/>
          <p:nvPr/>
        </p:nvSpPr>
        <p:spPr>
          <a:xfrm>
            <a:off x="4873751" y="1810512"/>
            <a:ext cx="3886200" cy="320040"/>
          </a:xfrm>
          <a:prstGeom prst="rect">
            <a:avLst/>
          </a:prstGeom>
          <a:noFill/>
        </p:spPr>
        <p:txBody>
          <a:bodyPr wrap="square">
            <a:spAutoFit/>
          </a:bodyPr>
          <a:lstStyle/>
          <a:p>
            <a:pPr algn="l"/>
            <a:r>
              <a:rPr sz="950" b="0" i="0">
                <a:solidFill>
                  <a:srgbClr val="FFFFFF"/>
                </a:solidFill>
                <a:latin typeface="Consolas"/>
              </a:rPr>
              <a:t>xgb = XGBClassifier(n_estimators=100, max_depth=3, learning_rate=0.1, random_state=42)</a:t>
            </a:r>
          </a:p>
        </p:txBody>
      </p:sp>
      <p:sp>
        <p:nvSpPr>
          <p:cNvPr id="30" name="TextBox 29"/>
          <p:cNvSpPr txBox="1"/>
          <p:nvPr/>
        </p:nvSpPr>
        <p:spPr>
          <a:xfrm>
            <a:off x="4873751" y="2157984"/>
            <a:ext cx="3886200" cy="320040"/>
          </a:xfrm>
          <a:prstGeom prst="rect">
            <a:avLst/>
          </a:prstGeom>
          <a:noFill/>
        </p:spPr>
        <p:txBody>
          <a:bodyPr wrap="square">
            <a:spAutoFit/>
          </a:bodyPr>
          <a:lstStyle/>
          <a:p>
            <a:pPr algn="l"/>
            <a:r>
              <a:rPr sz="950" b="0" i="0">
                <a:solidFill>
                  <a:srgbClr val="FFFFFF"/>
                </a:solidFill>
                <a:latin typeface="Consolas"/>
              </a:rPr>
              <a:t>xgb.fit(X_train, y_train)</a:t>
            </a:r>
          </a:p>
        </p:txBody>
      </p:sp>
      <p:sp>
        <p:nvSpPr>
          <p:cNvPr id="31" name="TextBox 30"/>
          <p:cNvSpPr txBox="1"/>
          <p:nvPr/>
        </p:nvSpPr>
        <p:spPr>
          <a:xfrm>
            <a:off x="4873751" y="2505456"/>
            <a:ext cx="3886200" cy="320040"/>
          </a:xfrm>
          <a:prstGeom prst="rect">
            <a:avLst/>
          </a:prstGeom>
          <a:noFill/>
        </p:spPr>
        <p:txBody>
          <a:bodyPr wrap="square">
            <a:spAutoFit/>
          </a:bodyPr>
          <a:lstStyle/>
          <a:p>
            <a:pPr algn="l"/>
            <a:r>
              <a:rPr sz="950" b="0" i="0">
                <a:solidFill>
                  <a:srgbClr val="FFFFFF"/>
                </a:solidFill>
                <a:latin typeface="Consolas"/>
              </a:rPr>
              <a:t>y_pred = xgb.predict(X_test)</a:t>
            </a:r>
          </a:p>
        </p:txBody>
      </p:sp>
      <p:sp>
        <p:nvSpPr>
          <p:cNvPr id="32" name="Rectangle 31"/>
          <p:cNvSpPr/>
          <p:nvPr/>
        </p:nvSpPr>
        <p:spPr>
          <a:xfrm>
            <a:off x="4709159" y="3063240"/>
            <a:ext cx="4160520" cy="1920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09159" y="3063240"/>
            <a:ext cx="50292" cy="192024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46320" y="3108960"/>
            <a:ext cx="3886200" cy="292608"/>
          </a:xfrm>
          <a:prstGeom prst="rect">
            <a:avLst/>
          </a:prstGeom>
          <a:noFill/>
        </p:spPr>
        <p:txBody>
          <a:bodyPr wrap="square">
            <a:spAutoFit/>
          </a:bodyPr>
          <a:lstStyle/>
          <a:p>
            <a:pPr algn="l"/>
            <a:r>
              <a:rPr sz="1250" b="1" i="0">
                <a:solidFill>
                  <a:srgbClr val="FF4D88"/>
                </a:solidFill>
                <a:latin typeface="Calibri"/>
              </a:rPr>
              <a:t>Evaluation</a:t>
            </a:r>
          </a:p>
        </p:txBody>
      </p:sp>
      <p:sp>
        <p:nvSpPr>
          <p:cNvPr id="35" name="Rectangle 34"/>
          <p:cNvSpPr/>
          <p:nvPr/>
        </p:nvSpPr>
        <p:spPr>
          <a:xfrm>
            <a:off x="4800599" y="3465576"/>
            <a:ext cx="3977639" cy="1463040"/>
          </a:xfrm>
          <a:prstGeom prst="rect">
            <a:avLst/>
          </a:prstGeom>
          <a:solidFill>
            <a:srgbClr val="061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73751" y="3520440"/>
            <a:ext cx="3886200" cy="320040"/>
          </a:xfrm>
          <a:prstGeom prst="rect">
            <a:avLst/>
          </a:prstGeom>
          <a:noFill/>
        </p:spPr>
        <p:txBody>
          <a:bodyPr wrap="square">
            <a:spAutoFit/>
          </a:bodyPr>
          <a:lstStyle/>
          <a:p>
            <a:pPr algn="l"/>
            <a:r>
              <a:rPr sz="950" b="0" i="0">
                <a:solidFill>
                  <a:srgbClr val="00C2CB"/>
                </a:solidFill>
                <a:latin typeface="Consolas"/>
              </a:rPr>
              <a:t>from sklearn.metrics import classification_report, confusion_matrix</a:t>
            </a:r>
          </a:p>
        </p:txBody>
      </p:sp>
      <p:sp>
        <p:nvSpPr>
          <p:cNvPr id="37" name="TextBox 36"/>
          <p:cNvSpPr txBox="1"/>
          <p:nvPr/>
        </p:nvSpPr>
        <p:spPr>
          <a:xfrm>
            <a:off x="4873751" y="3867912"/>
            <a:ext cx="3886200" cy="320040"/>
          </a:xfrm>
          <a:prstGeom prst="rect">
            <a:avLst/>
          </a:prstGeom>
          <a:noFill/>
        </p:spPr>
        <p:txBody>
          <a:bodyPr wrap="square">
            <a:spAutoFit/>
          </a:bodyPr>
          <a:lstStyle/>
          <a:p>
            <a:pPr algn="l"/>
            <a:r>
              <a:rPr sz="950" b="0" i="0">
                <a:solidFill>
                  <a:srgbClr val="FFFFFF"/>
                </a:solidFill>
                <a:latin typeface="Consolas"/>
              </a:rPr>
              <a:t>print(classification_report(y_test, y_pred, digits=4))</a:t>
            </a:r>
          </a:p>
        </p:txBody>
      </p:sp>
      <p:sp>
        <p:nvSpPr>
          <p:cNvPr id="38" name="TextBox 37"/>
          <p:cNvSpPr txBox="1"/>
          <p:nvPr/>
        </p:nvSpPr>
        <p:spPr>
          <a:xfrm>
            <a:off x="4873751" y="4215384"/>
            <a:ext cx="3886200" cy="320040"/>
          </a:xfrm>
          <a:prstGeom prst="rect">
            <a:avLst/>
          </a:prstGeom>
          <a:noFill/>
        </p:spPr>
        <p:txBody>
          <a:bodyPr wrap="square">
            <a:spAutoFit/>
          </a:bodyPr>
          <a:lstStyle/>
          <a:p>
            <a:pPr algn="l"/>
            <a:r>
              <a:rPr sz="950" b="0" i="0">
                <a:solidFill>
                  <a:srgbClr val="FFFFFF"/>
                </a:solidFill>
                <a:latin typeface="Consolas"/>
              </a:rPr>
              <a:t>cm = confusion_matrix(y_test, y_pred)</a:t>
            </a:r>
          </a:p>
        </p:txBody>
      </p:sp>
      <p:sp>
        <p:nvSpPr>
          <p:cNvPr id="39" name="TextBox 38"/>
          <p:cNvSpPr txBox="1"/>
          <p:nvPr/>
        </p:nvSpPr>
        <p:spPr>
          <a:xfrm>
            <a:off x="4873751" y="4562856"/>
            <a:ext cx="3886200" cy="320040"/>
          </a:xfrm>
          <a:prstGeom prst="rect">
            <a:avLst/>
          </a:prstGeom>
          <a:noFill/>
        </p:spPr>
        <p:txBody>
          <a:bodyPr wrap="square">
            <a:spAutoFit/>
          </a:bodyPr>
          <a:lstStyle/>
          <a:p>
            <a:pPr algn="l"/>
            <a:r>
              <a:rPr sz="950" b="0" i="0">
                <a:solidFill>
                  <a:srgbClr val="FFFFFF"/>
                </a:solidFill>
                <a:latin typeface="Consolas"/>
              </a:rPr>
              <a:t>sns.heatmap(cm, annot=True, fmt='d', cmap='Blues')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45</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400" b="1" i="0">
                <a:solidFill>
                  <a:srgbClr val="FFFFFF"/>
                </a:solidFill>
                <a:latin typeface="Calibri"/>
              </a:rPr>
              <a:t>Real-World Applications of Ensemble Models</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These algorithms power critical decisions in many industries</a:t>
            </a:r>
          </a:p>
        </p:txBody>
      </p:sp>
      <p:sp>
        <p:nvSpPr>
          <p:cNvPr id="8" name="Rectangle 7"/>
          <p:cNvSpPr/>
          <p:nvPr/>
        </p:nvSpPr>
        <p:spPr>
          <a:xfrm>
            <a:off x="274320" y="100584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118872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42416"/>
            <a:ext cx="3886200" cy="276999"/>
          </a:xfrm>
          <a:prstGeom prst="rect">
            <a:avLst/>
          </a:prstGeom>
          <a:noFill/>
        </p:spPr>
        <p:txBody>
          <a:bodyPr wrap="square">
            <a:spAutoFit/>
          </a:bodyPr>
          <a:lstStyle/>
          <a:p>
            <a:pPr algn="l"/>
            <a:r>
              <a:rPr sz="1200" b="1" i="0" dirty="0">
                <a:solidFill>
                  <a:srgbClr val="FFC400"/>
                </a:solidFill>
                <a:latin typeface="Calibri"/>
              </a:rPr>
              <a:t> Banking &amp; Finance</a:t>
            </a:r>
          </a:p>
        </p:txBody>
      </p:sp>
      <p:sp>
        <p:nvSpPr>
          <p:cNvPr id="11" name="TextBox 10"/>
          <p:cNvSpPr txBox="1"/>
          <p:nvPr/>
        </p:nvSpPr>
        <p:spPr>
          <a:xfrm>
            <a:off x="411479" y="1371600"/>
            <a:ext cx="3886200" cy="292608"/>
          </a:xfrm>
          <a:prstGeom prst="rect">
            <a:avLst/>
          </a:prstGeom>
          <a:noFill/>
        </p:spPr>
        <p:txBody>
          <a:bodyPr wrap="square">
            <a:spAutoFit/>
          </a:bodyPr>
          <a:lstStyle/>
          <a:p>
            <a:pPr algn="l"/>
            <a:r>
              <a:rPr sz="950" b="0" i="0">
                <a:solidFill>
                  <a:srgbClr val="7A92B8"/>
                </a:solidFill>
                <a:latin typeface="Calibri"/>
              </a:rPr>
              <a:t>Credit Scoring (loan decisions), Fraud detection, Anti-money laundering, Stock price prediction</a:t>
            </a:r>
          </a:p>
        </p:txBody>
      </p:sp>
      <p:sp>
        <p:nvSpPr>
          <p:cNvPr id="12" name="TextBox 11"/>
          <p:cNvSpPr txBox="1"/>
          <p:nvPr/>
        </p:nvSpPr>
        <p:spPr>
          <a:xfrm>
            <a:off x="411479" y="1682496"/>
            <a:ext cx="3886200" cy="438912"/>
          </a:xfrm>
          <a:prstGeom prst="rect">
            <a:avLst/>
          </a:prstGeom>
          <a:noFill/>
        </p:spPr>
        <p:txBody>
          <a:bodyPr wrap="square">
            <a:spAutoFit/>
          </a:bodyPr>
          <a:lstStyle/>
          <a:p>
            <a:pPr algn="l"/>
            <a:r>
              <a:rPr sz="950" b="0" i="0">
                <a:solidFill>
                  <a:srgbClr val="FFFFFF"/>
                </a:solidFill>
                <a:latin typeface="Calibri"/>
              </a:rPr>
              <a:t>XGBoost is #1 algorithm used by banks for credit scoring. Handles thousands of features efficiently.</a:t>
            </a:r>
          </a:p>
        </p:txBody>
      </p:sp>
      <p:sp>
        <p:nvSpPr>
          <p:cNvPr id="13" name="Rectangle 12"/>
          <p:cNvSpPr/>
          <p:nvPr/>
        </p:nvSpPr>
        <p:spPr>
          <a:xfrm>
            <a:off x="274320" y="233172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331720"/>
            <a:ext cx="50292" cy="118872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368296"/>
            <a:ext cx="3886200" cy="276999"/>
          </a:xfrm>
          <a:prstGeom prst="rect">
            <a:avLst/>
          </a:prstGeom>
          <a:noFill/>
        </p:spPr>
        <p:txBody>
          <a:bodyPr wrap="square">
            <a:spAutoFit/>
          </a:bodyPr>
          <a:lstStyle/>
          <a:p>
            <a:pPr algn="l"/>
            <a:r>
              <a:rPr sz="1200" b="1" i="0" dirty="0">
                <a:solidFill>
                  <a:srgbClr val="FF4B4B"/>
                </a:solidFill>
                <a:latin typeface="Calibri"/>
              </a:rPr>
              <a:t> Healthcare</a:t>
            </a:r>
          </a:p>
        </p:txBody>
      </p:sp>
      <p:sp>
        <p:nvSpPr>
          <p:cNvPr id="16" name="TextBox 15"/>
          <p:cNvSpPr txBox="1"/>
          <p:nvPr/>
        </p:nvSpPr>
        <p:spPr>
          <a:xfrm>
            <a:off x="411479" y="2697479"/>
            <a:ext cx="3886200" cy="292608"/>
          </a:xfrm>
          <a:prstGeom prst="rect">
            <a:avLst/>
          </a:prstGeom>
          <a:noFill/>
        </p:spPr>
        <p:txBody>
          <a:bodyPr wrap="square">
            <a:spAutoFit/>
          </a:bodyPr>
          <a:lstStyle/>
          <a:p>
            <a:pPr algn="l"/>
            <a:r>
              <a:rPr sz="950" b="0" i="0">
                <a:solidFill>
                  <a:srgbClr val="7A92B8"/>
                </a:solidFill>
                <a:latin typeface="Calibri"/>
              </a:rPr>
              <a:t>Disease diagnosis, Drug discovery, Patient readmission prediction, Medical image analysis</a:t>
            </a:r>
          </a:p>
        </p:txBody>
      </p:sp>
      <p:sp>
        <p:nvSpPr>
          <p:cNvPr id="17" name="TextBox 16"/>
          <p:cNvSpPr txBox="1"/>
          <p:nvPr/>
        </p:nvSpPr>
        <p:spPr>
          <a:xfrm>
            <a:off x="411479" y="3008376"/>
            <a:ext cx="3886200" cy="438912"/>
          </a:xfrm>
          <a:prstGeom prst="rect">
            <a:avLst/>
          </a:prstGeom>
          <a:noFill/>
        </p:spPr>
        <p:txBody>
          <a:bodyPr wrap="square">
            <a:spAutoFit/>
          </a:bodyPr>
          <a:lstStyle/>
          <a:p>
            <a:pPr algn="l"/>
            <a:r>
              <a:rPr sz="950" b="0" i="0">
                <a:solidFill>
                  <a:srgbClr val="FFFFFF"/>
                </a:solidFill>
                <a:latin typeface="Calibri"/>
              </a:rPr>
              <a:t>Random Forest identifies which genes are most predictive for cancer. F1-Score critical — missing a case is dangerous.</a:t>
            </a:r>
          </a:p>
        </p:txBody>
      </p:sp>
      <p:sp>
        <p:nvSpPr>
          <p:cNvPr id="18" name="Rectangle 17"/>
          <p:cNvSpPr/>
          <p:nvPr/>
        </p:nvSpPr>
        <p:spPr>
          <a:xfrm>
            <a:off x="274320" y="365760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657600"/>
            <a:ext cx="50292" cy="118872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3694176"/>
            <a:ext cx="3886200" cy="276999"/>
          </a:xfrm>
          <a:prstGeom prst="rect">
            <a:avLst/>
          </a:prstGeom>
          <a:noFill/>
        </p:spPr>
        <p:txBody>
          <a:bodyPr wrap="square">
            <a:spAutoFit/>
          </a:bodyPr>
          <a:lstStyle/>
          <a:p>
            <a:pPr algn="l"/>
            <a:r>
              <a:rPr sz="1200" b="1" i="0" dirty="0">
                <a:solidFill>
                  <a:srgbClr val="00C2CB"/>
                </a:solidFill>
                <a:latin typeface="Calibri"/>
              </a:rPr>
              <a:t> E-Commerce</a:t>
            </a:r>
          </a:p>
        </p:txBody>
      </p:sp>
      <p:sp>
        <p:nvSpPr>
          <p:cNvPr id="21" name="TextBox 20"/>
          <p:cNvSpPr txBox="1"/>
          <p:nvPr/>
        </p:nvSpPr>
        <p:spPr>
          <a:xfrm>
            <a:off x="411479" y="4023360"/>
            <a:ext cx="3886200" cy="292608"/>
          </a:xfrm>
          <a:prstGeom prst="rect">
            <a:avLst/>
          </a:prstGeom>
          <a:noFill/>
        </p:spPr>
        <p:txBody>
          <a:bodyPr wrap="square">
            <a:spAutoFit/>
          </a:bodyPr>
          <a:lstStyle/>
          <a:p>
            <a:pPr algn="l"/>
            <a:r>
              <a:rPr sz="950" b="0" i="0">
                <a:solidFill>
                  <a:srgbClr val="7A92B8"/>
                </a:solidFill>
                <a:latin typeface="Calibri"/>
              </a:rPr>
              <a:t>Product recommendations, Customer churn prediction, Price optimization, Inventory management</a:t>
            </a:r>
          </a:p>
        </p:txBody>
      </p:sp>
      <p:sp>
        <p:nvSpPr>
          <p:cNvPr id="22" name="TextBox 21"/>
          <p:cNvSpPr txBox="1"/>
          <p:nvPr/>
        </p:nvSpPr>
        <p:spPr>
          <a:xfrm>
            <a:off x="411479" y="4334256"/>
            <a:ext cx="3886200" cy="438912"/>
          </a:xfrm>
          <a:prstGeom prst="rect">
            <a:avLst/>
          </a:prstGeom>
          <a:noFill/>
        </p:spPr>
        <p:txBody>
          <a:bodyPr wrap="square">
            <a:spAutoFit/>
          </a:bodyPr>
          <a:lstStyle/>
          <a:p>
            <a:pPr algn="l"/>
            <a:r>
              <a:rPr sz="950" b="0" i="0">
                <a:solidFill>
                  <a:srgbClr val="FFFFFF"/>
                </a:solidFill>
                <a:latin typeface="Calibri"/>
              </a:rPr>
              <a:t>Amazon uses ensemble models to predict what you'll buy next. XGBoost won the famous Netflix prize competition.</a:t>
            </a:r>
          </a:p>
        </p:txBody>
      </p:sp>
      <p:sp>
        <p:nvSpPr>
          <p:cNvPr id="23" name="Rectangle 22"/>
          <p:cNvSpPr/>
          <p:nvPr/>
        </p:nvSpPr>
        <p:spPr>
          <a:xfrm>
            <a:off x="4709159" y="100584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09159" y="1005840"/>
            <a:ext cx="50292" cy="118872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46320" y="1042416"/>
            <a:ext cx="3886200" cy="276999"/>
          </a:xfrm>
          <a:prstGeom prst="rect">
            <a:avLst/>
          </a:prstGeom>
          <a:noFill/>
        </p:spPr>
        <p:txBody>
          <a:bodyPr wrap="square">
            <a:spAutoFit/>
          </a:bodyPr>
          <a:lstStyle/>
          <a:p>
            <a:pPr algn="l"/>
            <a:r>
              <a:rPr sz="1200" b="1" i="0" dirty="0">
                <a:solidFill>
                  <a:srgbClr val="39D353"/>
                </a:solidFill>
                <a:latin typeface="Calibri"/>
              </a:rPr>
              <a:t> Transportation</a:t>
            </a:r>
          </a:p>
        </p:txBody>
      </p:sp>
      <p:sp>
        <p:nvSpPr>
          <p:cNvPr id="26" name="TextBox 25"/>
          <p:cNvSpPr txBox="1"/>
          <p:nvPr/>
        </p:nvSpPr>
        <p:spPr>
          <a:xfrm>
            <a:off x="4846320" y="1371600"/>
            <a:ext cx="3886200" cy="292608"/>
          </a:xfrm>
          <a:prstGeom prst="rect">
            <a:avLst/>
          </a:prstGeom>
          <a:noFill/>
        </p:spPr>
        <p:txBody>
          <a:bodyPr wrap="square">
            <a:spAutoFit/>
          </a:bodyPr>
          <a:lstStyle/>
          <a:p>
            <a:pPr algn="l"/>
            <a:r>
              <a:rPr sz="950" b="0" i="0">
                <a:solidFill>
                  <a:srgbClr val="7A92B8"/>
                </a:solidFill>
                <a:latin typeface="Calibri"/>
              </a:rPr>
              <a:t>Self-driving cars (sensor fusion), Traffic prediction, Route optimization, Insurance risk scoring</a:t>
            </a:r>
          </a:p>
        </p:txBody>
      </p:sp>
      <p:sp>
        <p:nvSpPr>
          <p:cNvPr id="27" name="TextBox 26"/>
          <p:cNvSpPr txBox="1"/>
          <p:nvPr/>
        </p:nvSpPr>
        <p:spPr>
          <a:xfrm>
            <a:off x="4846320" y="1682496"/>
            <a:ext cx="3886200" cy="438912"/>
          </a:xfrm>
          <a:prstGeom prst="rect">
            <a:avLst/>
          </a:prstGeom>
          <a:noFill/>
        </p:spPr>
        <p:txBody>
          <a:bodyPr wrap="square">
            <a:spAutoFit/>
          </a:bodyPr>
          <a:lstStyle/>
          <a:p>
            <a:pPr algn="l"/>
            <a:r>
              <a:rPr sz="950" b="0" i="0">
                <a:solidFill>
                  <a:srgbClr val="FFFFFF"/>
                </a:solidFill>
                <a:latin typeface="Calibri"/>
              </a:rPr>
              <a:t>Decision Trees in self-driving systems: fast enough to run in real-time (milliseconds per prediction).</a:t>
            </a:r>
          </a:p>
        </p:txBody>
      </p:sp>
      <p:sp>
        <p:nvSpPr>
          <p:cNvPr id="28" name="Rectangle 27"/>
          <p:cNvSpPr/>
          <p:nvPr/>
        </p:nvSpPr>
        <p:spPr>
          <a:xfrm>
            <a:off x="4709159" y="233172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09159" y="2331720"/>
            <a:ext cx="50292" cy="1188720"/>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46320" y="2368296"/>
            <a:ext cx="3886200" cy="276999"/>
          </a:xfrm>
          <a:prstGeom prst="rect">
            <a:avLst/>
          </a:prstGeom>
          <a:noFill/>
        </p:spPr>
        <p:txBody>
          <a:bodyPr wrap="square">
            <a:spAutoFit/>
          </a:bodyPr>
          <a:lstStyle/>
          <a:p>
            <a:pPr algn="l"/>
            <a:r>
              <a:rPr sz="1200" b="1" i="0" dirty="0">
                <a:solidFill>
                  <a:srgbClr val="FF4D88"/>
                </a:solidFill>
                <a:latin typeface="Calibri"/>
              </a:rPr>
              <a:t> Technology</a:t>
            </a:r>
          </a:p>
        </p:txBody>
      </p:sp>
      <p:sp>
        <p:nvSpPr>
          <p:cNvPr id="31" name="TextBox 30"/>
          <p:cNvSpPr txBox="1"/>
          <p:nvPr/>
        </p:nvSpPr>
        <p:spPr>
          <a:xfrm>
            <a:off x="4846320" y="2697479"/>
            <a:ext cx="3886200" cy="292608"/>
          </a:xfrm>
          <a:prstGeom prst="rect">
            <a:avLst/>
          </a:prstGeom>
          <a:noFill/>
        </p:spPr>
        <p:txBody>
          <a:bodyPr wrap="square">
            <a:spAutoFit/>
          </a:bodyPr>
          <a:lstStyle/>
          <a:p>
            <a:pPr algn="l"/>
            <a:r>
              <a:rPr sz="950" b="0" i="0">
                <a:solidFill>
                  <a:srgbClr val="7A92B8"/>
                </a:solidFill>
                <a:latin typeface="Calibri"/>
              </a:rPr>
              <a:t>Spam detection, Ad click prediction, User behavior modeling, Content moderation</a:t>
            </a:r>
          </a:p>
        </p:txBody>
      </p:sp>
      <p:sp>
        <p:nvSpPr>
          <p:cNvPr id="32" name="TextBox 31"/>
          <p:cNvSpPr txBox="1"/>
          <p:nvPr/>
        </p:nvSpPr>
        <p:spPr>
          <a:xfrm>
            <a:off x="4846320" y="3008376"/>
            <a:ext cx="3886200" cy="438912"/>
          </a:xfrm>
          <a:prstGeom prst="rect">
            <a:avLst/>
          </a:prstGeom>
          <a:noFill/>
        </p:spPr>
        <p:txBody>
          <a:bodyPr wrap="square">
            <a:spAutoFit/>
          </a:bodyPr>
          <a:lstStyle/>
          <a:p>
            <a:pPr algn="l"/>
            <a:r>
              <a:rPr sz="950" b="0" i="0">
                <a:solidFill>
                  <a:srgbClr val="FFFFFF"/>
                </a:solidFill>
                <a:latin typeface="Calibri"/>
              </a:rPr>
              <a:t>Gmail spam filter uses ensemble methods. Has to balance precision (real emails) vs recall (blocking spam).</a:t>
            </a:r>
          </a:p>
        </p:txBody>
      </p:sp>
      <p:sp>
        <p:nvSpPr>
          <p:cNvPr id="33" name="Rectangle 32"/>
          <p:cNvSpPr/>
          <p:nvPr/>
        </p:nvSpPr>
        <p:spPr>
          <a:xfrm>
            <a:off x="4709159" y="365760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09159" y="3657600"/>
            <a:ext cx="50292" cy="1188720"/>
          </a:xfrm>
          <a:prstGeom prst="rect">
            <a:avLst/>
          </a:prstGeom>
          <a:solidFill>
            <a:srgbClr val="7A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46320" y="3694176"/>
            <a:ext cx="3886200" cy="276999"/>
          </a:xfrm>
          <a:prstGeom prst="rect">
            <a:avLst/>
          </a:prstGeom>
          <a:noFill/>
        </p:spPr>
        <p:txBody>
          <a:bodyPr wrap="square">
            <a:spAutoFit/>
          </a:bodyPr>
          <a:lstStyle/>
          <a:p>
            <a:pPr algn="l"/>
            <a:r>
              <a:rPr sz="1200" b="1" i="0" dirty="0">
                <a:solidFill>
                  <a:srgbClr val="7A92B8"/>
                </a:solidFill>
                <a:latin typeface="Calibri"/>
              </a:rPr>
              <a:t> Government</a:t>
            </a:r>
          </a:p>
        </p:txBody>
      </p:sp>
      <p:sp>
        <p:nvSpPr>
          <p:cNvPr id="36" name="TextBox 35"/>
          <p:cNvSpPr txBox="1"/>
          <p:nvPr/>
        </p:nvSpPr>
        <p:spPr>
          <a:xfrm>
            <a:off x="4846320" y="4023360"/>
            <a:ext cx="3886200" cy="292608"/>
          </a:xfrm>
          <a:prstGeom prst="rect">
            <a:avLst/>
          </a:prstGeom>
          <a:noFill/>
        </p:spPr>
        <p:txBody>
          <a:bodyPr wrap="square">
            <a:spAutoFit/>
          </a:bodyPr>
          <a:lstStyle/>
          <a:p>
            <a:pPr algn="l"/>
            <a:r>
              <a:rPr sz="950" b="0" i="0">
                <a:solidFill>
                  <a:srgbClr val="7A92B8"/>
                </a:solidFill>
                <a:latin typeface="Calibri"/>
              </a:rPr>
              <a:t>Tax fraud detection, Crime prediction, Social benefit eligibility, Environmental monitoring</a:t>
            </a:r>
          </a:p>
        </p:txBody>
      </p:sp>
      <p:sp>
        <p:nvSpPr>
          <p:cNvPr id="37" name="TextBox 36"/>
          <p:cNvSpPr txBox="1"/>
          <p:nvPr/>
        </p:nvSpPr>
        <p:spPr>
          <a:xfrm>
            <a:off x="4846320" y="4334256"/>
            <a:ext cx="3886200" cy="438912"/>
          </a:xfrm>
          <a:prstGeom prst="rect">
            <a:avLst/>
          </a:prstGeom>
          <a:noFill/>
        </p:spPr>
        <p:txBody>
          <a:bodyPr wrap="square">
            <a:spAutoFit/>
          </a:bodyPr>
          <a:lstStyle/>
          <a:p>
            <a:pPr algn="l"/>
            <a:r>
              <a:rPr sz="950" b="0" i="0">
                <a:solidFill>
                  <a:srgbClr val="FFFFFF"/>
                </a:solidFill>
                <a:latin typeface="Calibri"/>
              </a:rPr>
              <a:t>IRS uses Random Forest to flag suspicious tax returns. XGBoost won Kaggle competitions on poverty prediction.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46</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The Bias-Variance Tradeoff — Core Theory</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Understanding this is the key to becoming a great ML practitioner</a:t>
            </a:r>
          </a:p>
        </p:txBody>
      </p:sp>
      <p:sp>
        <p:nvSpPr>
          <p:cNvPr id="8" name="Rectangle 7"/>
          <p:cNvSpPr/>
          <p:nvPr/>
        </p:nvSpPr>
        <p:spPr>
          <a:xfrm>
            <a:off x="274320" y="960120"/>
            <a:ext cx="8595360" cy="5486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60120"/>
            <a:ext cx="8595360" cy="5029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033271"/>
            <a:ext cx="8229600" cy="384048"/>
          </a:xfrm>
          <a:prstGeom prst="rect">
            <a:avLst/>
          </a:prstGeom>
          <a:noFill/>
        </p:spPr>
        <p:txBody>
          <a:bodyPr wrap="square">
            <a:spAutoFit/>
          </a:bodyPr>
          <a:lstStyle/>
          <a:p>
            <a:pPr algn="ctr"/>
            <a:r>
              <a:rPr sz="1700" b="1" i="0">
                <a:solidFill>
                  <a:srgbClr val="FF8C00"/>
                </a:solidFill>
                <a:latin typeface="Consolas"/>
              </a:rPr>
              <a:t>Total Error = Bias² + Variance + Irreducible Noise</a:t>
            </a:r>
          </a:p>
        </p:txBody>
      </p:sp>
      <p:sp>
        <p:nvSpPr>
          <p:cNvPr id="11" name="Rectangle 10"/>
          <p:cNvSpPr/>
          <p:nvPr/>
        </p:nvSpPr>
        <p:spPr>
          <a:xfrm>
            <a:off x="274320" y="1627632"/>
            <a:ext cx="4251960" cy="2743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27632"/>
            <a:ext cx="50292" cy="2743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79" y="1700784"/>
            <a:ext cx="3977639" cy="347472"/>
          </a:xfrm>
          <a:prstGeom prst="rect">
            <a:avLst/>
          </a:prstGeom>
          <a:noFill/>
        </p:spPr>
        <p:txBody>
          <a:bodyPr wrap="square">
            <a:spAutoFit/>
          </a:bodyPr>
          <a:lstStyle/>
          <a:p>
            <a:pPr algn="l"/>
            <a:r>
              <a:rPr sz="1400" b="1" i="0">
                <a:solidFill>
                  <a:srgbClr val="FF8C00"/>
                </a:solidFill>
                <a:latin typeface="Calibri"/>
              </a:rPr>
              <a:t>Bias — Underfitting</a:t>
            </a:r>
          </a:p>
        </p:txBody>
      </p:sp>
      <p:sp>
        <p:nvSpPr>
          <p:cNvPr id="14" name="TextBox 13"/>
          <p:cNvSpPr txBox="1"/>
          <p:nvPr/>
        </p:nvSpPr>
        <p:spPr>
          <a:xfrm>
            <a:off x="411479" y="1940092"/>
            <a:ext cx="3977639" cy="2103120"/>
          </a:xfrm>
          <a:prstGeom prst="rect">
            <a:avLst/>
          </a:prstGeom>
          <a:noFill/>
        </p:spPr>
        <p:txBody>
          <a:bodyPr wrap="square">
            <a:spAutoFit/>
          </a:bodyPr>
          <a:lstStyle/>
          <a:p>
            <a:pPr algn="l"/>
            <a:r>
              <a:rPr sz="1100" b="0" i="0" dirty="0">
                <a:solidFill>
                  <a:srgbClr val="FFFFFF"/>
                </a:solidFill>
                <a:latin typeface="Calibri"/>
              </a:rPr>
              <a:t>The model's systematic ERROR — how far off its average prediction is from the truth.
High Bias means the model is too SIMPLE to capture the real patterns.
Causes:
• </a:t>
            </a:r>
            <a:r>
              <a:rPr sz="1100" b="0" i="0" dirty="0" err="1">
                <a:solidFill>
                  <a:srgbClr val="FFFFFF"/>
                </a:solidFill>
                <a:latin typeface="Calibri"/>
              </a:rPr>
              <a:t>max_depth</a:t>
            </a:r>
            <a:r>
              <a:rPr sz="1100" b="0" i="0" dirty="0">
                <a:solidFill>
                  <a:srgbClr val="FFFFFF"/>
                </a:solidFill>
                <a:latin typeface="Calibri"/>
              </a:rPr>
              <a:t> too small
• Algorithm too simple (e.g., KNN with large K)
Fix:
• Increase complexity
• Reduce regularization
• Use more features</a:t>
            </a:r>
          </a:p>
        </p:txBody>
      </p:sp>
      <p:sp>
        <p:nvSpPr>
          <p:cNvPr id="15" name="Rectangle 14"/>
          <p:cNvSpPr/>
          <p:nvPr/>
        </p:nvSpPr>
        <p:spPr>
          <a:xfrm>
            <a:off x="4736592" y="1627632"/>
            <a:ext cx="4251960" cy="274320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736592" y="1627632"/>
            <a:ext cx="50292" cy="274320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73752" y="1700784"/>
            <a:ext cx="3977639" cy="347472"/>
          </a:xfrm>
          <a:prstGeom prst="rect">
            <a:avLst/>
          </a:prstGeom>
          <a:noFill/>
        </p:spPr>
        <p:txBody>
          <a:bodyPr wrap="square">
            <a:spAutoFit/>
          </a:bodyPr>
          <a:lstStyle/>
          <a:p>
            <a:pPr algn="l"/>
            <a:r>
              <a:rPr sz="1400" b="1" i="0">
                <a:solidFill>
                  <a:srgbClr val="FF4B4B"/>
                </a:solidFill>
                <a:latin typeface="Calibri"/>
              </a:rPr>
              <a:t>Variance — Overfitting</a:t>
            </a:r>
          </a:p>
        </p:txBody>
      </p:sp>
      <p:sp>
        <p:nvSpPr>
          <p:cNvPr id="18" name="TextBox 17"/>
          <p:cNvSpPr txBox="1"/>
          <p:nvPr/>
        </p:nvSpPr>
        <p:spPr>
          <a:xfrm>
            <a:off x="4873752" y="1911737"/>
            <a:ext cx="3977639" cy="2103120"/>
          </a:xfrm>
          <a:prstGeom prst="rect">
            <a:avLst/>
          </a:prstGeom>
          <a:noFill/>
        </p:spPr>
        <p:txBody>
          <a:bodyPr wrap="square">
            <a:spAutoFit/>
          </a:bodyPr>
          <a:lstStyle/>
          <a:p>
            <a:pPr algn="l"/>
            <a:r>
              <a:rPr sz="1100" b="0" i="0" dirty="0">
                <a:solidFill>
                  <a:srgbClr val="FFFFFF"/>
                </a:solidFill>
                <a:latin typeface="Calibri"/>
              </a:rPr>
              <a:t>How much the model's prediction CHANGES when trained on different data.
High Variance means the model is too SENSITIVE to training data — memorizes noise.
Causes:
• </a:t>
            </a:r>
            <a:r>
              <a:rPr sz="1100" b="0" i="0" dirty="0" err="1">
                <a:solidFill>
                  <a:srgbClr val="FFFFFF"/>
                </a:solidFill>
                <a:latin typeface="Calibri"/>
              </a:rPr>
              <a:t>max_depth</a:t>
            </a:r>
            <a:r>
              <a:rPr sz="1100" b="0" i="0" dirty="0">
                <a:solidFill>
                  <a:srgbClr val="FFFFFF"/>
                </a:solidFill>
                <a:latin typeface="Calibri"/>
              </a:rPr>
              <a:t> unlimited
• </a:t>
            </a:r>
            <a:r>
              <a:rPr sz="1100" b="0" i="0" dirty="0" err="1">
                <a:solidFill>
                  <a:srgbClr val="FFFFFF"/>
                </a:solidFill>
                <a:latin typeface="Calibri"/>
              </a:rPr>
              <a:t>min_samples_leaf</a:t>
            </a:r>
            <a:r>
              <a:rPr sz="1100" b="0" i="0" dirty="0">
                <a:solidFill>
                  <a:srgbClr val="FFFFFF"/>
                </a:solidFill>
                <a:latin typeface="Calibri"/>
              </a:rPr>
              <a:t> = 1
• Too many features
Fix:
• Add regularization (</a:t>
            </a:r>
            <a:r>
              <a:rPr sz="1100" b="0" i="0" dirty="0" err="1">
                <a:solidFill>
                  <a:srgbClr val="FFFFFF"/>
                </a:solidFill>
                <a:latin typeface="Calibri"/>
              </a:rPr>
              <a:t>max_depth</a:t>
            </a:r>
            <a:r>
              <a:rPr sz="1100" b="0" i="0" dirty="0">
                <a:solidFill>
                  <a:srgbClr val="FFFFFF"/>
                </a:solidFill>
                <a:latin typeface="Calibri"/>
              </a:rPr>
              <a:t>)
• More data
• Ensemble methods</a:t>
            </a:r>
          </a:p>
        </p:txBody>
      </p:sp>
      <p:sp>
        <p:nvSpPr>
          <p:cNvPr id="19" name="Rectangle 18"/>
          <p:cNvSpPr/>
          <p:nvPr/>
        </p:nvSpPr>
        <p:spPr>
          <a:xfrm>
            <a:off x="274320" y="4568595"/>
            <a:ext cx="8595360" cy="47548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4568595"/>
            <a:ext cx="8595360" cy="5029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691364"/>
            <a:ext cx="8229600" cy="269304"/>
          </a:xfrm>
          <a:prstGeom prst="rect">
            <a:avLst/>
          </a:prstGeom>
          <a:noFill/>
        </p:spPr>
        <p:txBody>
          <a:bodyPr wrap="square">
            <a:spAutoFit/>
          </a:bodyPr>
          <a:lstStyle/>
          <a:p>
            <a:pPr algn="ctr"/>
            <a:r>
              <a:rPr sz="1150" b="0" i="0" dirty="0">
                <a:solidFill>
                  <a:srgbClr val="FFFFFF"/>
                </a:solidFill>
                <a:latin typeface="Calibri"/>
              </a:rPr>
              <a:t>  Ensemble methods WIN: Bagging reduces VARIANCE. Boosting reduces BIAS. Together → state-of-the-art accuracy.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47</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500" b="1" i="0">
                <a:solidFill>
                  <a:srgbClr val="FFFFFF"/>
                </a:solidFill>
                <a:latin typeface="Calibri"/>
              </a:rPr>
              <a:t>Preventing Overfitting — The Full Toolkit</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Every technique below helps your model generalize to new data</a:t>
            </a:r>
          </a:p>
        </p:txBody>
      </p:sp>
      <p:sp>
        <p:nvSpPr>
          <p:cNvPr id="8" name="Rectangle 7"/>
          <p:cNvSpPr/>
          <p:nvPr/>
        </p:nvSpPr>
        <p:spPr>
          <a:xfrm>
            <a:off x="274320" y="100584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89611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42416"/>
            <a:ext cx="3200400" cy="269304"/>
          </a:xfrm>
          <a:prstGeom prst="rect">
            <a:avLst/>
          </a:prstGeom>
          <a:noFill/>
        </p:spPr>
        <p:txBody>
          <a:bodyPr wrap="square">
            <a:spAutoFit/>
          </a:bodyPr>
          <a:lstStyle/>
          <a:p>
            <a:pPr algn="l"/>
            <a:r>
              <a:rPr sz="1150" b="1" i="0" dirty="0">
                <a:solidFill>
                  <a:srgbClr val="39D353"/>
                </a:solidFill>
                <a:latin typeface="Calibri"/>
              </a:rPr>
              <a:t> Limit Tree Depth</a:t>
            </a:r>
          </a:p>
        </p:txBody>
      </p:sp>
      <p:sp>
        <p:nvSpPr>
          <p:cNvPr id="11" name="TextBox 10"/>
          <p:cNvSpPr txBox="1"/>
          <p:nvPr/>
        </p:nvSpPr>
        <p:spPr>
          <a:xfrm>
            <a:off x="411479" y="1353312"/>
            <a:ext cx="1828800" cy="237744"/>
          </a:xfrm>
          <a:prstGeom prst="rect">
            <a:avLst/>
          </a:prstGeom>
          <a:noFill/>
        </p:spPr>
        <p:txBody>
          <a:bodyPr wrap="square">
            <a:spAutoFit/>
          </a:bodyPr>
          <a:lstStyle/>
          <a:p>
            <a:pPr algn="l"/>
            <a:r>
              <a:rPr sz="1000" b="0" i="0">
                <a:solidFill>
                  <a:srgbClr val="00C2CB"/>
                </a:solidFill>
                <a:latin typeface="Consolas"/>
              </a:rPr>
              <a:t>max_depth=4</a:t>
            </a:r>
          </a:p>
        </p:txBody>
      </p:sp>
      <p:sp>
        <p:nvSpPr>
          <p:cNvPr id="12" name="TextBox 11"/>
          <p:cNvSpPr txBox="1"/>
          <p:nvPr/>
        </p:nvSpPr>
        <p:spPr>
          <a:xfrm>
            <a:off x="411479" y="1600200"/>
            <a:ext cx="3886200" cy="274320"/>
          </a:xfrm>
          <a:prstGeom prst="rect">
            <a:avLst/>
          </a:prstGeom>
          <a:noFill/>
        </p:spPr>
        <p:txBody>
          <a:bodyPr wrap="square">
            <a:spAutoFit/>
          </a:bodyPr>
          <a:lstStyle/>
          <a:p>
            <a:pPr algn="l"/>
            <a:r>
              <a:rPr sz="1000" b="0" i="0">
                <a:solidFill>
                  <a:srgbClr val="7A92B8"/>
                </a:solidFill>
                <a:latin typeface="Calibri"/>
              </a:rPr>
              <a:t>Most effective single fix. Prevents the tree from learning noise.</a:t>
            </a:r>
          </a:p>
        </p:txBody>
      </p:sp>
      <p:sp>
        <p:nvSpPr>
          <p:cNvPr id="13" name="Rectangle 12"/>
          <p:cNvSpPr/>
          <p:nvPr/>
        </p:nvSpPr>
        <p:spPr>
          <a:xfrm>
            <a:off x="274320" y="201168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011680"/>
            <a:ext cx="50292" cy="8961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048256"/>
            <a:ext cx="3200400" cy="269304"/>
          </a:xfrm>
          <a:prstGeom prst="rect">
            <a:avLst/>
          </a:prstGeom>
          <a:noFill/>
        </p:spPr>
        <p:txBody>
          <a:bodyPr wrap="square">
            <a:spAutoFit/>
          </a:bodyPr>
          <a:lstStyle/>
          <a:p>
            <a:pPr algn="l"/>
            <a:r>
              <a:rPr sz="1150" b="1" i="0" dirty="0">
                <a:solidFill>
                  <a:srgbClr val="00C2CB"/>
                </a:solidFill>
                <a:latin typeface="Calibri"/>
              </a:rPr>
              <a:t> Min Samples per Leaf</a:t>
            </a:r>
          </a:p>
        </p:txBody>
      </p:sp>
      <p:sp>
        <p:nvSpPr>
          <p:cNvPr id="16" name="TextBox 15"/>
          <p:cNvSpPr txBox="1"/>
          <p:nvPr/>
        </p:nvSpPr>
        <p:spPr>
          <a:xfrm>
            <a:off x="411479" y="2359152"/>
            <a:ext cx="1828800" cy="237744"/>
          </a:xfrm>
          <a:prstGeom prst="rect">
            <a:avLst/>
          </a:prstGeom>
          <a:noFill/>
        </p:spPr>
        <p:txBody>
          <a:bodyPr wrap="square">
            <a:spAutoFit/>
          </a:bodyPr>
          <a:lstStyle/>
          <a:p>
            <a:pPr algn="l"/>
            <a:r>
              <a:rPr sz="1000" b="0" i="0">
                <a:solidFill>
                  <a:srgbClr val="00C2CB"/>
                </a:solidFill>
                <a:latin typeface="Consolas"/>
              </a:rPr>
              <a:t>min_samples_leaf=10</a:t>
            </a:r>
          </a:p>
        </p:txBody>
      </p:sp>
      <p:sp>
        <p:nvSpPr>
          <p:cNvPr id="17" name="TextBox 16"/>
          <p:cNvSpPr txBox="1"/>
          <p:nvPr/>
        </p:nvSpPr>
        <p:spPr>
          <a:xfrm>
            <a:off x="411479" y="2606040"/>
            <a:ext cx="3886200" cy="274320"/>
          </a:xfrm>
          <a:prstGeom prst="rect">
            <a:avLst/>
          </a:prstGeom>
          <a:noFill/>
        </p:spPr>
        <p:txBody>
          <a:bodyPr wrap="square">
            <a:spAutoFit/>
          </a:bodyPr>
          <a:lstStyle/>
          <a:p>
            <a:pPr algn="l"/>
            <a:r>
              <a:rPr sz="1000" b="0" i="0">
                <a:solidFill>
                  <a:srgbClr val="7A92B8"/>
                </a:solidFill>
                <a:latin typeface="Calibri"/>
              </a:rPr>
              <a:t>Each leaf must represent at least N passengers, not just 1 outlier.</a:t>
            </a:r>
          </a:p>
        </p:txBody>
      </p:sp>
      <p:sp>
        <p:nvSpPr>
          <p:cNvPr id="18" name="Rectangle 17"/>
          <p:cNvSpPr/>
          <p:nvPr/>
        </p:nvSpPr>
        <p:spPr>
          <a:xfrm>
            <a:off x="274320" y="301752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017520"/>
            <a:ext cx="50292" cy="89611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3054096"/>
            <a:ext cx="3200400" cy="269304"/>
          </a:xfrm>
          <a:prstGeom prst="rect">
            <a:avLst/>
          </a:prstGeom>
          <a:noFill/>
        </p:spPr>
        <p:txBody>
          <a:bodyPr wrap="square">
            <a:spAutoFit/>
          </a:bodyPr>
          <a:lstStyle/>
          <a:p>
            <a:pPr algn="l"/>
            <a:r>
              <a:rPr sz="1150" b="1" i="0" dirty="0">
                <a:solidFill>
                  <a:srgbClr val="FFC400"/>
                </a:solidFill>
                <a:latin typeface="Calibri"/>
              </a:rPr>
              <a:t> Use Ensemble Methods</a:t>
            </a:r>
          </a:p>
        </p:txBody>
      </p:sp>
      <p:sp>
        <p:nvSpPr>
          <p:cNvPr id="21" name="TextBox 20"/>
          <p:cNvSpPr txBox="1"/>
          <p:nvPr/>
        </p:nvSpPr>
        <p:spPr>
          <a:xfrm>
            <a:off x="411479" y="3364992"/>
            <a:ext cx="1828800" cy="237744"/>
          </a:xfrm>
          <a:prstGeom prst="rect">
            <a:avLst/>
          </a:prstGeom>
          <a:noFill/>
        </p:spPr>
        <p:txBody>
          <a:bodyPr wrap="square">
            <a:spAutoFit/>
          </a:bodyPr>
          <a:lstStyle/>
          <a:p>
            <a:pPr algn="l"/>
            <a:r>
              <a:rPr sz="1000" b="0" i="0">
                <a:solidFill>
                  <a:srgbClr val="00C2CB"/>
                </a:solidFill>
                <a:latin typeface="Consolas"/>
              </a:rPr>
              <a:t>RandomForest, XGBoost</a:t>
            </a:r>
          </a:p>
        </p:txBody>
      </p:sp>
      <p:sp>
        <p:nvSpPr>
          <p:cNvPr id="22" name="TextBox 21"/>
          <p:cNvSpPr txBox="1"/>
          <p:nvPr/>
        </p:nvSpPr>
        <p:spPr>
          <a:xfrm>
            <a:off x="411479" y="3611880"/>
            <a:ext cx="3886200" cy="274320"/>
          </a:xfrm>
          <a:prstGeom prst="rect">
            <a:avLst/>
          </a:prstGeom>
          <a:noFill/>
        </p:spPr>
        <p:txBody>
          <a:bodyPr wrap="square">
            <a:spAutoFit/>
          </a:bodyPr>
          <a:lstStyle/>
          <a:p>
            <a:pPr algn="l"/>
            <a:r>
              <a:rPr sz="1000" b="0" i="0">
                <a:solidFill>
                  <a:srgbClr val="7A92B8"/>
                </a:solidFill>
                <a:latin typeface="Calibri"/>
              </a:rPr>
              <a:t>Averaging 100 trees cancels out individual overfitting.</a:t>
            </a:r>
          </a:p>
        </p:txBody>
      </p:sp>
      <p:sp>
        <p:nvSpPr>
          <p:cNvPr id="23" name="Rectangle 22"/>
          <p:cNvSpPr/>
          <p:nvPr/>
        </p:nvSpPr>
        <p:spPr>
          <a:xfrm>
            <a:off x="274320" y="402336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023360"/>
            <a:ext cx="50292" cy="896112"/>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79" y="4059936"/>
            <a:ext cx="3200400" cy="269304"/>
          </a:xfrm>
          <a:prstGeom prst="rect">
            <a:avLst/>
          </a:prstGeom>
          <a:noFill/>
        </p:spPr>
        <p:txBody>
          <a:bodyPr wrap="square">
            <a:spAutoFit/>
          </a:bodyPr>
          <a:lstStyle/>
          <a:p>
            <a:pPr algn="l"/>
            <a:r>
              <a:rPr sz="1150" b="1" i="0" dirty="0">
                <a:solidFill>
                  <a:srgbClr val="FF4D88"/>
                </a:solidFill>
                <a:latin typeface="Calibri"/>
              </a:rPr>
              <a:t> Train/Test Split</a:t>
            </a:r>
          </a:p>
        </p:txBody>
      </p:sp>
      <p:sp>
        <p:nvSpPr>
          <p:cNvPr id="26" name="TextBox 25"/>
          <p:cNvSpPr txBox="1"/>
          <p:nvPr/>
        </p:nvSpPr>
        <p:spPr>
          <a:xfrm>
            <a:off x="411479" y="4370832"/>
            <a:ext cx="1828800" cy="237744"/>
          </a:xfrm>
          <a:prstGeom prst="rect">
            <a:avLst/>
          </a:prstGeom>
          <a:noFill/>
        </p:spPr>
        <p:txBody>
          <a:bodyPr wrap="square">
            <a:spAutoFit/>
          </a:bodyPr>
          <a:lstStyle/>
          <a:p>
            <a:pPr algn="l"/>
            <a:r>
              <a:rPr sz="1000" b="0" i="0">
                <a:solidFill>
                  <a:srgbClr val="00C2CB"/>
                </a:solidFill>
                <a:latin typeface="Consolas"/>
              </a:rPr>
              <a:t>test_size=0.25</a:t>
            </a:r>
          </a:p>
        </p:txBody>
      </p:sp>
      <p:sp>
        <p:nvSpPr>
          <p:cNvPr id="27" name="TextBox 26"/>
          <p:cNvSpPr txBox="1"/>
          <p:nvPr/>
        </p:nvSpPr>
        <p:spPr>
          <a:xfrm>
            <a:off x="411479" y="4617720"/>
            <a:ext cx="3886200" cy="274320"/>
          </a:xfrm>
          <a:prstGeom prst="rect">
            <a:avLst/>
          </a:prstGeom>
          <a:noFill/>
        </p:spPr>
        <p:txBody>
          <a:bodyPr wrap="square">
            <a:spAutoFit/>
          </a:bodyPr>
          <a:lstStyle/>
          <a:p>
            <a:pPr algn="l"/>
            <a:r>
              <a:rPr sz="1000" b="0" i="0">
                <a:solidFill>
                  <a:srgbClr val="7A92B8"/>
                </a:solidFill>
                <a:latin typeface="Calibri"/>
              </a:rPr>
              <a:t>Always evaluate on data the model has NEVER seen. Non-negotiable.</a:t>
            </a:r>
          </a:p>
        </p:txBody>
      </p:sp>
      <p:sp>
        <p:nvSpPr>
          <p:cNvPr id="28" name="Rectangle 27"/>
          <p:cNvSpPr/>
          <p:nvPr/>
        </p:nvSpPr>
        <p:spPr>
          <a:xfrm>
            <a:off x="4709159" y="100584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09159" y="1005840"/>
            <a:ext cx="50292" cy="89611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46320" y="1042416"/>
            <a:ext cx="3200400" cy="269304"/>
          </a:xfrm>
          <a:prstGeom prst="rect">
            <a:avLst/>
          </a:prstGeom>
          <a:noFill/>
        </p:spPr>
        <p:txBody>
          <a:bodyPr wrap="square">
            <a:spAutoFit/>
          </a:bodyPr>
          <a:lstStyle/>
          <a:p>
            <a:pPr algn="l"/>
            <a:r>
              <a:rPr sz="1150" b="1" i="0" dirty="0">
                <a:solidFill>
                  <a:srgbClr val="00C2CB"/>
                </a:solidFill>
                <a:latin typeface="Calibri"/>
              </a:rPr>
              <a:t> Cross-Validation</a:t>
            </a:r>
          </a:p>
        </p:txBody>
      </p:sp>
      <p:sp>
        <p:nvSpPr>
          <p:cNvPr id="31" name="TextBox 30"/>
          <p:cNvSpPr txBox="1"/>
          <p:nvPr/>
        </p:nvSpPr>
        <p:spPr>
          <a:xfrm>
            <a:off x="4846320" y="1353312"/>
            <a:ext cx="1828800" cy="237744"/>
          </a:xfrm>
          <a:prstGeom prst="rect">
            <a:avLst/>
          </a:prstGeom>
          <a:noFill/>
        </p:spPr>
        <p:txBody>
          <a:bodyPr wrap="square">
            <a:spAutoFit/>
          </a:bodyPr>
          <a:lstStyle/>
          <a:p>
            <a:pPr algn="l"/>
            <a:r>
              <a:rPr sz="1000" b="0" i="0">
                <a:solidFill>
                  <a:srgbClr val="00C2CB"/>
                </a:solidFill>
                <a:latin typeface="Consolas"/>
              </a:rPr>
              <a:t>cv=5 in GridSearchCV</a:t>
            </a:r>
          </a:p>
        </p:txBody>
      </p:sp>
      <p:sp>
        <p:nvSpPr>
          <p:cNvPr id="32" name="TextBox 31"/>
          <p:cNvSpPr txBox="1"/>
          <p:nvPr/>
        </p:nvSpPr>
        <p:spPr>
          <a:xfrm>
            <a:off x="4846320" y="1600200"/>
            <a:ext cx="3886200" cy="274320"/>
          </a:xfrm>
          <a:prstGeom prst="rect">
            <a:avLst/>
          </a:prstGeom>
          <a:noFill/>
        </p:spPr>
        <p:txBody>
          <a:bodyPr wrap="square">
            <a:spAutoFit/>
          </a:bodyPr>
          <a:lstStyle/>
          <a:p>
            <a:pPr algn="l"/>
            <a:r>
              <a:rPr sz="1000" b="0" i="0">
                <a:solidFill>
                  <a:srgbClr val="7A92B8"/>
                </a:solidFill>
                <a:latin typeface="Calibri"/>
              </a:rPr>
              <a:t>5-fold CV: train 5 times on different splits → more reliable accuracy.</a:t>
            </a:r>
          </a:p>
        </p:txBody>
      </p:sp>
      <p:sp>
        <p:nvSpPr>
          <p:cNvPr id="33" name="Rectangle 32"/>
          <p:cNvSpPr/>
          <p:nvPr/>
        </p:nvSpPr>
        <p:spPr>
          <a:xfrm>
            <a:off x="4709159" y="201168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09159" y="2011680"/>
            <a:ext cx="50292" cy="896112"/>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46320" y="2048256"/>
            <a:ext cx="3200400" cy="269304"/>
          </a:xfrm>
          <a:prstGeom prst="rect">
            <a:avLst/>
          </a:prstGeom>
          <a:noFill/>
        </p:spPr>
        <p:txBody>
          <a:bodyPr wrap="square">
            <a:spAutoFit/>
          </a:bodyPr>
          <a:lstStyle/>
          <a:p>
            <a:pPr algn="l"/>
            <a:r>
              <a:rPr sz="1150" b="1" i="0" dirty="0">
                <a:solidFill>
                  <a:srgbClr val="39D353"/>
                </a:solidFill>
                <a:latin typeface="Calibri"/>
              </a:rPr>
              <a:t> Regularization</a:t>
            </a:r>
          </a:p>
        </p:txBody>
      </p:sp>
      <p:sp>
        <p:nvSpPr>
          <p:cNvPr id="36" name="TextBox 35"/>
          <p:cNvSpPr txBox="1"/>
          <p:nvPr/>
        </p:nvSpPr>
        <p:spPr>
          <a:xfrm>
            <a:off x="4846320" y="2359152"/>
            <a:ext cx="1828800" cy="237744"/>
          </a:xfrm>
          <a:prstGeom prst="rect">
            <a:avLst/>
          </a:prstGeom>
          <a:noFill/>
        </p:spPr>
        <p:txBody>
          <a:bodyPr wrap="square">
            <a:spAutoFit/>
          </a:bodyPr>
          <a:lstStyle/>
          <a:p>
            <a:pPr algn="l"/>
            <a:r>
              <a:rPr sz="1000" b="0" i="0">
                <a:solidFill>
                  <a:srgbClr val="00C2CB"/>
                </a:solidFill>
                <a:latin typeface="Consolas"/>
              </a:rPr>
              <a:t>reg_alpha, reg_lambda</a:t>
            </a:r>
          </a:p>
        </p:txBody>
      </p:sp>
      <p:sp>
        <p:nvSpPr>
          <p:cNvPr id="37" name="TextBox 36"/>
          <p:cNvSpPr txBox="1"/>
          <p:nvPr/>
        </p:nvSpPr>
        <p:spPr>
          <a:xfrm>
            <a:off x="4846320" y="2606040"/>
            <a:ext cx="3886200" cy="274320"/>
          </a:xfrm>
          <a:prstGeom prst="rect">
            <a:avLst/>
          </a:prstGeom>
          <a:noFill/>
        </p:spPr>
        <p:txBody>
          <a:bodyPr wrap="square">
            <a:spAutoFit/>
          </a:bodyPr>
          <a:lstStyle/>
          <a:p>
            <a:pPr algn="l"/>
            <a:r>
              <a:rPr sz="1000" b="0" i="0">
                <a:solidFill>
                  <a:srgbClr val="7A92B8"/>
                </a:solidFill>
                <a:latin typeface="Calibri"/>
              </a:rPr>
              <a:t>XGBoost: penalizes complex models mathematically. L1=sparse, L2=smooth.</a:t>
            </a:r>
          </a:p>
        </p:txBody>
      </p:sp>
      <p:sp>
        <p:nvSpPr>
          <p:cNvPr id="38" name="Rectangle 37"/>
          <p:cNvSpPr/>
          <p:nvPr/>
        </p:nvSpPr>
        <p:spPr>
          <a:xfrm>
            <a:off x="4709159" y="301752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709159" y="3017520"/>
            <a:ext cx="50292" cy="89611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846320" y="3054096"/>
            <a:ext cx="3200400" cy="269304"/>
          </a:xfrm>
          <a:prstGeom prst="rect">
            <a:avLst/>
          </a:prstGeom>
          <a:noFill/>
        </p:spPr>
        <p:txBody>
          <a:bodyPr wrap="square">
            <a:spAutoFit/>
          </a:bodyPr>
          <a:lstStyle/>
          <a:p>
            <a:pPr algn="l"/>
            <a:r>
              <a:rPr sz="1150" b="1" i="0" dirty="0">
                <a:solidFill>
                  <a:srgbClr val="FFC400"/>
                </a:solidFill>
                <a:latin typeface="Calibri"/>
              </a:rPr>
              <a:t> More Training Data</a:t>
            </a:r>
          </a:p>
        </p:txBody>
      </p:sp>
      <p:sp>
        <p:nvSpPr>
          <p:cNvPr id="41" name="TextBox 40"/>
          <p:cNvSpPr txBox="1"/>
          <p:nvPr/>
        </p:nvSpPr>
        <p:spPr>
          <a:xfrm>
            <a:off x="4846320" y="3364992"/>
            <a:ext cx="1828800" cy="237744"/>
          </a:xfrm>
          <a:prstGeom prst="rect">
            <a:avLst/>
          </a:prstGeom>
          <a:noFill/>
        </p:spPr>
        <p:txBody>
          <a:bodyPr wrap="square">
            <a:spAutoFit/>
          </a:bodyPr>
          <a:lstStyle/>
          <a:p>
            <a:pPr algn="l"/>
            <a:r>
              <a:rPr sz="1000" b="0" i="0">
                <a:solidFill>
                  <a:srgbClr val="00C2CB"/>
                </a:solidFill>
                <a:latin typeface="Consolas"/>
              </a:rPr>
              <a:t>Collect more data</a:t>
            </a:r>
          </a:p>
        </p:txBody>
      </p:sp>
      <p:sp>
        <p:nvSpPr>
          <p:cNvPr id="42" name="TextBox 41"/>
          <p:cNvSpPr txBox="1"/>
          <p:nvPr/>
        </p:nvSpPr>
        <p:spPr>
          <a:xfrm>
            <a:off x="4846320" y="3611880"/>
            <a:ext cx="3886200" cy="274320"/>
          </a:xfrm>
          <a:prstGeom prst="rect">
            <a:avLst/>
          </a:prstGeom>
          <a:noFill/>
        </p:spPr>
        <p:txBody>
          <a:bodyPr wrap="square">
            <a:spAutoFit/>
          </a:bodyPr>
          <a:lstStyle/>
          <a:p>
            <a:pPr algn="l"/>
            <a:r>
              <a:rPr sz="1000" b="0" i="0">
                <a:solidFill>
                  <a:srgbClr val="7A92B8"/>
                </a:solidFill>
                <a:latin typeface="Calibri"/>
              </a:rPr>
              <a:t>More examples → harder to memorize, forces learning of real patterns.</a:t>
            </a:r>
          </a:p>
        </p:txBody>
      </p:sp>
      <p:sp>
        <p:nvSpPr>
          <p:cNvPr id="43" name="Rectangle 42"/>
          <p:cNvSpPr/>
          <p:nvPr/>
        </p:nvSpPr>
        <p:spPr>
          <a:xfrm>
            <a:off x="4709159" y="4023360"/>
            <a:ext cx="4160520" cy="896112"/>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709159" y="4023360"/>
            <a:ext cx="50292" cy="89611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846320" y="4059936"/>
            <a:ext cx="3200400" cy="269304"/>
          </a:xfrm>
          <a:prstGeom prst="rect">
            <a:avLst/>
          </a:prstGeom>
          <a:noFill/>
        </p:spPr>
        <p:txBody>
          <a:bodyPr wrap="square">
            <a:spAutoFit/>
          </a:bodyPr>
          <a:lstStyle/>
          <a:p>
            <a:pPr algn="l"/>
            <a:r>
              <a:rPr sz="1150" b="1" i="0" dirty="0">
                <a:solidFill>
                  <a:srgbClr val="FF8C00"/>
                </a:solidFill>
                <a:latin typeface="Calibri"/>
              </a:rPr>
              <a:t> Feature Selection</a:t>
            </a:r>
          </a:p>
        </p:txBody>
      </p:sp>
      <p:sp>
        <p:nvSpPr>
          <p:cNvPr id="46" name="TextBox 45"/>
          <p:cNvSpPr txBox="1"/>
          <p:nvPr/>
        </p:nvSpPr>
        <p:spPr>
          <a:xfrm>
            <a:off x="4846320" y="4370832"/>
            <a:ext cx="1828800" cy="237744"/>
          </a:xfrm>
          <a:prstGeom prst="rect">
            <a:avLst/>
          </a:prstGeom>
          <a:noFill/>
        </p:spPr>
        <p:txBody>
          <a:bodyPr wrap="square">
            <a:spAutoFit/>
          </a:bodyPr>
          <a:lstStyle/>
          <a:p>
            <a:pPr algn="l"/>
            <a:r>
              <a:rPr sz="1000" b="0" i="0">
                <a:solidFill>
                  <a:srgbClr val="00C2CB"/>
                </a:solidFill>
                <a:latin typeface="Consolas"/>
              </a:rPr>
              <a:t>Drop low importance</a:t>
            </a:r>
          </a:p>
        </p:txBody>
      </p:sp>
      <p:sp>
        <p:nvSpPr>
          <p:cNvPr id="47" name="TextBox 46"/>
          <p:cNvSpPr txBox="1"/>
          <p:nvPr/>
        </p:nvSpPr>
        <p:spPr>
          <a:xfrm>
            <a:off x="4846320" y="4617720"/>
            <a:ext cx="3886200" cy="274320"/>
          </a:xfrm>
          <a:prstGeom prst="rect">
            <a:avLst/>
          </a:prstGeom>
          <a:noFill/>
        </p:spPr>
        <p:txBody>
          <a:bodyPr wrap="square">
            <a:spAutoFit/>
          </a:bodyPr>
          <a:lstStyle/>
          <a:p>
            <a:pPr algn="l"/>
            <a:r>
              <a:rPr sz="1000" b="0" i="0">
                <a:solidFill>
                  <a:srgbClr val="7A92B8"/>
                </a:solidFill>
                <a:latin typeface="Calibri"/>
              </a:rPr>
              <a:t>Remove irrelevant features that add noise but no signal.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48</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600" b="1" i="0">
                <a:solidFill>
                  <a:srgbClr val="FFFFFF"/>
                </a:solidFill>
                <a:latin typeface="Calibri"/>
              </a:rPr>
              <a:t>Practical ML Workflow — Step by Step</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The professional workflow every data scientist follows</a:t>
            </a:r>
          </a:p>
        </p:txBody>
      </p:sp>
      <p:sp>
        <p:nvSpPr>
          <p:cNvPr id="8" name="Rectangle 7"/>
          <p:cNvSpPr/>
          <p:nvPr/>
        </p:nvSpPr>
        <p:spPr>
          <a:xfrm>
            <a:off x="274320" y="987552"/>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987552"/>
            <a:ext cx="50292" cy="120700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24128"/>
            <a:ext cx="411480" cy="475488"/>
          </a:xfrm>
          <a:prstGeom prst="rect">
            <a:avLst/>
          </a:prstGeom>
          <a:noFill/>
        </p:spPr>
        <p:txBody>
          <a:bodyPr wrap="square">
            <a:spAutoFit/>
          </a:bodyPr>
          <a:lstStyle/>
          <a:p>
            <a:pPr algn="l"/>
            <a:r>
              <a:rPr sz="2000" b="1" i="0">
                <a:solidFill>
                  <a:srgbClr val="00C2CB"/>
                </a:solidFill>
                <a:latin typeface="Calibri"/>
              </a:rPr>
              <a:t>1</a:t>
            </a:r>
          </a:p>
        </p:txBody>
      </p:sp>
      <p:sp>
        <p:nvSpPr>
          <p:cNvPr id="11" name="TextBox 10"/>
          <p:cNvSpPr txBox="1"/>
          <p:nvPr/>
        </p:nvSpPr>
        <p:spPr>
          <a:xfrm>
            <a:off x="896112" y="1060704"/>
            <a:ext cx="3383280" cy="320040"/>
          </a:xfrm>
          <a:prstGeom prst="rect">
            <a:avLst/>
          </a:prstGeom>
          <a:noFill/>
        </p:spPr>
        <p:txBody>
          <a:bodyPr wrap="square">
            <a:spAutoFit/>
          </a:bodyPr>
          <a:lstStyle/>
          <a:p>
            <a:pPr algn="l"/>
            <a:r>
              <a:rPr sz="1200" b="1" i="0">
                <a:solidFill>
                  <a:srgbClr val="FFFFFF"/>
                </a:solidFill>
                <a:latin typeface="Calibri"/>
              </a:rPr>
              <a:t>Define the Problem</a:t>
            </a:r>
          </a:p>
        </p:txBody>
      </p:sp>
      <p:sp>
        <p:nvSpPr>
          <p:cNvPr id="12" name="TextBox 11"/>
          <p:cNvSpPr txBox="1"/>
          <p:nvPr/>
        </p:nvSpPr>
        <p:spPr>
          <a:xfrm>
            <a:off x="411479" y="1499616"/>
            <a:ext cx="3886200" cy="658368"/>
          </a:xfrm>
          <a:prstGeom prst="rect">
            <a:avLst/>
          </a:prstGeom>
          <a:noFill/>
        </p:spPr>
        <p:txBody>
          <a:bodyPr wrap="square">
            <a:spAutoFit/>
          </a:bodyPr>
          <a:lstStyle/>
          <a:p>
            <a:pPr algn="l"/>
            <a:r>
              <a:rPr sz="1050" b="0" i="0">
                <a:solidFill>
                  <a:srgbClr val="7A92B8"/>
                </a:solidFill>
                <a:latin typeface="Calibri"/>
              </a:rPr>
              <a:t>What are you predicting? What metric matters? (Precision? Recall? F1?)
→ In Titanic: Binary classification. F1-Score because slightly imbalanced.</a:t>
            </a:r>
          </a:p>
        </p:txBody>
      </p:sp>
      <p:sp>
        <p:nvSpPr>
          <p:cNvPr id="13" name="Rectangle 12"/>
          <p:cNvSpPr/>
          <p:nvPr/>
        </p:nvSpPr>
        <p:spPr>
          <a:xfrm>
            <a:off x="274320" y="2340864"/>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340864"/>
            <a:ext cx="50292" cy="120700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79" y="2377440"/>
            <a:ext cx="411480" cy="475488"/>
          </a:xfrm>
          <a:prstGeom prst="rect">
            <a:avLst/>
          </a:prstGeom>
          <a:noFill/>
        </p:spPr>
        <p:txBody>
          <a:bodyPr wrap="square">
            <a:spAutoFit/>
          </a:bodyPr>
          <a:lstStyle/>
          <a:p>
            <a:pPr algn="l"/>
            <a:r>
              <a:rPr sz="2000" b="1" i="0">
                <a:solidFill>
                  <a:srgbClr val="39D353"/>
                </a:solidFill>
                <a:latin typeface="Calibri"/>
              </a:rPr>
              <a:t>2</a:t>
            </a:r>
          </a:p>
        </p:txBody>
      </p:sp>
      <p:sp>
        <p:nvSpPr>
          <p:cNvPr id="16" name="TextBox 15"/>
          <p:cNvSpPr txBox="1"/>
          <p:nvPr/>
        </p:nvSpPr>
        <p:spPr>
          <a:xfrm>
            <a:off x="896112" y="2414016"/>
            <a:ext cx="3383280" cy="320040"/>
          </a:xfrm>
          <a:prstGeom prst="rect">
            <a:avLst/>
          </a:prstGeom>
          <a:noFill/>
        </p:spPr>
        <p:txBody>
          <a:bodyPr wrap="square">
            <a:spAutoFit/>
          </a:bodyPr>
          <a:lstStyle/>
          <a:p>
            <a:pPr algn="l"/>
            <a:r>
              <a:rPr sz="1200" b="1" i="0">
                <a:solidFill>
                  <a:srgbClr val="FFFFFF"/>
                </a:solidFill>
                <a:latin typeface="Calibri"/>
              </a:rPr>
              <a:t>Prepare the Data</a:t>
            </a:r>
          </a:p>
        </p:txBody>
      </p:sp>
      <p:sp>
        <p:nvSpPr>
          <p:cNvPr id="17" name="TextBox 16"/>
          <p:cNvSpPr txBox="1"/>
          <p:nvPr/>
        </p:nvSpPr>
        <p:spPr>
          <a:xfrm>
            <a:off x="411479" y="2852928"/>
            <a:ext cx="3886200" cy="658368"/>
          </a:xfrm>
          <a:prstGeom prst="rect">
            <a:avLst/>
          </a:prstGeom>
          <a:noFill/>
        </p:spPr>
        <p:txBody>
          <a:bodyPr wrap="square">
            <a:spAutoFit/>
          </a:bodyPr>
          <a:lstStyle/>
          <a:p>
            <a:pPr algn="l"/>
            <a:r>
              <a:rPr sz="1050" b="0" i="0">
                <a:solidFill>
                  <a:srgbClr val="7A92B8"/>
                </a:solidFill>
                <a:latin typeface="Calibri"/>
              </a:rPr>
              <a:t>Clean, encode, scale, split train/test with stratify=y.
→ NEVER fit scaler on test data. No data leakage. stratify ensures balanced splits.</a:t>
            </a:r>
          </a:p>
        </p:txBody>
      </p:sp>
      <p:sp>
        <p:nvSpPr>
          <p:cNvPr id="18" name="Rectangle 17"/>
          <p:cNvSpPr/>
          <p:nvPr/>
        </p:nvSpPr>
        <p:spPr>
          <a:xfrm>
            <a:off x="274320" y="3694176"/>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3694176"/>
            <a:ext cx="50292" cy="1207008"/>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79" y="3730752"/>
            <a:ext cx="411480" cy="475488"/>
          </a:xfrm>
          <a:prstGeom prst="rect">
            <a:avLst/>
          </a:prstGeom>
          <a:noFill/>
        </p:spPr>
        <p:txBody>
          <a:bodyPr wrap="square">
            <a:spAutoFit/>
          </a:bodyPr>
          <a:lstStyle/>
          <a:p>
            <a:pPr algn="l"/>
            <a:r>
              <a:rPr sz="2000" b="1" i="0">
                <a:solidFill>
                  <a:srgbClr val="FFC400"/>
                </a:solidFill>
                <a:latin typeface="Calibri"/>
              </a:rPr>
              <a:t>3</a:t>
            </a:r>
          </a:p>
        </p:txBody>
      </p:sp>
      <p:sp>
        <p:nvSpPr>
          <p:cNvPr id="21" name="TextBox 20"/>
          <p:cNvSpPr txBox="1"/>
          <p:nvPr/>
        </p:nvSpPr>
        <p:spPr>
          <a:xfrm>
            <a:off x="896112" y="3767328"/>
            <a:ext cx="3383280" cy="320040"/>
          </a:xfrm>
          <a:prstGeom prst="rect">
            <a:avLst/>
          </a:prstGeom>
          <a:noFill/>
        </p:spPr>
        <p:txBody>
          <a:bodyPr wrap="square">
            <a:spAutoFit/>
          </a:bodyPr>
          <a:lstStyle/>
          <a:p>
            <a:pPr algn="l"/>
            <a:r>
              <a:rPr sz="1200" b="1" i="0">
                <a:solidFill>
                  <a:srgbClr val="FFFFFF"/>
                </a:solidFill>
                <a:latin typeface="Calibri"/>
              </a:rPr>
              <a:t>Build a Baseline</a:t>
            </a:r>
          </a:p>
        </p:txBody>
      </p:sp>
      <p:sp>
        <p:nvSpPr>
          <p:cNvPr id="22" name="TextBox 21"/>
          <p:cNvSpPr txBox="1"/>
          <p:nvPr/>
        </p:nvSpPr>
        <p:spPr>
          <a:xfrm>
            <a:off x="411479" y="4206240"/>
            <a:ext cx="3886200" cy="658368"/>
          </a:xfrm>
          <a:prstGeom prst="rect">
            <a:avLst/>
          </a:prstGeom>
          <a:noFill/>
        </p:spPr>
        <p:txBody>
          <a:bodyPr wrap="square">
            <a:spAutoFit/>
          </a:bodyPr>
          <a:lstStyle/>
          <a:p>
            <a:pPr algn="l"/>
            <a:r>
              <a:rPr sz="1050" b="0" i="0">
                <a:solidFill>
                  <a:srgbClr val="7A92B8"/>
                </a:solidFill>
                <a:latin typeface="Calibri"/>
              </a:rPr>
              <a:t>Train the simplest possible model first (Decision Tree, KNN).
→ Gives you a performance floor. Everything else should beat this.</a:t>
            </a:r>
          </a:p>
        </p:txBody>
      </p:sp>
      <p:sp>
        <p:nvSpPr>
          <p:cNvPr id="23" name="Rectangle 22"/>
          <p:cNvSpPr/>
          <p:nvPr/>
        </p:nvSpPr>
        <p:spPr>
          <a:xfrm>
            <a:off x="4736592" y="987552"/>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736592" y="987552"/>
            <a:ext cx="50292" cy="1207008"/>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73752" y="1024128"/>
            <a:ext cx="411480" cy="475488"/>
          </a:xfrm>
          <a:prstGeom prst="rect">
            <a:avLst/>
          </a:prstGeom>
          <a:noFill/>
        </p:spPr>
        <p:txBody>
          <a:bodyPr wrap="square">
            <a:spAutoFit/>
          </a:bodyPr>
          <a:lstStyle/>
          <a:p>
            <a:pPr algn="l"/>
            <a:r>
              <a:rPr sz="2000" b="1" i="0">
                <a:solidFill>
                  <a:srgbClr val="FF4D88"/>
                </a:solidFill>
                <a:latin typeface="Calibri"/>
              </a:rPr>
              <a:t>4</a:t>
            </a:r>
          </a:p>
        </p:txBody>
      </p:sp>
      <p:sp>
        <p:nvSpPr>
          <p:cNvPr id="26" name="TextBox 25"/>
          <p:cNvSpPr txBox="1"/>
          <p:nvPr/>
        </p:nvSpPr>
        <p:spPr>
          <a:xfrm>
            <a:off x="5358383" y="1060704"/>
            <a:ext cx="3383280" cy="320040"/>
          </a:xfrm>
          <a:prstGeom prst="rect">
            <a:avLst/>
          </a:prstGeom>
          <a:noFill/>
        </p:spPr>
        <p:txBody>
          <a:bodyPr wrap="square">
            <a:spAutoFit/>
          </a:bodyPr>
          <a:lstStyle/>
          <a:p>
            <a:pPr algn="l"/>
            <a:r>
              <a:rPr sz="1200" b="1" i="0">
                <a:solidFill>
                  <a:srgbClr val="FFFFFF"/>
                </a:solidFill>
                <a:latin typeface="Calibri"/>
              </a:rPr>
              <a:t>Try Ensemble Methods</a:t>
            </a:r>
          </a:p>
        </p:txBody>
      </p:sp>
      <p:sp>
        <p:nvSpPr>
          <p:cNvPr id="27" name="TextBox 26"/>
          <p:cNvSpPr txBox="1"/>
          <p:nvPr/>
        </p:nvSpPr>
        <p:spPr>
          <a:xfrm>
            <a:off x="4873752" y="1499616"/>
            <a:ext cx="3886200" cy="658368"/>
          </a:xfrm>
          <a:prstGeom prst="rect">
            <a:avLst/>
          </a:prstGeom>
          <a:noFill/>
        </p:spPr>
        <p:txBody>
          <a:bodyPr wrap="square">
            <a:spAutoFit/>
          </a:bodyPr>
          <a:lstStyle/>
          <a:p>
            <a:pPr algn="l"/>
            <a:r>
              <a:rPr sz="1050" b="0" i="0">
                <a:solidFill>
                  <a:srgbClr val="7A92B8"/>
                </a:solidFill>
                <a:latin typeface="Calibri"/>
              </a:rPr>
              <a:t>Random Forest → Quick, reliable, interpretable feature importance.
→ Usually 3-5% accuracy improvement over single tree with minimal tuning.</a:t>
            </a:r>
          </a:p>
        </p:txBody>
      </p:sp>
      <p:sp>
        <p:nvSpPr>
          <p:cNvPr id="28" name="Rectangle 27"/>
          <p:cNvSpPr/>
          <p:nvPr/>
        </p:nvSpPr>
        <p:spPr>
          <a:xfrm>
            <a:off x="4736592" y="2340864"/>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36592" y="2340864"/>
            <a:ext cx="50292" cy="120700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73752" y="2377440"/>
            <a:ext cx="411480" cy="475488"/>
          </a:xfrm>
          <a:prstGeom prst="rect">
            <a:avLst/>
          </a:prstGeom>
          <a:noFill/>
        </p:spPr>
        <p:txBody>
          <a:bodyPr wrap="square">
            <a:spAutoFit/>
          </a:bodyPr>
          <a:lstStyle/>
          <a:p>
            <a:pPr algn="l"/>
            <a:r>
              <a:rPr sz="2000" b="1" i="0">
                <a:solidFill>
                  <a:srgbClr val="00C2CB"/>
                </a:solidFill>
                <a:latin typeface="Calibri"/>
              </a:rPr>
              <a:t>5</a:t>
            </a:r>
          </a:p>
        </p:txBody>
      </p:sp>
      <p:sp>
        <p:nvSpPr>
          <p:cNvPr id="31" name="TextBox 30"/>
          <p:cNvSpPr txBox="1"/>
          <p:nvPr/>
        </p:nvSpPr>
        <p:spPr>
          <a:xfrm>
            <a:off x="5358383" y="2414016"/>
            <a:ext cx="3383280" cy="320040"/>
          </a:xfrm>
          <a:prstGeom prst="rect">
            <a:avLst/>
          </a:prstGeom>
          <a:noFill/>
        </p:spPr>
        <p:txBody>
          <a:bodyPr wrap="square">
            <a:spAutoFit/>
          </a:bodyPr>
          <a:lstStyle/>
          <a:p>
            <a:pPr algn="l"/>
            <a:r>
              <a:rPr sz="1200" b="1" i="0">
                <a:solidFill>
                  <a:srgbClr val="FFFFFF"/>
                </a:solidFill>
                <a:latin typeface="Calibri"/>
              </a:rPr>
              <a:t>Optimize with XGBoost</a:t>
            </a:r>
          </a:p>
        </p:txBody>
      </p:sp>
      <p:sp>
        <p:nvSpPr>
          <p:cNvPr id="32" name="TextBox 31"/>
          <p:cNvSpPr txBox="1"/>
          <p:nvPr/>
        </p:nvSpPr>
        <p:spPr>
          <a:xfrm>
            <a:off x="4873752" y="2852928"/>
            <a:ext cx="3886200" cy="658368"/>
          </a:xfrm>
          <a:prstGeom prst="rect">
            <a:avLst/>
          </a:prstGeom>
          <a:noFill/>
        </p:spPr>
        <p:txBody>
          <a:bodyPr wrap="square">
            <a:spAutoFit/>
          </a:bodyPr>
          <a:lstStyle/>
          <a:p>
            <a:pPr algn="l"/>
            <a:r>
              <a:rPr sz="1050" b="0" i="0">
                <a:solidFill>
                  <a:srgbClr val="7A92B8"/>
                </a:solidFill>
                <a:latin typeface="Calibri"/>
              </a:rPr>
              <a:t>Tune learning_rate, n_estimators, max_depth. Use cross-validation.
→ GridSearchCV automates hyperparameter search across all combinations.</a:t>
            </a:r>
          </a:p>
        </p:txBody>
      </p:sp>
      <p:sp>
        <p:nvSpPr>
          <p:cNvPr id="33" name="Rectangle 32"/>
          <p:cNvSpPr/>
          <p:nvPr/>
        </p:nvSpPr>
        <p:spPr>
          <a:xfrm>
            <a:off x="4736592" y="3694176"/>
            <a:ext cx="4160520" cy="1207008"/>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736592" y="3694176"/>
            <a:ext cx="50292" cy="120700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73752" y="3730752"/>
            <a:ext cx="411480" cy="475488"/>
          </a:xfrm>
          <a:prstGeom prst="rect">
            <a:avLst/>
          </a:prstGeom>
          <a:noFill/>
        </p:spPr>
        <p:txBody>
          <a:bodyPr wrap="square">
            <a:spAutoFit/>
          </a:bodyPr>
          <a:lstStyle/>
          <a:p>
            <a:pPr algn="l"/>
            <a:r>
              <a:rPr sz="2000" b="1" i="0">
                <a:solidFill>
                  <a:srgbClr val="39D353"/>
                </a:solidFill>
                <a:latin typeface="Calibri"/>
              </a:rPr>
              <a:t>6</a:t>
            </a:r>
          </a:p>
        </p:txBody>
      </p:sp>
      <p:sp>
        <p:nvSpPr>
          <p:cNvPr id="36" name="TextBox 35"/>
          <p:cNvSpPr txBox="1"/>
          <p:nvPr/>
        </p:nvSpPr>
        <p:spPr>
          <a:xfrm>
            <a:off x="5358383" y="3767328"/>
            <a:ext cx="3383280" cy="320040"/>
          </a:xfrm>
          <a:prstGeom prst="rect">
            <a:avLst/>
          </a:prstGeom>
          <a:noFill/>
        </p:spPr>
        <p:txBody>
          <a:bodyPr wrap="square">
            <a:spAutoFit/>
          </a:bodyPr>
          <a:lstStyle/>
          <a:p>
            <a:pPr algn="l"/>
            <a:r>
              <a:rPr sz="1200" b="1" i="0">
                <a:solidFill>
                  <a:srgbClr val="FFFFFF"/>
                </a:solidFill>
                <a:latin typeface="Calibri"/>
              </a:rPr>
              <a:t>Evaluate &amp; Compare</a:t>
            </a:r>
          </a:p>
        </p:txBody>
      </p:sp>
      <p:sp>
        <p:nvSpPr>
          <p:cNvPr id="37" name="TextBox 36"/>
          <p:cNvSpPr txBox="1"/>
          <p:nvPr/>
        </p:nvSpPr>
        <p:spPr>
          <a:xfrm>
            <a:off x="4873752" y="4206240"/>
            <a:ext cx="3886200" cy="658368"/>
          </a:xfrm>
          <a:prstGeom prst="rect">
            <a:avLst/>
          </a:prstGeom>
          <a:noFill/>
        </p:spPr>
        <p:txBody>
          <a:bodyPr wrap="square">
            <a:spAutoFit/>
          </a:bodyPr>
          <a:lstStyle/>
          <a:p>
            <a:pPr algn="l"/>
            <a:r>
              <a:rPr sz="1050" b="0" i="0">
                <a:solidFill>
                  <a:srgbClr val="7A92B8"/>
                </a:solidFill>
                <a:latin typeface="Calibri"/>
              </a:rPr>
              <a:t>Use classification_report + confusion matrix for ALL models.
→ Compare F1-Scores. Pick winner. Analyze where it fails (FN vs FP).</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4008" cy="514350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4828032"/>
            <a:ext cx="365760" cy="246888"/>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32520" y="4809744"/>
            <a:ext cx="365760" cy="274320"/>
          </a:xfrm>
          <a:prstGeom prst="rect">
            <a:avLst/>
          </a:prstGeom>
          <a:noFill/>
        </p:spPr>
        <p:txBody>
          <a:bodyPr wrap="square">
            <a:spAutoFit/>
          </a:bodyPr>
          <a:lstStyle/>
          <a:p>
            <a:pPr algn="ctr"/>
            <a:r>
              <a:rPr sz="900" b="1" i="0">
                <a:solidFill>
                  <a:srgbClr val="FFFFFF"/>
                </a:solidFill>
                <a:latin typeface="Calibri"/>
              </a:rPr>
              <a:t>49</a:t>
            </a:r>
          </a:p>
        </p:txBody>
      </p:sp>
      <p:sp>
        <p:nvSpPr>
          <p:cNvPr id="6" name="TextBox 5"/>
          <p:cNvSpPr txBox="1"/>
          <p:nvPr/>
        </p:nvSpPr>
        <p:spPr>
          <a:xfrm>
            <a:off x="274320" y="164592"/>
            <a:ext cx="8503920" cy="457200"/>
          </a:xfrm>
          <a:prstGeom prst="rect">
            <a:avLst/>
          </a:prstGeom>
          <a:noFill/>
        </p:spPr>
        <p:txBody>
          <a:bodyPr wrap="square">
            <a:spAutoFit/>
          </a:bodyPr>
          <a:lstStyle/>
          <a:p>
            <a:pPr algn="l"/>
            <a:r>
              <a:rPr sz="2800" b="1" i="0">
                <a:solidFill>
                  <a:srgbClr val="FFFFFF"/>
                </a:solidFill>
                <a:latin typeface="Calibri"/>
              </a:rPr>
              <a:t>Common Mistakes — Avoid These!</a:t>
            </a:r>
          </a:p>
        </p:txBody>
      </p:sp>
      <p:sp>
        <p:nvSpPr>
          <p:cNvPr id="7" name="TextBox 6"/>
          <p:cNvSpPr txBox="1"/>
          <p:nvPr/>
        </p:nvSpPr>
        <p:spPr>
          <a:xfrm>
            <a:off x="274320" y="621792"/>
            <a:ext cx="8229600" cy="274320"/>
          </a:xfrm>
          <a:prstGeom prst="rect">
            <a:avLst/>
          </a:prstGeom>
          <a:noFill/>
        </p:spPr>
        <p:txBody>
          <a:bodyPr wrap="square">
            <a:spAutoFit/>
          </a:bodyPr>
          <a:lstStyle/>
          <a:p>
            <a:pPr algn="l"/>
            <a:r>
              <a:rPr sz="1100" b="0" i="0">
                <a:solidFill>
                  <a:srgbClr val="7A92B8"/>
                </a:solidFill>
                <a:latin typeface="Calibri"/>
              </a:rPr>
              <a:t>Every beginner makes these — now you know better</a:t>
            </a:r>
          </a:p>
        </p:txBody>
      </p:sp>
      <p:sp>
        <p:nvSpPr>
          <p:cNvPr id="8" name="Rectangle 7"/>
          <p:cNvSpPr/>
          <p:nvPr/>
        </p:nvSpPr>
        <p:spPr>
          <a:xfrm>
            <a:off x="274320" y="100584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05840"/>
            <a:ext cx="50292" cy="118872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1042416"/>
            <a:ext cx="3931920" cy="292608"/>
          </a:xfrm>
          <a:prstGeom prst="rect">
            <a:avLst/>
          </a:prstGeom>
          <a:noFill/>
        </p:spPr>
        <p:txBody>
          <a:bodyPr wrap="square">
            <a:spAutoFit/>
          </a:bodyPr>
          <a:lstStyle/>
          <a:p>
            <a:pPr algn="l"/>
            <a:r>
              <a:rPr sz="1150" b="1" i="0">
                <a:solidFill>
                  <a:srgbClr val="FF4B4B"/>
                </a:solidFill>
                <a:latin typeface="Calibri"/>
              </a:rPr>
              <a:t>❌  Fitting scaler on all data</a:t>
            </a:r>
          </a:p>
        </p:txBody>
      </p:sp>
      <p:sp>
        <p:nvSpPr>
          <p:cNvPr id="11" name="TextBox 10"/>
          <p:cNvSpPr txBox="1"/>
          <p:nvPr/>
        </p:nvSpPr>
        <p:spPr>
          <a:xfrm>
            <a:off x="411479" y="1389888"/>
            <a:ext cx="3931920" cy="749808"/>
          </a:xfrm>
          <a:prstGeom prst="rect">
            <a:avLst/>
          </a:prstGeom>
          <a:noFill/>
        </p:spPr>
        <p:txBody>
          <a:bodyPr wrap="square">
            <a:spAutoFit/>
          </a:bodyPr>
          <a:lstStyle/>
          <a:p>
            <a:pPr algn="l"/>
            <a:r>
              <a:rPr sz="1050" b="0" i="0">
                <a:solidFill>
                  <a:srgbClr val="FFFFFF"/>
                </a:solidFill>
                <a:latin typeface="Calibri"/>
              </a:rPr>
              <a:t>scaler.fit_transform(X)  THEN  split → test data leaks into training!
Fix: Split FIRST, then fit scaler on X_train only → scaler.fit_transform(X_train) + .transform(X_test)</a:t>
            </a:r>
          </a:p>
        </p:txBody>
      </p:sp>
      <p:sp>
        <p:nvSpPr>
          <p:cNvPr id="12" name="Rectangle 11"/>
          <p:cNvSpPr/>
          <p:nvPr/>
        </p:nvSpPr>
        <p:spPr>
          <a:xfrm>
            <a:off x="274320" y="233172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2331720"/>
            <a:ext cx="50292" cy="1188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79" y="2368296"/>
            <a:ext cx="3931920" cy="292608"/>
          </a:xfrm>
          <a:prstGeom prst="rect">
            <a:avLst/>
          </a:prstGeom>
          <a:noFill/>
        </p:spPr>
        <p:txBody>
          <a:bodyPr wrap="square">
            <a:spAutoFit/>
          </a:bodyPr>
          <a:lstStyle/>
          <a:p>
            <a:pPr algn="l"/>
            <a:r>
              <a:rPr sz="1150" b="1" i="0">
                <a:solidFill>
                  <a:srgbClr val="FF8C00"/>
                </a:solidFill>
                <a:latin typeface="Calibri"/>
              </a:rPr>
              <a:t>❌  No stratify in train_test_split</a:t>
            </a:r>
          </a:p>
        </p:txBody>
      </p:sp>
      <p:sp>
        <p:nvSpPr>
          <p:cNvPr id="15" name="TextBox 14"/>
          <p:cNvSpPr txBox="1"/>
          <p:nvPr/>
        </p:nvSpPr>
        <p:spPr>
          <a:xfrm>
            <a:off x="411479" y="2715768"/>
            <a:ext cx="3931920" cy="749808"/>
          </a:xfrm>
          <a:prstGeom prst="rect">
            <a:avLst/>
          </a:prstGeom>
          <a:noFill/>
        </p:spPr>
        <p:txBody>
          <a:bodyPr wrap="square">
            <a:spAutoFit/>
          </a:bodyPr>
          <a:lstStyle/>
          <a:p>
            <a:pPr algn="l"/>
            <a:r>
              <a:rPr sz="1050" b="0" i="0">
                <a:solidFill>
                  <a:srgbClr val="FFFFFF"/>
                </a:solidFill>
                <a:latin typeface="Calibri"/>
              </a:rPr>
              <a:t>Without stratify=y, your test set might have a very different class ratio than training.
Fix: Always use train_test_split(X, y, stratify=y) for classification problems.</a:t>
            </a:r>
          </a:p>
        </p:txBody>
      </p:sp>
      <p:sp>
        <p:nvSpPr>
          <p:cNvPr id="16" name="Rectangle 15"/>
          <p:cNvSpPr/>
          <p:nvPr/>
        </p:nvSpPr>
        <p:spPr>
          <a:xfrm>
            <a:off x="274320" y="365760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3657600"/>
            <a:ext cx="50292" cy="118872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79" y="3694176"/>
            <a:ext cx="3931920" cy="292608"/>
          </a:xfrm>
          <a:prstGeom prst="rect">
            <a:avLst/>
          </a:prstGeom>
          <a:noFill/>
        </p:spPr>
        <p:txBody>
          <a:bodyPr wrap="square">
            <a:spAutoFit/>
          </a:bodyPr>
          <a:lstStyle/>
          <a:p>
            <a:pPr algn="l"/>
            <a:r>
              <a:rPr sz="1150" b="1" i="0">
                <a:solidFill>
                  <a:srgbClr val="FF4B4B"/>
                </a:solidFill>
                <a:latin typeface="Calibri"/>
              </a:rPr>
              <a:t>❌  Using accuracy on imbalanced data</a:t>
            </a:r>
          </a:p>
        </p:txBody>
      </p:sp>
      <p:sp>
        <p:nvSpPr>
          <p:cNvPr id="19" name="TextBox 18"/>
          <p:cNvSpPr txBox="1"/>
          <p:nvPr/>
        </p:nvSpPr>
        <p:spPr>
          <a:xfrm>
            <a:off x="411479" y="4041648"/>
            <a:ext cx="3931920" cy="749808"/>
          </a:xfrm>
          <a:prstGeom prst="rect">
            <a:avLst/>
          </a:prstGeom>
          <a:noFill/>
        </p:spPr>
        <p:txBody>
          <a:bodyPr wrap="square">
            <a:spAutoFit/>
          </a:bodyPr>
          <a:lstStyle/>
          <a:p>
            <a:pPr algn="l"/>
            <a:r>
              <a:rPr sz="1050" b="0" i="0">
                <a:solidFill>
                  <a:srgbClr val="FFFFFF"/>
                </a:solidFill>
                <a:latin typeface="Calibri"/>
              </a:rPr>
              <a:t>If 95% of passengers didn't survive, accuracy of 95% is trivial (predict all '0').
Fix: Use F1-Score, Precision, Recall. Check confusion matrix for full picture.</a:t>
            </a:r>
          </a:p>
        </p:txBody>
      </p:sp>
      <p:sp>
        <p:nvSpPr>
          <p:cNvPr id="20" name="Rectangle 19"/>
          <p:cNvSpPr/>
          <p:nvPr/>
        </p:nvSpPr>
        <p:spPr>
          <a:xfrm>
            <a:off x="4736592" y="100584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36592" y="1005840"/>
            <a:ext cx="50292" cy="1188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73752" y="1042416"/>
            <a:ext cx="3931920" cy="292608"/>
          </a:xfrm>
          <a:prstGeom prst="rect">
            <a:avLst/>
          </a:prstGeom>
          <a:noFill/>
        </p:spPr>
        <p:txBody>
          <a:bodyPr wrap="square">
            <a:spAutoFit/>
          </a:bodyPr>
          <a:lstStyle/>
          <a:p>
            <a:pPr algn="l"/>
            <a:r>
              <a:rPr sz="1150" b="1" i="0">
                <a:solidFill>
                  <a:srgbClr val="FF8C00"/>
                </a:solidFill>
                <a:latin typeface="Calibri"/>
              </a:rPr>
              <a:t>❌  Not setting random_state</a:t>
            </a:r>
          </a:p>
        </p:txBody>
      </p:sp>
      <p:sp>
        <p:nvSpPr>
          <p:cNvPr id="23" name="TextBox 22"/>
          <p:cNvSpPr txBox="1"/>
          <p:nvPr/>
        </p:nvSpPr>
        <p:spPr>
          <a:xfrm>
            <a:off x="4873752" y="1389888"/>
            <a:ext cx="3931920" cy="749808"/>
          </a:xfrm>
          <a:prstGeom prst="rect">
            <a:avLst/>
          </a:prstGeom>
          <a:noFill/>
        </p:spPr>
        <p:txBody>
          <a:bodyPr wrap="square">
            <a:spAutoFit/>
          </a:bodyPr>
          <a:lstStyle/>
          <a:p>
            <a:pPr algn="l"/>
            <a:r>
              <a:rPr sz="1050" b="0" i="0">
                <a:solidFill>
                  <a:srgbClr val="FFFFFF"/>
                </a:solidFill>
                <a:latin typeface="Calibri"/>
              </a:rPr>
              <a:t>Results change every run → impossible to debug or compare models reliably.
Fix: Always set random_state=42 on every model, split, and sampling operation.</a:t>
            </a:r>
          </a:p>
        </p:txBody>
      </p:sp>
      <p:sp>
        <p:nvSpPr>
          <p:cNvPr id="24" name="Rectangle 23"/>
          <p:cNvSpPr/>
          <p:nvPr/>
        </p:nvSpPr>
        <p:spPr>
          <a:xfrm>
            <a:off x="4736592" y="233172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736592" y="2331720"/>
            <a:ext cx="50292" cy="118872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73752" y="2368296"/>
            <a:ext cx="3931920" cy="292608"/>
          </a:xfrm>
          <a:prstGeom prst="rect">
            <a:avLst/>
          </a:prstGeom>
          <a:noFill/>
        </p:spPr>
        <p:txBody>
          <a:bodyPr wrap="square">
            <a:spAutoFit/>
          </a:bodyPr>
          <a:lstStyle/>
          <a:p>
            <a:pPr algn="l"/>
            <a:r>
              <a:rPr sz="1150" b="1" i="0">
                <a:solidFill>
                  <a:srgbClr val="FF4B4B"/>
                </a:solidFill>
                <a:latin typeface="Calibri"/>
              </a:rPr>
              <a:t>❌  Unlimited tree depth</a:t>
            </a:r>
          </a:p>
        </p:txBody>
      </p:sp>
      <p:sp>
        <p:nvSpPr>
          <p:cNvPr id="27" name="TextBox 26"/>
          <p:cNvSpPr txBox="1"/>
          <p:nvPr/>
        </p:nvSpPr>
        <p:spPr>
          <a:xfrm>
            <a:off x="4873752" y="2715768"/>
            <a:ext cx="3931920" cy="749808"/>
          </a:xfrm>
          <a:prstGeom prst="rect">
            <a:avLst/>
          </a:prstGeom>
          <a:noFill/>
        </p:spPr>
        <p:txBody>
          <a:bodyPr wrap="square">
            <a:spAutoFit/>
          </a:bodyPr>
          <a:lstStyle/>
          <a:p>
            <a:pPr algn="l"/>
            <a:r>
              <a:rPr sz="1050" b="0" i="0">
                <a:solidFill>
                  <a:srgbClr val="FFFFFF"/>
                </a:solidFill>
                <a:latin typeface="Calibri"/>
              </a:rPr>
              <a:t>DecisionTreeClassifier() with no max_depth = 100% train accuracy, poor test accuracy.
Fix: Always set max_depth=4-6 and min_samples_leaf=10 for Titanic-sized datasets.</a:t>
            </a:r>
          </a:p>
        </p:txBody>
      </p:sp>
      <p:sp>
        <p:nvSpPr>
          <p:cNvPr id="28" name="Rectangle 27"/>
          <p:cNvSpPr/>
          <p:nvPr/>
        </p:nvSpPr>
        <p:spPr>
          <a:xfrm>
            <a:off x="4736592" y="3657600"/>
            <a:ext cx="4160520" cy="118872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736592" y="3657600"/>
            <a:ext cx="50292" cy="11887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73752" y="3694176"/>
            <a:ext cx="3931920" cy="292608"/>
          </a:xfrm>
          <a:prstGeom prst="rect">
            <a:avLst/>
          </a:prstGeom>
          <a:noFill/>
        </p:spPr>
        <p:txBody>
          <a:bodyPr wrap="square">
            <a:spAutoFit/>
          </a:bodyPr>
          <a:lstStyle/>
          <a:p>
            <a:pPr algn="l"/>
            <a:r>
              <a:rPr sz="1150" b="1" i="0">
                <a:solidFill>
                  <a:srgbClr val="FF8C00"/>
                </a:solidFill>
                <a:latin typeface="Calibri"/>
              </a:rPr>
              <a:t>❌  Comparing models on training data</a:t>
            </a:r>
          </a:p>
        </p:txBody>
      </p:sp>
      <p:sp>
        <p:nvSpPr>
          <p:cNvPr id="31" name="TextBox 30"/>
          <p:cNvSpPr txBox="1"/>
          <p:nvPr/>
        </p:nvSpPr>
        <p:spPr>
          <a:xfrm>
            <a:off x="4873752" y="4041648"/>
            <a:ext cx="3931920" cy="749808"/>
          </a:xfrm>
          <a:prstGeom prst="rect">
            <a:avLst/>
          </a:prstGeom>
          <a:noFill/>
        </p:spPr>
        <p:txBody>
          <a:bodyPr wrap="square">
            <a:spAutoFit/>
          </a:bodyPr>
          <a:lstStyle/>
          <a:p>
            <a:pPr algn="l"/>
            <a:r>
              <a:rPr sz="1050" b="0" i="0">
                <a:solidFill>
                  <a:srgbClr val="FFFFFF"/>
                </a:solidFill>
                <a:latin typeface="Calibri"/>
              </a:rPr>
              <a:t>A model with 99% TRAINING accuracy might have 70% TEST accuracy.
Fix: ALWAYS compare models using their performance on the TEST set (unseen data).</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514350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303520" y="0"/>
            <a:ext cx="3840480" cy="5143500"/>
          </a:xfrm>
          <a:prstGeom prst="rect">
            <a:avLst/>
          </a:prstGeom>
          <a:solidFill>
            <a:srgbClr val="18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823960" y="0"/>
            <a:ext cx="320040" cy="514350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60720" y="365760"/>
            <a:ext cx="411480" cy="41148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0" y="731520"/>
            <a:ext cx="274320" cy="274320"/>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0" y="274320"/>
            <a:ext cx="320040" cy="32004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17920" y="1645920"/>
            <a:ext cx="347472" cy="347472"/>
          </a:xfrm>
          <a:prstGeom prst="rect">
            <a:avLst/>
          </a:prstGeom>
          <a:solidFill>
            <a:srgbClr val="FF4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40880" y="2286000"/>
            <a:ext cx="256032" cy="2560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371600"/>
            <a:ext cx="292608" cy="292608"/>
          </a:xfrm>
          <a:prstGeom prst="rect">
            <a:avLst/>
          </a:prstGeom>
          <a:solidFill>
            <a:srgbClr val="39D3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1005840"/>
            <a:ext cx="4754880" cy="1097280"/>
          </a:xfrm>
          <a:prstGeom prst="rect">
            <a:avLst/>
          </a:prstGeom>
          <a:noFill/>
        </p:spPr>
        <p:txBody>
          <a:bodyPr wrap="square">
            <a:spAutoFit/>
          </a:bodyPr>
          <a:lstStyle/>
          <a:p>
            <a:pPr algn="l"/>
            <a:r>
              <a:rPr sz="5400" b="1" i="0">
                <a:solidFill>
                  <a:srgbClr val="FFFFFF"/>
                </a:solidFill>
                <a:latin typeface="Arial Black"/>
              </a:rPr>
              <a:t>THANK YOU</a:t>
            </a:r>
          </a:p>
        </p:txBody>
      </p:sp>
      <p:sp>
        <p:nvSpPr>
          <p:cNvPr id="13" name="TextBox 12"/>
          <p:cNvSpPr txBox="1"/>
          <p:nvPr/>
        </p:nvSpPr>
        <p:spPr>
          <a:xfrm>
            <a:off x="411480" y="2729661"/>
            <a:ext cx="4754880" cy="457200"/>
          </a:xfrm>
          <a:prstGeom prst="rect">
            <a:avLst/>
          </a:prstGeom>
          <a:noFill/>
        </p:spPr>
        <p:txBody>
          <a:bodyPr wrap="square">
            <a:spAutoFit/>
          </a:bodyPr>
          <a:lstStyle/>
          <a:p>
            <a:pPr algn="l"/>
            <a:r>
              <a:rPr sz="1300" b="1" i="0" dirty="0">
                <a:solidFill>
                  <a:srgbClr val="7A92B8"/>
                </a:solidFill>
                <a:latin typeface="Arial"/>
              </a:rPr>
              <a:t>FOR YOUR ATTENTION</a:t>
            </a:r>
          </a:p>
        </p:txBody>
      </p:sp>
      <p:sp>
        <p:nvSpPr>
          <p:cNvPr id="14" name="Rectangle 13"/>
          <p:cNvSpPr/>
          <p:nvPr/>
        </p:nvSpPr>
        <p:spPr>
          <a:xfrm>
            <a:off x="411480" y="2640330"/>
            <a:ext cx="3657600" cy="45720"/>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1872</TotalTime>
  <Words>6627</Words>
  <Application>Microsoft Office PowerPoint</Application>
  <PresentationFormat>On-screen Show (16:9)</PresentationFormat>
  <Paragraphs>1009</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ahmed mansouri</cp:lastModifiedBy>
  <cp:revision>8</cp:revision>
  <dcterms:created xsi:type="dcterms:W3CDTF">2013-01-27T09:14:16Z</dcterms:created>
  <dcterms:modified xsi:type="dcterms:W3CDTF">2026-03-28T16:01:55Z</dcterms:modified>
  <cp:category/>
</cp:coreProperties>
</file>
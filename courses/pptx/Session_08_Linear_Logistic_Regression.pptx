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72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12030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3291840" cy="32918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926080"/>
            <a:ext cx="1828800" cy="1828800"/>
          </a:xfrm>
          <a:prstGeom prst="ellipse">
            <a:avLst/>
          </a:prstGeom>
          <a:solidFill>
            <a:srgbClr val="0A182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20040"/>
            <a:ext cx="182880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line-fitting to classification — the math, the intuition, and the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Mansouri Ahmed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·  Cost Function  ·  Gradient Descent  ·  Classification  ·  Sigmoid  ·  Cross-Entropy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Recap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 Classification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61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8013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· Residuals · MSE · Gradient Descent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31720"/>
            <a:ext cx="64008" cy="10972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41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2807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815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implementation &amp; example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31720"/>
            <a:ext cx="64008" cy="109728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41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2807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0815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· Softmax · Decision boundary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21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4087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361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· Binary Cross-Entropy · Categorical Cross-Entropy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097280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400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21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37760" y="4087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Python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361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example &amp;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Quick Recap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3474720"/>
          </a:xfrm>
          <a:prstGeom prst="rect">
            <a:avLst/>
          </a:prstGeom>
          <a:solidFill>
            <a:srgbClr val="0A1828"/>
          </a:solidFill>
          <a:ln w="2540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price: $350,000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revenue: $200M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tomorrow: 32°C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862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Continuous (any real number)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session: predict house prices, movie box office revenue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60520" cy="3474720"/>
          </a:xfrm>
          <a:prstGeom prst="rect">
            <a:avLst/>
          </a:prstGeom>
          <a:solidFill>
            <a:srgbClr val="0A1828"/>
          </a:solidFill>
          <a:ln w="2540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60520" cy="4572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Spam / Not Spam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Tumor: Malignant / Benign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Digit: 0, 1, 2 … 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926080"/>
            <a:ext cx="3886200" cy="3657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17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Discrete category (class label)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session: spam detection, disease diagnosis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1220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1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2004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best straight line through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Mansouri Ahmed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Linear Regression?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continuous output from one or more input features using a linear equation.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solidFill>
            <a:srgbClr val="0A182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106984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bigger houses cost more. You draw a straight line through a scatter plot of (size → price). That line IS your linear regression model — it lets you predict any house price from its size.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697480" cy="2468880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64008" cy="2468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(Feature) 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we know.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movie budget, house size, study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697480" cy="2468880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83080"/>
            <a:ext cx="64008" cy="2468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(Label) 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we want to predict.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box office revenue, house price, exam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783080"/>
            <a:ext cx="2697480" cy="2468880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783080"/>
            <a:ext cx="64008" cy="24688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y = β₀ + β₁x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that best passes through all the data points. β₀ is where it starts (intercept), β₁ is the slope.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389120"/>
            <a:ext cx="8503920" cy="475488"/>
          </a:xfrm>
          <a:prstGeom prst="rect">
            <a:avLst/>
          </a:prstGeom>
          <a:solidFill>
            <a:srgbClr val="101E0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we'll use throughout: Predict Box Office Revenue (y) from Movie Budget (x)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Regression Equation — Step by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1005840"/>
          </a:xfrm>
          <a:prstGeom prst="rect">
            <a:avLst/>
          </a:prstGeom>
          <a:solidFill>
            <a:srgbClr val="060E18"/>
          </a:solidFill>
          <a:ln w="317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 =  θ₀  +  θ₁x₁  +  θ₂x₂  +  ···  +  θₙxₙ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(one feature): ŷ = β₀ + β₁ · 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95728"/>
            <a:ext cx="4206240" cy="1078992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95728"/>
            <a:ext cx="64008" cy="107899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9864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output — estimated revenue, price, etc. (NOT the true value!)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395728"/>
            <a:ext cx="4206240" cy="1078992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95728"/>
            <a:ext cx="64008" cy="10789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87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(θ₀)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/ Intercept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9864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ŷ when x=0. Like the baseline — where the line crosses the y-axis.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4206240" cy="1078992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8444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75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(θ₁)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675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/ Slope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ŷ changes when x increases by 1 unit. Positive → up, Negative → down.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584448"/>
            <a:ext cx="4206240" cy="1078992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84448"/>
            <a:ext cx="64008" cy="107899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75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9320" y="3675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Input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08736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data we feed in. E.g., movie budget in millions of dollars.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Movie Budget → Box Office Revenue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572000" cy="3474720"/>
          </a:xfrm>
          <a:prstGeom prst="rect">
            <a:avLst/>
          </a:prstGeom>
          <a:solidFill>
            <a:srgbClr val="060E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2743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114800"/>
            <a:ext cx="3931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178308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 Revenue ($M)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4233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Budget ($M)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18488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68296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18104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67912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4780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2920" y="1728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2104" y="3760646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" y="3505669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72184" y="3607660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85544" y="3250692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5584" y="3097706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2264" y="3301687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5624" y="2791734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8984" y="2944720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2344" y="2485761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9064" y="2281780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5784" y="2587752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9144" y="1873817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32504" y="1669835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2544" y="2026803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72584" y="1465854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529862"/>
            <a:ext cx="384048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3152" y="2019417"/>
            <a:ext cx="27432" cy="1958223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9690665">
            <a:off x="520799" y="2674620"/>
            <a:ext cx="4430777" cy="45719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73424" y="1909689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960120"/>
            <a:ext cx="3657600" cy="3474720"/>
          </a:xfrm>
          <a:prstGeom prst="rect">
            <a:avLst/>
          </a:prstGeom>
          <a:solidFill>
            <a:srgbClr val="162540"/>
          </a:solidFill>
          <a:ln w="12700">
            <a:solidFill>
              <a:srgbClr val="1C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4924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49240" y="1371600"/>
            <a:ext cx="3291840" cy="502920"/>
          </a:xfrm>
          <a:prstGeom prst="rect">
            <a:avLst/>
          </a:prstGeom>
          <a:solidFill>
            <a:srgbClr val="060E1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80 + 1.2 · x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94960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= 80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2221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 a film with $0 budget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earn ~$80M baseline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2651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1.2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2907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each extra $1M budget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~$1.2M at the box office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3383280"/>
            <a:ext cx="3383280" cy="768096"/>
          </a:xfrm>
          <a:prstGeom prst="rect">
            <a:avLst/>
          </a:prstGeom>
          <a:solidFill>
            <a:srgbClr val="0A1E0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3447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for Budget = $160M: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36850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80 + 1.2 × 160 = 80 + 192 = $272M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— Measuring How Wrong We 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point has a residual = the vertical gap between the real value and our prediction.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389120" cy="3474720"/>
          </a:xfrm>
          <a:prstGeom prst="rect">
            <a:avLst/>
          </a:prstGeom>
          <a:solidFill>
            <a:srgbClr val="060E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88720"/>
            <a:ext cx="2743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206240"/>
            <a:ext cx="379476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(real)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(feature)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 rot="20032103">
            <a:off x="728836" y="3089697"/>
            <a:ext cx="374904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566160"/>
            <a:ext cx="27432" cy="1783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1288" y="348386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689604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6796" y="3417570"/>
            <a:ext cx="27432" cy="5943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23644" y="333527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51076" y="3422142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9152" y="3209544"/>
            <a:ext cx="27432" cy="20802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33527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13432" y="3154680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526030"/>
            <a:ext cx="27432" cy="32689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5808" y="244373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2798064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2496312"/>
            <a:ext cx="27432" cy="23774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2651760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3048" y="2441448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553712"/>
            <a:ext cx="128016" cy="128016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535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 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4553712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45354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ŷ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4590288"/>
            <a:ext cx="27432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4535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1005840"/>
            <a:ext cx="3794760" cy="777240"/>
          </a:xfrm>
          <a:prstGeom prst="rect">
            <a:avLst/>
          </a:prstGeom>
          <a:solidFill>
            <a:srgbClr val="060E18"/>
          </a:solidFill>
          <a:ln w="254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0640" y="1097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  =  yᵢ  −  ŷᵢ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74920" y="15453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Real value minus Predicted value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1920240"/>
            <a:ext cx="3794760" cy="2560320"/>
          </a:xfrm>
          <a:prstGeom prst="rect">
            <a:avLst/>
          </a:prstGeom>
          <a:solidFill>
            <a:srgbClr val="162540"/>
          </a:solidFill>
          <a:ln w="12700">
            <a:solidFill>
              <a:srgbClr val="1C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16636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residual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267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under-predicted (ŷ &lt; 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above the 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66360" y="2615184"/>
            <a:ext cx="3383280" cy="18288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816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residual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3072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over-predicted (ŷ &gt; 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below the line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66360" y="3419856"/>
            <a:ext cx="3383280" cy="18288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residual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3877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prediction!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lies exactly on the line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83480" y="4572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we want all residuals as small as possible!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— Mean Squared Error (MSE)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11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number that summarizes how wrong our model is across ALL data points.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566928"/>
          </a:xfrm>
          <a:prstGeom prst="rect">
            <a:avLst/>
          </a:prstGeom>
          <a:solidFill>
            <a:srgbClr val="0A182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the residuals?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969264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errors cancel out if we just average them. Squaring makes all errors positive, and penalises large errors more harshly than small 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600200"/>
            <a:ext cx="6400800" cy="960120"/>
          </a:xfrm>
          <a:prstGeom prst="rect">
            <a:avLst/>
          </a:prstGeom>
          <a:solidFill>
            <a:srgbClr val="060E18"/>
          </a:solidFill>
          <a:ln w="3175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66420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J(β₀,β₁)  =  (1/2m) · Σᵢ ( ŷᵢ − yᵢ )²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011680" y="2651760"/>
            <a:ext cx="5120640" cy="658368"/>
          </a:xfrm>
          <a:prstGeom prst="rect">
            <a:avLst/>
          </a:prstGeom>
          <a:solidFill>
            <a:srgbClr val="060E1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69748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=  (1/m) · Σᵢ ( yᵢ − ŷᵢ )²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3456432"/>
            <a:ext cx="4206240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456432"/>
            <a:ext cx="54864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547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data points (training examples)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456432"/>
            <a:ext cx="4206240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456432"/>
            <a:ext cx="54864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547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(true) value for data point 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4206240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206240"/>
            <a:ext cx="54864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3159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value: ŷᵢ = β₀ + β₁ · xᵢ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4206240"/>
            <a:ext cx="4206240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4206240"/>
            <a:ext cx="54864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(ŷᵢ−yᵢ)²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43159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residual — always positive, large errors hurt more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— Numerical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ŷ = 80 + 1.2x     Let's compute the cost for 5 training examples.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540" y="960120"/>
            <a:ext cx="45720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540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740" y="960120"/>
            <a:ext cx="155448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740" y="9875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x ($M)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6220" y="960120"/>
            <a:ext cx="146304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6220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 ($M)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39260" y="960120"/>
            <a:ext cx="155448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9260" y="9875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80+1.2x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93740" y="960120"/>
            <a:ext cx="137160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740" y="987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65340" y="960120"/>
            <a:ext cx="137160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5340" y="987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36940" y="960120"/>
            <a:ext cx="123444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940" y="987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540" y="1371600"/>
            <a:ext cx="4572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260" y="14081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740" y="1371600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460" y="14081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76220" y="1371600"/>
            <a:ext cx="14630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940" y="14081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39260" y="1371600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980" y="14081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93740" y="1371600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9460" y="14081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65340" y="1371600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1060" y="14081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36940" y="1371600"/>
            <a:ext cx="12344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82660" y="1408176"/>
            <a:ext cx="116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perfect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540" y="1883664"/>
            <a:ext cx="4572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260" y="192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1740" y="1883664"/>
            <a:ext cx="155448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7460" y="19202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76220" y="1883664"/>
            <a:ext cx="146304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21940" y="192024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39260" y="1883664"/>
            <a:ext cx="155448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980" y="19202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93740" y="1883664"/>
            <a:ext cx="13716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9460" y="19202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65340" y="1883664"/>
            <a:ext cx="13716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1060" y="19202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36940" y="1883664"/>
            <a:ext cx="123444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660" y="1920240"/>
            <a:ext cx="116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over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540" y="2395728"/>
            <a:ext cx="4572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260" y="243230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1740" y="2395728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460" y="243230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076220" y="2395728"/>
            <a:ext cx="14630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21940" y="243230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539260" y="2395728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84980" y="243230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093740" y="2395728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39460" y="243230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65340" y="2395728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1060" y="243230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836940" y="2395728"/>
            <a:ext cx="12344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82660" y="2432304"/>
            <a:ext cx="116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close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540" y="2907792"/>
            <a:ext cx="4572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260" y="29443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21740" y="2907792"/>
            <a:ext cx="155448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7460" y="29443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076220" y="2907792"/>
            <a:ext cx="146304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21940" y="294436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539260" y="2907792"/>
            <a:ext cx="155448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84980" y="29443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93740" y="2907792"/>
            <a:ext cx="13716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39460" y="2944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465340" y="2907792"/>
            <a:ext cx="137160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1060" y="2944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36940" y="2907792"/>
            <a:ext cx="1234440" cy="493776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82660" y="2944368"/>
            <a:ext cx="116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close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4540" y="3419856"/>
            <a:ext cx="4572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0260" y="345643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21740" y="3419856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7460" y="34564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076220" y="3419856"/>
            <a:ext cx="14630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21940" y="345643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539260" y="3419856"/>
            <a:ext cx="155448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84980" y="34564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093740" y="3419856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9460" y="34564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465340" y="3419856"/>
            <a:ext cx="137160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11060" y="34564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836940" y="3419856"/>
            <a:ext cx="1234440" cy="493776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82660" y="3456432"/>
            <a:ext cx="116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close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4540" y="3950208"/>
            <a:ext cx="45720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026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21740" y="3950208"/>
            <a:ext cx="155448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7460" y="39776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076220" y="3950208"/>
            <a:ext cx="146304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21940" y="39776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539260" y="3950208"/>
            <a:ext cx="155448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84980" y="39776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093740" y="3950208"/>
            <a:ext cx="137160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39460" y="3977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465340" y="3950208"/>
            <a:ext cx="137160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11060" y="3977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836940" y="3950208"/>
            <a:ext cx="1234440" cy="420624"/>
          </a:xfrm>
          <a:prstGeom prst="rect">
            <a:avLst/>
          </a:prstGeom>
          <a:solidFill>
            <a:srgbClr val="1A0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82660" y="3977640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060E18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2920" y="4526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=  Σe² / m  =  1161 / 5  =  232.2     →     √MSE (RMSE) = $15.2M — the average prediction error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How We Find the Best 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check every possible line. Gradient Descent rolls downhill on the cost surface to find the minimum.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572000" cy="3520440"/>
          </a:xfrm>
          <a:prstGeom prst="rect">
            <a:avLst/>
          </a:prstGeom>
          <a:solidFill>
            <a:srgbClr val="060E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703755"/>
            <a:ext cx="147881" cy="392757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537" y="3364524"/>
            <a:ext cx="147881" cy="36666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273" y="3051389"/>
            <a:ext cx="147881" cy="3405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2010" y="2764348"/>
            <a:ext cx="147881" cy="314473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0746" y="2503401"/>
            <a:ext cx="147881" cy="28837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9483" y="2268549"/>
            <a:ext cx="147881" cy="2622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18219" y="2059792"/>
            <a:ext cx="147881" cy="236189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6956" y="1877129"/>
            <a:ext cx="147881" cy="21009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5692" y="1720562"/>
            <a:ext cx="147881" cy="1840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4429" y="1590088"/>
            <a:ext cx="147881" cy="15790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3166" y="1485710"/>
            <a:ext cx="147881" cy="131811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11902" y="1407426"/>
            <a:ext cx="147881" cy="10571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0639" y="1355236"/>
            <a:ext cx="147881" cy="79621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9375" y="1329142"/>
            <a:ext cx="147881" cy="53527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112" y="1329142"/>
            <a:ext cx="147881" cy="274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6848" y="1329142"/>
            <a:ext cx="147881" cy="53527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5585" y="1355236"/>
            <a:ext cx="147881" cy="79621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4321" y="1407426"/>
            <a:ext cx="147881" cy="10571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3058" y="1485710"/>
            <a:ext cx="147881" cy="131811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1794" y="1590088"/>
            <a:ext cx="147881" cy="15790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60531" y="1720562"/>
            <a:ext cx="147881" cy="1840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99268" y="1877129"/>
            <a:ext cx="147881" cy="21009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8004" y="2059792"/>
            <a:ext cx="147881" cy="236189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76741" y="2268549"/>
            <a:ext cx="147881" cy="2622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15477" y="2503401"/>
            <a:ext cx="147881" cy="28837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54214" y="2764348"/>
            <a:ext cx="147881" cy="314473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2950" y="3051389"/>
            <a:ext cx="147881" cy="3405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1687" y="3364524"/>
            <a:ext cx="147881" cy="36666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0423" y="3703755"/>
            <a:ext cx="147881" cy="392757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14216" y="2578608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15384" y="2560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(random)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91179" y="1765524"/>
            <a:ext cx="182880" cy="1828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2347" y="17472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88843" y="1392448"/>
            <a:ext cx="182880" cy="1828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0011" y="1374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66974" y="1251996"/>
            <a:ext cx="182880" cy="18288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68142" y="12337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06040" y="1234440"/>
            <a:ext cx="182880" cy="18288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07208" y="10413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★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 rot="16200000">
            <a:off x="36576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J(β) — Cost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91640" y="4297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(parameters)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74920" y="1005840"/>
            <a:ext cx="3749040" cy="3520440"/>
          </a:xfrm>
          <a:prstGeom prst="rect">
            <a:avLst/>
          </a:prstGeom>
          <a:solidFill>
            <a:srgbClr val="162540"/>
          </a:solidFill>
          <a:ln w="12700">
            <a:solidFill>
              <a:srgbClr val="1C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25780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Algorithm: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257800" y="1463040"/>
            <a:ext cx="3383280" cy="658368"/>
          </a:xfrm>
          <a:prstGeom prst="rect">
            <a:avLst/>
          </a:prstGeom>
          <a:solidFill>
            <a:srgbClr val="060E18"/>
          </a:solidFill>
          <a:ln w="2540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94960" y="1554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θⱼ  ←  θⱼ  −  α · (∂J/∂θⱼ)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4924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 — repeat until convergence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57800" y="2267712"/>
            <a:ext cx="292608" cy="29260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41848" y="22677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41848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∂J/∂β — which direction is 'uphill' on the cost surface?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57800" y="2999232"/>
            <a:ext cx="292608" cy="29260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5780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41848" y="29992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opposite direction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41848" y="3236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α × gradient from current β to move downhill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257800" y="3730752"/>
            <a:ext cx="292608" cy="29260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5780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641848" y="37307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41848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stepping until cost barely changes = convergence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257800" y="4240664"/>
            <a:ext cx="3383280" cy="292608"/>
          </a:xfrm>
          <a:prstGeom prst="rect">
            <a:avLst/>
          </a:prstGeom>
          <a:solidFill>
            <a:srgbClr val="0A1E3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49240" y="4277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(learning rate): too small = slow; too large = overshoots!  Best: 0.001–0.01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α — Getting it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2743200" cy="2377440"/>
          </a:xfrm>
          <a:prstGeom prst="rect">
            <a:avLst/>
          </a:prstGeom>
          <a:solidFill>
            <a:srgbClr val="060E1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74320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1068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SMALL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571" y="2902249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0887" y="2610451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203" y="2355129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1518" y="2136281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834" y="1953907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2150" y="1808008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2466" y="1698584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2782" y="1625635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3097" y="1589160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3413" y="1589160"/>
            <a:ext cx="129460" cy="3657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3729" y="1589160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4045" y="1625635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84360" y="1698584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4676" y="1808008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4992" y="1953907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5308" y="2136281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5624" y="2355129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5939" y="2610451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06255" y="2902249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2231" y="2299662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23651" y="2100762"/>
            <a:ext cx="160020" cy="2903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32211" y="2009322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86491" y="1903251"/>
            <a:ext cx="137160" cy="19751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95051" y="1811811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72191" y="1774869"/>
            <a:ext cx="114300" cy="12838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0751" y="1683429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7891" y="1679406"/>
            <a:ext cx="114300" cy="95463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6451" y="1587966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66451" y="1626737"/>
            <a:ext cx="91440" cy="52669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75011" y="153529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75011" y="1595135"/>
            <a:ext cx="91440" cy="3160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83571" y="1503695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6431" y="1585259"/>
            <a:ext cx="6858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14991" y="1493819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83571" y="1584601"/>
            <a:ext cx="27432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92131" y="1493161"/>
            <a:ext cx="182880" cy="1828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 convergence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thousands of steps to reach the minimum. Training is painfully slow. Will eventually converge but wastes time.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46120" y="987552"/>
            <a:ext cx="2743200" cy="2377440"/>
          </a:xfrm>
          <a:prstGeom prst="rect">
            <a:avLst/>
          </a:prstGeom>
          <a:solidFill>
            <a:srgbClr val="060E18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987552"/>
            <a:ext cx="2743200" cy="3474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1024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just RIGHT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20440" y="2821574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40756" y="2529776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61072" y="2274454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81387" y="2055606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01703" y="1873232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22019" y="1727333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42335" y="1617909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62651" y="1544960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2966" y="1508485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03282" y="1508485"/>
            <a:ext cx="129460" cy="3657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23598" y="1508485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3914" y="1544960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64229" y="1617909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84545" y="1727333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04861" y="1873232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25177" y="2055606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45493" y="2274454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65808" y="2529776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86124" y="2821574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72100" y="221898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74920" y="1717237"/>
            <a:ext cx="388620" cy="59319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83480" y="162579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0600" y="1527627"/>
            <a:ext cx="274320" cy="18961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09160" y="143618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1503926"/>
            <a:ext cx="137160" cy="274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1412486"/>
            <a:ext cx="182880" cy="18288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steady convergence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33756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minimum in a reasonable number of steps. This is the sweet spot — try 0.001, 0.01, 0.1 and cross-validate.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172200" y="987552"/>
            <a:ext cx="2743200" cy="2377440"/>
          </a:xfrm>
          <a:prstGeom prst="rect">
            <a:avLst/>
          </a:prstGeom>
          <a:solidFill>
            <a:srgbClr val="060E18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72200" y="987552"/>
            <a:ext cx="274320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72200" y="1024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LARGE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446520" y="2821574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66836" y="2529776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87152" y="2274454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07467" y="2055606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27783" y="1873232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48099" y="1727333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68415" y="1617909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88731" y="1544960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09046" y="1508485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29362" y="1508485"/>
            <a:ext cx="129460" cy="3657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49678" y="1508485"/>
            <a:ext cx="129460" cy="54763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69994" y="1544960"/>
            <a:ext cx="129460" cy="9123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90309" y="1617909"/>
            <a:ext cx="129460" cy="12771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010625" y="1727333"/>
            <a:ext cx="129460" cy="164187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30941" y="1873232"/>
            <a:ext cx="129460" cy="20066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51257" y="2055606"/>
            <a:ext cx="129460" cy="2371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71573" y="2274454"/>
            <a:ext cx="129460" cy="273611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91888" y="2529776"/>
            <a:ext cx="129460" cy="310085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12204" y="2821574"/>
            <a:ext cx="129460" cy="34656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98180" y="221898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789420" y="2310427"/>
            <a:ext cx="1600200" cy="274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97980" y="2218987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89420" y="2310427"/>
            <a:ext cx="1714500" cy="24688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12480" y="2465875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60820" y="2557315"/>
            <a:ext cx="1943100" cy="27980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69380" y="2745681"/>
            <a:ext cx="182880" cy="182880"/>
          </a:xfrm>
          <a:prstGeom prst="ellipse">
            <a:avLst/>
          </a:prstGeom>
          <a:solidFill>
            <a:srgbClr val="B0C8E0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560820" y="2837121"/>
            <a:ext cx="2057400" cy="274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26780" y="2745681"/>
            <a:ext cx="182880" cy="1828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263640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Diverges — never converges!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626364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so big it jumps over the minimum and oscillates wildly. Cost may actually increase. Reduce α immediately.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A182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start with α = 0.01, watch loss curve — if it decreases smoothly, good; if it spikes, halve α.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— More Features, More Power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060E18"/>
          </a:solidFill>
          <a:ln w="2540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 =  θ₀  +  θ₁x₁  +  θ₂x₂  +  ···  +  θₙxₙ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features, n+1 parameters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114800" cy="2926080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= Size (m²)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2377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 = +1200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m² adds $1,200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= #Bedrooms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944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= +5000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bedroom adds $5,000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 = Age (yrs)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5112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θ₃ = −800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reduces by $800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 = Distance (km)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4078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θ₄ = −3000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km from city −$3,000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4114800" cy="347472"/>
          </a:xfrm>
          <a:prstGeom prst="rect">
            <a:avLst/>
          </a:prstGeom>
          <a:solidFill>
            <a:srgbClr val="060E18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90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50000 + 1200·x₁ + 5000·x₂ − 800·x₃ − 3000·x₄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920240"/>
            <a:ext cx="4251960" cy="2926080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Weights (θ) at a glance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459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2468880"/>
            <a:ext cx="2743200" cy="274320"/>
          </a:xfrm>
          <a:prstGeom prst="rect">
            <a:avLst/>
          </a:prstGeom>
          <a:solidFill>
            <a:srgbClr val="1A28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2468880"/>
            <a:ext cx="1920240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2478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026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3035808"/>
            <a:ext cx="2743200" cy="274320"/>
          </a:xfrm>
          <a:prstGeom prst="rect">
            <a:avLst/>
          </a:prstGeom>
          <a:solidFill>
            <a:srgbClr val="1A28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3035808"/>
            <a:ext cx="109728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30449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3602736"/>
            <a:ext cx="2743200" cy="274320"/>
          </a:xfrm>
          <a:prstGeom prst="rect">
            <a:avLst/>
          </a:prstGeom>
          <a:solidFill>
            <a:srgbClr val="1A28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3602736"/>
            <a:ext cx="960120" cy="2743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36118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4160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06440" y="4169664"/>
            <a:ext cx="2743200" cy="274320"/>
          </a:xfrm>
          <a:prstGeom prst="rect">
            <a:avLst/>
          </a:prstGeom>
          <a:solidFill>
            <a:srgbClr val="1A28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4169664"/>
            <a:ext cx="1508760" cy="2743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88352" y="41788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437890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weight means that feature DECREASES the prediction.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|θ| means that feature has MORE influence on ŷ.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in Python —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with multiple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00" cy="4005072"/>
          </a:xfrm>
          <a:prstGeom prst="rect">
            <a:avLst/>
          </a:prstGeom>
          <a:solidFill>
            <a:srgbClr val="050D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5580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05763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55725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mean_squared_error, r2_score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60568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Features: [Size(m²), Bedrooms, Age(yr), Distance(km)]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90561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np.array([[85,3,5,2],[120,4,10,5],[60,2,20,8],[200,5,2,1]])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055571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np.array([280000, 350000, 150000, 600000])  # prices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205533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35549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Split into train/test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50545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65541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05379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955341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Train model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10530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2552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40522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555187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Predict &amp; Evaluate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705149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85511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print(f'MSE  : {mean_squared_error(y_test, y_pred):.0f}')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print(f'RMSE : {mean_squared_error(y_test, y_pred)**0.5:.0f}')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15503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print(f'R²   : {r2_score(y_test, y_pred):.3f}')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304995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454957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Inspect parameters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60491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print('Intercept:', model.intercept_)  # β₀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print('Coefficients:', model.coef_)    # β₁…βₙ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89320" y="960120"/>
            <a:ext cx="2834640" cy="896112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960120"/>
            <a:ext cx="64008" cy="8961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033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model.coef_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θ₁…θₙ. Positive = feature increases ŷ. Negative = decreases it.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1947672"/>
            <a:ext cx="2834640" cy="896112"/>
          </a:xfrm>
          <a:prstGeom prst="rect">
            <a:avLst/>
          </a:prstGeom>
          <a:solidFill>
            <a:srgbClr val="162540"/>
          </a:solidFill>
          <a:ln w="1905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9320" y="1947672"/>
            <a:ext cx="64008" cy="89611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020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/ RMSE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2313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in the same units as y (dollars). Smaller = better. Target: RMSE &lt; 10% of mean 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2935224"/>
            <a:ext cx="2834640" cy="896112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2935224"/>
            <a:ext cx="64008" cy="89611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008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3300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1. How much variance the model explains. R² = 0.95 means 95% of price variation is captured.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3922776"/>
            <a:ext cx="2834640" cy="896112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3922776"/>
            <a:ext cx="64008" cy="8961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995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fit_intercept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4288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False if data is already mean-centered. Usually leave as True (default).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4764024"/>
            <a:ext cx="2834640" cy="201168"/>
          </a:xfrm>
          <a:prstGeom prst="rect">
            <a:avLst/>
          </a:prstGeom>
          <a:solidFill>
            <a:srgbClr val="0A1E0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4782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no manual gradient descent needed — it uses Normal Equation or SGD internally!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0830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3017520" cy="30175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200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80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200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numbers to probabilities — classifying with confidence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Mansouri Ahmed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Linear Regression for Classification?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predicts any number — but class probabilities must stay between 0 and 1.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3316" y="896112"/>
            <a:ext cx="4206240" cy="3291840"/>
          </a:xfrm>
          <a:prstGeom prst="rect">
            <a:avLst/>
          </a:prstGeom>
          <a:solidFill>
            <a:srgbClr val="060E18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Linear regression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82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703320"/>
            <a:ext cx="33832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70794" y="3247445"/>
            <a:ext cx="164592" cy="16459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5325" y="3205746"/>
            <a:ext cx="164592" cy="16459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491" y="2614169"/>
            <a:ext cx="164592" cy="16459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02092" y="1727018"/>
            <a:ext cx="164592" cy="16459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5828" y="2761488"/>
            <a:ext cx="164592" cy="16459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7863" y="138552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8245" y="1984248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835" y="1947672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6964" y="1252728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1831" y="197510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0316687">
            <a:off x="726076" y="2497894"/>
            <a:ext cx="3337560" cy="18288"/>
          </a:xfrm>
          <a:prstGeom prst="rect">
            <a:avLst/>
          </a:prstGeom>
          <a:solidFill>
            <a:srgbClr val="8888FF"/>
          </a:solidFill>
          <a:ln w="12700">
            <a:solidFill>
              <a:srgbClr val="88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194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below 0!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74520" y="3739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(feature)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880" y="987552"/>
            <a:ext cx="4069080" cy="3291840"/>
          </a:xfrm>
          <a:prstGeom prst="rect">
            <a:avLst/>
          </a:prstGeom>
          <a:solidFill>
            <a:srgbClr val="060E18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Logistic regression: Sigmoid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1417320"/>
            <a:ext cx="182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3703320"/>
            <a:ext cx="32918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4904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37760" y="251460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83480" y="35753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03520" y="3649574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879" y="3645483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24237" y="3639325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4596" y="3630079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4954" y="3616244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5313" y="3595658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5672" y="3565275"/>
            <a:ext cx="110359" cy="486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6030" y="3520963"/>
            <a:ext cx="110359" cy="626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6389" y="3457453"/>
            <a:ext cx="110359" cy="8179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6748" y="3368663"/>
            <a:ext cx="110359" cy="10707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7106" y="3248747"/>
            <a:ext cx="110359" cy="13820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7465" y="3094140"/>
            <a:ext cx="110359" cy="17289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7823" y="2906313"/>
            <a:ext cx="110359" cy="20611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38182" y="2693932"/>
            <a:ext cx="110359" cy="230669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8541" y="2472428"/>
            <a:ext cx="110359" cy="23979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58899" y="2260047"/>
            <a:ext cx="110359" cy="230669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9258" y="2072220"/>
            <a:ext cx="110359" cy="20611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9617" y="1917613"/>
            <a:ext cx="110359" cy="17289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89975" y="1797697"/>
            <a:ext cx="110359" cy="13820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0334" y="1708907"/>
            <a:ext cx="110359" cy="10707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10692" y="1645397"/>
            <a:ext cx="110359" cy="8179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21051" y="1601085"/>
            <a:ext cx="110359" cy="626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31410" y="1570702"/>
            <a:ext cx="110359" cy="486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41768" y="1550116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2127" y="1536281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62486" y="1527035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72844" y="1520877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83203" y="1516786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93561" y="1514073"/>
            <a:ext cx="110359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66944" y="2551806"/>
            <a:ext cx="324612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537960" y="37398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0A182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σ(z) always outputs between 0 and 1  →  interpret as PROBABILITY  →  if σ(z) ≥ 0.5 → class 1; else → class 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Function — Squashing to [0, 1]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657600" cy="914400"/>
          </a:xfrm>
          <a:prstGeom prst="rect">
            <a:avLst/>
          </a:prstGeom>
          <a:solidFill>
            <a:srgbClr val="060E18"/>
          </a:solidFill>
          <a:ln w="2540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 =  1 / (1 + e⁻ᶻ)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36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z = θ₀ + θ₁x₁ + ··· + θₙxₙ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43400" y="966844"/>
            <a:ext cx="4434840" cy="3749040"/>
          </a:xfrm>
          <a:prstGeom prst="rect">
            <a:avLst/>
          </a:prstGeom>
          <a:solidFill>
            <a:srgbClr val="060E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143000"/>
            <a:ext cx="27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761488"/>
            <a:ext cx="38862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325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98264" y="11247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79976" y="43251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4389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−∞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86500" y="4389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47185" y="135877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+∞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00600" y="4384947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9074" y="4383148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7548" y="4380576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6022" y="4376900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4495" y="4371651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92969" y="4364166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1443" y="4353509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9917" y="4338374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8391" y="4316952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86865" y="4286783"/>
            <a:ext cx="98474" cy="4845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5338" y="4244583"/>
            <a:ext cx="98474" cy="6048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83812" y="4186122"/>
            <a:ext cx="98474" cy="76749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2286" y="4106206"/>
            <a:ext cx="98474" cy="9820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3998923"/>
            <a:ext cx="98474" cy="12557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9234" y="3858358"/>
            <a:ext cx="98474" cy="1588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7708" y="3679935"/>
            <a:ext cx="98474" cy="19671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6182" y="3462356"/>
            <a:ext cx="98474" cy="23586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4655" y="3209627"/>
            <a:ext cx="98474" cy="27101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73129" y="2932143"/>
            <a:ext cx="98474" cy="29577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1603" y="2645697"/>
            <a:ext cx="98474" cy="30473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70077" y="2368213"/>
            <a:ext cx="98474" cy="29577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8551" y="2115484"/>
            <a:ext cx="98474" cy="27101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025" y="1897905"/>
            <a:ext cx="98474" cy="23586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65498" y="1719482"/>
            <a:ext cx="98474" cy="19671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3972" y="1578917"/>
            <a:ext cx="98474" cy="1588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2446" y="1471634"/>
            <a:ext cx="98474" cy="125571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1391718"/>
            <a:ext cx="98474" cy="98205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9394" y="1333257"/>
            <a:ext cx="98474" cy="76749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57868" y="1291057"/>
            <a:ext cx="98474" cy="6048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56342" y="1260888"/>
            <a:ext cx="98474" cy="4845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54815" y="1239466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3289" y="1224331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1763" y="1213674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50237" y="1206189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8711" y="1200940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185" y="1197264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45658" y="1194692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44132" y="1192893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42606" y="1191636"/>
            <a:ext cx="98474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82312" y="2779776"/>
            <a:ext cx="38862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1993392"/>
            <a:ext cx="3657600" cy="658368"/>
          </a:xfrm>
          <a:prstGeom prst="rect">
            <a:avLst/>
          </a:prstGeom>
          <a:solidFill>
            <a:srgbClr val="162540"/>
          </a:solidFill>
          <a:ln w="1905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" y="1993392"/>
            <a:ext cx="64008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2066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→ 0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201168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 → −∞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negative z means very low probability. Confident prediction: class 0.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2743200"/>
            <a:ext cx="3657600" cy="658368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7200" y="2743200"/>
            <a:ext cx="64008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σ(0) = 0.5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2011680" y="2852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 = 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0080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boundary between classes. We're 50% uncertain — threshold point.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3493008"/>
            <a:ext cx="3657600" cy="658368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7200" y="3493008"/>
            <a:ext cx="64008" cy="65836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→ 1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201168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 → +∞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008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positive z means very high probability. Confident prediction: class 1.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4242816"/>
            <a:ext cx="3657600" cy="658368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57200" y="4242816"/>
            <a:ext cx="64008" cy="6583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smooth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2011680" y="4352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40080" y="46085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gradient descent to work — we can always compute the gradient.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Spam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number of suspicious words in email. Predict: Spam (1) or Not Spam (0).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206240" cy="914400"/>
          </a:xfrm>
          <a:prstGeom prst="rect">
            <a:avLst/>
          </a:prstGeom>
          <a:solidFill>
            <a:srgbClr val="060E18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−3 + 0.8 · x     then     P(Spam) = σ(z) = 1/(1+e⁻ᶻ)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118872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482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(words)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2011680"/>
            <a:ext cx="164592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0482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-3+0.8x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173736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48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P(Spam)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011680"/>
            <a:ext cx="137160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48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192024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11887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08760" y="2395728"/>
            <a:ext cx="16459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24323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395728"/>
            <a:ext cx="173736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43230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395728"/>
            <a:ext cx="137160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4323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2395728"/>
            <a:ext cx="192024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4323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871216"/>
            <a:ext cx="118872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0779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08760" y="2871216"/>
            <a:ext cx="164592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2871216"/>
            <a:ext cx="173736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9077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2871216"/>
            <a:ext cx="137160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077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2871216"/>
            <a:ext cx="192024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907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⚠️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346704"/>
            <a:ext cx="11887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38328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508760" y="3346704"/>
            <a:ext cx="16459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33832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3346704"/>
            <a:ext cx="173736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33832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3346704"/>
            <a:ext cx="137160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3832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3346704"/>
            <a:ext cx="192024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3832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🚨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822192"/>
            <a:ext cx="118872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8587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508760" y="3822192"/>
            <a:ext cx="164592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3858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154680" y="3822192"/>
            <a:ext cx="173736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38587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92040" y="3822192"/>
            <a:ext cx="137160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587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63640" y="3822192"/>
            <a:ext cx="1920240" cy="457200"/>
          </a:xfrm>
          <a:prstGeom prst="rect">
            <a:avLst/>
          </a:prstGeom>
          <a:solidFill>
            <a:srgbClr val="0D203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8587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🚨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" y="4297680"/>
            <a:ext cx="11887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33425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508760" y="4297680"/>
            <a:ext cx="164592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54480" y="43342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154680" y="4297680"/>
            <a:ext cx="173736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433425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892040" y="4297680"/>
            <a:ext cx="137160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3342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263640" y="4297680"/>
            <a:ext cx="1920240" cy="457200"/>
          </a:xfrm>
          <a:prstGeom prst="rect">
            <a:avLst/>
          </a:prstGeom>
          <a:solidFill>
            <a:srgbClr val="0A1828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433425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✅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4846320"/>
            <a:ext cx="8503920" cy="292608"/>
          </a:xfrm>
          <a:prstGeom prst="rect">
            <a:avLst/>
          </a:prstGeom>
          <a:solidFill>
            <a:srgbClr val="100820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if σ(z) ≥ 0.5 → Predict Spam (class 1);  else → Not Spam (class 0)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— Extending to Multiple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Sigmoid (2 classes), use Softmax for K classes. Outputs sum to 1 — a probability distribution.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804672"/>
          </a:xfrm>
          <a:prstGeom prst="rect">
            <a:avLst/>
          </a:prstGeom>
          <a:solidFill>
            <a:srgbClr val="060E18"/>
          </a:solidFill>
          <a:ln w="2540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 k | x)  =  exp(zₖ) / Σⱼ exp(zⱼ)       where  zₖ = θₖᵀ · 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k gets its own weight vector θₖ; the exponential ensures all probs are positive; dividing by sum makes them sum to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023360" cy="2926080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Digit Recognition (0–9)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01952" y="2395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3957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36392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76472" y="2395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52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61872" y="28529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z=3.1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01952" y="2852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2852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36392" y="28529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z=5.8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76472" y="2852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61872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01952" y="33101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310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36392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z=0.2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76472" y="33101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61872" y="3767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z=0.8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01952" y="3767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37673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36392" y="3767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z=0.3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76472" y="3767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24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61872" y="4224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z=1.1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01952" y="4224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224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136392" y="4224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z=0.6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76472" y="4224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Predicted class: 3 (P=0.72)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1920240"/>
            <a:ext cx="4251960" cy="914400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1920240"/>
            <a:ext cx="64008" cy="9144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(2 classes)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2249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Sigmoid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2487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Spam/Not-Spam, Cancer/Benign, Pass/Fail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single probability p ∈ (0,1)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2907792"/>
            <a:ext cx="4251960" cy="914400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2907792"/>
            <a:ext cx="64008" cy="9144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980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(K ≥ 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Softmax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54880" y="34747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0-9, Iris species, News categories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K probabilities, all summing to 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895344"/>
            <a:ext cx="4251960" cy="914400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0" y="3895344"/>
            <a:ext cx="64008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968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0" y="4224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Multiple Sigmoids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54880" y="4462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has [cat, dog, sky] — each 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independently with its own Sigmoid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— How We Measure Classification Error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is wrong for classification. We need Cross-Entropy, which penalises confident wrong predictions harshly.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solidFill>
            <a:srgbClr val="060E18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Cross-Entropy:   L = −(1/n) · Σᵢ [ yᵢ·log(ŷᵢ) + (1−yᵢ)·log(1−ŷᵢ)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786384"/>
          </a:xfrm>
          <a:prstGeom prst="rect">
            <a:avLst/>
          </a:prstGeom>
          <a:solidFill>
            <a:srgbClr val="0A1828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36192"/>
            <a:ext cx="73152" cy="78638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y = 1 (positive)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6093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ŷ = 0.95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−log(0.95) = 0.051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751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+ confident → tiny loss 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8503920" cy="786384"/>
          </a:xfrm>
          <a:prstGeom prst="rect">
            <a:avLst/>
          </a:prstGeom>
          <a:solidFill>
            <a:srgbClr val="0A1828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32304"/>
            <a:ext cx="73152" cy="78638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054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y = 1 (positive)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ŷ = 0.5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−log(0.50) = 0.693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712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uncertain → medium loss ⚠️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8503920" cy="786384"/>
          </a:xfrm>
          <a:prstGeom prst="rect">
            <a:avLst/>
          </a:prstGeom>
          <a:solidFill>
            <a:srgbClr val="0A1828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73152" cy="7863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y = 1 (positive)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4015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ŷ = 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3401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−log(0.05) = 3.0 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767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+ confident → HUGE loss 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060E18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 (K classes):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−(1/n) · Σᵢ Σₖ yₖ⁽ⁱ⁾ · log( ŷₖ⁽ⁱ⁾ 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544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yₖ = 1 if sample i is class k (else 0). Use with Softmax output.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in Python —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predicting if a tumour is Malignant (1) or Benign (0)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94960" cy="4023360"/>
          </a:xfrm>
          <a:prstGeom prst="rect">
            <a:avLst/>
          </a:prstGeom>
          <a:solidFill>
            <a:srgbClr val="050D1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57200" y="1159459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load_breast_cancer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57200" y="131307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7200" y="146669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classification_report, confusion_matrix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57200" y="1620317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57200" y="192755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dataset (569 samples, 30 features)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57200" y="208117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load_breast_cancer()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57200" y="223479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data.data, data.target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57200" y="2388413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Scale features — critical for log. regression!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7200" y="2695651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7200" y="284927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57200" y="300289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7200" y="3156509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Split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X_te, y_tr, y_te = train_test_split(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57200" y="3463747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X_scaled, y, test_size=0.2, random_state=42)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57200" y="361736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7200" y="377098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Train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7200" y="392460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LogisticRegression(max_iter=1000)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clf.fit(X_tr, y_tr)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7200" y="4231843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57200" y="438546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Evaluate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57200" y="453908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print(classification_report(y_te, clf.predict(X_te)))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57200" y="4692701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print(confusion_matrix(y_te, clf.predict(X_te)))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897880" y="960120"/>
            <a:ext cx="2926080" cy="3291840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(typical result):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1417320"/>
            <a:ext cx="777240" cy="457200"/>
          </a:xfrm>
          <a:prstGeom prst="rect">
            <a:avLst/>
          </a:prstGeom>
          <a:solidFill>
            <a:srgbClr val="1A0A3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1417320"/>
            <a:ext cx="777240" cy="457200"/>
          </a:xfrm>
          <a:prstGeom prst="rect">
            <a:avLst/>
          </a:prstGeom>
          <a:solidFill>
            <a:srgbClr val="1A0A3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1417320"/>
            <a:ext cx="777240" cy="457200"/>
          </a:xfrm>
          <a:prstGeom prst="rect">
            <a:avLst/>
          </a:prstGeom>
          <a:solidFill>
            <a:srgbClr val="1A0A3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08392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1920240"/>
            <a:ext cx="777240" cy="457200"/>
          </a:xfrm>
          <a:prstGeom prst="rect">
            <a:avLst/>
          </a:prstGeom>
          <a:solidFill>
            <a:srgbClr val="1A0A3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58000" y="1920240"/>
            <a:ext cx="777240" cy="457200"/>
          </a:xfrm>
          <a:prstGeom prst="rect">
            <a:avLst/>
          </a:prstGeom>
          <a:solidFill>
            <a:srgbClr val="0A201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85432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80960" y="1920240"/>
            <a:ext cx="777240" cy="457200"/>
          </a:xfrm>
          <a:prstGeom prst="rect">
            <a:avLst/>
          </a:prstGeom>
          <a:solidFill>
            <a:srgbClr val="200A0A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35040" y="2423160"/>
            <a:ext cx="777240" cy="457200"/>
          </a:xfrm>
          <a:prstGeom prst="rect">
            <a:avLst/>
          </a:prstGeom>
          <a:solidFill>
            <a:srgbClr val="1A0A3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0" y="2423160"/>
            <a:ext cx="777240" cy="457200"/>
          </a:xfrm>
          <a:prstGeom prst="rect">
            <a:avLst/>
          </a:prstGeom>
          <a:solidFill>
            <a:srgbClr val="200A0A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680960" y="2423160"/>
            <a:ext cx="777240" cy="457200"/>
          </a:xfrm>
          <a:prstGeom prst="rect">
            <a:avLst/>
          </a:prstGeom>
          <a:solidFill>
            <a:srgbClr val="0A2010"/>
          </a:solidFill>
          <a:ln w="6350">
            <a:solidFill>
              <a:srgbClr val="1C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08392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35040" y="3108960"/>
            <a:ext cx="1234440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3154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8076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88352" y="3108960"/>
            <a:ext cx="1234440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34072" y="3154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34072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035040" y="3639312"/>
            <a:ext cx="1234440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80760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080760" y="3867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88352" y="3639312"/>
            <a:ext cx="1234440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34072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34072" y="3867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897880" y="4297680"/>
            <a:ext cx="2926080" cy="713232"/>
          </a:xfrm>
          <a:prstGeom prst="rect">
            <a:avLst/>
          </a:prstGeom>
          <a:solidFill>
            <a:srgbClr val="1008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932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scale features before Logistic Regression — it uses gradient descent internally and unscaled features cause slow convergence or divergence!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vs Logistic Regression —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82393"/>
            <a:ext cx="2286000" cy="384048"/>
          </a:xfrm>
          <a:prstGeom prst="rect">
            <a:avLst/>
          </a:prstGeom>
          <a:solidFill>
            <a:srgbClr val="1A28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8969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882393"/>
            <a:ext cx="3108960" cy="384048"/>
          </a:xfrm>
          <a:prstGeom prst="rect">
            <a:avLst/>
          </a:prstGeom>
          <a:solidFill>
            <a:srgbClr val="F9A825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91896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882393"/>
            <a:ext cx="3108960" cy="384048"/>
          </a:xfrm>
          <a:prstGeom prst="rect">
            <a:avLst/>
          </a:prstGeom>
          <a:solidFill>
            <a:srgbClr val="AB47BC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91896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66441"/>
            <a:ext cx="228600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030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12664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3030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 (regression)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12664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3030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class (classification)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723641"/>
            <a:ext cx="228600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602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17236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7602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ŷ ∈ 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7236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7602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 ∈ (0,1)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180841"/>
            <a:ext cx="228600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174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21808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2174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(identity)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21808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2174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σ or Softmax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638041"/>
            <a:ext cx="228600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746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26380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6746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(Mean Squared Error)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26380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746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(log loss)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095241"/>
            <a:ext cx="228600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1318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30952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1318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directly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06440" y="30952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1318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≥ 0.5 → class 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552441"/>
            <a:ext cx="228600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5890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51760" y="35524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35890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R² score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06440" y="35524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5890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4009641"/>
            <a:ext cx="228600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462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51760" y="40096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0462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06440" y="4009641"/>
            <a:ext cx="3108960" cy="457200"/>
          </a:xfrm>
          <a:prstGeom prst="rect">
            <a:avLst/>
          </a:prstGeom>
          <a:solidFill>
            <a:srgbClr val="0D203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40462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466841"/>
            <a:ext cx="228600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50341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51760" y="44668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5034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house price ($350k)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806440" y="4466841"/>
            <a:ext cx="3108960" cy="457200"/>
          </a:xfrm>
          <a:prstGeom prst="rect">
            <a:avLst/>
          </a:prstGeom>
          <a:solidFill>
            <a:srgbClr val="0A1828"/>
          </a:solidFill>
          <a:ln w="5080">
            <a:solidFill>
              <a:srgbClr val="1C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97880" y="4503417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email (Spam / Not Spam)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 from Linear &amp; Logistic Regression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64008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= Best 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β₁x. Finds β that minimises MSE. Used for predicting continuous values.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87552"/>
            <a:ext cx="64008" cy="1170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Cost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y − ŷ. MSE = (1/m)Σ(yᵢ−ŷᵢ)². Minimise to find the best model.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66BB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86000"/>
            <a:ext cx="64008" cy="11704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358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adjust β in the direction of steepest descent. α controls step size — tune carefully.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AB47B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86000"/>
            <a:ext cx="64008" cy="11704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77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2761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= Probability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0358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Sigmoid σ(z) to the linear output. Maps any z to (0,1). Classify at threshold 0.5.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84448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84448"/>
            <a:ext cx="64008" cy="11704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75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40599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342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is wrong for classification. Use Binary CE for 2 classes, Categorical CE for K classes.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84448"/>
            <a:ext cx="4114800" cy="1170432"/>
          </a:xfrm>
          <a:prstGeom prst="rect">
            <a:avLst/>
          </a:prstGeom>
          <a:solidFill>
            <a:srgbClr val="162540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84448"/>
            <a:ext cx="64008" cy="1170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75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46320" y="40599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Features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3342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uses gradient descent internally — StandardScaler before fitting is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A1820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94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master Linear &amp; Logistic Regression.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5669280" cy="347472"/>
          </a:xfrm>
          <a:prstGeom prst="rect">
            <a:avLst/>
          </a:prstGeom>
          <a:solidFill>
            <a:srgbClr val="0A18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Mansouri Ahmed  ·  AI Master Class  ·  BrainerX School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3175</Words>
  <Application>Microsoft Office PowerPoint</Application>
  <PresentationFormat>On-screen Show (16:9)</PresentationFormat>
  <Paragraphs>536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&amp; Logistic Regression — AI Master Class</dc:title>
  <dc:subject>PptxGenJS Presentation</dc:subject>
  <dc:creator>PptxGenJS</dc:creator>
  <cp:lastModifiedBy>ahmed mansouri</cp:lastModifiedBy>
  <cp:revision>4</cp:revision>
  <dcterms:created xsi:type="dcterms:W3CDTF">2026-03-31T00:20:16Z</dcterms:created>
  <dcterms:modified xsi:type="dcterms:W3CDTF">2026-04-04T17:48:40Z</dcterms:modified>
</cp:coreProperties>
</file>
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39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017520" cy="3017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20040"/>
            <a:ext cx="1737360" cy="3474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 ·  Gradient Descent on Trees  ·  Regularization  ·  Kaggle Champion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RF to Boosting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sequential beats parallel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9611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058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28032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XGBoost 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regularization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2199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31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XGBoost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 &amp; Taylor expansion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2199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31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28032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learning_rate, max_depth…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4787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576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8912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 Python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library &amp; scikit-learn 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4206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47872"/>
            <a:ext cx="54864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6576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28032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Pros, Cons &amp; Use Cases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28032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XGBoost — and when not 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Random Forest to XGBoost — Two Different Strategies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416052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160520" cy="402336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🌲Random Forest — BAGGING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26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4264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— train all trees independently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70078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75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975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on random bootstrap sample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23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5237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— reduce variance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79806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72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/ average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34670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621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diversity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389534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169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strength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hard to overfit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896112"/>
            <a:ext cx="416052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896112"/>
            <a:ext cx="4160520" cy="40233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50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BOOSTING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1426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14264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each tree fixes the last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73752" y="170078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975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1975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dataset, learns from residuals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73752" y="224942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523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5237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— reduce bias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73752" y="279806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072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all trees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73752" y="334670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3621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mistakes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73752" y="3895344"/>
            <a:ext cx="38862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169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strength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72200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accurate, Kaggle champion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Boosting? The Core Intuition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8595360" cy="59436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960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takes a test, gets marked wrong on certain questions. They study ONLY the wrong answers, take the test again, get marked again — and repeat. Each round targets the previous mistakes.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1609344" cy="32186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828800"/>
            <a:ext cx="640080" cy="64008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weak tree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054096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shallow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(depth 3–6) 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92808" y="30358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93392" y="1664208"/>
            <a:ext cx="1609344" cy="32186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78024" y="1828800"/>
            <a:ext cx="640080" cy="6400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802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84832" y="26334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residuals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3054096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was wrong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y − 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errors)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11880" y="30358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12464" y="1664208"/>
            <a:ext cx="1609344" cy="32186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97096" y="1828800"/>
            <a:ext cx="640080" cy="640080"/>
          </a:xfrm>
          <a:prstGeom prst="ellipse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03904" y="26334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next tree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03904" y="3054096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NEW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RESIDUALS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targets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errors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0952" y="30358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31536" y="1664208"/>
            <a:ext cx="1609344" cy="32186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16168" y="1828800"/>
            <a:ext cx="640080" cy="640080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22976" y="26334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ensemble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22976" y="3054096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prediction =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prediction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× new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 = learning rate)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50024" y="30358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0608" y="1664208"/>
            <a:ext cx="1609344" cy="32186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35240" y="1828800"/>
            <a:ext cx="640080" cy="640080"/>
          </a:xfrm>
          <a:prstGeom prst="ellipse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42048" y="26334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 times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42048" y="3054096"/>
            <a:ext cx="14264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 rounds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shrink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steadily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536662"/>
            <a:ext cx="8595360" cy="347472"/>
          </a:xfrm>
          <a:prstGeom prst="rect">
            <a:avLst/>
          </a:prstGeom>
          <a:solidFill>
            <a:srgbClr val="060E18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96131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formula:  F̂ₘ(x)  =  F̂ₘ₋₁(x)  +  η · hₘ(x)     where η = learning rate,  hₘ = new tree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in Action — Step-by-Step Numerical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house price. Initial prediction = mean of all prices = $200k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73152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10642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24128" y="1078992"/>
            <a:ext cx="132588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1064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Price ($k)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68296" y="1078992"/>
            <a:ext cx="132588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1064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Pred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1078992"/>
            <a:ext cx="1207008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106424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1078992"/>
            <a:ext cx="132588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1064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Pred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81928" y="1078992"/>
            <a:ext cx="1207008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106424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07224" y="1078992"/>
            <a:ext cx="132588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1064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481328"/>
            <a:ext cx="73152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51790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" y="1481328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1517904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68296" y="1481328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1517904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12464" y="1481328"/>
            <a:ext cx="1207008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51790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1481328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1517904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81928" y="1481328"/>
            <a:ext cx="1207008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51790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07224" y="1481328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517904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1975104"/>
            <a:ext cx="73152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0116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4128" y="1975104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" y="20116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68296" y="1975104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04872" y="20116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12464" y="1975104"/>
            <a:ext cx="1207008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0116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1975104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20116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81928" y="1975104"/>
            <a:ext cx="1207008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8504" y="20116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07224" y="1975104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20116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2468880"/>
            <a:ext cx="73152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50545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24128" y="2468880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0704" y="2505456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68296" y="2468880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04872" y="2505456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12464" y="2468880"/>
            <a:ext cx="1207008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0" y="25054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37760" y="2468880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74336" y="2505456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81928" y="2468880"/>
            <a:ext cx="1207008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18504" y="250545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507224" y="2468880"/>
            <a:ext cx="1325880" cy="47548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43800" y="2505456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2962656"/>
            <a:ext cx="73152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29992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24128" y="2962656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60704" y="299923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68296" y="2962656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04872" y="299923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712464" y="2962656"/>
            <a:ext cx="1207008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49040" y="299923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937760" y="2962656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74336" y="299923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81928" y="2962656"/>
            <a:ext cx="1207008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18504" y="299923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507224" y="2962656"/>
            <a:ext cx="1325880" cy="475488"/>
          </a:xfrm>
          <a:prstGeom prst="rect">
            <a:avLst/>
          </a:prstGeom>
          <a:solidFill>
            <a:srgbClr val="0D203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43800" y="299923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74320" y="3621024"/>
            <a:ext cx="2743200" cy="12984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74320" y="3621024"/>
            <a:ext cx="54864" cy="12984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37124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(Tree 1)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438912" y="404164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 $200k (mean). Residuals show how wrong. Tree 1 learns to predict residuals.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154680" y="3621024"/>
            <a:ext cx="2743200" cy="12984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154680" y="3621024"/>
            <a:ext cx="54864" cy="12984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19272" y="37124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(Tree 2)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3319272" y="404164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Tree 2 predictions (× learning rate 0.1) to Round 1. Residuals get 10× smaller.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035040" y="3621024"/>
            <a:ext cx="2743200" cy="129844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035040" y="3621024"/>
            <a:ext cx="54864" cy="1298448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99632" y="37124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 rounds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199632" y="404164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approach zero. Each new tree corrects the remaining error of all previous trees.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Using Gradient Descent on Trees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8595360" cy="566928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509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95097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tree on RESIDUALS is mathematically equivalent to performing gradient descent in function space — we're moving the prediction in the direction that reduces loss most.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2761488" cy="331012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54864" cy="33101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72768"/>
            <a:ext cx="2761488" cy="36576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1848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regression: MSE = ½·(y − ŷ)²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5054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classification: Log-loss = −y·log(p) − (1−y)·log(1−p)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34198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tells us how 'wrong' the current model is for each sample.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8770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43342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MINIMIZE the total loss over the entire dataset.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1572768"/>
            <a:ext cx="2761488" cy="331012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572768"/>
            <a:ext cx="54864" cy="33101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572768"/>
            <a:ext cx="2761488" cy="3657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61848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Compute Gradients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9272" y="20482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∂L/∂ŷ (how loss changes with prediction)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25054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MSE: gradient = −(y − ŷ) = residual!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9272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log-loss: gradient = ŷ − y (probability error)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34198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9272" y="38770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gradients are the TARGET values for the next tree to learn.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9272" y="43342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gradient = direction of steepest loss decrease.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1572768"/>
            <a:ext cx="2761488" cy="331012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572768"/>
            <a:ext cx="54864" cy="3310128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572768"/>
            <a:ext cx="2761488" cy="36576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61848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Fit Tree on Gradients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20482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tree hₘ to predict the gradient values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25054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leaf learns the optimal step in gradient direction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9632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99632" y="34198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F̂ₘ = F̂ₘ₋₁ + η · hₘ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99632" y="38770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9632" y="43342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(learning rate) controls step size — exactly like neural network gradient descent!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787953"/>
            <a:ext cx="8595360" cy="347472"/>
          </a:xfrm>
          <a:prstGeom prst="rect">
            <a:avLst/>
          </a:prstGeom>
          <a:solidFill>
            <a:srgbClr val="0A2010"/>
          </a:solidFill>
          <a:ln w="19050">
            <a:solidFill>
              <a:srgbClr val="00D9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60573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differentiable loss function works — regression, classification, ranking, custom objectives. This is XGBoost's superpower.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Objective — What Makes It 'Extreme'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adds regularization directly into the objective — this is what separates it from vanilla gradient boosting.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914400"/>
          </a:xfrm>
          <a:prstGeom prst="rect">
            <a:avLst/>
          </a:prstGeom>
          <a:solidFill>
            <a:srgbClr val="060E18"/>
          </a:solidFill>
          <a:ln w="31750">
            <a:solidFill>
              <a:srgbClr val="0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61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Obj(θ)  =  Σᵢ L(yᵢ, ŷᵢ)  +  Σₖ Ω(fₖ)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term  +  Regularization 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084832"/>
            <a:ext cx="6949440" cy="658368"/>
          </a:xfrm>
          <a:prstGeom prst="rect">
            <a:avLst/>
          </a:prstGeom>
          <a:solidFill>
            <a:srgbClr val="060E18"/>
          </a:solidFill>
          <a:ln w="25400">
            <a:solidFill>
              <a:srgbClr val="9B6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488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Ω(f)  =  γ·T  +  ½λ·Σⱼ wⱼ²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1148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52928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L(yᵢ, ŷᵢ)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28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wrong each prediction is. MSE for regression, log-loss for classification. Standard from gradient boosting.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852928"/>
            <a:ext cx="41148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852928"/>
            <a:ext cx="54864" cy="914400"/>
          </a:xfrm>
          <a:prstGeom prst="rect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Ω(fₖ)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8076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3328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model complexity. XGBoost-exclusive. Prevents overfitting by discouraging too many leaves or large leaf weights.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41148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77056"/>
            <a:ext cx="54864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9684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· 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3968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penalty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352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(gamma) penalizes the NUMBER of leaves T. Higher γ → fewer splits → simpler trees. Set 0 for no pruning.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877056"/>
            <a:ext cx="411480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877056"/>
            <a:ext cx="54864" cy="91440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9684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½λ · Σwⱼ²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80760" y="3968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on weights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82312" y="4352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(lambda) penalizes LARGE leaf weight values wⱼ. Like L2/Ridge regularization in linear regression. Smooths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Approximation — Why XGBoost is Faster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uses a 2nd-order Taylor expansion of the loss — this gives a closed-form optimal leaf weight, skipping expensive iterations.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41248"/>
          </a:xfrm>
          <a:prstGeom prst="rect">
            <a:avLst/>
          </a:prstGeom>
          <a:solidFill>
            <a:srgbClr val="060E18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≈  Σᵢ [ L(yᵢ, ŷᵢ⁽ᵗ⁻¹⁾)  +  gᵢ·fₜ(xᵢ)  +  ½·hᵢ·fₜ(xᵢ)² ]  +  Ω(fₜ)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gᵢ = ∂L/∂ŷᵢ (1st derivative = gradient)     and     hᵢ = ∂²L/∂ŷᵢ² (2nd derivative = Hessian)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420624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93392"/>
            <a:ext cx="54864" cy="14173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848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gᵢ (Gradient)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245059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derivative of loss w.r.t. prediction.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MSE: gᵢ = ŷᵢ − yᵢ (residual)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log-loss: gᵢ = pᵢ − yᵢ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us: in which DIRECTION to move 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993392"/>
            <a:ext cx="420624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93392"/>
            <a:ext cx="54864" cy="14173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0848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hᵢ (Hessian)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245059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derivative of loss w.r.t. prediction.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MSE: hᵢ = 1 (constant)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log-loss: hᵢ = pᵢ(1−pᵢ)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us: how FAST to move (curvature)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731520"/>
          </a:xfrm>
          <a:prstGeom prst="rect">
            <a:avLst/>
          </a:prstGeom>
          <a:solidFill>
            <a:srgbClr val="060E18"/>
          </a:solidFill>
          <a:ln w="25400">
            <a:solidFill>
              <a:srgbClr val="00D9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593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leaf weight: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w*ⱼ  =  − Σᵢ∈Iⱼ gᵢ  /  (Σᵢ∈Iⱼ hᵢ + λ)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79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4379976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gradient boosting uses only gᵢ (first order). XGBoost uses BOTH gᵢ and hᵢ — the Hessian acts like an adaptive learning rate, making convergence faster and more stable.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 — Tuning XGBoost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4572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005840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033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06240" y="1005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Number of trees. More = better accuracy until overfitting. Combine with early_stopping_rounds.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26464"/>
            <a:ext cx="54864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99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1517904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545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0.3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0" y="1517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η — shrinks each tree's contribution. Lower (0.01–0.1) + more trees = best combo. The most important param.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38528"/>
            <a:ext cx="54864" cy="45720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2029968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057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0" y="20299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 of each tree. XGBoost uses shallow trees (3–8). Deeper = more complex, higher overfit risk.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450592"/>
            <a:ext cx="54864" cy="45720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80360" y="2542032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5694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1.0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06240" y="2542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Fraction of training rows per tree. 0.8 means 80% random sample. Adds variance reduction like RF.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62656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62656"/>
            <a:ext cx="54864" cy="457200"/>
          </a:xfrm>
          <a:prstGeom prst="rect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colsample_bytree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80360" y="3054096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081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1.0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06240" y="3054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Fraction of features sampled per tree. Like Random Forest's max_features. 0.7–0.9 often optimal.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74720"/>
            <a:ext cx="54864" cy="45720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(min_split_loss)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80360" y="3566160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593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06240" y="3566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Minimum loss reduction to make a split. Higher γ → more conservative trees. Good for noisy data.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986784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986784"/>
            <a:ext cx="54864" cy="4572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 (L1)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880360" y="4078224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4105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206240" y="40782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L1 regularization on leaf weights. Produces sparse models (some weights = 0). Good for many features.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498848"/>
            <a:ext cx="54864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reg_lambda (L2)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880360" y="4590288"/>
            <a:ext cx="1188720" cy="256032"/>
          </a:xfrm>
          <a:prstGeom prst="rect">
            <a:avLst/>
          </a:prstGeom>
          <a:solidFill>
            <a:srgbClr val="060E1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4617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206240" y="4590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L2 regularization on leaf weights. Always active by default. Controls weight magnitude. Start here.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XGBoost Features — Early Stopping &amp; Tree Pruning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416052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160520" cy="38404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50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Stopping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081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with 1000 trees, how many do we actually need?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monitor validation loss every round. Stop when it hasn't improved for N rounds.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176272"/>
            <a:ext cx="3831336" cy="1005840"/>
          </a:xfrm>
          <a:prstGeom prst="rect">
            <a:avLst/>
          </a:prstGeom>
          <a:solidFill>
            <a:srgbClr val="060E1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231136"/>
            <a:ext cx="3721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xgb.XGBClassifier(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93776" y="2391156"/>
            <a:ext cx="3721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n_estimators=1000,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93776" y="2551176"/>
            <a:ext cx="3721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early_stopping_rounds=50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93776" y="2711196"/>
            <a:ext cx="3721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93776" y="2871216"/>
            <a:ext cx="3721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model.fit(X_tr, y_tr,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93776" y="3031236"/>
            <a:ext cx="3721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eval_set=[(X_val, y_val)])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38912" y="32918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Trains with n_estimators=1000 but stops early if val loss plateaus for 50 rounds. Returns best_ntree_limit automatically.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895344"/>
            <a:ext cx="3831336" cy="822960"/>
          </a:xfrm>
          <a:prstGeom prst="rect">
            <a:avLst/>
          </a:prstGeom>
          <a:solidFill>
            <a:srgbClr val="060E1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4014216"/>
            <a:ext cx="231038" cy="6583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958" y="4123944"/>
            <a:ext cx="231038" cy="5486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3285" y="4219042"/>
            <a:ext cx="231038" cy="45354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2611" y="4292194"/>
            <a:ext cx="231038" cy="38039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938" y="4350715"/>
            <a:ext cx="231038" cy="321869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1264" y="4394606"/>
            <a:ext cx="231038" cy="27797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80590" y="4423867"/>
            <a:ext cx="231038" cy="248717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9917" y="4438498"/>
            <a:ext cx="231038" cy="234086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79243" y="4445813"/>
            <a:ext cx="231038" cy="226771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8570" y="4449470"/>
            <a:ext cx="231038" cy="22311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7896" y="4451665"/>
            <a:ext cx="231038" cy="220919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222" y="4452396"/>
            <a:ext cx="231038" cy="2201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6549" y="4451665"/>
            <a:ext cx="231038" cy="220919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5875" y="4450933"/>
            <a:ext cx="231038" cy="221651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75202" y="4449470"/>
            <a:ext cx="231038" cy="22311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754880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vs. rounds → stops at ★ best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896112"/>
            <a:ext cx="416052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896112"/>
            <a:ext cx="4160520" cy="384048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950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Max-to-Root Pruning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73752" y="14081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CART trees: stop splitting if gain &lt; threshold (greedy).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73752" y="17739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grow the full tree to max_depth FIRST, then prune back nodes with negative gain.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2249424"/>
            <a:ext cx="777240" cy="34747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295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13832" y="2596896"/>
            <a:ext cx="18288" cy="21945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57800" y="2816352"/>
            <a:ext cx="777240" cy="32918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28620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51192" y="2596896"/>
            <a:ext cx="18288" cy="21945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95160" y="2816352"/>
            <a:ext cx="777240" cy="32918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28620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12080" y="3383280"/>
            <a:ext cx="713232" cy="310896"/>
          </a:xfrm>
          <a:prstGeom prst="rect">
            <a:avLst/>
          </a:prstGeom>
          <a:solidFill>
            <a:srgbClr val="E05050"/>
          </a:solidFill>
          <a:ln w="25400">
            <a:solidFill>
              <a:srgbClr val="E05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3429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Prune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0760" y="3383280"/>
            <a:ext cx="713232" cy="310896"/>
          </a:xfrm>
          <a:prstGeom prst="rect">
            <a:avLst/>
          </a:prstGeom>
          <a:solidFill>
            <a:srgbClr val="0F204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3429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49440" y="3383280"/>
            <a:ext cx="713232" cy="310896"/>
          </a:xfrm>
          <a:prstGeom prst="rect">
            <a:avLst/>
          </a:prstGeom>
          <a:solidFill>
            <a:srgbClr val="0F204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429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818120" y="3383280"/>
            <a:ext cx="713232" cy="310896"/>
          </a:xfrm>
          <a:prstGeom prst="rect">
            <a:avLst/>
          </a:prstGeom>
          <a:solidFill>
            <a:srgbClr val="E05050"/>
          </a:solidFill>
          <a:ln w="25400">
            <a:solidFill>
              <a:srgbClr val="E05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18120" y="3429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Prune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73752" y="3822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nodes: negative gain after full expansion → pruned away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73752" y="41422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XGBoost can discover beneficial splits BELOW seemingly bad ones — something greedy CART misses completely.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 Python — Full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5349240" cy="4069080"/>
          </a:xfrm>
          <a:prstGeom prst="rect">
            <a:avLst/>
          </a:prstGeom>
          <a:solidFill>
            <a:srgbClr val="060E1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95300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xgboost as xgb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02336" y="1020573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train_test_split, GridSearchCV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402336" y="1145846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roc_auc_score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02336" y="1271118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02336" y="1396391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02336" y="1461148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&amp; split data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02336" y="1606593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X_te, y_tr, y_te = train_test_split(X, y, test_size=0.2, random_state=42)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336" y="1805285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X_val, y_tr, y_val = train_test_split(X_tr, y_tr, test_size=0.1, random_state=42)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02336" y="1897482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02336" y="2022755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Define model with key hyperparameters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02336" y="2148028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xgb.XGBClassifier(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02336" y="2273301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    = 1000,   # upper bound — early stopping decides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02336" y="2398574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   = 0.05,   # low lr + many trees = best accuracy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02336" y="2523846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        = 6,     # shallow trees prevent overfitting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02336" y="2649119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subsample        = 0.8,   # row sampling like Random Forest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02336" y="2774392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colsample_bytree = 0.8,   # column sampling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02336" y="2899665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gamma            = 0.1,   # min gain to split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02336" y="3024938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reg_lambda       = 1.5,   # L2 regularization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02336" y="3150210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0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early_stopping_rounds = 50,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02336" y="3275483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eval_metric = 'logloss',  use_label_encoder=False,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02336" y="3400756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 = 42)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02336" y="3526029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02336" y="3651302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Train with validation monitoring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02336" y="3776574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model.fit(X_tr, y_tr, eval_set=[(X_val, y_val)], verbose=100)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02336" y="3901847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02336" y="4027120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Evaluate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02336" y="4152393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model.predict(X_te)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02336" y="4277666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y_prob = model.predict_proba(X_te)[:, 1]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02336" y="4402938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print(f'Accuracy: {accuracy_score(y_te, y_pred):.4f}')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02336" y="4528211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print(f'ROC-AUC : {roc_auc_score(y_te, y_prob):.4f}')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02336" y="4653484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02336" y="4778757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Feature importance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02336" y="4904030"/>
            <a:ext cx="5074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xgb.plot_importance(model, max_num_features=10)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806440" y="813541"/>
            <a:ext cx="301752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806440" y="813541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90498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89320" y="119758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xgboost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scikit-learn API. Also supports DMatrix format for max speed.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0" y="1819381"/>
            <a:ext cx="301752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806440" y="1819381"/>
            <a:ext cx="54864" cy="91440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191082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89320" y="220342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validation data here. XGBoost tracks loss each round and triggers early stopping automatically.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06440" y="2825221"/>
            <a:ext cx="301752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06440" y="2825221"/>
            <a:ext cx="54864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9320" y="291666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89320" y="320926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probability for each class. Use for ROC-AUC, threshold tuning, calibration.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06440" y="3831061"/>
            <a:ext cx="301752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806440" y="3831061"/>
            <a:ext cx="54864" cy="91440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392250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plot_importance()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89320" y="421510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plot. Types: 'weight' (split count), 'gain' (avg improvement), 'cover'.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06440" y="4744870"/>
            <a:ext cx="3017520" cy="347472"/>
          </a:xfrm>
          <a:prstGeom prst="rect">
            <a:avLst/>
          </a:prstGeom>
          <a:solidFill>
            <a:srgbClr val="0A182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20472" y="47794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works with DMatrix: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dmatrix = xgb.DMatrix(X, label=y)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Random Forest — Head-to-Head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87993"/>
            <a:ext cx="2148840" cy="384048"/>
          </a:xfrm>
          <a:prstGeom prst="rect">
            <a:avLst/>
          </a:prstGeom>
          <a:solidFill>
            <a:srgbClr val="0A18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4569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787993"/>
            <a:ext cx="3108960" cy="384048"/>
          </a:xfrm>
          <a:prstGeom prst="rect">
            <a:avLst/>
          </a:prstGeom>
          <a:solidFill>
            <a:srgbClr val="F5C842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82456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787993"/>
            <a:ext cx="3108960" cy="384048"/>
          </a:xfrm>
          <a:prstGeom prst="rect">
            <a:avLst/>
          </a:prstGeom>
          <a:solidFill>
            <a:srgbClr val="1A306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82456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81185"/>
            <a:ext cx="214884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17761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strategy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181185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217761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181185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217761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bagging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574377"/>
            <a:ext cx="214884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1095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reduction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574377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610953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↓ (corrects mistakes)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1574377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610953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↓ (averages diversity)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967569"/>
            <a:ext cx="214884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04145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1967569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004145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(sequential)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23560" y="1967569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004145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(parallel)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360761"/>
            <a:ext cx="214884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397337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(typical)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2360761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397337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2360761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2397337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but lower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2753953"/>
            <a:ext cx="214884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90529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2753953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79052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if mis-tuned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23560" y="2753953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79052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(more robust)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147145"/>
            <a:ext cx="214884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83721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68880" y="3147145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183721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params to tune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23560" y="3147145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3183721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more forgiving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540337"/>
            <a:ext cx="214884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57691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68880" y="3540337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3576913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natively ✅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23560" y="3540337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576913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impute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933529"/>
            <a:ext cx="214884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970105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68880" y="3933529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0" y="3970105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weight / cover types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23560" y="3933529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5000" y="3970105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impurity-based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4326721"/>
            <a:ext cx="214884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363297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468880" y="4326721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0" y="4363297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L1 + L2 + γ ✅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623560" y="4326721"/>
            <a:ext cx="3108960" cy="384048"/>
          </a:xfrm>
          <a:prstGeom prst="rect">
            <a:avLst/>
          </a:prstGeom>
          <a:solidFill>
            <a:srgbClr val="0B193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4363297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built-in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" y="4719913"/>
            <a:ext cx="214884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756489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468880" y="4719913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0" y="475648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Competitions, tabular data wins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623560" y="4719913"/>
            <a:ext cx="3108960" cy="384048"/>
          </a:xfrm>
          <a:prstGeom prst="rect">
            <a:avLst/>
          </a:prstGeom>
          <a:solidFill>
            <a:srgbClr val="0F2040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00" y="4756489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robust baseline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Advantages &amp; Disadvantages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44168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17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State-of-the-Art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most tabular data competitions. Often 5–15% better than Random Forest with proper tuning.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30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Regularization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386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(sparsity), L2 (smoothness), γ (leaf penalty) built into the objective. Resistant to overfitting.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70632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70632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43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Missing 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0998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optimal default direction for missing values — no imputation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83864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83864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57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Speed &amp; Parallelism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813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Column-parallel split finding, cache-optimized, GPU support. Faster than you'd expect for sequential.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97096"/>
            <a:ext cx="54864" cy="62179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2702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Flexible Loss Functions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binary/multiclass classification, ranking, custom objectives. One framework for everything.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344168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344168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417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Many Hyperparameters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73752" y="1673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important params. Requires careful tuning or auto-ml. More complex than Random Forest.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057400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057400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130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Sensitive to Outliers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73752" y="2386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amplifies outliers across rounds. Random Forest is more robust to noisy labels/features.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770632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770632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843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Slower Training than RF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73752" y="30998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nature can't be fully parallelized. RF is faster to train, especially with few trees.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483864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83864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557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Ideal for Small Data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73752" y="3813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&lt;500 samples, XGBoost can overfit even with regularization. Prefer simpler models.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4197096"/>
            <a:ext cx="4160520" cy="6217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4197096"/>
            <a:ext cx="54864" cy="62179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2702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for Unstructured Data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73752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text, audio — use CNNs/Transformers. XGBoost shines on tabular data only.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— When to Use XGBoost?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40389"/>
            <a:ext cx="4114800" cy="365760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038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XGBoost when: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9301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165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 have structured/tabular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782805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37669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Accuracy is the top priority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386309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41173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Dataset is 1k–10M+ rows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89813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677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Missing values present in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593317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48181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You're entering a Kaggle competition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196821"/>
            <a:ext cx="4114800" cy="512064"/>
          </a:xfrm>
          <a:prstGeom prst="rect">
            <a:avLst/>
          </a:prstGeom>
          <a:solidFill>
            <a:srgbClr val="0A201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51685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Need feature importance insights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740389"/>
            <a:ext cx="4114800" cy="36576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74038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XGBoost when: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9301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234165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Images, audio, or text data → use DL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1782805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837669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Very small datasets (&lt;500 samples)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386309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173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Need a fully interpretable model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989813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44677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Real-time inference &lt;1ms required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593317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648181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Time series with temporal patterns → LSTM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4196821"/>
            <a:ext cx="4114800" cy="512064"/>
          </a:xfrm>
          <a:prstGeom prst="rect">
            <a:avLst/>
          </a:prstGeom>
          <a:solidFill>
            <a:srgbClr val="1A0A0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251685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 is very clean, simple &amp; linear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709151"/>
            <a:ext cx="8595360" cy="402336"/>
          </a:xfrm>
          <a:prstGeom prst="rect">
            <a:avLst/>
          </a:prstGeom>
          <a:solidFill>
            <a:srgbClr val="0F204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000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4800053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Random Forest first (fast baseline), then XGBoost. If XGBoost gains &gt;2% — invest time in tuning. If not — RF is good enough and simpler to maintain.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54864" cy="11704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= Sequential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the mistakes of all previous trees. Targets residuals / gradients — unlike parallel bagging.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54864" cy="1170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82312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 function space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2312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applies gradient descent — but on TREES instead of parameters. gᵢ and hᵢ guide each new tree.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39696"/>
            <a:ext cx="54864" cy="1170432"/>
          </a:xfrm>
          <a:prstGeom prst="rect">
            <a:avLst/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31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Loss + Regularization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871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= Σ L(yᵢ,ŷᵢ) + Σ Ω(fₖ). Built-in L1, L2, and γ prevent overfitting directly at the math level.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139696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139696"/>
            <a:ext cx="54864" cy="1170432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231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82312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params: lr + n_estimators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2871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learning_rate (0.01–0.1) + high n_estimators + early stopping = best XGBoost recipe.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50592" y="3438144"/>
            <a:ext cx="411480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3438144"/>
            <a:ext cx="54864" cy="1170432"/>
          </a:xfrm>
          <a:prstGeom prst="rect">
            <a:avLst/>
          </a:prstGeom>
          <a:solidFill>
            <a:srgbClr val="9B60D0"/>
          </a:solidFill>
          <a:ln w="12700">
            <a:solidFill>
              <a:srgbClr val="9B6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3529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6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615184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 natively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15184" y="4169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optimal default split direction for NaN values. No imputation needed — unique XGBoost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A182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1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XGBoost.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2710</Words>
  <Application>Microsoft Office PowerPoint</Application>
  <PresentationFormat>On-screen Show (16:9)</PresentationFormat>
  <Paragraphs>387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 — AI Master Class</dc:title>
  <dc:subject>PptxGenJS Presentation</dc:subject>
  <dc:creator>PptxGenJS</dc:creator>
  <cp:lastModifiedBy>ahmed mansouri</cp:lastModifiedBy>
  <cp:revision>2</cp:revision>
  <dcterms:created xsi:type="dcterms:W3CDTF">2026-03-31T21:40:00Z</dcterms:created>
  <dcterms:modified xsi:type="dcterms:W3CDTF">2026-04-01T20:03:46Z</dcterms:modified>
</cp:coreProperties>
</file>
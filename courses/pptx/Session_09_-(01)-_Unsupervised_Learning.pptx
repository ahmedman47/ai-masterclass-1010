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B3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B300"/>
                </a:solidFill>
                <a:latin typeface="Arial"/>
              </a:rPr>
              <a:t>% Variance by PC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Explained</c:v>
                </c:pt>
              </c:strCache>
            </c:strRef>
          </c:tx>
          <c:spPr>
            <a:solidFill>
              <a:srgbClr val="FFB3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D25-4FC3-BE3C-3204E97F0735}"/>
              </c:ext>
            </c:extLst>
          </c:dPt>
          <c:dPt>
            <c:idx val="1"/>
            <c:invertIfNegative val="0"/>
            <c:bubble3D val="0"/>
            <c:spPr>
              <a:solidFill>
                <a:srgbClr val="00B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D25-4FC3-BE3C-3204E97F0735}"/>
              </c:ext>
            </c:extLst>
          </c:dPt>
          <c:dPt>
            <c:idx val="2"/>
            <c:invertIfNegative val="0"/>
            <c:bubble3D val="0"/>
            <c:spPr>
              <a:solidFill>
                <a:srgbClr val="00E6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D25-4FC3-BE3C-3204E97F0735}"/>
              </c:ext>
            </c:extLst>
          </c:dPt>
          <c:dPt>
            <c:idx val="3"/>
            <c:invertIfNegative val="0"/>
            <c:bubble3D val="0"/>
            <c:spPr>
              <a:solidFill>
                <a:srgbClr val="9C6FD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D25-4FC3-BE3C-3204E97F0735}"/>
              </c:ext>
            </c:extLst>
          </c:dPt>
          <c:dPt>
            <c:idx val="4"/>
            <c:invertIfNegative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D25-4FC3-BE3C-3204E97F0735}"/>
              </c:ext>
            </c:extLst>
          </c:dPt>
          <c:dPt>
            <c:idx val="5"/>
            <c:invertIfNegative val="0"/>
            <c:bubble3D val="0"/>
            <c:spPr>
              <a:solidFill>
                <a:srgbClr val="4FC3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D25-4FC3-BE3C-3204E97F073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PC1</c:v>
                </c:pt>
                <c:pt idx="1">
                  <c:v>PC2</c:v>
                </c:pt>
                <c:pt idx="2">
                  <c:v>PC3</c:v>
                </c:pt>
                <c:pt idx="3">
                  <c:v>PC4</c:v>
                </c:pt>
                <c:pt idx="4">
                  <c:v>PC5</c:v>
                </c:pt>
                <c:pt idx="5">
                  <c:v>PC6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28</c:v>
                </c:pt>
                <c:pt idx="2">
                  <c:v>12</c:v>
                </c:pt>
                <c:pt idx="3">
                  <c:v>7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D25-4FC3-BE3C-3204E97F07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D0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1A38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8D0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60F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E676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E676"/>
                </a:solidFill>
                <a:latin typeface="Arial"/>
              </a:rPr>
              <a:t>Cumulative Variance — cut at 95%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%</c:v>
                </c:pt>
              </c:strCache>
            </c:strRef>
          </c:tx>
          <c:spPr>
            <a:ln w="38100" cap="flat">
              <a:solidFill>
                <a:srgbClr val="00E67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E676"/>
              </a:solidFill>
              <a:ln w="9525" cap="flat">
                <a:solidFill>
                  <a:srgbClr val="00E676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E676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PC1</c:v>
                </c:pt>
                <c:pt idx="1">
                  <c:v>PC2</c:v>
                </c:pt>
                <c:pt idx="2">
                  <c:v>PC3</c:v>
                </c:pt>
                <c:pt idx="3">
                  <c:v>PC4</c:v>
                </c:pt>
                <c:pt idx="4">
                  <c:v>PC5</c:v>
                </c:pt>
                <c:pt idx="5">
                  <c:v>PC6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73</c:v>
                </c:pt>
                <c:pt idx="2">
                  <c:v>85</c:v>
                </c:pt>
                <c:pt idx="3">
                  <c:v>92</c:v>
                </c:pt>
                <c:pt idx="4">
                  <c:v>97</c:v>
                </c:pt>
                <c:pt idx="5">
                  <c:v>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531-42B6-B515-FDA6AAE05C4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8D0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A385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8D0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60F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2503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0C1F35"/>
          </a:solidFill>
          <a:ln w="254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-640080"/>
            <a:ext cx="3474720" cy="347472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C1F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91840"/>
            <a:ext cx="1828800" cy="1828800"/>
          </a:xfrm>
          <a:prstGeom prst="ellipse">
            <a:avLst/>
          </a:prstGeom>
          <a:solidFill>
            <a:srgbClr val="0C1F35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320040"/>
            <a:ext cx="1920240" cy="3657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20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68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0040" y="1444752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20040" y="21945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320040" y="320040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hidden patterns without labels — Clustering · Dimensionality Reduction · Anomaly Detection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712464"/>
            <a:ext cx="1298448" cy="310896"/>
          </a:xfrm>
          <a:prstGeom prst="rect">
            <a:avLst/>
          </a:prstGeom>
          <a:solidFill>
            <a:srgbClr val="0D203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71246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09928" y="3712464"/>
            <a:ext cx="1298448" cy="310896"/>
          </a:xfrm>
          <a:prstGeom prst="rect">
            <a:avLst/>
          </a:prstGeom>
          <a:solidFill>
            <a:srgbClr val="0D203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9928" y="371246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099816" y="3712464"/>
            <a:ext cx="1298448" cy="310896"/>
          </a:xfrm>
          <a:prstGeom prst="rect">
            <a:avLst/>
          </a:prstGeom>
          <a:solidFill>
            <a:srgbClr val="0D203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99816" y="371246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89704" y="3712464"/>
            <a:ext cx="1298448" cy="310896"/>
          </a:xfrm>
          <a:prstGeom prst="rect">
            <a:avLst/>
          </a:prstGeom>
          <a:solidFill>
            <a:srgbClr val="0D203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9704" y="371246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79592" y="3712464"/>
            <a:ext cx="1298448" cy="310896"/>
          </a:xfrm>
          <a:prstGeom prst="rect">
            <a:avLst/>
          </a:prstGeom>
          <a:solidFill>
            <a:srgbClr val="0D203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9592" y="371246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69480" y="3712464"/>
            <a:ext cx="1298448" cy="310896"/>
          </a:xfrm>
          <a:prstGeom prst="rect">
            <a:avLst/>
          </a:prstGeom>
          <a:solidFill>
            <a:srgbClr val="0D203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371246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4736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MASTER CLASS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420624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00BFA5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170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6984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8912" y="147218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vs Unsupervised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78308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difference &amp; when to choose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20624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64008" cy="117043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06984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28032" y="1472184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28032" y="1783080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DBSCAN · Hierarchical · Evaluation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276856"/>
            <a:ext cx="420624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76856"/>
            <a:ext cx="64008" cy="11704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386584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38912" y="278892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8912" y="309981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· t-SNE · UMAP · Autoencoders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276856"/>
            <a:ext cx="420624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276856"/>
            <a:ext cx="64008" cy="11704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386584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28032" y="2788920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28032" y="3099816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· One-Class SVM · LOF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93592"/>
            <a:ext cx="420624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93592"/>
            <a:ext cx="64008" cy="1170432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703320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38912" y="410565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38912" y="441655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· FP-Growth · Market basket analysis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593592"/>
            <a:ext cx="420624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593592"/>
            <a:ext cx="64008" cy="1170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703320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828032" y="410565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28032" y="441655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&amp; how to use unsupervised learning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vs Unsupervised Learning — The Key Difference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4160520" cy="39319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42062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SUPERVISED Learning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5087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labels?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64208" y="150876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every sample has a correct answer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1783080"/>
            <a:ext cx="388620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842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64208" y="198424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mapping from input → known output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" y="2258568"/>
            <a:ext cx="388620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4597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learns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64208" y="245973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boundary or regression surface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734056"/>
            <a:ext cx="388620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9352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64208" y="293522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class labels or numeric values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8912" y="3209544"/>
            <a:ext cx="388620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4107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64208" y="341071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spam, house price, disease diagnosis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" y="3685032"/>
            <a:ext cx="388620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8862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64208" y="388620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Reg, Logistic Reg, RF, XGBoost, SVM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" y="4160520"/>
            <a:ext cx="388620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43616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64208" y="436168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labeled dataset — expensive to collect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960120"/>
            <a:ext cx="4160520" cy="39319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960120"/>
            <a:ext cx="4160520" cy="42062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024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UNSUPERVISED Learning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73752" y="15087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labels?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099048" y="150876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raw data only, no correct answers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73752" y="1783080"/>
            <a:ext cx="388620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19842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99048" y="198424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hidden structure &amp; patterns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73752" y="2258568"/>
            <a:ext cx="388620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73752" y="245973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learns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099048" y="245973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groupings, features, anomalies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73752" y="2734056"/>
            <a:ext cx="388620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29352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099048" y="293522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Clusters, compressed representations, scores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73752" y="3209544"/>
            <a:ext cx="388620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73752" y="34107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099048" y="341071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segments, fraud, topic modeling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73752" y="3685032"/>
            <a:ext cx="388620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73752" y="38862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099048" y="388620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DBSCAN, PCA, t-SNE, Autoencoder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73752" y="4160520"/>
            <a:ext cx="388620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73752" y="43616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099048" y="436168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raw data — much easier to collect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Unsupervised Learning? The Real-World Problem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8595360" cy="621792"/>
          </a:xfrm>
          <a:prstGeom prst="rect">
            <a:avLst/>
          </a:prstGeom>
          <a:solidFill>
            <a:srgbClr val="0D2035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Truth: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02412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real world, 99% of data has NO labels. Labeling is expensive, slow, and sometimes impossible. Unsupervised learning lets us extract value from raw, unlabeled data — which is everywhere.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2057400" cy="3218688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37360"/>
            <a:ext cx="2057400" cy="40233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922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Labels Available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240280"/>
            <a:ext cx="1874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has 10 million patient records but no doctor has labeled them. Clustering can find patient sub-groups automatically.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977640"/>
            <a:ext cx="1892808" cy="822960"/>
          </a:xfrm>
          <a:prstGeom prst="rect">
            <a:avLst/>
          </a:prstGeom>
          <a:solidFill>
            <a:srgbClr val="060F1A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041648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0.5%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" y="4407408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real data is labeled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450592" y="1737360"/>
            <a:ext cx="2057400" cy="3218688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1737360"/>
            <a:ext cx="2057400" cy="402336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7922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Explore Unknown 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240280"/>
            <a:ext cx="1874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 new dataset. You don't know its structure. Unsupervised methods reveal what patterns exist BEFORE you build any model.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42032" y="3977640"/>
            <a:ext cx="1892808" cy="822960"/>
          </a:xfrm>
          <a:prstGeom prst="rect">
            <a:avLst/>
          </a:prstGeom>
          <a:solidFill>
            <a:srgbClr val="060F1A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4041648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first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560320" y="4407408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always, always, always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26864" y="1737360"/>
            <a:ext cx="2057400" cy="3218688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1737360"/>
            <a:ext cx="2057400" cy="40233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17922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Reduce Complexity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36592" y="2240280"/>
            <a:ext cx="1874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 expression dataset has 30,000 features. PCA compresses it to 50 components while keeping 95% of the information.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18304" y="3977640"/>
            <a:ext cx="1892808" cy="822960"/>
          </a:xfrm>
          <a:prstGeom prst="rect">
            <a:avLst/>
          </a:prstGeom>
          <a:solidFill>
            <a:srgbClr val="060F1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4041648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600× less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36592" y="4407408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needed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03136" y="1737360"/>
            <a:ext cx="2057400" cy="3218688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03136" y="1737360"/>
            <a:ext cx="2057400" cy="40233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94576" y="17922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Detect the Unknown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12864" y="2240280"/>
            <a:ext cx="1874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 label fraud types you've never seen. Anomaly detection flags anything that looks unusual — no fraud labels needed.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94576" y="3977640"/>
            <a:ext cx="1892808" cy="822960"/>
          </a:xfrm>
          <a:prstGeom prst="rect">
            <a:avLst/>
          </a:prstGeom>
          <a:solidFill>
            <a:srgbClr val="060F1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12864" y="4041648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$42B+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912864" y="4407408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prevented yearly by ML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0"/>
          <p:cNvSpPr/>
          <p:nvPr/>
        </p:nvSpPr>
        <p:spPr>
          <a:xfrm>
            <a:off x="3227832" y="4353351"/>
            <a:ext cx="2743200" cy="794449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 of Unsupervised Learning — Full 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1170432"/>
            <a:ext cx="2194560" cy="65836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117043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896112"/>
            <a:ext cx="2743200" cy="402336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96112"/>
            <a:ext cx="2743200" cy="34747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418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3350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K-Means — partition into K centroids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8836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DBSCAN — density-based, finds any shape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4323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Hierarchical — tree of merges/splits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29809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Gaussian Mixture — soft probabilistic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35295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Mean Shift — finds density peaks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40782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Spectral — graph-based partitioning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938528"/>
            <a:ext cx="2743200" cy="1591056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200400" y="1938528"/>
            <a:ext cx="2743200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9842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DIM. REDUCTION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3774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PCA — linear variance maximization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7157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t-SNE — nonlinear visualization (2D/3D)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28416" y="3017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UMAP — faster, preserves global struct.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87268" y="4353351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Autoencoders — neural network compress.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45720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LDA — topic discovery in text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896112"/>
            <a:ext cx="2743200" cy="402336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896112"/>
            <a:ext cx="274320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94183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13350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Isolation Forest — isolates outliers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55080" y="18836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One-Class SVM — decision boundary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243230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Local Outlier Factor (LOF) — density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5080" y="29809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Autoencoder — reconstruction error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55080" y="35295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Elliptic Envelope — Gaussian assumption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55080" y="407822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Z-Score / IQR — statistical baseline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165438" y="3968493"/>
            <a:ext cx="2743200" cy="347472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51238" y="4014213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50692" y="315736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Apriori — frequent itemsets + rules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37560" y="4796025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FP-Growth — faster tree-based mining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926080" y="1463040"/>
            <a:ext cx="548640" cy="2743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0" y="1463040"/>
            <a:ext cx="548640" cy="274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1828800"/>
            <a:ext cx="27432" cy="1097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>
            <a:off x="4480561" y="3590775"/>
            <a:ext cx="45719" cy="386866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0C1F35"/>
          </a:solidFill>
          <a:ln w="25400">
            <a:solidFill>
              <a:srgbClr val="00E6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-457200"/>
            <a:ext cx="3200400" cy="32004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C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C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320040" y="18288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320040" y="257860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similar data points — without labels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4754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MASTER CLASS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— The Classic Algorithm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955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n data points into exactly K clusters by iteratively optimizing centroid positions.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530352"/>
          </a:xfrm>
          <a:prstGeom prst="rect">
            <a:avLst/>
          </a:prstGeom>
          <a:solidFill>
            <a:srgbClr val="0D2035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881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088136"/>
            <a:ext cx="7452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students randomly assigned to 3 study groups. Each round, they move to the group whose center is closest. Groups shift until no one wants to switch. That's K-Means.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719072"/>
            <a:ext cx="2029968" cy="1719072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78408" y="1847088"/>
            <a:ext cx="621792" cy="621792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18470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259689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889504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K centroids randomly in the feature space. (Or use K-Means++ for smarter initialization.)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22576" y="2286000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50592" y="1719072"/>
            <a:ext cx="2029968" cy="1719072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847088"/>
            <a:ext cx="621792" cy="621792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8470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42032" y="259689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42032" y="2889504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each data point to the nearest centroid using Euclidean distance: argmin ||xᵢ − μₖ||²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98848" y="2286000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26864" y="1719072"/>
            <a:ext cx="2029968" cy="1719072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30952" y="1847088"/>
            <a:ext cx="621792" cy="621792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0952" y="18470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18304" y="259689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18304" y="2889504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each centroid as the mean of all points assigned to it: μₖ = (1/|Cₖ|) · Σᵢ∈Cₖ xᵢ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675120" y="2286000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03136" y="1719072"/>
            <a:ext cx="2029968" cy="1719072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07224" y="1847088"/>
            <a:ext cx="621792" cy="62179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07224" y="184708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894576" y="259689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94576" y="2889504"/>
            <a:ext cx="18653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steps 2–3 until centroids stop moving (convergence) or max iterations reached.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566160"/>
            <a:ext cx="2743200" cy="1389888"/>
          </a:xfrm>
          <a:prstGeom prst="rect">
            <a:avLst/>
          </a:prstGeom>
          <a:solidFill>
            <a:srgbClr val="0D2035"/>
          </a:solidFill>
          <a:ln w="1905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566160"/>
            <a:ext cx="64008" cy="138988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65760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Function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8912" y="3986784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inertia = Σₖ Σᵢ∈Cₖ ||xᵢ − μₖ||²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inertia = tighter, more compact clusters.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154680" y="3566160"/>
            <a:ext cx="2743200" cy="1389888"/>
          </a:xfrm>
          <a:prstGeom prst="rect">
            <a:avLst/>
          </a:prstGeom>
          <a:solidFill>
            <a:srgbClr val="0D2035"/>
          </a:solidFill>
          <a:ln w="19050">
            <a:solidFill>
              <a:srgbClr val="00BFA5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154680" y="3566160"/>
            <a:ext cx="64008" cy="138988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9272" y="365760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K: Elbow Method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19272" y="3986784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inertia vs K. The 'elbow' where the curve bends is the optimal K. Also use Silhouette Score.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035040" y="3566160"/>
            <a:ext cx="2743200" cy="1389888"/>
          </a:xfrm>
          <a:prstGeom prst="rect">
            <a:avLst/>
          </a:prstGeom>
          <a:solidFill>
            <a:srgbClr val="0D2035"/>
          </a:solidFill>
          <a:ln w="1905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35040" y="3566160"/>
            <a:ext cx="64008" cy="138988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365760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199632" y="3986784"/>
            <a:ext cx="24871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spherical clusters. Sensitive to outliers and K choice. Fails on non-convex shapes.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— Density-Based Clustering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955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clusters of ANY shape and automatically labels outliers as noise — no K needed.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206240" cy="39319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4206240" cy="3657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— Key Concepts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6139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(epsilon)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19072" y="161392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 radius. Any point within ε distance is a 'neighbor'. You choose this parameter.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029439"/>
            <a:ext cx="393192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18084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minPts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19072" y="218084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number of points within ε to form a dense region. Typical: minPts = 2× dimensions.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" y="2468616"/>
            <a:ext cx="393192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74777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Point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19072" y="274777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 with at least minPts neighbors within ε. The 'dense' center of a cluster.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" y="3022096"/>
            <a:ext cx="393192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31470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Point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19072" y="331470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ε of a core point but has fewer than minPts neighbors itself. At the cluster edge.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" y="3589024"/>
            <a:ext cx="393192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88163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Point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19072" y="388163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core point and not within ε of any core point. Labeled −1. These are OUTLIERS!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8912" y="4155952"/>
            <a:ext cx="393192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44485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19072" y="4448560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clusters from core points by density-reachability. No centroids, no K needed.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1024128"/>
            <a:ext cx="4160520" cy="1920240"/>
          </a:xfrm>
          <a:prstGeom prst="rect">
            <a:avLst/>
          </a:prstGeom>
          <a:solidFill>
            <a:srgbClr val="060F1A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0972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 Point Types in DBSCAN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06440" y="1463040"/>
            <a:ext cx="1737360" cy="1325880"/>
          </a:xfrm>
          <a:prstGeom prst="ellipse">
            <a:avLst/>
          </a:prstGeom>
          <a:solidFill>
            <a:srgbClr val="1A2E40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60920" y="155448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901952"/>
            <a:ext cx="292608" cy="29260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12280" y="19202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897880" y="1618488"/>
            <a:ext cx="201168" cy="20116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95160" y="1554480"/>
            <a:ext cx="201168" cy="20116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52160" y="2139696"/>
            <a:ext cx="201168" cy="20116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13448" y="2286000"/>
            <a:ext cx="201168" cy="20116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23560" y="26243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983480" y="1618488"/>
            <a:ext cx="182880" cy="1828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1499616"/>
            <a:ext cx="182880" cy="1828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10328" y="2441448"/>
            <a:ext cx="182880" cy="1828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92440" y="171907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09160" y="3035808"/>
            <a:ext cx="1508760" cy="329184"/>
          </a:xfrm>
          <a:prstGeom prst="rect">
            <a:avLst/>
          </a:prstGeom>
          <a:solidFill>
            <a:srgbClr val="1A2E4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64024" y="30815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17920" y="3035808"/>
            <a:ext cx="1280160" cy="329184"/>
          </a:xfrm>
          <a:prstGeom prst="rect">
            <a:avLst/>
          </a:prstGeom>
          <a:solidFill>
            <a:srgbClr val="FFB3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72784" y="30815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498080" y="3035808"/>
            <a:ext cx="1280160" cy="329184"/>
          </a:xfrm>
          <a:prstGeom prst="rect">
            <a:avLst/>
          </a:prstGeom>
          <a:solidFill>
            <a:srgbClr val="00BFA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52944" y="308152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09160" y="3383280"/>
            <a:ext cx="1508760" cy="32918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64024" y="342900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K?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17920" y="3383280"/>
            <a:ext cx="1280160" cy="32918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72784" y="34290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498080" y="3383280"/>
            <a:ext cx="1280160" cy="32918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52944" y="34290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✅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709160" y="3730752"/>
            <a:ext cx="1508760" cy="32918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64024" y="37764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shape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17920" y="3730752"/>
            <a:ext cx="1280160" cy="32918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72784" y="37764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only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498080" y="3730752"/>
            <a:ext cx="1280160" cy="32918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52944" y="37764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shape ✅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709160" y="4078224"/>
            <a:ext cx="1508760" cy="32918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64024" y="412394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handling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217920" y="4078224"/>
            <a:ext cx="1280160" cy="32918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72784" y="41239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into cluster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498080" y="4078224"/>
            <a:ext cx="1280160" cy="32918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52944" y="41239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as noise ✅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709160" y="4425696"/>
            <a:ext cx="1508760" cy="32918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64024" y="447141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217920" y="4425696"/>
            <a:ext cx="1280160" cy="32918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72784" y="44714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O(n·K·iter) — fast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498080" y="4425696"/>
            <a:ext cx="1280160" cy="32918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552944" y="44714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— slower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709160" y="4773168"/>
            <a:ext cx="1508760" cy="32918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64024" y="481888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217920" y="4773168"/>
            <a:ext cx="1280160" cy="32918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72784" y="48188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blobs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498080" y="4773168"/>
            <a:ext cx="1280160" cy="329184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52944" y="48188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shapes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 — Tree of Relationships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955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dendrogram: a hierarchy of merges/splits. You choose K AFTER seeing the full tree.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02920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98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069848"/>
            <a:ext cx="7452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taxonomy: species → genus → family → order → class → phylum → kingdom. Each merge captures a level of similarity. The dendrogram IS your model — you cut it wherever you want.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4206240" cy="329184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645920"/>
            <a:ext cx="4206240" cy="36576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007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 (Bottom-Up) — most common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139696"/>
            <a:ext cx="256032" cy="256032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39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" y="2121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each data point is its own cluster (n clusters)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679192"/>
            <a:ext cx="256032" cy="256032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6791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2660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two closest clusters (using linkage method)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218688"/>
            <a:ext cx="256032" cy="256032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186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them into one cluster (n−1 clusters now)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758184"/>
            <a:ext cx="256032" cy="256032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758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37398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all points are in one cluster (root)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4297680"/>
            <a:ext cx="256032" cy="256032"/>
          </a:xfrm>
          <a:prstGeom prst="ellipse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297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" y="42793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dendrogram at desired height to get K clusters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" y="4709160"/>
            <a:ext cx="4005072" cy="182880"/>
          </a:xfrm>
          <a:prstGeom prst="rect">
            <a:avLst/>
          </a:prstGeom>
          <a:solidFill>
            <a:srgbClr val="1A2E40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736592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Linkage: Single (min dist) · Complete (max dist) · Average · Ward (min variance — most popular)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1645920"/>
            <a:ext cx="4206240" cy="2194560"/>
          </a:xfrm>
          <a:prstGeom prst="rect">
            <a:avLst/>
          </a:prstGeom>
          <a:solidFill>
            <a:srgbClr val="060F1A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7190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 — cut at height 3 → 3 clusters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3520440"/>
            <a:ext cx="201168" cy="20116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73989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49240" y="3520440"/>
            <a:ext cx="201168" cy="20116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30952" y="373989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0" y="3520440"/>
            <a:ext cx="201168" cy="20116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25312" y="373989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66560" y="3520440"/>
            <a:ext cx="201168" cy="20116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48272" y="373989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06640" y="3520440"/>
            <a:ext cx="201168" cy="20116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88352" y="373989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46720" y="3520440"/>
            <a:ext cx="201168" cy="20116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28432" y="373989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37760" y="3127248"/>
            <a:ext cx="521208" cy="2743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37760" y="3127248"/>
            <a:ext cx="27432" cy="39319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40680" y="3127248"/>
            <a:ext cx="27432" cy="39319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0" y="3127248"/>
            <a:ext cx="658368" cy="2743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98080" y="3127248"/>
            <a:ext cx="27432" cy="39319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38160" y="3127248"/>
            <a:ext cx="27432" cy="39319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84648" y="2697480"/>
            <a:ext cx="868680" cy="274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184648" y="2697480"/>
            <a:ext cx="27432" cy="4297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35040" y="2697480"/>
            <a:ext cx="27432" cy="82296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0" y="2834640"/>
            <a:ext cx="3931920" cy="228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98080" y="279806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cut here = 3 clusters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63440" y="3931920"/>
            <a:ext cx="4206240" cy="100584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663440" y="3931920"/>
            <a:ext cx="64008" cy="10058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28032" y="400507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Divisive (Top-Down)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828032" y="426110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big cluster, recursively split into smaller ones. Less common but useful when you only need top-level groups. DIANA algorithm implements this approach.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Evaluate Clustering? — No Labels, No Problem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0467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ground truth labels, we use internal metrics that measure cohesion (within-cluster tightness) and separation (between-cluster distance).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0" cy="1828800"/>
          </a:xfrm>
          <a:prstGeom prst="rect">
            <a:avLst/>
          </a:prstGeom>
          <a:solidFill>
            <a:srgbClr val="0D2035"/>
          </a:solidFill>
          <a:ln w="1905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182880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4300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1472184"/>
            <a:ext cx="3858768" cy="310896"/>
          </a:xfrm>
          <a:prstGeom prst="rect">
            <a:avLst/>
          </a:prstGeom>
          <a:solidFill>
            <a:srgbClr val="060F1A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0876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s(i) = (b(i) − a(i)) / max(a(i), b(i))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to +1  (higher = better)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1856232"/>
            <a:ext cx="1965960" cy="201168"/>
          </a:xfrm>
          <a:prstGeom prst="rect">
            <a:avLst/>
          </a:prstGeom>
          <a:solidFill>
            <a:srgbClr val="1A2E4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187452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&gt; 0.5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213055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a(i) = avg distance to same cluster. b(i) = avg distance to nearest other cluster. Score near +1 means well-clustered. Near 0 = on boundary. Near −1 = wrong cluster.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051560"/>
            <a:ext cx="4114800" cy="1828800"/>
          </a:xfrm>
          <a:prstGeom prst="rect">
            <a:avLst/>
          </a:prstGeom>
          <a:solidFill>
            <a:srgbClr val="0D2035"/>
          </a:solidFill>
          <a:ln w="19050">
            <a:solidFill>
              <a:srgbClr val="00BFA5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051560"/>
            <a:ext cx="64008" cy="18288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114300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 Index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82312" y="1472184"/>
            <a:ext cx="3858768" cy="310896"/>
          </a:xfrm>
          <a:prstGeom prst="rect">
            <a:avLst/>
          </a:prstGeom>
          <a:solidFill>
            <a:srgbClr val="060F1A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150876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= (1/K) · Σₖ max_{k≠l} (σₖ+σₗ)/d(cₖ,cₗ)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82312" y="18379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∞  (lower = better)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1856232"/>
            <a:ext cx="1965960" cy="201168"/>
          </a:xfrm>
          <a:prstGeom prst="rect">
            <a:avLst/>
          </a:prstGeom>
          <a:solidFill>
            <a:srgbClr val="1A2E40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187452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&lt; 0.5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82312" y="2130552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of within-cluster scatter to between-cluster distance. Lower DB = clusters are compact AND well-separated from each other.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990088"/>
            <a:ext cx="4114800" cy="1828800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90088"/>
            <a:ext cx="64008" cy="18288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08152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(WCSS)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38912" y="3410712"/>
            <a:ext cx="3858768" cy="310896"/>
          </a:xfrm>
          <a:prstGeom prst="rect">
            <a:avLst/>
          </a:prstGeom>
          <a:solidFill>
            <a:srgbClr val="060F1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44728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Σₖ Σᵢ∈Cₖ ||xᵢ − μₖ||²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8912" y="37764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∞  (lower = better)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0" y="3794760"/>
            <a:ext cx="1965960" cy="201168"/>
          </a:xfrm>
          <a:prstGeom prst="rect">
            <a:avLst/>
          </a:prstGeom>
          <a:solidFill>
            <a:srgbClr val="1A2E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31720" y="381304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Elbow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" y="4069080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squared distances to cluster centroids. Used in the Elbow Method: plot inertia vs K and look for the 'elbow' — where the benefit of adding K diminishes.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2990088"/>
            <a:ext cx="4114800" cy="1828800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17720" y="2990088"/>
            <a:ext cx="64008" cy="182880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82312" y="308152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Calinski-Harabasz Index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82312" y="3410712"/>
            <a:ext cx="3858768" cy="310896"/>
          </a:xfrm>
          <a:prstGeom prst="rect">
            <a:avLst/>
          </a:prstGeom>
          <a:solidFill>
            <a:srgbClr val="060F1A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344728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C6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 = [tr(Bₖ)/(K−1)] / [tr(Wₖ)/(n−K)]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82312" y="37764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to ∞  (higher = better)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29400" y="3794760"/>
            <a:ext cx="1965960" cy="201168"/>
          </a:xfrm>
          <a:prstGeom prst="rect">
            <a:avLst/>
          </a:prstGeom>
          <a:solidFill>
            <a:srgbClr val="1A2E40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381304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Maximize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82312" y="4069080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of between-cluster to within-cluster dispersion. Higher = more defined clusters. Fast to compute. Works well for convex clusters.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0C1F35"/>
          </a:solidFill>
          <a:ln w="25400">
            <a:solidFill>
              <a:srgbClr val="FFB3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-457200"/>
            <a:ext cx="3200400" cy="32004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C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C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320040" y="18288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320040" y="257860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4754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MASTER CLASS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732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 of Dimensionality — Why We Need Dim. Reduction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8595360" cy="594360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241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08760" y="102412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number of features (dimensions) grows, data becomes increasingly sparse. Distance metrics lose meaning. Models overfit. Storage explodes. We need to reduce dimensions while keeping the information that matters.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19072"/>
            <a:ext cx="2048256" cy="1572768"/>
          </a:xfrm>
          <a:prstGeom prst="rect">
            <a:avLst/>
          </a:prstGeom>
          <a:solidFill>
            <a:srgbClr val="0D2035"/>
          </a:solidFill>
          <a:ln w="1905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19072"/>
            <a:ext cx="2048256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5564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Distance Loses Meaning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139696"/>
            <a:ext cx="18836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1000D space, all points are nearly equidistant. KNN breaks down. Clusters become impossible to find.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719072"/>
            <a:ext cx="2048256" cy="1572768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719072"/>
            <a:ext cx="2048256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75564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Storage Explodes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42032" y="2139696"/>
            <a:ext cx="18836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with 1000×1000 pixels = 1 million features. Most ML algorithms become impractical above 10k dims.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2048256" cy="1572768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2048256" cy="347472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8304" y="175564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Sparsity Problem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18304" y="2139696"/>
            <a:ext cx="18836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100D space, you'd need 2¹⁰⁰ samples to fill it. You never have enough data — models see only empty space.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3136" y="1719072"/>
            <a:ext cx="2048256" cy="1572768"/>
          </a:xfrm>
          <a:prstGeom prst="rect">
            <a:avLst/>
          </a:prstGeom>
          <a:solidFill>
            <a:srgbClr val="0D2035"/>
          </a:solidFill>
          <a:ln w="19050">
            <a:solidFill>
              <a:srgbClr val="00BFA5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719072"/>
            <a:ext cx="2048256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175564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Complexity / Overfit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894576" y="2139696"/>
            <a:ext cx="18836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irrelevant features add noise. The model learns noise instead of signal. Generalization collapses.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401568"/>
            <a:ext cx="8595360" cy="384048"/>
          </a:xfrm>
          <a:prstGeom prst="rect">
            <a:avLst/>
          </a:prstGeom>
          <a:solidFill>
            <a:srgbClr val="0A2010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46557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Benefits of Dimensionality Reduction: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3465576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training · Less storage · Better visualisation · Removes noise · Helps other algorithms (KNN, SVM, K-Means) work better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877056"/>
            <a:ext cx="4206240" cy="1024128"/>
          </a:xfrm>
          <a:prstGeom prst="rect">
            <a:avLst/>
          </a:prstGeom>
          <a:solidFill>
            <a:srgbClr val="0D2035"/>
          </a:solidFill>
          <a:ln w="19050">
            <a:solidFill>
              <a:srgbClr val="00BFA5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877056"/>
            <a:ext cx="64008" cy="102412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968496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8912" y="4315968"/>
            <a:ext cx="3950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most important features, drop the rest. Variance threshold, correlation filter, mutual information. Features stay interpretable.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877056"/>
            <a:ext cx="4206240" cy="1024128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877056"/>
            <a:ext cx="64008" cy="10241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73752" y="3968496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73752" y="4315968"/>
            <a:ext cx="3950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existing features into new ones. PCA, t-SNE, autoencoders. New features may not be directly interpretable but capture most information.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Principal Component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955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directions of maximum variance in data and project onto them. The most widely used dim. reduction method.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261872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12618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9728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PCA does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426464"/>
            <a:ext cx="3858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the coordinate system so the first axis (PC1) captures maximum variance, PC2 the next most, etc. It's a change of basis — no information is lost at this stage.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377440"/>
            <a:ext cx="4114800" cy="1261872"/>
          </a:xfrm>
          <a:prstGeom prst="rect">
            <a:avLst/>
          </a:prstGeom>
          <a:solidFill>
            <a:srgbClr val="0D2035"/>
          </a:solidFill>
          <a:ln w="19050">
            <a:solidFill>
              <a:srgbClr val="00BFA5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77440"/>
            <a:ext cx="64008" cy="12618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46888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" y="2798064"/>
            <a:ext cx="3858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covariance matrix → eigendecomposition → eigenvectors = principal components → eigenvalues = variance explained by each PC. Select top K.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3749040"/>
            <a:ext cx="4114800" cy="1261872"/>
          </a:xfrm>
          <a:prstGeom prst="rect">
            <a:avLst/>
          </a:prstGeom>
          <a:solidFill>
            <a:srgbClr val="0D2035"/>
          </a:solidFill>
          <a:ln w="1905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749040"/>
            <a:ext cx="64008" cy="126187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840480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PCs?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" y="4169664"/>
            <a:ext cx="3858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cumulative explained variance vs number of components. Choose K where curve levels off (e.g., 95% variance). Use scree plot for visual guidance.</a:t>
            </a:r>
            <a:endParaRPr lang="en-US" sz="105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4572000" y="1005840"/>
          <a:ext cx="425196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hart 1"/>
          <p:cNvGraphicFramePr/>
          <p:nvPr/>
        </p:nvGraphicFramePr>
        <p:xfrm>
          <a:off x="4572000" y="3154680"/>
          <a:ext cx="42519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&amp; UMAP — Nonlinear Visualization Methods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955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PCA's straight lines aren't enough — visualize complex manifolds in 2D/3D.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08581"/>
            <a:ext cx="4160520" cy="39319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08581"/>
            <a:ext cx="4160520" cy="384048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2589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— t-distributed Stochastic Neighbor Embedding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602357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72768" y="1602357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distances to probabilities in high-D. Finds 2D layout where those probabilities match. Points that are similar → stay close in 2D.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2059557"/>
            <a:ext cx="388620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269869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72768" y="2269869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 (5–50). Controls 'number of neighbors'. Lower = local structure. Higher = global structure. Tune carefully!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2727069"/>
            <a:ext cx="388620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937381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Non-parametric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2937381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'transform' for new data — you must re-run on the whole dataset. Can't transform a new test point.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" y="3394581"/>
            <a:ext cx="388620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604893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72768" y="3604893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2D/3D visualizations of clusters. Images, text embeddings, genomics data. Reveals structure invisible to PCA.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" y="4062093"/>
            <a:ext cx="388620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4272405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72768" y="4272405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O(n²). No global structure guarantee. Random seed matters! Results may vary between runs. Can't be used for downstream modeling.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108581"/>
            <a:ext cx="4160520" cy="39319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108581"/>
            <a:ext cx="4160520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1172589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— Uniform Manifold Approximation and Projection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73752" y="1602357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07608" y="1602357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Riemannian geometry and algebraic topology. Builds a weighted graph from high-D data and optimizes a low-D graph to match.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73752" y="2059557"/>
            <a:ext cx="388620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3752" y="2269869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07608" y="2269869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perplexity in t-SNE. Controls local vs global structure balance. 15 is default. Try 5–100.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73752" y="2727069"/>
            <a:ext cx="388620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2937381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07608" y="2937381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transform new data points without rerunning! Great for production: fit on train, transform test.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73752" y="3394581"/>
            <a:ext cx="388620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3604893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07608" y="3604893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datasets (faster than t-SNE). Preserves more global structure. Better for downstream tasks after dimensionality reduction.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73752" y="4062093"/>
            <a:ext cx="3886200" cy="18288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4272405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t-SNE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07608" y="4272405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5–10× faster. Preserves global structure better. More stable results. Also great for preprocessing before clustering or classification.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0C1F35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-457200"/>
            <a:ext cx="3200400" cy="32004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C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C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320040" y="18288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320040" y="257860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4754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MASTER CLASS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8874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— Finding the Unusual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55672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94673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data points that don't fit the normal pattern — no anomaly labels required.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502920"/>
          </a:xfrm>
          <a:prstGeom prst="rect">
            <a:avLst/>
          </a:prstGeom>
          <a:solidFill>
            <a:srgbClr val="0D2035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examples: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102412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· Network intrusion · Industrial sensor faults · Medical anomalies · Fake reviews · Rare disease patterns · Defective products on assembly 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2743200" cy="3383280"/>
          </a:xfrm>
          <a:prstGeom prst="rect">
            <a:avLst/>
          </a:prstGeom>
          <a:solidFill>
            <a:srgbClr val="0D2035"/>
          </a:solidFill>
          <a:ln w="1905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72768"/>
            <a:ext cx="64008" cy="33832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72768"/>
            <a:ext cx="2743200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184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" y="202996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2267712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random trees that isolate points by random splits. Anomalies are isolated with fewer splits — they get shorter paths through the tree.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323697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param: contamination param controls expected % of outliers.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3602736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Fast, scalable, works well in high dimensions, handles multivariate anomalies.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4178808"/>
            <a:ext cx="2542032" cy="292608"/>
          </a:xfrm>
          <a:prstGeom prst="rect">
            <a:avLst/>
          </a:prstGeom>
          <a:solidFill>
            <a:srgbClr val="060F1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42153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IsolationForest(contamination=0.05)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4553712"/>
            <a:ext cx="2542032" cy="329184"/>
          </a:xfrm>
          <a:prstGeom prst="rect">
            <a:avLst/>
          </a:prstGeom>
          <a:solidFill>
            <a:srgbClr val="1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4590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Anomaly score → threshold → flag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54680" y="1572768"/>
            <a:ext cx="2743200" cy="3383280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1572768"/>
            <a:ext cx="64008" cy="33832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1572768"/>
            <a:ext cx="2743200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46120" y="16184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Outlier Factor (LOF)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9272" y="202996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19272" y="2267712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local density of a point to the density of its neighbors. Points in low-density neighborhoods relative to neighbors = outliers.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19272" y="323697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param: n_neighbors param: how many neighbors define 'local'.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19272" y="3602736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Finds anomalies in varying-density data. Great for local outliers.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64408" y="4178808"/>
            <a:ext cx="2542032" cy="292608"/>
          </a:xfrm>
          <a:prstGeom prst="rect">
            <a:avLst/>
          </a:prstGeom>
          <a:solidFill>
            <a:srgbClr val="060F1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00984" y="42153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LocalOutlierFactor(n_neighbors=20)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64408" y="4553712"/>
            <a:ext cx="2542032" cy="329184"/>
          </a:xfrm>
          <a:prstGeom prst="rect">
            <a:avLst/>
          </a:prstGeom>
          <a:solidFill>
            <a:srgbClr val="1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00984" y="4590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Anomaly score → threshold → flag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35040" y="1572768"/>
            <a:ext cx="2743200" cy="3383280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1572768"/>
            <a:ext cx="64008" cy="338328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1572768"/>
            <a:ext cx="2743200" cy="347472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16184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One-Class SVM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99632" y="202996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199632" y="2267712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decision boundary around 'normal' training data in a high-D kernel space. New points outside the boundary = anomalies.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99632" y="323697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param: nu param controls the upper bound on outlier fraction.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99632" y="3602736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Works well with clear normal boundary. Kernel trick handles nonlinear cases.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44768" y="4178808"/>
            <a:ext cx="2542032" cy="292608"/>
          </a:xfrm>
          <a:prstGeom prst="rect">
            <a:avLst/>
          </a:prstGeom>
          <a:solidFill>
            <a:srgbClr val="060F1A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81344" y="421538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6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OneClassSVM(nu=0.05, kernel='rbf')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44768" y="4553712"/>
            <a:ext cx="2542032" cy="329184"/>
          </a:xfrm>
          <a:prstGeom prst="rect">
            <a:avLst/>
          </a:prstGeom>
          <a:solidFill>
            <a:srgbClr val="1A0A0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81344" y="4590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Anomaly score → threshold → flag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0C1F35"/>
          </a:solidFill>
          <a:ln w="25400">
            <a:solidFill>
              <a:srgbClr val="9C6F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-457200"/>
            <a:ext cx="3200400" cy="32004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C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3657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C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320040" y="182880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320040" y="257860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4754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MASTER CLASS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9547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 — Market Basket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62400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87949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items that frequently occur together in transactions. If {A} then → {B}.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502920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example: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02412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discovered that customers buying diapers also tend to buy beer on Friday evenings. They placed them close together and sales of BOTH increased. Data-driven insight — no human intuition needed.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2743200" cy="2267712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72768"/>
            <a:ext cx="64008" cy="2267712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6642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" y="1993392"/>
            <a:ext cx="2487168" cy="292608"/>
          </a:xfrm>
          <a:prstGeom prst="rect">
            <a:avLst/>
          </a:prstGeom>
          <a:solidFill>
            <a:srgbClr val="060F1A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02996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C6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supp(A→B) = P(A ∪ B)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340864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does the itemset {A,B} appear in ALL transactions? Measures frequency. Low support = rare pattern. Set min_support to filter.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3218688"/>
            <a:ext cx="2542032" cy="530352"/>
          </a:xfrm>
          <a:prstGeom prst="rect">
            <a:avLst/>
          </a:prstGeom>
          <a:solidFill>
            <a:srgbClr val="1A2E40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2552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Out of 1000 baskets, {bread,butter} appears 200 times → support = 20%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54680" y="1572768"/>
            <a:ext cx="2743200" cy="2267712"/>
          </a:xfrm>
          <a:prstGeom prst="rect">
            <a:avLst/>
          </a:prstGeom>
          <a:solidFill>
            <a:srgbClr val="0D2035"/>
          </a:solidFill>
          <a:ln w="19050">
            <a:solidFill>
              <a:srgbClr val="00BFA5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572768"/>
            <a:ext cx="64008" cy="226771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16642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19272" y="1993392"/>
            <a:ext cx="2487168" cy="292608"/>
          </a:xfrm>
          <a:prstGeom prst="rect">
            <a:avLst/>
          </a:prstGeom>
          <a:solidFill>
            <a:srgbClr val="060F1A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202996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conf(A→B) = P(B|A) = supp(A∪B)/supp(A)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9272" y="2340864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 is in the basket, how likely is B also there? Measures rule reliability. High confidence = strong implication.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4408" y="3218688"/>
            <a:ext cx="2542032" cy="530352"/>
          </a:xfrm>
          <a:prstGeom prst="rect">
            <a:avLst/>
          </a:prstGeom>
          <a:solidFill>
            <a:srgbClr val="1A2E40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00984" y="32552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Of 200 {bread} baskets, 140 also have butter → confidence = 70%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35040" y="1572768"/>
            <a:ext cx="2743200" cy="2267712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572768"/>
            <a:ext cx="64008" cy="226771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16642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99632" y="1993392"/>
            <a:ext cx="2487168" cy="292608"/>
          </a:xfrm>
          <a:prstGeom prst="rect">
            <a:avLst/>
          </a:prstGeom>
          <a:solidFill>
            <a:srgbClr val="060F1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2029968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lift(A→B) = conf(A→B) / P(B)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99632" y="2340864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more likely is B with A than without? Lift &gt; 1 = positive association. Lift = 1 = independent. Lift &lt; 1 = negative.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44768" y="3218688"/>
            <a:ext cx="2542032" cy="530352"/>
          </a:xfrm>
          <a:prstGeom prst="rect">
            <a:avLst/>
          </a:prstGeom>
          <a:solidFill>
            <a:srgbClr val="1A2E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1344" y="32552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Butter appears in 30% of all baskets. Lift = 70%/30% = 2.33 → strong!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931920"/>
            <a:ext cx="2743200" cy="1024128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931920"/>
            <a:ext cx="64008" cy="1024128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40233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Algorithm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8912" y="433425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all candidate itemsets. Prune those below min_support. Join surviving ones to find larger sets. Simple but SLOW for large data — O(2ⁿ) candidates.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54680" y="3931920"/>
            <a:ext cx="2743200" cy="1024128"/>
          </a:xfrm>
          <a:prstGeom prst="rect">
            <a:avLst/>
          </a:prstGeom>
          <a:solidFill>
            <a:srgbClr val="0D2035"/>
          </a:solidFill>
          <a:ln w="1905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54680" y="3931920"/>
            <a:ext cx="64008" cy="102412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9272" y="40233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FP-Growth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319272" y="433425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compact FP-tree structure. Mine patterns directly from the tree without generating candidates. 10–100× faster than Apriori. Preferred in practice.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35040" y="3931920"/>
            <a:ext cx="2743200" cy="1024128"/>
          </a:xfrm>
          <a:prstGeom prst="rect">
            <a:avLst/>
          </a:prstGeom>
          <a:solidFill>
            <a:srgbClr val="0D2035"/>
          </a:solidFill>
          <a:ln w="19050">
            <a:solidFill>
              <a:srgbClr val="00BFA5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35040" y="3931920"/>
            <a:ext cx="64008" cy="102412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99632" y="402336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199632" y="4334256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recommendations · Web page navigation patterns · Medical co-diagnosis patterns · Cross-selling · Playlist generation · Document co-occurrence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1564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in Python — Key Implementations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35502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63788"/>
            <a:ext cx="4251960" cy="3931920"/>
          </a:xfrm>
          <a:prstGeom prst="rect">
            <a:avLst/>
          </a:prstGeom>
          <a:solidFill>
            <a:srgbClr val="050D1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818652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CLUSTERING ─────────────────────────────</a:t>
            </a:r>
            <a:endParaRPr lang="en-US" sz="840" dirty="0"/>
          </a:p>
        </p:txBody>
      </p:sp>
      <p:sp>
        <p:nvSpPr>
          <p:cNvPr id="6" name="Text 4"/>
          <p:cNvSpPr/>
          <p:nvPr/>
        </p:nvSpPr>
        <p:spPr>
          <a:xfrm>
            <a:off x="402336" y="953069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sklearn.cluster import KMeans, DBSCAN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402336" y="1087486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402336" y="1221902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40" dirty="0"/>
          </a:p>
        </p:txBody>
      </p:sp>
      <p:sp>
        <p:nvSpPr>
          <p:cNvPr id="9" name="Text 7"/>
          <p:cNvSpPr/>
          <p:nvPr/>
        </p:nvSpPr>
        <p:spPr>
          <a:xfrm>
            <a:off x="402336" y="1356319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840" dirty="0"/>
          </a:p>
        </p:txBody>
      </p:sp>
      <p:sp>
        <p:nvSpPr>
          <p:cNvPr id="10" name="Text 8"/>
          <p:cNvSpPr/>
          <p:nvPr/>
        </p:nvSpPr>
        <p:spPr>
          <a:xfrm>
            <a:off x="402336" y="1490736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X_scaled = scaler.fit_transform(X)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402336" y="1625153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402336" y="1759570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K-Means</a:t>
            </a:r>
            <a:endParaRPr lang="en-US" sz="840" dirty="0"/>
          </a:p>
        </p:txBody>
      </p:sp>
      <p:sp>
        <p:nvSpPr>
          <p:cNvPr id="13" name="Text 11"/>
          <p:cNvSpPr/>
          <p:nvPr/>
        </p:nvSpPr>
        <p:spPr>
          <a:xfrm>
            <a:off x="402336" y="1893986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 = KMeans(n_clusters=3, init='k-means++',</a:t>
            </a:r>
            <a:endParaRPr lang="en-US" sz="840" dirty="0"/>
          </a:p>
        </p:txBody>
      </p:sp>
      <p:sp>
        <p:nvSpPr>
          <p:cNvPr id="14" name="Text 12"/>
          <p:cNvSpPr/>
          <p:nvPr/>
        </p:nvSpPr>
        <p:spPr>
          <a:xfrm>
            <a:off x="402336" y="2028403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n_init=10, random_state=42)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402336" y="2162820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km.fit_predict(X_scaled)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402336" y="2297237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print('Inertia:', km.inertia_)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402336" y="2431654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402336" y="2566070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DBSCAN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402336" y="2700487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= DBSCAN(eps=0.5, min_samples=5)</a:t>
            </a:r>
            <a:endParaRPr lang="en-US" sz="840" dirty="0"/>
          </a:p>
        </p:txBody>
      </p:sp>
      <p:sp>
        <p:nvSpPr>
          <p:cNvPr id="20" name="Text 18"/>
          <p:cNvSpPr/>
          <p:nvPr/>
        </p:nvSpPr>
        <p:spPr>
          <a:xfrm>
            <a:off x="402336" y="2834904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db_labels = db.fit_predict(X_scaled)  # -1=noise</a:t>
            </a:r>
            <a:endParaRPr lang="en-US" sz="840" dirty="0"/>
          </a:p>
        </p:txBody>
      </p:sp>
      <p:sp>
        <p:nvSpPr>
          <p:cNvPr id="21" name="Text 19"/>
          <p:cNvSpPr/>
          <p:nvPr/>
        </p:nvSpPr>
        <p:spPr>
          <a:xfrm>
            <a:off x="402336" y="2969321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40" dirty="0"/>
          </a:p>
        </p:txBody>
      </p:sp>
      <p:sp>
        <p:nvSpPr>
          <p:cNvPr id="22" name="Text 20"/>
          <p:cNvSpPr/>
          <p:nvPr/>
        </p:nvSpPr>
        <p:spPr>
          <a:xfrm>
            <a:off x="402336" y="3103738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Silhouette score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402336" y="3238154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silhouette_score</a:t>
            </a:r>
            <a:endParaRPr lang="en-US" sz="840" dirty="0"/>
          </a:p>
        </p:txBody>
      </p:sp>
      <p:sp>
        <p:nvSpPr>
          <p:cNvPr id="24" name="Text 22"/>
          <p:cNvSpPr/>
          <p:nvPr/>
        </p:nvSpPr>
        <p:spPr>
          <a:xfrm>
            <a:off x="402336" y="3372571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 = silhouette_score(X_scaled, labels)</a:t>
            </a:r>
            <a:endParaRPr lang="en-US" sz="840" dirty="0"/>
          </a:p>
        </p:txBody>
      </p:sp>
      <p:sp>
        <p:nvSpPr>
          <p:cNvPr id="25" name="Text 23"/>
          <p:cNvSpPr/>
          <p:nvPr/>
        </p:nvSpPr>
        <p:spPr>
          <a:xfrm>
            <a:off x="402336" y="3506988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print(f'Silhouette: {sil:.3f}')</a:t>
            </a:r>
            <a:endParaRPr lang="en-US" sz="840" dirty="0"/>
          </a:p>
        </p:txBody>
      </p:sp>
      <p:sp>
        <p:nvSpPr>
          <p:cNvPr id="26" name="Text 24"/>
          <p:cNvSpPr/>
          <p:nvPr/>
        </p:nvSpPr>
        <p:spPr>
          <a:xfrm>
            <a:off x="402336" y="3641405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402336" y="3775822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DIMENSIONALITY REDUCTION ────────────────</a:t>
            </a:r>
            <a:endParaRPr lang="en-US" sz="840" dirty="0"/>
          </a:p>
        </p:txBody>
      </p:sp>
      <p:sp>
        <p:nvSpPr>
          <p:cNvPr id="28" name="Text 26"/>
          <p:cNvSpPr/>
          <p:nvPr/>
        </p:nvSpPr>
        <p:spPr>
          <a:xfrm>
            <a:off x="402336" y="3910238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sklearn.decomposition import PCA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402336" y="4044655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sklearn.manifold import TSNE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402336" y="4179072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402336" y="4313489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 = PCA(n_components=0.95)  # keep 95% var</a:t>
            </a:r>
            <a:endParaRPr lang="en-US" sz="840" dirty="0"/>
          </a:p>
        </p:txBody>
      </p:sp>
      <p:sp>
        <p:nvSpPr>
          <p:cNvPr id="32" name="Text 30"/>
          <p:cNvSpPr/>
          <p:nvPr/>
        </p:nvSpPr>
        <p:spPr>
          <a:xfrm>
            <a:off x="402336" y="4447906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X_pca = pca.fit_transform(X_scaled)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402336" y="4582322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print('Components:', pca.n_components_)</a:t>
            </a:r>
            <a:endParaRPr lang="en-US" sz="840" dirty="0"/>
          </a:p>
        </p:txBody>
      </p:sp>
      <p:sp>
        <p:nvSpPr>
          <p:cNvPr id="34" name="Shape 32"/>
          <p:cNvSpPr/>
          <p:nvPr/>
        </p:nvSpPr>
        <p:spPr>
          <a:xfrm>
            <a:off x="4663440" y="763788"/>
            <a:ext cx="4251960" cy="3931920"/>
          </a:xfrm>
          <a:prstGeom prst="rect">
            <a:avLst/>
          </a:prstGeom>
          <a:solidFill>
            <a:srgbClr val="050D1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91456" y="818652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t-SNE for visualization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4791456" y="953069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tsne = TSNE(n_components=2, perplexity=30,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4791456" y="1087486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random_state=42)</a:t>
            </a:r>
            <a:endParaRPr lang="en-US" sz="840" dirty="0"/>
          </a:p>
        </p:txBody>
      </p:sp>
      <p:sp>
        <p:nvSpPr>
          <p:cNvPr id="38" name="Text 36"/>
          <p:cNvSpPr/>
          <p:nvPr/>
        </p:nvSpPr>
        <p:spPr>
          <a:xfrm>
            <a:off x="4791456" y="1221902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X_2d = tsne.fit_transform(X_scaled)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4791456" y="1356319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40" dirty="0"/>
          </a:p>
        </p:txBody>
      </p:sp>
      <p:sp>
        <p:nvSpPr>
          <p:cNvPr id="40" name="Text 38"/>
          <p:cNvSpPr/>
          <p:nvPr/>
        </p:nvSpPr>
        <p:spPr>
          <a:xfrm>
            <a:off x="4791456" y="1490736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ANOMALY DETECTION ───────────────────────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4791456" y="1625153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IsolationForest</a:t>
            </a:r>
            <a:endParaRPr lang="en-US" sz="840" dirty="0"/>
          </a:p>
        </p:txBody>
      </p:sp>
      <p:sp>
        <p:nvSpPr>
          <p:cNvPr id="42" name="Text 40"/>
          <p:cNvSpPr/>
          <p:nvPr/>
        </p:nvSpPr>
        <p:spPr>
          <a:xfrm>
            <a:off x="4791456" y="1759570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sklearn.neighbors import LocalOutlierFactor</a:t>
            </a:r>
            <a:endParaRPr lang="en-US" sz="840" dirty="0"/>
          </a:p>
        </p:txBody>
      </p:sp>
      <p:sp>
        <p:nvSpPr>
          <p:cNvPr id="43" name="Text 41"/>
          <p:cNvSpPr/>
          <p:nvPr/>
        </p:nvSpPr>
        <p:spPr>
          <a:xfrm>
            <a:off x="4791456" y="1893986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40" dirty="0"/>
          </a:p>
        </p:txBody>
      </p:sp>
      <p:sp>
        <p:nvSpPr>
          <p:cNvPr id="44" name="Text 42"/>
          <p:cNvSpPr/>
          <p:nvPr/>
        </p:nvSpPr>
        <p:spPr>
          <a:xfrm>
            <a:off x="4791456" y="2028403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 = IsolationForest(contamination=0.05,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4791456" y="2162820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random_state=42)</a:t>
            </a:r>
            <a:endParaRPr lang="en-US" sz="840" dirty="0"/>
          </a:p>
        </p:txBody>
      </p:sp>
      <p:sp>
        <p:nvSpPr>
          <p:cNvPr id="46" name="Text 44"/>
          <p:cNvSpPr/>
          <p:nvPr/>
        </p:nvSpPr>
        <p:spPr>
          <a:xfrm>
            <a:off x="4791456" y="2297237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iso.fit_predict(X_scaled)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4791456" y="2431654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scores: 1=normal, -1=anomaly</a:t>
            </a:r>
            <a:endParaRPr lang="en-US" sz="840" dirty="0"/>
          </a:p>
        </p:txBody>
      </p:sp>
      <p:sp>
        <p:nvSpPr>
          <p:cNvPr id="48" name="Text 46"/>
          <p:cNvSpPr/>
          <p:nvPr/>
        </p:nvSpPr>
        <p:spPr>
          <a:xfrm>
            <a:off x="4791456" y="2566070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40" dirty="0"/>
          </a:p>
        </p:txBody>
      </p:sp>
      <p:sp>
        <p:nvSpPr>
          <p:cNvPr id="49" name="Text 47"/>
          <p:cNvSpPr/>
          <p:nvPr/>
        </p:nvSpPr>
        <p:spPr>
          <a:xfrm>
            <a:off x="4791456" y="2700487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lof = LocalOutlierFactor(n_neighbors=20)</a:t>
            </a:r>
            <a:endParaRPr lang="en-US" sz="840" dirty="0"/>
          </a:p>
        </p:txBody>
      </p:sp>
      <p:sp>
        <p:nvSpPr>
          <p:cNvPr id="50" name="Text 48"/>
          <p:cNvSpPr/>
          <p:nvPr/>
        </p:nvSpPr>
        <p:spPr>
          <a:xfrm>
            <a:off x="4791456" y="2834904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lof_scores = lof.fit_predict(X_scaled)</a:t>
            </a:r>
            <a:endParaRPr lang="en-US" sz="840" dirty="0"/>
          </a:p>
        </p:txBody>
      </p:sp>
      <p:sp>
        <p:nvSpPr>
          <p:cNvPr id="51" name="Text 49"/>
          <p:cNvSpPr/>
          <p:nvPr/>
        </p:nvSpPr>
        <p:spPr>
          <a:xfrm>
            <a:off x="4791456" y="2969321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4791456" y="3103738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A9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 ASSOCIATION RULES ───────────────────────</a:t>
            </a:r>
            <a:endParaRPr lang="en-US" sz="840" dirty="0"/>
          </a:p>
        </p:txBody>
      </p:sp>
      <p:sp>
        <p:nvSpPr>
          <p:cNvPr id="53" name="Text 51"/>
          <p:cNvSpPr/>
          <p:nvPr/>
        </p:nvSpPr>
        <p:spPr>
          <a:xfrm>
            <a:off x="4791456" y="3238154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9C6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mlxtend.frequent_patterns import apriori</a:t>
            </a:r>
            <a:endParaRPr lang="en-US" sz="840" dirty="0"/>
          </a:p>
        </p:txBody>
      </p:sp>
      <p:sp>
        <p:nvSpPr>
          <p:cNvPr id="54" name="Text 52"/>
          <p:cNvSpPr/>
          <p:nvPr/>
        </p:nvSpPr>
        <p:spPr>
          <a:xfrm>
            <a:off x="4791456" y="3372571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9C6F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mlxtend.frequent_patterns import association_rules</a:t>
            </a:r>
            <a:endParaRPr lang="en-US" sz="840" dirty="0"/>
          </a:p>
        </p:txBody>
      </p:sp>
      <p:sp>
        <p:nvSpPr>
          <p:cNvPr id="55" name="Text 53"/>
          <p:cNvSpPr/>
          <p:nvPr/>
        </p:nvSpPr>
        <p:spPr>
          <a:xfrm>
            <a:off x="4791456" y="3506988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40" dirty="0"/>
          </a:p>
        </p:txBody>
      </p:sp>
      <p:sp>
        <p:nvSpPr>
          <p:cNvPr id="56" name="Text 54"/>
          <p:cNvSpPr/>
          <p:nvPr/>
        </p:nvSpPr>
        <p:spPr>
          <a:xfrm>
            <a:off x="4791456" y="3641405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 = apriori(df_encoded, min_support=0.2,</a:t>
            </a:r>
            <a:endParaRPr lang="en-US" sz="840" dirty="0"/>
          </a:p>
        </p:txBody>
      </p:sp>
      <p:sp>
        <p:nvSpPr>
          <p:cNvPr id="57" name="Text 55"/>
          <p:cNvSpPr/>
          <p:nvPr/>
        </p:nvSpPr>
        <p:spPr>
          <a:xfrm>
            <a:off x="4791456" y="3775822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use_colnames=True)</a:t>
            </a:r>
            <a:endParaRPr lang="en-US" sz="840" dirty="0"/>
          </a:p>
        </p:txBody>
      </p:sp>
      <p:sp>
        <p:nvSpPr>
          <p:cNvPr id="58" name="Text 56"/>
          <p:cNvSpPr/>
          <p:nvPr/>
        </p:nvSpPr>
        <p:spPr>
          <a:xfrm>
            <a:off x="4791456" y="3910238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 = association_rules(freq,</a:t>
            </a:r>
            <a:endParaRPr lang="en-US" sz="840" dirty="0"/>
          </a:p>
        </p:txBody>
      </p:sp>
      <p:sp>
        <p:nvSpPr>
          <p:cNvPr id="59" name="Text 57"/>
          <p:cNvSpPr/>
          <p:nvPr/>
        </p:nvSpPr>
        <p:spPr>
          <a:xfrm>
            <a:off x="4791456" y="4044655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metric='lift', min_threshold=1.5)</a:t>
            </a:r>
            <a:endParaRPr lang="en-US" sz="840" dirty="0"/>
          </a:p>
        </p:txBody>
      </p:sp>
      <p:sp>
        <p:nvSpPr>
          <p:cNvPr id="60" name="Text 58"/>
          <p:cNvSpPr/>
          <p:nvPr/>
        </p:nvSpPr>
        <p:spPr>
          <a:xfrm>
            <a:off x="4791456" y="4179072"/>
            <a:ext cx="4005072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rules.sort_values('lift', ascending=False)</a:t>
            </a:r>
            <a:endParaRPr lang="en-US" sz="840" dirty="0"/>
          </a:p>
        </p:txBody>
      </p:sp>
      <p:sp>
        <p:nvSpPr>
          <p:cNvPr id="61" name="Shape 59"/>
          <p:cNvSpPr/>
          <p:nvPr/>
        </p:nvSpPr>
        <p:spPr>
          <a:xfrm>
            <a:off x="274320" y="4764020"/>
            <a:ext cx="8595360" cy="274320"/>
          </a:xfrm>
          <a:prstGeom prst="rect">
            <a:avLst/>
          </a:prstGeom>
          <a:solidFill>
            <a:srgbClr val="0A1E1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480059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scikit-learn mlxtend umap-learn  |  import umap; reducer = umap.UMAP(); X_umap = reducer.fit_transform(X_scaled)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 of Unsupervised Learning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2048256" cy="196596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048256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E-Commerce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38074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655064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groups customers by behavior → personalized marketing campaigns for each segment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642616"/>
            <a:ext cx="1883664" cy="219456"/>
          </a:xfrm>
          <a:prstGeom prst="rect">
            <a:avLst/>
          </a:prstGeom>
          <a:solidFill>
            <a:srgbClr val="060F1A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2670048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K-Means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50592" y="960120"/>
            <a:ext cx="2048256" cy="196596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960120"/>
            <a:ext cx="2048256" cy="34747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100584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Streaming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138074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1655064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users with similar listening patterns (collaborative filtering uses clustering at core)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42032" y="2642616"/>
            <a:ext cx="1883664" cy="219456"/>
          </a:xfrm>
          <a:prstGeom prst="rect">
            <a:avLst/>
          </a:prstGeom>
          <a:solidFill>
            <a:srgbClr val="060F1A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2670048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Hierarchical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26864" y="960120"/>
            <a:ext cx="2048256" cy="196596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960120"/>
            <a:ext cx="2048256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100584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Healthcare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6592" y="138074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Sub-groups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36592" y="1655064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patients with similar symptoms/genetics → personalized treatment protocols per group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18304" y="2642616"/>
            <a:ext cx="1883664" cy="219456"/>
          </a:xfrm>
          <a:prstGeom prst="rect">
            <a:avLst/>
          </a:prstGeom>
          <a:solidFill>
            <a:srgbClr val="060F1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670048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DBSCAN + PCA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803136" y="960120"/>
            <a:ext cx="2048256" cy="196596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960120"/>
            <a:ext cx="2048256" cy="3474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94576" y="1005840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Cybersecurity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12864" y="138074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12864" y="1655064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network traffic forms dense clusters. Attacks = rare anomalies with low density scores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94576" y="2642616"/>
            <a:ext cx="1883664" cy="219456"/>
          </a:xfrm>
          <a:prstGeom prst="rect">
            <a:avLst/>
          </a:prstGeom>
          <a:solidFill>
            <a:srgbClr val="060F1A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31152" y="2670048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Isolation Forest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044952"/>
            <a:ext cx="2048256" cy="196596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044952"/>
            <a:ext cx="2048256" cy="347472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09067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NLP / Text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84048" y="346557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Modeling (LDA)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4048" y="3739896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latent topics in thousands of documents without any topic labels — pure unsupervised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727448"/>
            <a:ext cx="1883664" cy="219456"/>
          </a:xfrm>
          <a:prstGeom prst="rect">
            <a:avLst/>
          </a:prstGeom>
          <a:solidFill>
            <a:srgbClr val="060F1A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4754880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LDA / K-Means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450592" y="3044952"/>
            <a:ext cx="2048256" cy="196596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450592" y="3044952"/>
            <a:ext cx="2048256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42032" y="309067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Genomics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560320" y="346557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Expression Analysis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560320" y="3739896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thousands of genes or patients by expression profiles → discover disease subtypes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542032" y="4727448"/>
            <a:ext cx="1883664" cy="219456"/>
          </a:xfrm>
          <a:prstGeom prst="rect">
            <a:avLst/>
          </a:prstGeom>
          <a:solidFill>
            <a:srgbClr val="060F1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78608" y="4754880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PCA + UMAP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26864" y="3044952"/>
            <a:ext cx="2048256" cy="196596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26864" y="3044952"/>
            <a:ext cx="2048256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09067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Banking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36592" y="346557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736592" y="3739896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 are statistically rare — anomaly detection catches them automatically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18304" y="4727448"/>
            <a:ext cx="1883664" cy="219456"/>
          </a:xfrm>
          <a:prstGeom prst="rect">
            <a:avLst/>
          </a:prstGeom>
          <a:solidFill>
            <a:srgbClr val="060F1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4754880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LOF + IF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03136" y="3044952"/>
            <a:ext cx="2048256" cy="196596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858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803136" y="3044952"/>
            <a:ext cx="2048256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94576" y="3090672"/>
            <a:ext cx="1911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Manufacturing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912864" y="3465576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912864" y="3739896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from machines forms 'normal' clusters. Deviations predict failure before it happens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894576" y="4727448"/>
            <a:ext cx="1883664" cy="219456"/>
          </a:xfrm>
          <a:prstGeom prst="rect">
            <a:avLst/>
          </a:prstGeom>
          <a:solidFill>
            <a:srgbClr val="060F1A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31152" y="4754880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Autoencoder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 — Which Method Should You Use?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55675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25641"/>
            <a:ext cx="1417320" cy="384048"/>
          </a:xfrm>
          <a:prstGeom prst="rect">
            <a:avLst/>
          </a:prstGeom>
          <a:solidFill>
            <a:srgbClr val="0A1E3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62217"/>
            <a:ext cx="1344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719072" y="825641"/>
            <a:ext cx="1097280" cy="384048"/>
          </a:xfrm>
          <a:prstGeom prst="rect">
            <a:avLst/>
          </a:prstGeom>
          <a:solidFill>
            <a:srgbClr val="00E676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64792" y="862217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34640" y="825641"/>
            <a:ext cx="1097280" cy="384048"/>
          </a:xfrm>
          <a:prstGeom prst="rect">
            <a:avLst/>
          </a:prstGeom>
          <a:solidFill>
            <a:srgbClr val="00BFA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862217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50208" y="825641"/>
            <a:ext cx="1143000" cy="384048"/>
          </a:xfrm>
          <a:prstGeom prst="rect">
            <a:avLst/>
          </a:prstGeom>
          <a:solidFill>
            <a:srgbClr val="9C6FD6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95928" y="862217"/>
            <a:ext cx="1069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0" y="825641"/>
            <a:ext cx="914400" cy="384048"/>
          </a:xfrm>
          <a:prstGeom prst="rect">
            <a:avLst/>
          </a:prstGeom>
          <a:solidFill>
            <a:srgbClr val="FFB300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862217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53328" y="825641"/>
            <a:ext cx="1234440" cy="384048"/>
          </a:xfrm>
          <a:prstGeom prst="rect">
            <a:avLst/>
          </a:prstGeom>
          <a:solidFill>
            <a:srgbClr val="4FC3F7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99048" y="862217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/ UMAP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0" y="825641"/>
            <a:ext cx="1234440" cy="384048"/>
          </a:xfrm>
          <a:prstGeom prst="rect">
            <a:avLst/>
          </a:prstGeom>
          <a:solidFill>
            <a:srgbClr val="FF6B6B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862217"/>
            <a:ext cx="1161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209689"/>
            <a:ext cx="141732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246265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grouping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719072" y="1209689"/>
            <a:ext cx="109728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64792" y="1246265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834640" y="1209689"/>
            <a:ext cx="109728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0360" y="1246265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950208" y="1209689"/>
            <a:ext cx="114300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95928" y="1246265"/>
            <a:ext cx="1069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20640" y="1209689"/>
            <a:ext cx="91440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1246265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53328" y="1209689"/>
            <a:ext cx="123444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9048" y="1246265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315200" y="1209689"/>
            <a:ext cx="123444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60920" y="1246265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1612025"/>
            <a:ext cx="141732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1648601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visualize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719072" y="1612025"/>
            <a:ext cx="109728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64792" y="1648601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834640" y="1612025"/>
            <a:ext cx="109728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80360" y="1648601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950208" y="1612025"/>
            <a:ext cx="114300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95928" y="1648601"/>
            <a:ext cx="1069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120640" y="1612025"/>
            <a:ext cx="91440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66360" y="1648601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Linear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053328" y="1612025"/>
            <a:ext cx="123444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99048" y="1648601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2D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315200" y="1612025"/>
            <a:ext cx="123444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60920" y="1648601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2014361"/>
            <a:ext cx="141732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2050937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anomalies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719072" y="2014361"/>
            <a:ext cx="109728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64792" y="2050937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834640" y="2014361"/>
            <a:ext cx="109728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80360" y="2050937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Noise pts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950208" y="2014361"/>
            <a:ext cx="114300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995928" y="2050937"/>
            <a:ext cx="1069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5120640" y="2014361"/>
            <a:ext cx="91440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166360" y="2050937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053328" y="2014361"/>
            <a:ext cx="123444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99048" y="2050937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315200" y="2014361"/>
            <a:ext cx="123444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60920" y="2050937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74320" y="2416697"/>
            <a:ext cx="141732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2453273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K?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1719072" y="2416697"/>
            <a:ext cx="109728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764792" y="2453273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834640" y="2416697"/>
            <a:ext cx="109728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80360" y="2453273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950208" y="2416697"/>
            <a:ext cx="114300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95928" y="2453273"/>
            <a:ext cx="1069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view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120640" y="2416697"/>
            <a:ext cx="91440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66360" y="2453273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PCs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053328" y="2416697"/>
            <a:ext cx="123444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99048" y="2453273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2/3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315200" y="2416697"/>
            <a:ext cx="123444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60920" y="2453273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274320" y="2819033"/>
            <a:ext cx="141732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0040" y="2855609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shape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1719072" y="2819033"/>
            <a:ext cx="109728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764792" y="2855609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 only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834640" y="2819033"/>
            <a:ext cx="109728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880360" y="2855609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shape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950208" y="2819033"/>
            <a:ext cx="114300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995928" y="2855609"/>
            <a:ext cx="1069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shape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120640" y="2819033"/>
            <a:ext cx="91440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166360" y="2855609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053328" y="2819033"/>
            <a:ext cx="123444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099048" y="2855609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7315200" y="2819033"/>
            <a:ext cx="123444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360920" y="2855609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274320" y="3221369"/>
            <a:ext cx="141732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0040" y="3257945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dataset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1719072" y="3221369"/>
            <a:ext cx="109728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764792" y="3257945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Fast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834640" y="3221369"/>
            <a:ext cx="109728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880360" y="3257945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3950208" y="3221369"/>
            <a:ext cx="114300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995928" y="3257945"/>
            <a:ext cx="1069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O(n²)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5120640" y="3221369"/>
            <a:ext cx="91440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166360" y="3257945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Fast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6053328" y="3221369"/>
            <a:ext cx="123444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099048" y="3257945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Slow→UMAP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7315200" y="3221369"/>
            <a:ext cx="123444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360920" y="3257945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Fast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274320" y="3623705"/>
            <a:ext cx="141732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20040" y="3660281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data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1719072" y="3623705"/>
            <a:ext cx="109728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1764792" y="3660281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2834640" y="3623705"/>
            <a:ext cx="109728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880360" y="3660281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✅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3950208" y="3623705"/>
            <a:ext cx="114300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995928" y="3660281"/>
            <a:ext cx="1069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5120640" y="3623705"/>
            <a:ext cx="91440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166360" y="3660281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6053328" y="3623705"/>
            <a:ext cx="123444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099048" y="3660281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7315200" y="3623705"/>
            <a:ext cx="123444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360920" y="3660281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✅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274320" y="4026041"/>
            <a:ext cx="141732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20040" y="4062617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1719072" y="4026041"/>
            <a:ext cx="109728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764792" y="4062617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✅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2834640" y="4026041"/>
            <a:ext cx="109728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880360" y="4062617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3950208" y="4026041"/>
            <a:ext cx="114300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995928" y="4062617"/>
            <a:ext cx="1069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✅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5120640" y="4026041"/>
            <a:ext cx="91440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166360" y="4062617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126" name="Shape 124"/>
          <p:cNvSpPr/>
          <p:nvPr/>
        </p:nvSpPr>
        <p:spPr>
          <a:xfrm>
            <a:off x="6053328" y="4026041"/>
            <a:ext cx="123444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099048" y="4062617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7315200" y="4026041"/>
            <a:ext cx="1234440" cy="402336"/>
          </a:xfrm>
          <a:prstGeom prst="rect">
            <a:avLst/>
          </a:prstGeom>
          <a:solidFill>
            <a:srgbClr val="0D2035"/>
          </a:solidFill>
          <a:ln w="6350">
            <a:solidFill>
              <a:srgbClr val="1A3858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360920" y="4062617"/>
            <a:ext cx="1161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274320" y="4596735"/>
            <a:ext cx="8595360" cy="384048"/>
          </a:xfrm>
          <a:prstGeom prst="rect">
            <a:avLst/>
          </a:prstGeom>
          <a:solidFill>
            <a:srgbClr val="0D2035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57200" y="4660743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</a:t>
            </a:r>
            <a:endParaRPr lang="en-US" sz="1100" dirty="0"/>
          </a:p>
        </p:txBody>
      </p:sp>
      <p:sp>
        <p:nvSpPr>
          <p:cNvPr id="132" name="Text 130"/>
          <p:cNvSpPr/>
          <p:nvPr/>
        </p:nvSpPr>
        <p:spPr>
          <a:xfrm>
            <a:off x="1234440" y="4660743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start with EDA → PCA/UMAP for visualization → K-Means for quick baseline → DBSCAN if non-spherical → Isolation Forest for outliers → Hierarchical if you need interpretable hierarchy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 — 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8321040" cy="32004"/>
          </a:xfrm>
          <a:prstGeom prst="rect">
            <a:avLst/>
          </a:prstGeom>
          <a:solidFill>
            <a:srgbClr val="1A3858"/>
          </a:solidFill>
          <a:ln w="12700">
            <a:solidFill>
              <a:srgbClr val="1A38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411480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00BFA5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170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51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" y="1435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needed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709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discovers patterns from raw data. No annotations required — ideal for the 99% of unlabeled data in the real world.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11480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00E67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60120"/>
            <a:ext cx="64008" cy="117043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05156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28032" y="1435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groups similar data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8032" y="1709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(spherical, fast), DBSCAN (any shape, finds noise), Hierarchical (dendrogram, choose K later). Always scale features first!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258568"/>
            <a:ext cx="411480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FFB300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58568"/>
            <a:ext cx="64008" cy="117043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3500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38912" y="2734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before you model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30083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dimensions hurt everything. PCA = linear, fast, interpretable. t-SNE/UMAP = nonlinear visualization. Use PCA as preprocessing.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258568"/>
            <a:ext cx="411480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FF6B6B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258568"/>
            <a:ext cx="64008" cy="11704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35000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828032" y="27340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= low density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300837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Forest, LOF, and One-Class SVM detect outliers without ever seeing labeled anomalies. contamination sets expected rate.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3557016"/>
            <a:ext cx="411480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9C6FD6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57016"/>
            <a:ext cx="64008" cy="1170432"/>
          </a:xfrm>
          <a:prstGeom prst="rect">
            <a:avLst/>
          </a:prstGeom>
          <a:solidFill>
            <a:srgbClr val="9C6FD6"/>
          </a:solidFill>
          <a:ln w="12700">
            <a:solidFill>
              <a:srgbClr val="9C6F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6484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C6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38912" y="4032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reveal co-occurrence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8912" y="43068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 (Apriori/FP-Growth) find what items appear together. Support · Confidence · Lift — all three matter.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557016"/>
            <a:ext cx="4114800" cy="1170432"/>
          </a:xfrm>
          <a:prstGeom prst="rect">
            <a:avLst/>
          </a:prstGeom>
          <a:solidFill>
            <a:srgbClr val="0D2035"/>
          </a:solidFill>
          <a:ln w="19050">
            <a:solidFill>
              <a:srgbClr val="4FC3F7"/>
            </a:solidFill>
            <a:prstDash val="solid"/>
          </a:ln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557016"/>
            <a:ext cx="64008" cy="1170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64845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4828032" y="4032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without labels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28032" y="43068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score, Davies-Bouldin index, inertia. Internal metrics tell you quality without needing ground truth labels.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0C1F35"/>
          </a:solidFill>
          <a:ln w="25400">
            <a:solidFill>
              <a:srgbClr val="00B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-457200"/>
            <a:ext cx="3200400" cy="32004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C1F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3200400"/>
            <a:ext cx="1645920" cy="1645920"/>
          </a:xfrm>
          <a:prstGeom prst="ellipse">
            <a:avLst/>
          </a:prstGeom>
          <a:solidFill>
            <a:srgbClr val="0C1F35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66928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work!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understand Unsupervised Learning.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20040" y="47365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MASTER CLASS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1632</TotalTime>
  <Words>3769</Words>
  <Application>Microsoft Office PowerPoint</Application>
  <PresentationFormat>On-screen Show (16:9)</PresentationFormat>
  <Paragraphs>531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Unsupervised Learning — AI Master Class</dc:title>
  <dc:subject>PptxGenJS Presentation</dc:subject>
  <dc:creator>PptxGenJS</dc:creator>
  <cp:lastModifiedBy>ahmed mansouri</cp:lastModifiedBy>
  <cp:revision>3</cp:revision>
  <dcterms:created xsi:type="dcterms:W3CDTF">2026-04-03T14:51:44Z</dcterms:created>
  <dcterms:modified xsi:type="dcterms:W3CDTF">2026-04-07T16:07:30Z</dcterms:modified>
</cp:coreProperties>
</file>
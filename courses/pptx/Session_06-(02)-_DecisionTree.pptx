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01" r:id="rId20"/>
    <p:sldId id="274" r:id="rId21"/>
    <p:sldId id="275" r:id="rId22"/>
    <p:sldId id="276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302" r:id="rId36"/>
    <p:sldId id="290" r:id="rId37"/>
    <p:sldId id="291" r:id="rId38"/>
    <p:sldId id="292" r:id="rId39"/>
    <p:sldId id="293" r:id="rId40"/>
    <p:sldId id="295" r:id="rId41"/>
    <p:sldId id="294" r:id="rId42"/>
    <p:sldId id="297" r:id="rId43"/>
    <p:sldId id="298" r:id="rId44"/>
    <p:sldId id="299" r:id="rId45"/>
    <p:sldId id="300" r:id="rId4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73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0" y="365760"/>
            <a:ext cx="457200" cy="4572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92240" y="274320"/>
            <a:ext cx="320040" cy="3200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548640"/>
            <a:ext cx="256032" cy="25603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35040" y="1188720"/>
            <a:ext cx="384048" cy="384048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0" y="1005840"/>
            <a:ext cx="292608" cy="29260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0" y="1371600"/>
            <a:ext cx="347472" cy="3474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0" y="2011680"/>
            <a:ext cx="274320" cy="27432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0" y="1828800"/>
            <a:ext cx="411480" cy="41148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98079" y="2286000"/>
            <a:ext cx="256032" cy="25603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743200"/>
            <a:ext cx="320040" cy="3200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23760" y="2926080"/>
            <a:ext cx="292608" cy="292608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63840" y="2651760"/>
            <a:ext cx="228600" cy="2286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0" y="3474720"/>
            <a:ext cx="256032" cy="25603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0" y="3657600"/>
            <a:ext cx="347472" cy="347472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89520" y="3931920"/>
            <a:ext cx="274320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65760"/>
            <a:ext cx="2194560" cy="292608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384048"/>
            <a:ext cx="21488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 dirty="0">
                <a:solidFill>
                  <a:srgbClr val="0D2B1A"/>
                </a:solidFill>
                <a:latin typeface="Arial"/>
              </a:rPr>
              <a:t>BRAINERX  ·  AI MASTERCLASS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8686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Arial Black"/>
              </a:rPr>
              <a:t>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16916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4CE071"/>
                </a:solidFill>
                <a:latin typeface="Arial Black"/>
              </a:rPr>
              <a:t>Trees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017520"/>
            <a:ext cx="411480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154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A886A"/>
                </a:solidFill>
                <a:latin typeface="Calibri"/>
              </a:rPr>
              <a:t>What Is a DT  ·  Anatomy  ·  Gini &amp; Entropy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Manual Construction  ·  Hyperparameters  ·  Overfitting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7398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Titanic Example  ·  Visualization  ·  Pros &amp; Cons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Every aspect of Decision Trees — explained from scratch with real 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4206240" cy="56692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50292" cy="566928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143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E071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8813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The Big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7160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What is a DT? Why do we use it? Real-world analogy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09928"/>
            <a:ext cx="4206240" cy="56692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1709928"/>
            <a:ext cx="50292" cy="5669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1801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174650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Anatomy &amp; Terminology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029967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Root, internal nodes, leaves, branches, depth — all defined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368296"/>
            <a:ext cx="4206240" cy="56692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2368296"/>
            <a:ext cx="50292" cy="566928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24597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400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4048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Supervised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68833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How DTs learn from labeled data. What 'training' means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026664"/>
            <a:ext cx="4206240" cy="56692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026664"/>
            <a:ext cx="50292" cy="566928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" y="31181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E071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0632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The Splitting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3346704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Gini Impurity — the math behind every split decision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685031"/>
            <a:ext cx="4206240" cy="56692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" y="3685031"/>
            <a:ext cx="50292" cy="5669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" y="377647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721607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Entropy &amp; Info Gain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005071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ID3 algorithm. Entropy formula. Information Gain ranking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343400"/>
            <a:ext cx="4206240" cy="56692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4343400"/>
            <a:ext cx="50292" cy="566928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4434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400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3799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Manual Construction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66344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Build a tree by hand — step by step with 7 bank clients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1051560"/>
            <a:ext cx="4206240" cy="56692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54880" y="1051560"/>
            <a:ext cx="50292" cy="56692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64608" y="1143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Calibr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13248" y="108813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Titanic Application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13248" y="137160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Apply a DT to real Titanic survival data. Read the tree.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1709928"/>
            <a:ext cx="4206240" cy="56692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754880" y="1709928"/>
            <a:ext cx="50292" cy="566928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64608" y="1801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E071"/>
                </a:solidFill>
                <a:latin typeface="Calibr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13248" y="174650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Hyperparameters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13248" y="2029967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max_depth, min_samples_leaf, criterion, random_state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2368296"/>
            <a:ext cx="4206240" cy="56692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754880" y="2368296"/>
            <a:ext cx="50292" cy="5669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64608" y="24597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  <a:latin typeface="Calibri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24048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Overfitting &amp; Pruning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13248" y="268833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Why DTs overfit, how to stop it, visual demonstration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3026664"/>
            <a:ext cx="4206240" cy="56692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754880" y="3026664"/>
            <a:ext cx="50292" cy="566928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64608" y="31181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400"/>
                </a:solidFill>
                <a:latin typeface="Calibr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13248" y="30632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Strengths &amp; Weaknesses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346704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When to use a DT and when NOT to use it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3685031"/>
            <a:ext cx="4206240" cy="56692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754880" y="3685031"/>
            <a:ext cx="50292" cy="56692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864608" y="377647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Calibri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13248" y="3721607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Visualization &amp; Code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13248" y="4005071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plot_tree(), sklearn code, how to read every node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4880" y="4343400"/>
            <a:ext cx="4206240" cy="56692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754880" y="4343400"/>
            <a:ext cx="50292" cy="566928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864608" y="4434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E071"/>
                </a:solidFill>
                <a:latin typeface="Calibri"/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13248" y="43799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Summary &amp; Cheatsheet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13248" y="466344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All formulas, rules, and tips on one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4CE071"/>
                </a:solidFill>
                <a:latin typeface="Arial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51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Big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520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886A"/>
                </a:solidFill>
                <a:latin typeface="Calibri"/>
              </a:rPr>
              <a:t>What is a Decision Tree and why should we care?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401568"/>
            <a:ext cx="4572000" cy="5486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Decision Trees Are Everywhere in Real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You already use decision trees every day — without knowing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19"/>
            <a:ext cx="8595360" cy="3704029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Should I bring an umbrella today?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097280"/>
            <a:ext cx="3291840" cy="457200"/>
          </a:xfrm>
          <a:prstGeom prst="rect">
            <a:avLst/>
          </a:prstGeom>
          <a:solidFill>
            <a:srgbClr val="156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115568"/>
            <a:ext cx="32552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Calibri"/>
              </a:rPr>
              <a:t>Should I bring an umbrella today?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965960"/>
            <a:ext cx="2743200" cy="43891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1993392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Is it raining?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600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9"/>
                </a:solidFill>
                <a:latin typeface="Calibri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00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4A"/>
                </a:solidFill>
                <a:latin typeface="Calibri"/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1965960"/>
            <a:ext cx="2743200" cy="43891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3248" y="1993392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Will it rain later?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88920"/>
            <a:ext cx="1554480" cy="685800"/>
          </a:xfrm>
          <a:prstGeom prst="rect">
            <a:avLst/>
          </a:prstGeom>
          <a:solidFill>
            <a:srgbClr val="1A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2816352"/>
            <a:ext cx="14630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☂️ Take umbrella!
(it's raining now)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2788920"/>
            <a:ext cx="1554480" cy="685800"/>
          </a:xfrm>
          <a:prstGeom prst="rect">
            <a:avLst/>
          </a:prstGeom>
          <a:solidFill>
            <a:srgbClr val="1A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57400" y="2816352"/>
            <a:ext cx="14630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☂️ Take umbrella!
(better safe)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788920"/>
            <a:ext cx="1554480" cy="685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9159" y="2816352"/>
            <a:ext cx="14630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☀️ No umbrella!
(enjoy the sun)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788920"/>
            <a:ext cx="1554480" cy="6858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2816352"/>
            <a:ext cx="14630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🤔 Check the app
(uncertain)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25420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9"/>
                </a:solidFill>
                <a:latin typeface="Calibri"/>
              </a:rP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25420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55A"/>
                </a:solidFill>
                <a:latin typeface="Calibri"/>
              </a:rP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5420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55A"/>
                </a:solidFill>
                <a:latin typeface="Calibri"/>
              </a:rP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5420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9"/>
                </a:solidFill>
                <a:latin typeface="Calibri"/>
              </a:rP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8444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8F0"/>
                </a:solidFill>
                <a:latin typeface="Calibri"/>
              </a:rPr>
              <a:t>This is EXACTLY what a Machine Learning Decision Tree does — but with data instead of personal knowledge.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3192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886A"/>
                </a:solidFill>
                <a:latin typeface="Calibri"/>
              </a:rPr>
              <a:t>Instead of 'Is it raining?' it asks 'Is passenger female?'  'Is Fare &gt; 50?'  'Is Pclass = 1?'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2519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CE071"/>
                </a:solidFill>
                <a:latin typeface="Calibri"/>
              </a:rPr>
              <a:t>The tree LEARNS these questions automatically from thousands of examples.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What Is a Decision Tree — Formal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A supervised ML algorithm that makes predictions through a series of yes/no 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8595360" cy="53035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33271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A Decision Tree is a supervised learning algorithm that recursively partitions data using the most informative feature at each step, creating a hierarchical set of IF-THEN rules that lead to a prediction.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18488"/>
            <a:ext cx="4206240" cy="100584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274320" y="1618488"/>
            <a:ext cx="50292" cy="100584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16733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FFFFFF"/>
                </a:solidFill>
                <a:latin typeface="Calibri"/>
              </a:rPr>
              <a:t>Supervised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21488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A886A"/>
                </a:solidFill>
                <a:latin typeface="Calibri"/>
              </a:rPr>
              <a:t>Learns from LABELED training data </a:t>
            </a:r>
            <a:r>
              <a:rPr lang="en-US" sz="1050" b="0" i="0" dirty="0">
                <a:solidFill>
                  <a:srgbClr val="5A886A"/>
                </a:solidFill>
                <a:latin typeface="Calibri"/>
              </a:rPr>
              <a:t>,</a:t>
            </a:r>
            <a:r>
              <a:rPr sz="1050" b="0" i="0" dirty="0">
                <a:solidFill>
                  <a:srgbClr val="5A886A"/>
                </a:solidFill>
                <a:latin typeface="Calibri"/>
              </a:rPr>
              <a:t> rows where we know the answer. Uses those examples to build rules.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34056"/>
            <a:ext cx="4206240" cy="100584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2734056"/>
            <a:ext cx="50292" cy="10058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27889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Predicts 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32644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A886A"/>
                </a:solidFill>
                <a:latin typeface="Calibri"/>
              </a:rPr>
              <a:t>Survived vs. Not Survived  ·  Spam vs. Not Spam  ·  Disease vs. Healthy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49624"/>
            <a:ext cx="4206240" cy="100584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3849624"/>
            <a:ext cx="50292" cy="100584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904487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FFFFFF"/>
                </a:solidFill>
                <a:latin typeface="Calibri"/>
              </a:rPr>
              <a:t>Predicts NUMBERS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" y="437997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A886A"/>
                </a:solidFill>
                <a:latin typeface="Calibri"/>
              </a:rPr>
              <a:t>House price  ·  Temperature tomorrow  ·  Number of days until default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36592" y="1618488"/>
            <a:ext cx="4206240" cy="100584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36592" y="1618488"/>
            <a:ext cx="50292" cy="10058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94959" y="16733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Fully Interpretable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7" y="21488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A886A"/>
                </a:solidFill>
                <a:latin typeface="Calibri"/>
              </a:rPr>
              <a:t>You can DRAW the tree and follow every decision path. No black box total transparency.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36592" y="2734056"/>
            <a:ext cx="4206240" cy="100584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36592" y="2734056"/>
            <a:ext cx="50292" cy="100584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94959" y="27889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FFFFFF"/>
                </a:solidFill>
                <a:latin typeface="Calibri"/>
              </a:rPr>
              <a:t>No Feature Scaling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7" y="32644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A886A"/>
                </a:solidFill>
                <a:latin typeface="Calibri"/>
              </a:rPr>
              <a:t>Trees use THRESHOLDS (Age &gt; 15, Fare &gt; 50). Not distances. Scaling doesn't matter.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36592" y="3849624"/>
            <a:ext cx="4206240" cy="100584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36592" y="3849624"/>
            <a:ext cx="50292" cy="10058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94959" y="3904487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Non-Parametric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4607" y="437997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A886A"/>
                </a:solidFill>
                <a:latin typeface="Calibri"/>
              </a:rPr>
              <a:t>No assumptions about the data distribution. Works with skewed, non-normal, mixed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00C9B1"/>
                </a:solidFill>
                <a:latin typeface="Arial Blac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51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Anatomy &amp; Terminology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520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886A"/>
                </a:solidFill>
                <a:latin typeface="Calibri"/>
              </a:rPr>
              <a:t>Every part of a Decision Tree — named and explained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401568"/>
            <a:ext cx="45720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088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Anatomy of a Decision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Learn these 6 terms — they appear everywhere in ML literature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252" y="960120"/>
            <a:ext cx="2743200" cy="530352"/>
          </a:xfrm>
          <a:prstGeom prst="rect">
            <a:avLst/>
          </a:prstGeom>
          <a:solidFill>
            <a:srgbClr val="156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55657" y="978408"/>
            <a:ext cx="270662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Is Sex = Female?
[ROOT NODE]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938528"/>
            <a:ext cx="2377440" cy="493776"/>
          </a:xfrm>
          <a:prstGeom prst="rect">
            <a:avLst/>
          </a:prstGeom>
          <a:solidFill>
            <a:srgbClr val="1A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956816"/>
            <a:ext cx="2340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Is Pclass ≤ 2?
[INTERNAL NODE]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48071" y="1938528"/>
            <a:ext cx="2377440" cy="493776"/>
          </a:xfrm>
          <a:prstGeom prst="rect">
            <a:avLst/>
          </a:prstGeom>
          <a:solidFill>
            <a:srgbClr val="6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87624" y="1956816"/>
            <a:ext cx="2340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Is Age &lt; 10?
[INTERNAL NODE]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880360"/>
            <a:ext cx="1600200" cy="65836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2880" y="2880360"/>
            <a:ext cx="1600200" cy="54864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8600" y="2953512"/>
            <a:ext cx="1508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6D679"/>
                </a:solidFill>
                <a:latin typeface="Calibri"/>
              </a:rPr>
              <a:t>✅ SURVIVED
[LEAF NODE]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2880360"/>
            <a:ext cx="1600200" cy="65836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920240" y="2880360"/>
            <a:ext cx="1600200" cy="54864"/>
          </a:xfrm>
          <a:prstGeom prst="rect">
            <a:avLst/>
          </a:prstGeom>
          <a:solidFill>
            <a:srgbClr val="FF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0" y="2953512"/>
            <a:ext cx="1508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3B4A"/>
                </a:solidFill>
                <a:latin typeface="Calibri"/>
              </a:rPr>
              <a:t>❌ NOT SURVIVED
[LEAF NODE]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880360"/>
            <a:ext cx="1600200" cy="65836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37760" y="2880360"/>
            <a:ext cx="1600200" cy="54864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80" y="2953512"/>
            <a:ext cx="1508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6D679"/>
                </a:solidFill>
                <a:latin typeface="Calibri"/>
              </a:rPr>
              <a:t>✅ SURVIVED
[LEAF NODE]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880360"/>
            <a:ext cx="1600200" cy="65836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75120" y="2880360"/>
            <a:ext cx="1600200" cy="54864"/>
          </a:xfrm>
          <a:prstGeom prst="rect">
            <a:avLst/>
          </a:prstGeom>
          <a:solidFill>
            <a:srgbClr val="FF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2953512"/>
            <a:ext cx="1508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3B4A"/>
                </a:solidFill>
                <a:latin typeface="Calibri"/>
              </a:rPr>
              <a:t>❌ NOT SURVIVED
[LEAF NODE]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1554480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9"/>
                </a:solidFill>
                <a:latin typeface="Calibri"/>
              </a:rP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1554480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B4A"/>
                </a:solidFill>
                <a:latin typeface="Calibri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542032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9"/>
                </a:solidFill>
                <a:latin typeface="Calibri"/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2542032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B4A"/>
                </a:solidFill>
                <a:latin typeface="Calibri"/>
              </a:rP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2542032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9"/>
                </a:solidFill>
                <a:latin typeface="Calibri"/>
              </a:rP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542032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B4A"/>
                </a:solidFill>
                <a:latin typeface="Calibri"/>
              </a:rP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7466" y="98755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FFC400"/>
                </a:solidFill>
                <a:latin typeface="Calibri"/>
              </a:rPr>
              <a:t>DEPTH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7466" y="1965960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400"/>
                </a:solidFill>
                <a:latin typeface="Calibri"/>
              </a:rPr>
              <a:t>DEPTH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7466" y="2926080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400"/>
                </a:solidFill>
                <a:latin typeface="Calibri"/>
              </a:rPr>
              <a:t>DEPTH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61746" y="914400"/>
            <a:ext cx="54864" cy="265176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3749039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0BD"/>
                </a:solidFill>
                <a:latin typeface="Calibri"/>
              </a:rPr>
              <a:t>Root Node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0050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A886A"/>
                </a:solidFill>
                <a:latin typeface="Calibri"/>
              </a:rPr>
              <a:t>The TOP node. The single starting point. Only 1 per tree. Contains the BEST first question.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79" y="3749039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6020"/>
                </a:solidFill>
                <a:latin typeface="Calibri"/>
              </a:rPr>
              <a:t>Internal Node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79" y="40050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A886A"/>
                </a:solidFill>
                <a:latin typeface="Calibri"/>
              </a:rPr>
              <a:t>A decision point inside the tree. Asks a question, then splits into 2 branches.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3749039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9"/>
                </a:solidFill>
                <a:latin typeface="Calibri"/>
              </a:rPr>
              <a:t>Leaf Node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40050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A886A"/>
                </a:solidFill>
                <a:latin typeface="Calibri"/>
              </a:rPr>
              <a:t>The END point. No more splitting. This is the PREDICTION output.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399" y="3749039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400"/>
                </a:solidFill>
                <a:latin typeface="Calibri"/>
              </a:rPr>
              <a:t>Branch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399" y="40050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A886A"/>
                </a:solidFill>
                <a:latin typeface="Calibri"/>
              </a:rPr>
              <a:t>An arrow connecting parent to child. Represents one answer (YES or NO) to the question.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59" y="3749039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Depth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59" y="40050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A886A"/>
                </a:solidFill>
                <a:latin typeface="Calibri"/>
              </a:rPr>
              <a:t>Number of levels from root to a leaf. Controls tree complexity.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Decision Trees as Supervised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Understanding where DTs fit in the ML landscape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8595360" cy="53035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33271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Supervised Learning = learning FROM EXAMPLES where we already know the right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4069080" cy="263347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627632"/>
            <a:ext cx="4069080" cy="5486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1700784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E071"/>
                </a:solidFill>
                <a:latin typeface="Calibri"/>
              </a:rPr>
              <a:t>TRAINING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029968"/>
            <a:ext cx="3840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We show the algorithm 668 passengers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For each passenger: features + label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Algorithm asks: which question best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separates survivors from non-survivors?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→ Builds the tree 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627632"/>
            <a:ext cx="4069080" cy="263347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1627632"/>
            <a:ext cx="406908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1700784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9B1"/>
                </a:solidFill>
                <a:latin typeface="Calibri"/>
              </a:rPr>
              <a:t>PREDICTION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029968"/>
            <a:ext cx="3840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New passenger arrives (from test set)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Their features: female, 1st class, age 28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Tree asks questions one by one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Follows YES/NO branches down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→ Reaches leaf: SURVIVED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034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FFC400"/>
                </a:solidFill>
                <a:latin typeface="Calibri"/>
              </a:rPr>
              <a:t>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43400"/>
            <a:ext cx="4160520" cy="5943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4343400"/>
            <a:ext cx="50292" cy="59436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407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alibri"/>
              </a:rPr>
              <a:t>Features (X) =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8172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Sex, Age, Fare, Pclass, SibSp, Parch, Embarked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4343400"/>
            <a:ext cx="4206240" cy="5943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4343400"/>
            <a:ext cx="50292" cy="59436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0" y="4407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E071"/>
                </a:solidFill>
                <a:latin typeface="Calibri"/>
              </a:rPr>
              <a:t>Target (y) =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68172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Survived: 0 (did not survive) or 1 (survived)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FFC400"/>
                </a:solidFill>
                <a:latin typeface="Arial Black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51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Splitting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520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886A"/>
                </a:solidFill>
                <a:latin typeface="Calibri"/>
              </a:rPr>
              <a:t>Gini Impurity — the math that drives every split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401568"/>
            <a:ext cx="457200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Impurity — The Key Concept Behind Every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Before we learn the formula, we need to understand WHAT we are measuring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8595360" cy="53035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33271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Impurity measures HOW MIXED a group is. A pure group = all same class. An impure group = mixed classes.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2788920" cy="26700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627632"/>
            <a:ext cx="2788920" cy="54864"/>
          </a:xfrm>
          <a:prstGeom prst="rect">
            <a:avLst/>
          </a:prstGeom>
          <a:solidFill>
            <a:srgbClr val="FF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1700784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4A"/>
                </a:solidFill>
                <a:latin typeface="Calibri"/>
              </a:rPr>
              <a:t>PURE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02996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886A"/>
                </a:solidFill>
                <a:latin typeface="Calibri"/>
              </a:rPr>
              <a:t>10 balls, all 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2340864"/>
            <a:ext cx="2514600" cy="594360"/>
          </a:xfrm>
          <a:prstGeom prst="rect">
            <a:avLst/>
          </a:prstGeom>
          <a:solidFill>
            <a:srgbClr val="061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23774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3B4A"/>
                </a:solidFill>
                <a:latin typeface="Calibri"/>
              </a:rPr>
              <a:t>Impurity = 0.0
(Perfect!)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01752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3B4A"/>
                </a:solidFill>
                <a:latin typeface="Calibri"/>
              </a:rPr>
              <a:t>Gini = 0.0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8688" y="1627632"/>
            <a:ext cx="2788920" cy="26700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18688" y="1627632"/>
            <a:ext cx="278892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55848" y="1700784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A00"/>
                </a:solidFill>
                <a:latin typeface="Calibri"/>
              </a:rPr>
              <a:t>MIXED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202996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886A"/>
                </a:solidFill>
                <a:latin typeface="Calibri"/>
              </a:rPr>
              <a:t>5 red, 5 blue balls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55848" y="2340864"/>
            <a:ext cx="2514600" cy="594360"/>
          </a:xfrm>
          <a:prstGeom prst="rect">
            <a:avLst/>
          </a:prstGeom>
          <a:solidFill>
            <a:srgbClr val="061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55848" y="23774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7A00"/>
                </a:solidFill>
                <a:latin typeface="Calibri"/>
              </a:rPr>
              <a:t>Impurity = 0.5
(Worst case!)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301752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A00"/>
                </a:solidFill>
                <a:latin typeface="Calibri"/>
              </a:rPr>
              <a:t>Gini = 0.5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3056" y="1627632"/>
            <a:ext cx="2788920" cy="26700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63056" y="1627632"/>
            <a:ext cx="278892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0216" y="1700784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00"/>
                </a:solidFill>
                <a:latin typeface="Calibri"/>
              </a:rPr>
              <a:t>PARTIAL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02996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886A"/>
                </a:solidFill>
                <a:latin typeface="Calibri"/>
              </a:rPr>
              <a:t>8 red, 2 blue balls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2340864"/>
            <a:ext cx="2514600" cy="594360"/>
          </a:xfrm>
          <a:prstGeom prst="rect">
            <a:avLst/>
          </a:prstGeom>
          <a:solidFill>
            <a:srgbClr val="061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0216" y="23774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400"/>
                </a:solidFill>
                <a:latin typeface="Calibri"/>
              </a:rPr>
              <a:t>Impurity = 0.32
(Mostly pure)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301752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400"/>
                </a:solidFill>
                <a:latin typeface="Calibri"/>
              </a:rPr>
              <a:t>Gini = 0.32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416552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8F0"/>
                </a:solidFill>
                <a:latin typeface="Calibri"/>
              </a:rPr>
              <a:t>The CART algorithm tries EVERY possible split and picks the one that creates the PUREST groups.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71830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886A"/>
                </a:solidFill>
                <a:latin typeface="Calibri"/>
              </a:rPr>
              <a:t>This is done by minimizing the WEIGHTED average impurity of the two child groups.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Gini Impurity Formula —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Breaking down the formula into simple pieces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19"/>
            <a:ext cx="8595360" cy="758951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C400"/>
                </a:solidFill>
                <a:latin typeface="Consolas"/>
              </a:rPr>
              <a:t>Gini(node)  =  1  −  Σ(pᵢ)²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813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886A"/>
                </a:solidFill>
                <a:latin typeface="Calibri"/>
              </a:rPr>
              <a:t>Where pᵢ = proportion (probability) of class i in the node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74519"/>
            <a:ext cx="4206240" cy="126187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874519"/>
            <a:ext cx="50292" cy="1261872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92938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E071"/>
                </a:solidFill>
                <a:latin typeface="Calibri"/>
              </a:rPr>
              <a:t>Step 1
Count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372867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onsolas"/>
              </a:rPr>
              <a:t>Count how many of each class exist in the node.
Example: 40 survived (class 1), 10 not survived (class 0)
Total = 50 passengers in this node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91839"/>
            <a:ext cx="4206240" cy="126187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3291839"/>
            <a:ext cx="50292" cy="12618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79" y="3346703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Step 2
Compute proportions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886200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p(survived)     = 40/50 = 0.80
p(not survived) = 10/50 = 0.20
Each proportion tells us the % of that class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1874519"/>
            <a:ext cx="4206240" cy="126187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36592" y="1874519"/>
            <a:ext cx="50292" cy="126187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73752" y="192938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alibri"/>
              </a:rPr>
              <a:t>Step 3
Square 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1" y="2468879"/>
            <a:ext cx="4128481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onsolas"/>
              </a:rPr>
              <a:t>p(survived)²     = 0.80² = 0.64
p(not survived)² = 0.20² = 0.04
(Squaring makes larger proportions contribute more)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3291839"/>
            <a:ext cx="4206240" cy="126187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36592" y="3291839"/>
            <a:ext cx="50292" cy="126187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73752" y="3346703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  <a:latin typeface="Calibri"/>
              </a:rPr>
              <a:t>Step 4
Subtract from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3783277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onsolas"/>
              </a:rPr>
              <a:t>Gini = 1 − (0.64 + 0.04)
Gini = 1 − 0.68
Gini = 0.32
→ Mostly pure, but not perfect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The Cost Function — Choosing the Best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How CART compares all possible splits to find the winner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7592"/>
            <a:ext cx="8595360" cy="81976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17592"/>
            <a:ext cx="859536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97358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C400"/>
                </a:solidFill>
                <a:latin typeface="Consolas"/>
              </a:rPr>
              <a:t>Cost  =  (</a:t>
            </a:r>
            <a:r>
              <a:rPr sz="1800" b="1" i="0" dirty="0" err="1">
                <a:solidFill>
                  <a:srgbClr val="FFC400"/>
                </a:solidFill>
                <a:latin typeface="Consolas"/>
              </a:rPr>
              <a:t>N_left</a:t>
            </a:r>
            <a:r>
              <a:rPr sz="1800" b="1" i="0" dirty="0">
                <a:solidFill>
                  <a:srgbClr val="FFC400"/>
                </a:solidFill>
                <a:latin typeface="Consolas"/>
              </a:rPr>
              <a:t> / </a:t>
            </a:r>
            <a:r>
              <a:rPr sz="1800" b="1" i="0" dirty="0" err="1">
                <a:solidFill>
                  <a:srgbClr val="FFC400"/>
                </a:solidFill>
                <a:latin typeface="Consolas"/>
              </a:rPr>
              <a:t>N_total</a:t>
            </a:r>
            <a:r>
              <a:rPr sz="1800" b="1" i="0" dirty="0">
                <a:solidFill>
                  <a:srgbClr val="FFC400"/>
                </a:solidFill>
                <a:latin typeface="Consolas"/>
              </a:rPr>
              <a:t>) × </a:t>
            </a:r>
            <a:r>
              <a:rPr sz="1800" b="1" i="0" dirty="0" err="1">
                <a:solidFill>
                  <a:srgbClr val="FFC400"/>
                </a:solidFill>
                <a:latin typeface="Consolas"/>
              </a:rPr>
              <a:t>Gini_left</a:t>
            </a:r>
            <a:r>
              <a:rPr sz="1800" b="1" i="0" dirty="0">
                <a:solidFill>
                  <a:srgbClr val="FFC400"/>
                </a:solidFill>
                <a:latin typeface="Consolas"/>
              </a:rPr>
              <a:t>  +  (</a:t>
            </a:r>
            <a:r>
              <a:rPr sz="1800" b="1" i="0" dirty="0" err="1">
                <a:solidFill>
                  <a:srgbClr val="FFC400"/>
                </a:solidFill>
                <a:latin typeface="Consolas"/>
              </a:rPr>
              <a:t>N_right</a:t>
            </a:r>
            <a:r>
              <a:rPr sz="1800" b="1" i="0" dirty="0">
                <a:solidFill>
                  <a:srgbClr val="FFC400"/>
                </a:solidFill>
                <a:latin typeface="Consolas"/>
              </a:rPr>
              <a:t> / </a:t>
            </a:r>
            <a:r>
              <a:rPr sz="1800" b="1" i="0" dirty="0" err="1">
                <a:solidFill>
                  <a:srgbClr val="FFC400"/>
                </a:solidFill>
                <a:latin typeface="Consolas"/>
              </a:rPr>
              <a:t>N_total</a:t>
            </a:r>
            <a:r>
              <a:rPr sz="1800" b="1" i="0" dirty="0">
                <a:solidFill>
                  <a:srgbClr val="FFC400"/>
                </a:solidFill>
                <a:latin typeface="Consolas"/>
              </a:rPr>
              <a:t>) × </a:t>
            </a:r>
            <a:r>
              <a:rPr sz="1800" b="1" i="0" dirty="0" err="1">
                <a:solidFill>
                  <a:srgbClr val="FFC400"/>
                </a:solidFill>
                <a:latin typeface="Consolas"/>
              </a:rPr>
              <a:t>Gini_right</a:t>
            </a:r>
            <a:endParaRPr sz="1800" b="1" i="0" dirty="0">
              <a:solidFill>
                <a:srgbClr val="FFC400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14813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A886A"/>
                </a:solidFill>
                <a:latin typeface="Calibri"/>
              </a:rPr>
              <a:t>This is a WEIGHTED average — bigger groups have more influence on the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28800"/>
            <a:ext cx="4937760" cy="267462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828800"/>
            <a:ext cx="45719" cy="26746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9019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9B1"/>
                </a:solidFill>
                <a:latin typeface="Calibri"/>
              </a:rPr>
              <a:t>Example: Split on 'Sex = Female?'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40280"/>
            <a:ext cx="466344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Total: 668 training passengers</a:t>
            </a:r>
          </a:p>
          <a:p>
            <a:pPr algn="l">
              <a:spcAft>
                <a:spcPts val="200"/>
              </a:spcAft>
            </a:pPr>
            <a:endParaRPr sz="105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Left branch (Female = YES): 234 passengers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→ 193 survived, 41 not survived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→ p(survived) = 193/234 = 0.824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→ Gini_left = 1 − (0.824² + 0.176²) = 0.290</a:t>
            </a:r>
          </a:p>
          <a:p>
            <a:pPr algn="l">
              <a:spcAft>
                <a:spcPts val="200"/>
              </a:spcAft>
            </a:pPr>
            <a:endParaRPr sz="105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Right branch (Female = NO): 434 passengers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→ 109 survived, 325 not survived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→ p(survived) = 109/434 = 0.251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→ Gini_right = 1 − (0.251² + 0.749²) = 0.376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1828800"/>
            <a:ext cx="3474720" cy="267462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94960" y="1828800"/>
            <a:ext cx="45719" cy="267462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0" y="19019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E071"/>
                </a:solidFill>
                <a:latin typeface="Calibri"/>
              </a:rPr>
              <a:t>Cost Calculation: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141048"/>
            <a:ext cx="32004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Cost = (234/668) × 0.290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 + (434/668) × 0.376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Cost = 0.350 × 0.290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 + 0.650 × 0.376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Cost = 0.101 + 0.244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Cost = 0.346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→ We test ALL features this way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→ Pick the LOWEST Cost!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470710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5A886A"/>
                </a:solidFill>
                <a:latin typeface="Calibri"/>
              </a:rPr>
              <a:t>CART = Classification And Regression Tree. It's the algorithm sklearn uses by default.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Entropy &amp; Information Gain — The ID3 Alternative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A different but equally valid way to measure impurity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4114800" cy="65836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411480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2412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  <a:latin typeface="Calibri"/>
              </a:rPr>
              <a:t>Entropy Formula (ID3):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842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C9B1"/>
                </a:solidFill>
                <a:latin typeface="Consolas"/>
              </a:rPr>
              <a:t>E(S) = − Σ pᵢ × log₂(pᵢ)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960120"/>
            <a:ext cx="4206240" cy="65836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960120"/>
            <a:ext cx="4206240" cy="5486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02412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E071"/>
                </a:solidFill>
                <a:latin typeface="Calibri"/>
              </a:rPr>
              <a:t>Information Gain: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2842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C9B1"/>
                </a:solidFill>
                <a:latin typeface="Consolas"/>
              </a:rPr>
              <a:t>Gain(T,X) = E(T) − E(T,X)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755648"/>
            <a:ext cx="2788920" cy="15087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1755648"/>
            <a:ext cx="2788920" cy="54864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79" y="18288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9"/>
                </a:solidFill>
                <a:latin typeface="Calibri"/>
              </a:rPr>
              <a:t>PURE: Entropy 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2130552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886A"/>
                </a:solidFill>
                <a:latin typeface="Calibri"/>
              </a:rPr>
              <a:t>10 Yes, 0 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37744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E = −(1×log₂1) − (0×log₂0)
E = 0.0  ✅ No uncertainty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18688" y="1755648"/>
            <a:ext cx="2788920" cy="15087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18688" y="1755648"/>
            <a:ext cx="2788920" cy="54864"/>
          </a:xfrm>
          <a:prstGeom prst="rect">
            <a:avLst/>
          </a:prstGeom>
          <a:solidFill>
            <a:srgbClr val="FF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55848" y="18288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B4A"/>
                </a:solidFill>
                <a:latin typeface="Calibri"/>
              </a:rPr>
              <a:t>50/50: Entropy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130552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886A"/>
                </a:solidFill>
                <a:latin typeface="Calibri"/>
              </a:rPr>
              <a:t>5 Yes, 5 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237744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E = −(0.5×log₂0.5) × 2
E = 1.0  ❌ Max uncertainty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1755648"/>
            <a:ext cx="2788920" cy="15087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63056" y="1755648"/>
            <a:ext cx="278892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0216" y="18288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  <a:latin typeface="Calibri"/>
              </a:rPr>
              <a:t>80/20: Entropy = 0.72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2130552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886A"/>
                </a:solidFill>
                <a:latin typeface="Calibri"/>
              </a:rPr>
              <a:t>8 Yes, 2 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237744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E = −0.8×log₂0.8 − 0.2×log₂0.2
E = 0.72  🔶 Moderate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34015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9B1"/>
                </a:solidFill>
                <a:latin typeface="Calibri"/>
              </a:rPr>
              <a:t>Property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34015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9B1"/>
                </a:solidFill>
                <a:latin typeface="Calibri"/>
              </a:rPr>
              <a:t>Gini Impurity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34015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9B1"/>
                </a:solidFill>
                <a:latin typeface="Calibri"/>
              </a:rPr>
              <a:t>Entropy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4015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9B1"/>
                </a:solidFill>
                <a:latin typeface="Calibri"/>
              </a:rPr>
              <a:t>Verdict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721608"/>
            <a:ext cx="8595360" cy="2926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375818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Used by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3758184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CART algorithm (sklearn default)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375818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ID3, C4.5, C5.0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758184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886A"/>
                </a:solidFill>
                <a:latin typeface="Calibri"/>
              </a:rPr>
              <a:t>Both widely used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041648"/>
            <a:ext cx="8595360" cy="292608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407822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Range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4078224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0.0 → 0.5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07822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0.0 →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078224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886A"/>
                </a:solidFill>
                <a:latin typeface="Calibri"/>
              </a:rPr>
              <a:t>Entropy has bigger range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361688"/>
            <a:ext cx="8595360" cy="2926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439826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Speed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5960" y="4398264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Faster (no logarithm)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43982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Slower (log₂ calculation)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398264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E071"/>
                </a:solidFill>
                <a:latin typeface="Calibri"/>
              </a:rPr>
              <a:t>Gini is faster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1480" y="471830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Result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65960" y="4718304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Very similar splits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20" y="471830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Very similar splits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4718304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400"/>
                </a:solidFill>
                <a:latin typeface="Calibri"/>
              </a:rPr>
              <a:t>Rarely matters in practice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FF7A00"/>
                </a:solidFill>
                <a:latin typeface="Arial Black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51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Manual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520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886A"/>
                </a:solidFill>
                <a:latin typeface="Calibri"/>
              </a:rPr>
              <a:t>Building a Decision Tree by hand — step by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401568"/>
            <a:ext cx="457200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The Dataset — Bank Loan Decision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7 clients. We want to learn: who should get a loan? Let's build the tree by hand.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5029200" cy="38404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9966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1A"/>
                </a:solidFill>
                <a:latin typeface="Calibri"/>
              </a:rP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9966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1A"/>
                </a:solidFill>
                <a:latin typeface="Calibri"/>
              </a:rPr>
              <a:t>Debt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9966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1A"/>
                </a:solidFill>
                <a:latin typeface="Calibri"/>
              </a:rPr>
              <a:t>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9966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1A"/>
                </a:solidFill>
                <a:latin typeface="Calibri"/>
              </a:rPr>
              <a:t>Salary (k€)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9966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1A"/>
                </a:solidFill>
                <a:latin typeface="Calibri"/>
              </a:rPr>
              <a:t>Decision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89888"/>
            <a:ext cx="5029200" cy="3657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14538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14538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79"/>
                </a:solidFill>
                <a:latin typeface="Calibri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" y="14538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79"/>
                </a:solidFill>
                <a:latin typeface="Calibri"/>
              </a:rPr>
              <a:t>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14538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145389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9"/>
                </a:solidFill>
                <a:latin typeface="Calibri"/>
              </a:rPr>
              <a:t>✅ Accept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792224"/>
            <a:ext cx="5029200" cy="365760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185623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185623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3B4A"/>
                </a:solidFill>
                <a:latin typeface="Calibri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185623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79"/>
                </a:solidFill>
                <a:latin typeface="Calibri"/>
              </a:rPr>
              <a:t>Stable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185623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185623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4A"/>
                </a:solidFill>
                <a:latin typeface="Calibri"/>
              </a:rPr>
              <a:t>❌ Refuse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194560"/>
            <a:ext cx="5029200" cy="3657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22585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22585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79"/>
                </a:solidFill>
                <a:latin typeface="Calibri"/>
              </a:rP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" y="22585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3B4A"/>
                </a:solidFill>
                <a:latin typeface="Calibri"/>
              </a:rPr>
              <a:t>Unstable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22585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22585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4A"/>
                </a:solidFill>
                <a:latin typeface="Calibri"/>
              </a:rPr>
              <a:t>❌ Refuse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596896"/>
            <a:ext cx="5029200" cy="365760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4048" y="266090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266090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79"/>
                </a:solidFill>
                <a:latin typeface="Calibri"/>
              </a:rPr>
              <a:t>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266090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79"/>
                </a:solidFill>
                <a:latin typeface="Calibri"/>
              </a:rPr>
              <a:t>Stable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266090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120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26609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9"/>
                </a:solidFill>
                <a:latin typeface="Calibri"/>
              </a:rPr>
              <a:t>✅ Accept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999232"/>
            <a:ext cx="5029200" cy="3657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30632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30632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3B4A"/>
                </a:solidFill>
                <a:latin typeface="Calibri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38528" y="30632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3B4A"/>
                </a:solidFill>
                <a:latin typeface="Calibri"/>
              </a:rPr>
              <a:t>Unstable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30632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9080" y="3063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4A"/>
                </a:solidFill>
                <a:latin typeface="Calibri"/>
              </a:rPr>
              <a:t>❌ Refuse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401568"/>
            <a:ext cx="5029200" cy="365760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40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79"/>
                </a:solidFill>
                <a:latin typeface="Calibri"/>
              </a:rPr>
              <a:t>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852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79"/>
                </a:solidFill>
                <a:latin typeface="Calibri"/>
              </a:rPr>
              <a:t>Stable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110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9080" y="346557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9"/>
                </a:solidFill>
                <a:latin typeface="Calibri"/>
              </a:rPr>
              <a:t>✅ Accept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803904"/>
            <a:ext cx="5029200" cy="3657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4048" y="38679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" y="38679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79"/>
                </a:solidFill>
                <a:latin typeface="Calibri"/>
              </a:rPr>
              <a:t>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38528" y="38679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79"/>
                </a:solidFill>
                <a:latin typeface="Calibri"/>
              </a:rPr>
              <a:t>Stable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4640" y="38679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69080" y="38679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4A"/>
                </a:solidFill>
                <a:latin typeface="Calibri"/>
              </a:rPr>
              <a:t>❌ Refuse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40680" y="960120"/>
            <a:ext cx="3429000" cy="338328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40680" y="960120"/>
            <a:ext cx="50292" cy="33832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23560" y="1033271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7A00"/>
                </a:solidFill>
                <a:latin typeface="Calibri"/>
              </a:rPr>
              <a:t>Step 1: Measure Root Gini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60" y="1389888"/>
            <a:ext cx="31546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All 7 clients together: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• 3 Accepted (class 1): #1, #4, #6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• 4 Refused  (class 0): #2, #3, #5, #7</a:t>
            </a:r>
          </a:p>
          <a:p>
            <a:pPr algn="l">
              <a:spcAft>
                <a:spcPts val="200"/>
              </a:spcAft>
            </a:pPr>
            <a:endParaRPr sz="105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p(Accepted) = 3/7 = 0.4286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p(Refused)  = 4/7 = 0.5714</a:t>
            </a:r>
          </a:p>
          <a:p>
            <a:pPr algn="l">
              <a:spcAft>
                <a:spcPts val="200"/>
              </a:spcAft>
            </a:pPr>
            <a:endParaRPr sz="105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Gini_root =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1 − (0.4286² + 0.5714²)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= 1 − (0.1837 + 0.3265)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= 1 − 0.5102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≈ 0.490</a:t>
            </a:r>
          </a:p>
          <a:p>
            <a:pPr algn="l">
              <a:spcAft>
                <a:spcPts val="200"/>
              </a:spcAft>
            </a:pPr>
            <a:endParaRPr sz="105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→ Very impure! (close to 0.5)</a:t>
            </a:r>
          </a:p>
          <a:p>
            <a:pPr algn="l">
              <a:spcAft>
                <a:spcPts val="2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→ Must split to reduce impurity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297680"/>
            <a:ext cx="5029200" cy="47548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74320" y="4297680"/>
            <a:ext cx="502920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" y="43708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Goal: Find the question (feature + threshold) that reduces Gini the most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Round 1 — Testing Split: Debt = High vs Low?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Testing Feature #1: Does splitting on Debt give us a good split?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4114800" cy="3977639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50292" cy="3977639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33271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Calibri"/>
              </a:rPr>
              <a:t>Split on DEBT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3840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LEFT branch: Debt = High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Clients: #2 (Refuse), #5 (Refuse)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→ 0 Accepted, 2 Refused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→ p(Refused) = 1.0, p(Accepted) = 0.0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→ Gini_left = 1−(1²+0²) = 0.0  ✅ PURE!</a:t>
            </a:r>
          </a:p>
          <a:p>
            <a:pPr algn="l">
              <a:spcAft>
                <a:spcPts val="200"/>
              </a:spcAft>
            </a:pPr>
            <a:endParaRPr sz="11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RIGHT branch: Debt = Low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Clients: #1(A), #3(R), #4(A), #6(A), #7(R)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→ 3 Accepted, 2 Refused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→ p(A) = 3/5 = 0.6, p(R) = 2/5 = 0.4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→ Gini_right = 1−(0.6²+0.4²) = 0.48</a:t>
            </a:r>
          </a:p>
          <a:p>
            <a:pPr algn="l">
              <a:spcAft>
                <a:spcPts val="200"/>
              </a:spcAft>
            </a:pPr>
            <a:endParaRPr sz="11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Weighted Cost (Debt):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= (2/7)×0.0 + (5/7)×0.48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= 0 + 0.343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= 0.343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960120"/>
            <a:ext cx="4206240" cy="3977639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960120"/>
            <a:ext cx="50292" cy="3977639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03327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  <a:latin typeface="Calibri"/>
              </a:rPr>
              <a:t>Split on JOB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17320"/>
            <a:ext cx="3840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LEFT branch: Job = Unstable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Clients: #3 (Refuse), #5 (Refuse)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→ 0 Accepted, 2 Refused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→ Gini_left = 1−(1²+0²) = 0.0  ✅ PURE!</a:t>
            </a:r>
          </a:p>
          <a:p>
            <a:pPr algn="l">
              <a:spcAft>
                <a:spcPts val="200"/>
              </a:spcAft>
            </a:pPr>
            <a:endParaRPr sz="11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RIGHT branch: Job = Stable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Clients: #1(A), #2(R), #4(A), #6(A), #7(R)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→ 3 Accepted, 2 Refused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→ p(A) = 3/5, p(R) = 2/5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→ Gini_right = 0.48</a:t>
            </a:r>
          </a:p>
          <a:p>
            <a:pPr algn="l">
              <a:spcAft>
                <a:spcPts val="200"/>
              </a:spcAft>
            </a:pPr>
            <a:endParaRPr sz="11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Weighted Cost (Job):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= (2/7)×0.0 + (5/7)×0.48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  = 0.343</a:t>
            </a:r>
          </a:p>
          <a:p>
            <a:pPr algn="l">
              <a:spcAft>
                <a:spcPts val="200"/>
              </a:spcAft>
            </a:pPr>
            <a:endParaRPr sz="110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Tie! Debt and Job cost the same.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We test Salary next to compare...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Round 1 — Testing Split: Salary &lt; 70k? (The Winner!)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Salary is a numerical feature — we test threshold splits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1005840"/>
            <a:ext cx="5029200" cy="361188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50292" cy="361188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3327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E071"/>
                </a:solidFill>
                <a:latin typeface="Calibri"/>
              </a:rPr>
              <a:t>Split on SALARY &lt; 70k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39349"/>
            <a:ext cx="47548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Sort salary values: 45, 50, 60, 85, 90, 110, 120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Test threshold: &lt; 70k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LEFT branch: Salary &lt; 70k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Clients: #3(45k,R), #5(60k,R), #7(50k,R)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→ 0 Accepted, 3 Refused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→ p(R) = 1.0, p(A) = 0.0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→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Gini_left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 = 1−(1²+0²) = 0.0  ✅✅ PURE!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RIGHT branch: Salary ≥ 70k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Clients: #1(85k,A), #2(90k,R), #4(120k,A), #6(110k,A)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→ 3 Accepted, 1 Refused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→ p(A) = 3/4 = 0.75, p(R) = 1/4 = 0.25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→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Gini_right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 = 1−(0.75²+0.25²) = 0.375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Weighted Cost (Salary &lt; 70k):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= (3/7)×0.0 + (4/7)×0.375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= 0 + 0.214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= 0.214  ← LOWEST!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960120"/>
            <a:ext cx="3474720" cy="361188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0" y="960120"/>
            <a:ext cx="50292" cy="361188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03327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00"/>
                </a:solidFill>
                <a:latin typeface="Calibri"/>
              </a:rPr>
              <a:t>Competition Results: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444752"/>
            <a:ext cx="3474720" cy="9144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0" y="1444752"/>
            <a:ext cx="3474720" cy="54864"/>
          </a:xfrm>
          <a:prstGeom prst="rect">
            <a:avLst/>
          </a:prstGeom>
          <a:solidFill>
            <a:srgbClr val="5A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23560" y="15179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A886A"/>
                </a:solidFill>
                <a:latin typeface="Calibri"/>
              </a:rPr>
              <a:t>Debt = High/Low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182880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B1"/>
                </a:solidFill>
                <a:latin typeface="Consolas"/>
              </a:rPr>
              <a:t>Cost = 0.343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0665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5A886A"/>
                </a:solidFill>
                <a:latin typeface="Calibri"/>
              </a:rPr>
              <a:t>🥈 Rank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496312"/>
            <a:ext cx="3474720" cy="9144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0" y="2496312"/>
            <a:ext cx="3474720" cy="54864"/>
          </a:xfrm>
          <a:prstGeom prst="rect">
            <a:avLst/>
          </a:prstGeom>
          <a:solidFill>
            <a:srgbClr val="5A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23560" y="25694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A886A"/>
                </a:solidFill>
                <a:latin typeface="Calibri"/>
              </a:rPr>
              <a:t>Job = Stable/Unstable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88036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B1"/>
                </a:solidFill>
                <a:latin typeface="Consolas"/>
              </a:rPr>
              <a:t>Cost = 0.343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181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5A886A"/>
                </a:solidFill>
                <a:latin typeface="Calibri"/>
              </a:rPr>
              <a:t>🥈 Rank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547872"/>
            <a:ext cx="3474720" cy="9144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0" y="3547872"/>
            <a:ext cx="3474720" cy="5486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23560" y="36210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E071"/>
                </a:solidFill>
                <a:latin typeface="Calibri"/>
              </a:rPr>
              <a:t>Salary &lt; 70k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393192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B1"/>
                </a:solidFill>
                <a:latin typeface="Consolas"/>
              </a:rPr>
              <a:t>Cost = 0.214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16966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E071"/>
                </a:solidFill>
                <a:latin typeface="Calibri"/>
              </a:rPr>
              <a:t>🏆 WINNER!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 dirty="0">
                <a:solidFill>
                  <a:srgbClr val="4CE071"/>
                </a:solidFill>
                <a:latin typeface="Calibri"/>
              </a:rPr>
              <a:t>Salary &lt; 70k wins Round 1 → becomes the ROOT NODE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Round 2 — Splitting the Right Branch Further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The left branch (Salary &lt; 70k) is pure. Now focus on the right branch: clients 1, 2, 4,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3474720" cy="31501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347472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33271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400"/>
                </a:solidFill>
                <a:latin typeface="Calibri"/>
              </a:rPr>
              <a:t>Right Branch: Salary ≥ 70k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320040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Client #1: Debt=Low, Job=Stable, Sal=85  → ✅ Accept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Client #2: Debt=High, Job=Stable, Sal=90  → ❌ Refuse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Client #4: Debt=Low, Job=Stable, Sal=120  → ✅ Accept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Client #6: Debt=Low, Job=Stable, Sal=110  → ✅ Accept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Gini of this group: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p(A)=3/4=0.75, p(R)=1/4=0.25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Gini = 1−(0.75²+0.25²) = 0.375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→ Still impure! Must split again.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960119"/>
            <a:ext cx="4937760" cy="3150109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31920" y="960120"/>
            <a:ext cx="50292" cy="233172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1033271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E071"/>
                </a:solidFill>
                <a:latin typeface="Calibri"/>
              </a:rPr>
              <a:t>Which feature splits these 4 clients best?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293629"/>
            <a:ext cx="466344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Job? → All 4 are Stable → Zero variance → No split possible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Salary?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→ &lt; 97k: #1(85), #4(not in range)... complex, won't help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Debt? → The KEY question!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Left (Debt=High): Client #2 only → 0 Accept, 1 Refuse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Gini_left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 = 0.0  ✅ PURE!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Right (Debt=Low): #1, #4, #6 → 3 Accept, 0 Refuse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Gini_right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 = 0.0  ✅ PURE!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Cost = (1/4)×0 + (3/4)×0 = 0.0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onsolas"/>
              </a:rPr>
              <a:t>  PERFECT SPLIT! → Debt wins Round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0329E-29F8-66F7-4C42-E737B76F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C8FF7A-468B-AACB-3379-8ADE078028B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F3367E-092C-7329-0891-D391AEB3BFC6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B364D9-BCD0-87B1-5963-1653C7AB7472}"/>
              </a:ext>
            </a:extLst>
          </p:cNvPr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2692E9-0CCF-655F-B85A-B351385FC254}"/>
              </a:ext>
            </a:extLst>
          </p:cNvPr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8E29B1-2438-E1A4-FE5A-2AFD4106534D}"/>
              </a:ext>
            </a:extLst>
          </p:cNvPr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Round 2 — Splitting the Right Branch Further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3BC86-6F9C-E24C-0C06-96FE05B57750}"/>
              </a:ext>
            </a:extLst>
          </p:cNvPr>
          <p:cNvSpPr/>
          <p:nvPr/>
        </p:nvSpPr>
        <p:spPr>
          <a:xfrm>
            <a:off x="274320" y="2139842"/>
            <a:ext cx="859536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E025F2-2C37-C13E-C575-F71ADD92B1B7}"/>
              </a:ext>
            </a:extLst>
          </p:cNvPr>
          <p:cNvSpPr/>
          <p:nvPr/>
        </p:nvSpPr>
        <p:spPr>
          <a:xfrm>
            <a:off x="274320" y="2258714"/>
            <a:ext cx="8595360" cy="141732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D0ADEB-DBA2-E97A-A2B6-36CE86713D7D}"/>
              </a:ext>
            </a:extLst>
          </p:cNvPr>
          <p:cNvSpPr/>
          <p:nvPr/>
        </p:nvSpPr>
        <p:spPr>
          <a:xfrm>
            <a:off x="274320" y="2258714"/>
            <a:ext cx="50292" cy="141732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9D1DC5-E2EF-052E-AD59-2D1838A8B863}"/>
              </a:ext>
            </a:extLst>
          </p:cNvPr>
          <p:cNvSpPr txBox="1"/>
          <p:nvPr/>
        </p:nvSpPr>
        <p:spPr>
          <a:xfrm>
            <a:off x="457200" y="233186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E071"/>
                </a:solidFill>
                <a:latin typeface="Calibri"/>
              </a:rPr>
              <a:t>The Final Tree — 3 Simple Rules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EF5037-D02C-77E8-1448-1E567C54E2FE}"/>
              </a:ext>
            </a:extLst>
          </p:cNvPr>
          <p:cNvSpPr txBox="1"/>
          <p:nvPr/>
        </p:nvSpPr>
        <p:spPr>
          <a:xfrm>
            <a:off x="457200" y="267019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Rule 1: IF Salary &lt; 70k  THEN → REFUSE  (clients 3, 5, 7 → all correctly refused)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70E2EA-0A79-5FD3-761E-80B3AFEFD1CF}"/>
              </a:ext>
            </a:extLst>
          </p:cNvPr>
          <p:cNvSpPr txBox="1"/>
          <p:nvPr/>
        </p:nvSpPr>
        <p:spPr>
          <a:xfrm>
            <a:off x="457200" y="297194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Rule 2: IF Salary ≥ 70k AND Debt = High  THEN → REFUSE  (client 2 → correctly refused)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4ADC1B-24C2-5FDB-3B8D-95699F5C7906}"/>
              </a:ext>
            </a:extLst>
          </p:cNvPr>
          <p:cNvSpPr txBox="1"/>
          <p:nvPr/>
        </p:nvSpPr>
        <p:spPr>
          <a:xfrm>
            <a:off x="457200" y="327369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Rule 3: IF Salary ≥ 70k AND Debt = Low   THEN → ACCEPT  (clients 1, 4, 6 → all correctly accepted)</a:t>
            </a:r>
          </a:p>
        </p:txBody>
      </p:sp>
    </p:spTree>
    <p:extLst>
      <p:ext uri="{BB962C8B-B14F-4D97-AF65-F5344CB8AC3E}">
        <p14:creationId xmlns:p14="http://schemas.microsoft.com/office/powerpoint/2010/main" val="213883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The Final Decision Tree — Bank Loan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A perfectly pure tree built from 7 clients — zero training errors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60120"/>
            <a:ext cx="3108960" cy="548640"/>
          </a:xfrm>
          <a:prstGeom prst="rect">
            <a:avLst/>
          </a:prstGeom>
          <a:solidFill>
            <a:srgbClr val="156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35808" y="978408"/>
            <a:ext cx="30723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Salary &lt; 70k €?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7276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79"/>
                </a:solidFill>
                <a:latin typeface="Calibri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72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3B4A"/>
                </a:solidFill>
                <a:latin typeface="Calibri"/>
              </a:rPr>
              <a:t>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2011680" cy="658368"/>
          </a:xfrm>
          <a:prstGeom prst="rect">
            <a:avLst/>
          </a:prstGeom>
          <a:solidFill>
            <a:srgbClr val="FF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956816"/>
            <a:ext cx="19751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❌  REFUSED
clients 3, 5,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938528"/>
            <a:ext cx="3017520" cy="548640"/>
          </a:xfrm>
          <a:prstGeom prst="rect">
            <a:avLst/>
          </a:prstGeom>
          <a:solidFill>
            <a:srgbClr val="6A1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4752" y="1978080"/>
            <a:ext cx="298094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Debt = High?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57860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79"/>
                </a:solidFill>
                <a:latin typeface="Calibri"/>
              </a:rP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57860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3B4A"/>
                </a:solidFill>
                <a:latin typeface="Calibri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926080"/>
            <a:ext cx="1828800" cy="658368"/>
          </a:xfrm>
          <a:prstGeom prst="rect">
            <a:avLst/>
          </a:prstGeom>
          <a:solidFill>
            <a:srgbClr val="FF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24528" y="2944368"/>
            <a:ext cx="17922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❌  REFUSED
client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926080"/>
            <a:ext cx="2057400" cy="658368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76288" y="2944368"/>
            <a:ext cx="20208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1A"/>
                </a:solidFill>
                <a:latin typeface="Calibri"/>
              </a:rPr>
              <a:t>✅  ACCEPTED
clients 1, 4, 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30752"/>
            <a:ext cx="8595360" cy="1271016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730752"/>
            <a:ext cx="50292" cy="123444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80390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400"/>
                </a:solidFill>
                <a:latin typeface="Calibri"/>
              </a:rPr>
              <a:t>What the Model Discovered Automatically: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92615"/>
            <a:ext cx="8321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• SALARY is the single most important factor — determines 3 out of 7 decisions alone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93783"/>
            <a:ext cx="8321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DEBT is used to resolve ambiguity among high-salary clients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4951"/>
            <a:ext cx="8321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JOB was completely IGNORED — it adds zero value once Salary and Debt are known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96119"/>
            <a:ext cx="8321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The algorithm proved: low salary = always refused | high salary + low debt = always accepted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00C9B1"/>
                </a:solidFill>
                <a:latin typeface="Arial Black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51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Titanic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520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886A"/>
                </a:solidFill>
                <a:latin typeface="Calibri"/>
              </a:rPr>
              <a:t>Applying a Decision Tree to real survival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401568"/>
            <a:ext cx="45720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The Titanic Dataset — Our ML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Binary classification: predict whether a passenger survived based on 8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4937760" cy="3657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987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1A"/>
                </a:solidFill>
                <a:latin typeface="Calibri"/>
              </a:rPr>
              <a:t>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987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1A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987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1A"/>
                </a:solidFill>
                <a:latin typeface="Calibri"/>
              </a:rPr>
              <a:t>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987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1A"/>
                </a:solidFill>
                <a:latin typeface="Calibri"/>
              </a:rPr>
              <a:t>Why Useful?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71600"/>
            <a:ext cx="4937760" cy="3657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45720" cy="36576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14356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E071"/>
                </a:solidFill>
                <a:latin typeface="Calibri"/>
              </a:rPr>
              <a:t>Pclass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143560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Ordinal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14356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1, 2, or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4356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1st class = more lifeboats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773936"/>
            <a:ext cx="4937760" cy="365760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1773936"/>
            <a:ext cx="45720" cy="36576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183794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400"/>
                </a:solidFill>
                <a:latin typeface="Calibri"/>
              </a:rPr>
              <a:t>Sex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1837943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Binary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183794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male / female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183794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'Women first' 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176272"/>
            <a:ext cx="4937760" cy="3657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2176272"/>
            <a:ext cx="45720" cy="3657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240279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2240279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Numerical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24027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0 to 80 years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2240279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'Children first' policy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578608"/>
            <a:ext cx="4937760" cy="365760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" y="2578608"/>
            <a:ext cx="45720" cy="3657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2642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Calibri"/>
              </a:rPr>
              <a:t>SibSp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264261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Numerical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264261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0 to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2642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Family size affects escape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980944"/>
            <a:ext cx="4937760" cy="3657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74320" y="2980944"/>
            <a:ext cx="45720" cy="36576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30449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E071"/>
                </a:solidFill>
                <a:latin typeface="Calibri"/>
              </a:rPr>
              <a:t>Parch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3044951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Numerical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304495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0 to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30449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Parents/children aboard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383280"/>
            <a:ext cx="4937760" cy="365760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74320" y="3383280"/>
            <a:ext cx="45720" cy="36576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344728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400"/>
                </a:solidFill>
                <a:latin typeface="Calibri"/>
              </a:rPr>
              <a:t>Fare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344728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Numerical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23160" y="34472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£0 to £512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344728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Higher fare = wealthier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785616"/>
            <a:ext cx="4937760" cy="3657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74320" y="3785616"/>
            <a:ext cx="45720" cy="3657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384962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Embarked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00200" y="384962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Categorical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3160" y="38496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C, Q, or 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3360" y="384962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Port → affects cabin location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251960"/>
            <a:ext cx="4937760" cy="5943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74320" y="4251960"/>
            <a:ext cx="50292" cy="59436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" y="4325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E071"/>
                </a:solidFill>
                <a:latin typeface="Calibri"/>
              </a:rPr>
              <a:t>Target Variable: Survived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599432"/>
            <a:ext cx="4846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0 = Did not survive  (549 passengers, 62%)    1 = Survived  (342 passengers, 38%)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94960" y="960120"/>
            <a:ext cx="3474720" cy="38862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394960" y="960120"/>
            <a:ext cx="50292" cy="38862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486400" y="7033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00C9B1"/>
                </a:solidFill>
                <a:latin typeface="Calibri"/>
              </a:rPr>
              <a:t>Historical Context: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18404" y="988828"/>
            <a:ext cx="3383280" cy="4160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April 15, 1912 — RMS Titanic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sank after hitting an iceberg.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Key historical facts that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SHOULD show up in our tree: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1. 'Women and children first'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   → Sex should be ROOT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2. 1st class passengers had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   better access to lifeboats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   →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Pclass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should appear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3. Higher fare = 1st class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   → Fare and </a:t>
            </a:r>
            <a:r>
              <a:rPr sz="1100" dirty="0" err="1">
                <a:solidFill>
                  <a:srgbClr val="FFFFFF"/>
                </a:solidFill>
                <a:latin typeface="Calibri"/>
              </a:rPr>
              <a:t>Pclass</a:t>
            </a:r>
            <a:r>
              <a:rPr sz="1100" dirty="0">
                <a:solidFill>
                  <a:srgbClr val="FFFFFF"/>
                </a:solidFill>
                <a:latin typeface="Calibri"/>
              </a:rPr>
              <a:t> linked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4. Children prioritized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   → Age &lt; 10 should appear</a:t>
            </a:r>
          </a:p>
          <a:p>
            <a:pPr algn="l">
              <a:spcAft>
                <a:spcPts val="200"/>
              </a:spcAft>
            </a:pPr>
            <a:endParaRPr sz="110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→ The tree should REDISCOVER</a:t>
            </a:r>
          </a:p>
          <a:p>
            <a:pPr algn="l">
              <a:spcAft>
                <a:spcPts val="200"/>
              </a:spcAft>
            </a:pPr>
            <a:r>
              <a:rPr sz="1100" dirty="0">
                <a:solidFill>
                  <a:srgbClr val="FFFFFF"/>
                </a:solidFill>
                <a:latin typeface="Calibri"/>
              </a:rPr>
              <a:t>  these historical facts!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The Decision Tree Learned from Titanic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960120"/>
            <a:ext cx="3657600" cy="566928"/>
          </a:xfrm>
          <a:prstGeom prst="rect">
            <a:avLst/>
          </a:prstGeom>
          <a:solidFill>
            <a:srgbClr val="156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61488" y="978408"/>
            <a:ext cx="3621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Sex ≤ 0.5
(Is passenger female?)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38528"/>
            <a:ext cx="2743200" cy="493776"/>
          </a:xfrm>
          <a:prstGeom prst="rect">
            <a:avLst/>
          </a:prstGeom>
          <a:solidFill>
            <a:srgbClr val="056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956816"/>
            <a:ext cx="2706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Pclass ≤ 2.5
(Is Pclass 1 or 2?)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62763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9"/>
                </a:solidFill>
                <a:latin typeface="Calibri"/>
              </a:rPr>
              <a:t>YES (female)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907792"/>
            <a:ext cx="1600200" cy="65836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880" y="2907792"/>
            <a:ext cx="1600200" cy="54864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" y="2999232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79"/>
                </a:solidFill>
                <a:latin typeface="Calibri"/>
              </a:rPr>
              <a:t>✅ SURVIVED
F1: 0.93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907792"/>
            <a:ext cx="1600200" cy="65836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37360" y="2907792"/>
            <a:ext cx="1600200" cy="54864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3080" y="2999232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79"/>
                </a:solidFill>
                <a:latin typeface="Calibri"/>
              </a:rPr>
              <a:t>✅ SURVIVED
F1: 0.77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6032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9"/>
                </a:solidFill>
                <a:latin typeface="Calibri"/>
              </a:rP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56032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B4A"/>
                </a:solidFill>
                <a:latin typeface="Calibri"/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1938528"/>
            <a:ext cx="2743200" cy="493776"/>
          </a:xfrm>
          <a:prstGeom prst="rect">
            <a:avLst/>
          </a:prstGeom>
          <a:solidFill>
            <a:srgbClr val="60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21808" y="1956816"/>
            <a:ext cx="2706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Age ≤ 9.5
(Is child &lt; 10?)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62763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B4A"/>
                </a:solidFill>
                <a:latin typeface="Calibri"/>
              </a:rPr>
              <a:t>NO (male)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907792"/>
            <a:ext cx="1600200" cy="65836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2907792"/>
            <a:ext cx="1600200" cy="54864"/>
          </a:xfrm>
          <a:prstGeom prst="rect">
            <a:avLst/>
          </a:prstGeom>
          <a:solidFill>
            <a:srgbClr val="06D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59" y="2999232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79"/>
                </a:solidFill>
                <a:latin typeface="Calibri"/>
              </a:rPr>
              <a:t>✅ SURVIVED
children!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907792"/>
            <a:ext cx="1600200" cy="65836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0" y="2907792"/>
            <a:ext cx="1600200" cy="54864"/>
          </a:xfrm>
          <a:prstGeom prst="rect">
            <a:avLst/>
          </a:prstGeom>
          <a:solidFill>
            <a:srgbClr val="FF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2999232"/>
            <a:ext cx="1508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3B4A"/>
                </a:solidFill>
                <a:latin typeface="Calibri"/>
              </a:rPr>
              <a:t>❌ DID NOT
SURVIVE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56032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9"/>
                </a:solidFill>
                <a:latin typeface="Calibri"/>
              </a:rP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56032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B4A"/>
                </a:solidFill>
                <a:latin typeface="Calibri"/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75887"/>
            <a:ext cx="8595360" cy="12984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3675887"/>
            <a:ext cx="50292" cy="1298448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374903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400"/>
                </a:solidFill>
                <a:latin typeface="Calibri"/>
              </a:rPr>
              <a:t>How to Read a Node in sklearn's plot_tree():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096512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9B1"/>
                </a:solidFill>
                <a:latin typeface="Consolas"/>
              </a:rPr>
              <a:t>Sex ≤ 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096512"/>
            <a:ext cx="6858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  <a:latin typeface="Calibri"/>
              </a:rPr>
              <a:t>The QUESTION. (Sex: female=0, male=1). If Sex ≤ 0.5 → passenger is female. LEFT branch = YES.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27024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9B1"/>
                </a:solidFill>
                <a:latin typeface="Consolas"/>
              </a:rPr>
              <a:t>gini = 0.32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70248"/>
            <a:ext cx="6858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Current IMPURITY of this node (lower = purer). Root node Gini ≈ 0.49.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44398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9B1"/>
                </a:solidFill>
                <a:latin typeface="Consolas"/>
              </a:rPr>
              <a:t>samples = 668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443984"/>
            <a:ext cx="6858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How many training passengers reached this node.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617720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9B1"/>
                </a:solidFill>
                <a:latin typeface="Consolas"/>
              </a:rPr>
              <a:t>value = [411, 257]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617720"/>
            <a:ext cx="6858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Count of [class 0 (not survived), class 1 (survived)] in this node.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791456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9B1"/>
                </a:solidFill>
                <a:latin typeface="Consolas"/>
              </a:rPr>
              <a:t>class =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791456"/>
            <a:ext cx="6858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The MAJORITY CLASS. If we stopped here, we'd predict 'Did not survive'.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0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A05CF5"/>
                </a:solidFill>
                <a:latin typeface="Arial Black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51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Hyperparameters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520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886A"/>
                </a:solidFill>
                <a:latin typeface="Calibri"/>
              </a:rPr>
              <a:t>The knobs you control to shape how the tree grows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401568"/>
            <a:ext cx="4572000" cy="54864"/>
          </a:xfrm>
          <a:prstGeom prst="rect">
            <a:avLst/>
          </a:prstGeom>
          <a:solidFill>
            <a:srgbClr val="A0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0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max_depth — The Most Important Hyperparameter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Controls how many questions the tree can ask before making a prediction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8595360" cy="53035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A0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33271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max_depth = the maximum number of levels from root to any leaf. Depth 0 = just the root (1 node).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2788920" cy="281635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627632"/>
            <a:ext cx="278892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17007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Consolas"/>
              </a:rPr>
              <a:t>depth=1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70078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7A00"/>
                </a:solidFill>
                <a:latin typeface="Calibri"/>
              </a:rPr>
              <a:t>Underfit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02996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886A"/>
                </a:solidFill>
                <a:latin typeface="Calibri"/>
              </a:rPr>
              <a:t>1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304288"/>
            <a:ext cx="25146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Only asks ONE question.
Very underfit — misses most patterns.
Train ~65%, Test ~63%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19856"/>
            <a:ext cx="260604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18688" y="1627632"/>
            <a:ext cx="2788920" cy="281635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18688" y="1627632"/>
            <a:ext cx="2788920" cy="5486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55848" y="17007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E071"/>
                </a:solidFill>
                <a:latin typeface="Consolas"/>
              </a:rPr>
              <a:t>depth=4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170078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CE071"/>
                </a:solidFill>
                <a:latin typeface="Calibri"/>
              </a:rPr>
              <a:t>Just Right 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202996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886A"/>
                </a:solidFill>
                <a:latin typeface="Calibri"/>
              </a:rPr>
              <a:t>4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2304288"/>
            <a:ext cx="25146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4 levels of questions.
Good balance of complexity.
Train ~90%, Test ~83%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0128" y="3419856"/>
            <a:ext cx="2606040" cy="5486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15968" y="3547872"/>
            <a:ext cx="365760" cy="18288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58768" y="3913631"/>
            <a:ext cx="274320" cy="13716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73168" y="3913631"/>
            <a:ext cx="274320" cy="13716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63056" y="1627632"/>
            <a:ext cx="2788920" cy="281635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3056" y="1627632"/>
            <a:ext cx="2788920" cy="54864"/>
          </a:xfrm>
          <a:prstGeom prst="rect">
            <a:avLst/>
          </a:prstGeom>
          <a:solidFill>
            <a:srgbClr val="FF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0216" y="17007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B4A"/>
                </a:solidFill>
                <a:latin typeface="Consolas"/>
              </a:rPr>
              <a:t>depth=None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7536" y="170078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3B4A"/>
                </a:solidFill>
                <a:latin typeface="Calibri"/>
              </a:rPr>
              <a:t>Overfit ⚠️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202996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886A"/>
                </a:solidFill>
                <a:latin typeface="Calibri"/>
              </a:rPr>
              <a:t>Unlimited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2304288"/>
            <a:ext cx="25146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Grows until every leaf is pure.
Memorizes every training example.
Train ~100%, Test ~72%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4496" y="3419856"/>
            <a:ext cx="2606040" cy="54864"/>
          </a:xfrm>
          <a:prstGeom prst="rect">
            <a:avLst/>
          </a:prstGeom>
          <a:solidFill>
            <a:srgbClr val="FF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60336" y="3547872"/>
            <a:ext cx="365760" cy="182880"/>
          </a:xfrm>
          <a:prstGeom prst="rect">
            <a:avLst/>
          </a:prstGeom>
          <a:solidFill>
            <a:srgbClr val="FF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03136" y="3913631"/>
            <a:ext cx="274320" cy="137160"/>
          </a:xfrm>
          <a:prstGeom prst="rect">
            <a:avLst/>
          </a:prstGeom>
          <a:solidFill>
            <a:srgbClr val="FF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17536" y="3913631"/>
            <a:ext cx="274320" cy="137160"/>
          </a:xfrm>
          <a:prstGeom prst="rect">
            <a:avLst/>
          </a:prstGeom>
          <a:solidFill>
            <a:srgbClr val="FF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74320" y="4553712"/>
            <a:ext cx="8595360" cy="43891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4320" y="4553712"/>
            <a:ext cx="50292" cy="438912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462686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✅ Recommended:  max_depth = 3 to 6 for most real datasets. Start with 4, tune with cross-validation.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0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All Key Hyperparameters — Complete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Understanding what each setting controls and how to choose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A0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987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05CF5"/>
                </a:solidFill>
                <a:latin typeface="Calibri"/>
              </a:rPr>
              <a:t>Parameter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987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05CF5"/>
                </a:solidFill>
                <a:latin typeface="Calibri"/>
              </a:rPr>
              <a:t>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987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05CF5"/>
                </a:solidFill>
                <a:latin typeface="Calibri"/>
              </a:rPr>
              <a:t>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987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05CF5"/>
                </a:solidFill>
                <a:latin typeface="Calibri"/>
              </a:rPr>
              <a:t>Best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987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05CF5"/>
                </a:solidFill>
                <a:latin typeface="Calibri"/>
              </a:rPr>
              <a:t>What it does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344168"/>
            <a:ext cx="8595360" cy="43891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1344168"/>
            <a:ext cx="45720" cy="438912"/>
          </a:xfrm>
          <a:prstGeom prst="rect">
            <a:avLst/>
          </a:prstGeom>
          <a:solidFill>
            <a:srgbClr val="A0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14356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05CF5"/>
                </a:solidFill>
                <a:latin typeface="Consolas"/>
              </a:rPr>
              <a:t>max_depth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1435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int or None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143560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4356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5CF5"/>
                </a:solidFill>
                <a:latin typeface="Consolas"/>
              </a:rPr>
              <a:t>3–6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435608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Max levels. None = unlimited (overfits). MOST important parameter.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819656"/>
            <a:ext cx="8595360" cy="438912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1819656"/>
            <a:ext cx="45720" cy="438912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1911095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CE071"/>
                </a:solidFill>
                <a:latin typeface="Consolas"/>
              </a:rPr>
              <a:t>min_samples_leaf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191109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1911095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onsola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91109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E071"/>
                </a:solidFill>
                <a:latin typeface="Consolas"/>
              </a:rPr>
              <a:t>10–20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1911095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Each leaf must have ≥N samples. Prevents tiny leaves that memorize 1-2 outliers.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295144"/>
            <a:ext cx="8595360" cy="43891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2295144"/>
            <a:ext cx="45720" cy="43891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238658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9B1"/>
                </a:solidFill>
                <a:latin typeface="Consolas"/>
              </a:rPr>
              <a:t>min_samples_split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23865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238658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onsola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23865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B1"/>
                </a:solidFill>
                <a:latin typeface="Consolas"/>
              </a:rPr>
              <a:t>10–20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238658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Min samples needed to split a node. Prevents splitting groups that are already small.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770632"/>
            <a:ext cx="8595360" cy="438912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74320" y="2770632"/>
            <a:ext cx="45720" cy="43891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28620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400"/>
                </a:solidFill>
                <a:latin typeface="Consolas"/>
              </a:rPr>
              <a:t>criterion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28620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string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286207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onsolas"/>
              </a:rPr>
              <a:t>'gini'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28620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400"/>
                </a:solidFill>
                <a:latin typeface="Consolas"/>
              </a:rPr>
              <a:t>'gini'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2862072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Impurity measure. 'gini' (CART) is faster. 'entropy' (ID3) is slightly different. Results are similar.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246120"/>
            <a:ext cx="8595360" cy="43891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74320" y="3246120"/>
            <a:ext cx="45720" cy="43891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33375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7A00"/>
                </a:solidFill>
                <a:latin typeface="Consolas"/>
              </a:rPr>
              <a:t>max_features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5920" y="33375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int/None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333756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onsolas"/>
              </a:rPr>
              <a:t>None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33375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7A00"/>
                </a:solidFill>
                <a:latin typeface="Consolas"/>
              </a:rPr>
              <a:t>None or 'sqrt'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3337560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# features to consider at each split. None = all features. 'sqrt' adds randomness.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721608"/>
            <a:ext cx="8595360" cy="438912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74320" y="3721608"/>
            <a:ext cx="45720" cy="438912"/>
          </a:xfrm>
          <a:prstGeom prst="rect">
            <a:avLst/>
          </a:prstGeom>
          <a:solidFill>
            <a:srgbClr val="A0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1480" y="38130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05CF5"/>
                </a:solidFill>
                <a:latin typeface="Consolas"/>
              </a:rPr>
              <a:t>random_state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45920" y="3813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06040" y="381304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onsolas"/>
              </a:rPr>
              <a:t>None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38130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5CF5"/>
                </a:solidFill>
                <a:latin typeface="Consolas"/>
              </a:rPr>
              <a:t>42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3813048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Random seed for reproducibility. ALWAYS set this during development!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197096"/>
            <a:ext cx="8595360" cy="43891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74320" y="4197096"/>
            <a:ext cx="45720" cy="438912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42885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CE071"/>
                </a:solidFill>
                <a:latin typeface="Consolas"/>
              </a:rPr>
              <a:t>class_weight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45920" y="4288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dict/None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06040" y="428853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onsolas"/>
              </a:rPr>
              <a:t>None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42885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E071"/>
                </a:solidFill>
                <a:latin typeface="Consolas"/>
              </a:rPr>
              <a:t>'balanced'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4288536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Compensates for class imbalance. 'balanced' auto-adjusts based on class frequencies.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672584"/>
            <a:ext cx="8595360" cy="438912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74320" y="4672584"/>
            <a:ext cx="45720" cy="43891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11480" y="476402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 err="1">
                <a:solidFill>
                  <a:srgbClr val="00C9B1"/>
                </a:solidFill>
                <a:latin typeface="Consolas"/>
              </a:rPr>
              <a:t>max_leaf_nodes</a:t>
            </a:r>
            <a:endParaRPr sz="1050" b="1" i="0" dirty="0">
              <a:solidFill>
                <a:srgbClr val="00C9B1"/>
              </a:solidFill>
              <a:latin typeface="Consola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645920" y="47640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int/None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06040" y="476402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onsolas"/>
              </a:rPr>
              <a:t>None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37560" y="476402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B1"/>
                </a:solidFill>
                <a:latin typeface="Consolas"/>
              </a:rPr>
              <a:t>50–200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89120" y="476402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Hard limit on total leaf nodes. Alternative way to control complexity.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FF455A"/>
                </a:solidFill>
                <a:latin typeface="Arial Black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51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Overfitting &amp; Pruning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520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886A"/>
                </a:solidFill>
                <a:latin typeface="Calibri"/>
              </a:rPr>
              <a:t>The #1 problem with Decision Trees — and how to fix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401568"/>
            <a:ext cx="4572000" cy="54864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288" y="155448"/>
            <a:ext cx="9209923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 dirty="0">
                <a:solidFill>
                  <a:srgbClr val="FFFFFF"/>
                </a:solidFill>
                <a:latin typeface="Calibri"/>
              </a:rPr>
              <a:t>Overfitting When the Tree Memorizes Instead of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33271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Overfitting = the model learns the TRAINING DATA perfectly but fails on NEW data it has never seen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72768"/>
            <a:ext cx="2788920" cy="31272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572768"/>
            <a:ext cx="278892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164592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Calibri"/>
              </a:rPr>
              <a:t>Underfitting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196596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886A"/>
                </a:solidFill>
                <a:latin typeface="Consolas"/>
              </a:rPr>
              <a:t>max_depth =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9424"/>
            <a:ext cx="260604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233172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Train accuracy: 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253288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Test accuracy:  61%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2734056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→ Both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2935224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→ Model too simple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136391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Not asking enough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33756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questions to 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53872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the real patterns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18688" y="1572768"/>
            <a:ext cx="2788920" cy="31272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18688" y="1572768"/>
            <a:ext cx="2788920" cy="5486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55848" y="164592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E071"/>
                </a:solidFill>
                <a:latin typeface="Calibri"/>
              </a:rPr>
              <a:t>Just Right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196596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886A"/>
                </a:solidFill>
                <a:latin typeface="Consolas"/>
              </a:rPr>
              <a:t>max_depth =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2249424"/>
            <a:ext cx="2606040" cy="5486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55848" y="233172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CE071"/>
                </a:solidFill>
                <a:latin typeface="Calibri"/>
              </a:rPr>
              <a:t>Train accuracy: 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253288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CE071"/>
                </a:solidFill>
                <a:latin typeface="Calibri"/>
              </a:rPr>
              <a:t>Test accuracy:  83%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734056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→ Both high!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5848" y="2935224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→ Gap is small (7%)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5848" y="3136391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Good generalization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5848" y="333756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Captures real patterns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353872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without noise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1572768"/>
            <a:ext cx="2788920" cy="31272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63056" y="1572768"/>
            <a:ext cx="2788920" cy="54864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0216" y="164592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55A"/>
                </a:solidFill>
                <a:latin typeface="Calibri"/>
              </a:rPr>
              <a:t>Overfitting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196596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886A"/>
                </a:solidFill>
                <a:latin typeface="Consolas"/>
              </a:rPr>
              <a:t>max_depth = None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54496" y="2249424"/>
            <a:ext cx="2606040" cy="54864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0216" y="233172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3B4A"/>
                </a:solidFill>
                <a:latin typeface="Calibri"/>
              </a:rPr>
              <a:t>Train accuracy: 99%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216" y="253288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3B4A"/>
                </a:solidFill>
                <a:latin typeface="Calibri"/>
              </a:rPr>
              <a:t>Test accuracy:  72%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2734056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→ HUGE gap! (27%)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0216" y="2935224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→ Model memorized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216" y="3136391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every passenger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0216" y="333756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Gini=0 at ALL leaves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0216" y="353872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Useless on new 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C400"/>
                </a:solidFill>
                <a:latin typeface="Calibri"/>
              </a:rPr>
              <a:t>Golden Rule: Always check BOTH train accuracy AND test accuracy. A big gap → overfitting.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Pruning — How to Control 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6 concrete techniques to prevent your tree from memorizing noise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4206240" cy="12070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50292" cy="1207008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04241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4CE071"/>
                </a:solidFill>
                <a:latin typeface="Calibri"/>
              </a:rPr>
              <a:t> </a:t>
            </a:r>
            <a:r>
              <a:rPr sz="1250" b="1" i="0" dirty="0" err="1">
                <a:solidFill>
                  <a:srgbClr val="4CE071"/>
                </a:solidFill>
                <a:latin typeface="Calibri"/>
              </a:rPr>
              <a:t>max_depth</a:t>
            </a:r>
            <a:endParaRPr sz="1250" b="1" i="0" dirty="0">
              <a:solidFill>
                <a:srgbClr val="4CE071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79" y="133502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Set a maximum depth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554480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Most effective fix. Stops the tree from growing too deep.
max_depth=4 → tree can ask at most 4 questions.
Anything deeper probably captures noise, not signal.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59152"/>
            <a:ext cx="4206240" cy="12070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2359152"/>
            <a:ext cx="50292" cy="1207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23957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00C9B1"/>
                </a:solidFill>
                <a:latin typeface="Calibri"/>
              </a:rPr>
              <a:t> </a:t>
            </a:r>
            <a:r>
              <a:rPr sz="1250" b="1" i="0" dirty="0" err="1">
                <a:solidFill>
                  <a:srgbClr val="00C9B1"/>
                </a:solidFill>
                <a:latin typeface="Calibri"/>
              </a:rPr>
              <a:t>min_samples_leaf</a:t>
            </a:r>
            <a:endParaRPr sz="1250" b="1" i="0" dirty="0">
              <a:solidFill>
                <a:srgbClr val="00C9B1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79" y="268833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Minimum samples per leaf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2907792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Each leaf must represent at least N passengers.
min_samples_leaf=10 → no leaf with &lt; 10 passengers.
Prevents learning rules that only apply to 1-2 people.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12464"/>
            <a:ext cx="4206240" cy="12070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712464"/>
            <a:ext cx="50292" cy="1207008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79" y="374904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 err="1">
                <a:solidFill>
                  <a:srgbClr val="FFC400"/>
                </a:solidFill>
                <a:latin typeface="Calibri"/>
              </a:rPr>
              <a:t>min_samples_split</a:t>
            </a:r>
            <a:endParaRPr sz="1250" b="1" i="0" dirty="0">
              <a:solidFill>
                <a:srgbClr val="FFC400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79" y="404164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Minimum to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261104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 node must have at least N samples before it can split.
min_samples_split=20 → won't create tiny specialized branches.
Similar effect to min_samples_leaf but acts earlier.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36592" y="1005840"/>
            <a:ext cx="4206240" cy="12070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36592" y="1005840"/>
            <a:ext cx="50292" cy="120700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73752" y="104241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FF7A00"/>
                </a:solidFill>
                <a:latin typeface="Calibri"/>
              </a:rPr>
              <a:t> </a:t>
            </a:r>
            <a:r>
              <a:rPr sz="1250" b="1" i="0" dirty="0" err="1">
                <a:solidFill>
                  <a:srgbClr val="FF7A00"/>
                </a:solidFill>
                <a:latin typeface="Calibri"/>
              </a:rPr>
              <a:t>max_leaf_nodes</a:t>
            </a:r>
            <a:endParaRPr sz="1250" b="1" i="0" dirty="0">
              <a:solidFill>
                <a:srgbClr val="FF7A0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73752" y="133502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Hard cap on leaves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1554480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Absolute limit on the number of leaf nodes in the entire tree.
max_leaf_nodes=30 → the tree has at most 30 predictions.
More intuitive than depth for some problems.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2359152"/>
            <a:ext cx="4206240" cy="12070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36592" y="2359152"/>
            <a:ext cx="50292" cy="1207008"/>
          </a:xfrm>
          <a:prstGeom prst="rect">
            <a:avLst/>
          </a:prstGeom>
          <a:solidFill>
            <a:srgbClr val="A0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73752" y="23957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A05CF5"/>
                </a:solidFill>
                <a:latin typeface="Calibri"/>
              </a:rPr>
              <a:t> </a:t>
            </a:r>
            <a:r>
              <a:rPr sz="1250" b="1" i="0" dirty="0" err="1">
                <a:solidFill>
                  <a:srgbClr val="A05CF5"/>
                </a:solidFill>
                <a:latin typeface="Calibri"/>
              </a:rPr>
              <a:t>class_weight</a:t>
            </a:r>
            <a:r>
              <a:rPr sz="1250" b="1" i="0" dirty="0">
                <a:solidFill>
                  <a:srgbClr val="A05CF5"/>
                </a:solidFill>
                <a:latin typeface="Calibri"/>
              </a:rPr>
              <a:t>='balanced'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268833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Handle imbalance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3752" y="2907792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When one class (Not Survived 62%) is more common,
the tree over-focuses on it. 'balanced' weights each
class inversely proportional to its frequency.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36592" y="3712464"/>
            <a:ext cx="4206240" cy="12070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36592" y="3712464"/>
            <a:ext cx="50292" cy="1207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73752" y="374904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00C9B1"/>
                </a:solidFill>
                <a:latin typeface="Calibri"/>
              </a:rPr>
              <a:t> Cross-Validation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73752" y="404164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Estimate true 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3752" y="4261104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Don't rely on a single train/test split. Use k-fold CV.
cross_val_score(dt, X, y, cv=5) → 5 different test sets.
Average score = true model performance.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4CE071"/>
                </a:solidFill>
                <a:latin typeface="Arial Black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51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Strengths &amp; Weaknesses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520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886A"/>
                </a:solidFill>
                <a:latin typeface="Calibri"/>
              </a:rPr>
              <a:t>Knowing when to use — and not use — a Decision Tree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401568"/>
            <a:ext cx="4572000" cy="5486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Decision Trees — Complete Pros &amp; Cons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Every algorithm has a right time and a wrong time. Know both.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4206240" cy="40416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50292" cy="4041648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33271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E071"/>
                </a:solidFill>
                <a:latin typeface="Calibri"/>
              </a:rPr>
              <a:t>✅ 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E071"/>
                </a:solidFill>
                <a:latin typeface="Calibri"/>
              </a:rPr>
              <a:t>• Interpretable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3288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A886A"/>
                </a:solidFill>
                <a:latin typeface="Calibri"/>
              </a:rPr>
              <a:t>You can draw and READ the tree. Explain every prediction. Legal/medical requirement.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11095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E071"/>
                </a:solidFill>
                <a:latin typeface="Calibri"/>
              </a:rPr>
              <a:t>• No feature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3055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No need for StandardScaler. Works directly with raw features.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5915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E071"/>
                </a:solidFill>
                <a:latin typeface="Calibri"/>
              </a:rPr>
              <a:t>• Handles mixed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7860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Works with numbers, categories, and text in the same dataset.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0720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E071"/>
                </a:solidFill>
                <a:latin typeface="Calibri"/>
              </a:rPr>
              <a:t>• Fast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2666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Just follow branches — O(depth) = microseconds per prediction.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5526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E071"/>
                </a:solidFill>
                <a:latin typeface="Calibri"/>
              </a:rPr>
              <a:t>• Feature importance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Tells you which features the model relied on most.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033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E071"/>
                </a:solidFill>
                <a:latin typeface="Calibri"/>
              </a:rPr>
              <a:t>• No assumptions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2277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Doesn't assume normal distribution, linear relationships, etc.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5137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E071"/>
                </a:solidFill>
                <a:latin typeface="Calibri"/>
              </a:rPr>
              <a:t>• Handles nonlinearity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7083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Can learn complex nonlinear boundaries between classes.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99431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E071"/>
                </a:solidFill>
                <a:latin typeface="Calibri"/>
              </a:rPr>
              <a:t>• Missing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0471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A886A"/>
                </a:solidFill>
                <a:latin typeface="Calibri"/>
              </a:rPr>
              <a:t>Some implementations handle </a:t>
            </a:r>
            <a:r>
              <a:rPr sz="1000" b="0" i="0" dirty="0" err="1">
                <a:solidFill>
                  <a:srgbClr val="5A886A"/>
                </a:solidFill>
                <a:latin typeface="Calibri"/>
              </a:rPr>
              <a:t>NaN</a:t>
            </a:r>
            <a:r>
              <a:rPr sz="1000" b="0" i="0" dirty="0">
                <a:solidFill>
                  <a:srgbClr val="5A886A"/>
                </a:solidFill>
                <a:latin typeface="Calibri"/>
              </a:rPr>
              <a:t> directly.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960120"/>
            <a:ext cx="4206240" cy="40416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63440" y="960120"/>
            <a:ext cx="50292" cy="4041648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0" y="1033271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55A"/>
                </a:solidFill>
                <a:latin typeface="Calibri"/>
              </a:rPr>
              <a:t>❌  Weaknesses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1463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55A"/>
                </a:solidFill>
                <a:latin typeface="Calibri"/>
              </a:rPr>
              <a:t>• Overfitting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168249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Unlimited trees memorize perfectly — always limit depth.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1911095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55A"/>
                </a:solidFill>
                <a:latin typeface="Calibri"/>
              </a:rPr>
              <a:t>• High variance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13055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Small data change → completely different tree structure.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35915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55A"/>
                </a:solidFill>
                <a:latin typeface="Calibri"/>
              </a:rPr>
              <a:t>• Biased to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257860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Features with more split points (numbers) get more attention.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280720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55A"/>
                </a:solidFill>
                <a:latin typeface="Calibri"/>
              </a:rPr>
              <a:t>• Poor extrapolation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02666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Can't predict values outside training range (regression).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25526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55A"/>
                </a:solidFill>
                <a:latin typeface="Calibri"/>
              </a:rPr>
              <a:t>• Greedy splits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34747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Local optimal decisions may not be globally optimal.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7033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55A"/>
                </a:solidFill>
                <a:latin typeface="Calibri"/>
              </a:rPr>
              <a:t>• Unstable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392277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One outlier can change the entire tree structure.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15137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55A"/>
                </a:solidFill>
                <a:latin typeface="Calibri"/>
              </a:rPr>
              <a:t>• Rectangular boundaries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37083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Can struggle with diagonal decision boundaries.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599431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55A"/>
                </a:solidFill>
                <a:latin typeface="Calibri"/>
              </a:rPr>
              <a:t>• Replaced by RF/XGB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481888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In practice, RF and XGBoost almost always outperform a single DT.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When to Use (and NOT Use) a Decision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A practical guide for choosing the right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60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E071"/>
                </a:solidFill>
                <a:latin typeface="Calibri"/>
              </a:rPr>
              <a:t>✅  USE a Decision Tree when: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44168"/>
            <a:ext cx="4206240" cy="6858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344168"/>
            <a:ext cx="50292" cy="6858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E071"/>
                </a:solidFill>
                <a:latin typeface="Calibri"/>
              </a:rPr>
              <a:t>• You need to EXPLAIN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64207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A doctor, judge, or regulator needs to understand each prediction.
Only Decision Trees (and Logistic Regression) provide this.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12264"/>
            <a:ext cx="4206240" cy="6858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2112264"/>
            <a:ext cx="50292" cy="6858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5798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E071"/>
                </a:solidFill>
                <a:latin typeface="Calibri"/>
              </a:rPr>
              <a:t>• Small to medium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3230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Under 10,000 rows? A single tree is fast, interpretable, and effective.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80360"/>
            <a:ext cx="4206240" cy="6858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880360"/>
            <a:ext cx="50292" cy="6858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2607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E071"/>
                </a:solidFill>
                <a:latin typeface="Calibri"/>
              </a:rPr>
              <a:t>• Business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The output IS the rules: 'If age &lt; 18 AND income &lt; 30k → high risk.'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48456"/>
            <a:ext cx="4206240" cy="6858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3648456"/>
            <a:ext cx="50292" cy="6858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6941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E071"/>
                </a:solidFill>
                <a:latin typeface="Calibri"/>
              </a:rPr>
              <a:t>• Quick baseline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6849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Build a tree in 3 lines of code. Compare other models against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416552"/>
            <a:ext cx="4206240" cy="6858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416552"/>
            <a:ext cx="50292" cy="6858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46227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E071"/>
                </a:solidFill>
                <a:latin typeface="Calibri"/>
              </a:rPr>
              <a:t>• Mixed feature 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365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Got numbers, categories, booleans all together? Trees handle them natively.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960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55A"/>
                </a:solidFill>
                <a:latin typeface="Calibri"/>
              </a:rPr>
              <a:t>❌  DON'T use a Decision Tree when: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1344168"/>
            <a:ext cx="4206240" cy="6858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3440" y="1344168"/>
            <a:ext cx="50292" cy="685800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138988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5A"/>
                </a:solidFill>
                <a:latin typeface="Calibri"/>
              </a:rPr>
              <a:t>• High accuracy is critical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1664207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Random Forest or XGBoost will almost always beat a single tree by 3-8%.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112264"/>
            <a:ext cx="4206240" cy="6858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63440" y="2112264"/>
            <a:ext cx="50292" cy="685800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0" y="215798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5A"/>
                </a:solidFill>
                <a:latin typeface="Calibri"/>
              </a:rPr>
              <a:t>• Very large datasets (&gt;100k)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243230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Training becomes slow. Random Forest (parallel) is faster.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880360"/>
            <a:ext cx="4206240" cy="6858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663440" y="2880360"/>
            <a:ext cx="50292" cy="685800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0" y="292607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5A"/>
                </a:solidFill>
                <a:latin typeface="Calibri"/>
              </a:rPr>
              <a:t>• High-dimensional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3200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100+ features? Trees overfit badly. Use regularized models instead.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3648456"/>
            <a:ext cx="4206240" cy="6858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663440" y="3648456"/>
            <a:ext cx="50292" cy="685800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46320" y="36941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5A"/>
                </a:solidFill>
                <a:latin typeface="Calibri"/>
              </a:rPr>
              <a:t>• Data is mostly continuous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396849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Trees create stepwise boundaries. SVMs or neural nets may work better.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4416552"/>
            <a:ext cx="4206240" cy="68580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663440" y="4416552"/>
            <a:ext cx="50292" cy="685800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46320" y="446227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5A"/>
                </a:solidFill>
                <a:latin typeface="Calibri"/>
              </a:rPr>
              <a:t>• Stability matters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47365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alibri"/>
              </a:rPr>
              <a:t>Same data, slightly different split → different tree. Use Random Forest.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00C9B1"/>
                </a:solidFill>
                <a:latin typeface="Arial Black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51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Visualization &amp;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520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886A"/>
                </a:solidFill>
                <a:latin typeface="Calibri"/>
              </a:rPr>
              <a:t>Writing and reading Decision Trees in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401568"/>
            <a:ext cx="45720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Complete Decision Tree Code — Titanic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Every line explained — from data prep to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8595360" cy="21945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978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A"/>
                </a:solidFill>
                <a:latin typeface="Calibri"/>
              </a:rPr>
              <a:t>Step 1: Imports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79576"/>
            <a:ext cx="8595360" cy="822959"/>
          </a:xfrm>
          <a:prstGeom prst="rect">
            <a:avLst/>
          </a:prstGeom>
          <a:solidFill>
            <a:srgbClr val="06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207008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9B1"/>
                </a:solidFill>
                <a:latin typeface="Consolas"/>
              </a:rPr>
              <a:t>from sklearn.tree import DecisionTreeClassifier, plot_tree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371600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9B1"/>
                </a:solidFill>
                <a:latin typeface="Consolas"/>
              </a:rPr>
              <a:t>from sklearn.model_selection import train_test_split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536192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9B1"/>
                </a:solidFill>
                <a:latin typeface="Consolas"/>
              </a:rPr>
              <a:t>from sklearn.metrics import classification_report, confusion_matrix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70078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9B1"/>
                </a:solidFill>
                <a:latin typeface="Consolas"/>
              </a:rPr>
              <a:t>import matplotlib.pyplot as plt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39112"/>
            <a:ext cx="8595360" cy="219456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05740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A"/>
                </a:solidFill>
                <a:latin typeface="Calibri"/>
              </a:rPr>
              <a:t>Step 2: Prepare X and 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58568"/>
            <a:ext cx="8595360" cy="658368"/>
          </a:xfrm>
          <a:prstGeom prst="rect">
            <a:avLst/>
          </a:prstGeom>
          <a:solidFill>
            <a:srgbClr val="06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286000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E071"/>
                </a:solidFill>
                <a:latin typeface="Consolas"/>
              </a:rPr>
              <a:t># X = features (inputs), y = target (what we predict)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450592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X = df[['Pclass','Sex','Age','SibSp','Parch','Fare','Embarked_Q','Embarked_S']]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61518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y = df['Survived']  # 0 or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53512"/>
            <a:ext cx="8595360" cy="219456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297180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A"/>
                </a:solidFill>
                <a:latin typeface="Calibri"/>
              </a:rPr>
              <a:t>Step 3: Split train/test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172968"/>
            <a:ext cx="8595360" cy="658368"/>
          </a:xfrm>
          <a:prstGeom prst="rect">
            <a:avLst/>
          </a:prstGeom>
          <a:solidFill>
            <a:srgbClr val="06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3200400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E071"/>
                </a:solidFill>
                <a:latin typeface="Consolas"/>
              </a:rPr>
              <a:t># stratify=y keeps same class % in both splits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364992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X_train, X_test, y_train, y_test = train_test_split(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52958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    X, y, test_size=0.25, random_state=42, stratify=y)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E7B0E-F2AE-997E-6374-E4A0B09C9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BFECDF-405E-E39D-06FC-0819B6BF046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D64CB4-B200-2A6C-5BDF-55635AACA640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6C9BC7-F336-9C54-2280-5877C0953C88}"/>
              </a:ext>
            </a:extLst>
          </p:cNvPr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Complete Decision Tree Code — Titanic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95944" y="4764024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750808" y="479374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0D2B1A"/>
                </a:solidFill>
                <a:latin typeface="Calibri"/>
              </a:rPr>
              <a:t>34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231036"/>
            <a:ext cx="8595360" cy="21945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1249324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A"/>
                </a:solidFill>
                <a:latin typeface="Calibri"/>
              </a:rPr>
              <a:t>Step 4: Create &amp; Train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450492"/>
            <a:ext cx="8595360" cy="1316736"/>
          </a:xfrm>
          <a:prstGeom prst="rect">
            <a:avLst/>
          </a:prstGeom>
          <a:solidFill>
            <a:srgbClr val="06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147792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dt = DecisionTreeClassifier(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1642516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    max_depth=4,          # max levels (prevents overfitting)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1807108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    min_samples_leaf=10,  # each leaf needs ≥ 10 samples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1971700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E8F8F0"/>
                </a:solidFill>
                <a:latin typeface="Consolas"/>
              </a:rPr>
              <a:t>    criterion='</a:t>
            </a:r>
            <a:r>
              <a:rPr sz="950" b="0" i="0" dirty="0" err="1">
                <a:solidFill>
                  <a:srgbClr val="E8F8F0"/>
                </a:solidFill>
                <a:latin typeface="Consolas"/>
              </a:rPr>
              <a:t>gini</a:t>
            </a:r>
            <a:r>
              <a:rPr sz="950" b="0" i="0" dirty="0">
                <a:solidFill>
                  <a:srgbClr val="E8F8F0"/>
                </a:solidFill>
                <a:latin typeface="Consolas"/>
              </a:rPr>
              <a:t>',     # impurity measure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2136292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E8F8F0"/>
                </a:solidFill>
                <a:latin typeface="Consolas"/>
              </a:rPr>
              <a:t>    </a:t>
            </a:r>
            <a:r>
              <a:rPr sz="950" b="0" i="0" dirty="0" err="1">
                <a:solidFill>
                  <a:srgbClr val="E8F8F0"/>
                </a:solidFill>
                <a:latin typeface="Consolas"/>
              </a:rPr>
              <a:t>random_state</a:t>
            </a:r>
            <a:r>
              <a:rPr sz="950" b="0" i="0" dirty="0">
                <a:solidFill>
                  <a:srgbClr val="E8F8F0"/>
                </a:solidFill>
                <a:latin typeface="Consolas"/>
              </a:rPr>
              <a:t>=42       # reproducibility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2465476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E8F8F0"/>
                </a:solidFill>
                <a:latin typeface="Consolas"/>
              </a:rPr>
              <a:t>dt.fit</a:t>
            </a:r>
            <a:r>
              <a:rPr sz="950" b="0" i="0" dirty="0">
                <a:solidFill>
                  <a:srgbClr val="E8F8F0"/>
                </a:solidFill>
                <a:latin typeface="Consolas"/>
              </a:rPr>
              <a:t>(</a:t>
            </a:r>
            <a:r>
              <a:rPr sz="950" b="0" i="0" dirty="0" err="1">
                <a:solidFill>
                  <a:srgbClr val="E8F8F0"/>
                </a:solidFill>
                <a:latin typeface="Consolas"/>
              </a:rPr>
              <a:t>X_train</a:t>
            </a:r>
            <a:r>
              <a:rPr sz="950" b="0" i="0" dirty="0">
                <a:solidFill>
                  <a:srgbClr val="E8F8F0"/>
                </a:solidFill>
                <a:latin typeface="Consolas"/>
              </a:rPr>
              <a:t>, </a:t>
            </a:r>
            <a:r>
              <a:rPr sz="950" b="0" i="0" dirty="0" err="1">
                <a:solidFill>
                  <a:srgbClr val="E8F8F0"/>
                </a:solidFill>
                <a:latin typeface="Consolas"/>
              </a:rPr>
              <a:t>y_train</a:t>
            </a:r>
            <a:r>
              <a:rPr sz="950" b="0" i="0" dirty="0">
                <a:solidFill>
                  <a:srgbClr val="E8F8F0"/>
                </a:solidFill>
                <a:latin typeface="Consolas"/>
              </a:rPr>
              <a:t>)  # TRAIN: learn questions from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803804"/>
            <a:ext cx="8595360" cy="219456"/>
          </a:xfrm>
          <a:prstGeom prst="rect">
            <a:avLst/>
          </a:prstGeom>
          <a:solidFill>
            <a:srgbClr val="A0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282209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A"/>
                </a:solidFill>
                <a:latin typeface="Calibri"/>
              </a:rPr>
              <a:t>Step 5: Evaluate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023260"/>
            <a:ext cx="8595360" cy="658368"/>
          </a:xfrm>
          <a:prstGeom prst="rect">
            <a:avLst/>
          </a:prstGeom>
          <a:solidFill>
            <a:srgbClr val="06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3050692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y_pred = dt.predict(X_test)      # predict on test 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321528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print(classification_report(y_test, y_pred, digits=4))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3379876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cm = confusion_matrix(y_test, y_pred)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718204"/>
            <a:ext cx="8595360" cy="219456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1480" y="373649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1A"/>
                </a:solidFill>
                <a:latin typeface="Calibri"/>
              </a:rPr>
              <a:t>Step 6: Visualize the tree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937660"/>
            <a:ext cx="8595360" cy="987551"/>
          </a:xfrm>
          <a:prstGeom prst="rect">
            <a:avLst/>
          </a:prstGeom>
          <a:solidFill>
            <a:srgbClr val="06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1480" y="3965092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plt.figure(figsize=(20, 10))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4129684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plot_tree(dt, feature_names=X.columns,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294276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          class_names=['Not Survived','Survived'],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4458868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          filled=True, rounded=True, fontsize=10)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623460"/>
            <a:ext cx="8229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8F0"/>
                </a:solidFill>
                <a:latin typeface="Consolas"/>
              </a:rPr>
              <a:t>plt.show()</a:t>
            </a:r>
          </a:p>
        </p:txBody>
      </p:sp>
    </p:spTree>
    <p:extLst>
      <p:ext uri="{BB962C8B-B14F-4D97-AF65-F5344CB8AC3E}">
        <p14:creationId xmlns:p14="http://schemas.microsoft.com/office/powerpoint/2010/main" val="273867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How to Read plot_tree()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Decoding every number inside each node of the visualization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71233" y="967207"/>
            <a:ext cx="2057400" cy="1572768"/>
          </a:xfrm>
          <a:prstGeom prst="rect">
            <a:avLst/>
          </a:prstGeom>
          <a:solidFill>
            <a:srgbClr val="156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7264" y="1040359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onsolas"/>
              </a:rPr>
              <a:t>Sex ≤ 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7264" y="1351255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8F0"/>
                </a:solidFill>
                <a:latin typeface="Consolas"/>
              </a:rPr>
              <a:t>gini = 0.4722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7264" y="1561567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8F0"/>
                </a:solidFill>
                <a:latin typeface="Consolas"/>
              </a:rPr>
              <a:t>samples = 668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7264" y="1771879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8F0"/>
                </a:solidFill>
                <a:latin typeface="Consolas"/>
              </a:rPr>
              <a:t>value = [411, 257]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7264" y="1991335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8F0"/>
                </a:solidFill>
                <a:latin typeface="Consolas"/>
              </a:rPr>
              <a:t>class =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960120"/>
            <a:ext cx="2057400" cy="7498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0" y="960120"/>
            <a:ext cx="205740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1033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400"/>
                </a:solidFill>
                <a:latin typeface="Consolas"/>
              </a:rPr>
              <a:t>Sex ≤ 0.5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28930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THE QUESTION being asked at this node.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783080"/>
            <a:ext cx="2057400" cy="7498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0" y="1783080"/>
            <a:ext cx="2057400" cy="54864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95160" y="18562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55A"/>
                </a:solidFill>
                <a:latin typeface="Consolas"/>
              </a:rPr>
              <a:t>gini = 0.4722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1122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IMPURITY of this node BEFORE splitting.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606040"/>
            <a:ext cx="2057400" cy="7498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0" y="2606040"/>
            <a:ext cx="20574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60" y="26791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onsolas"/>
              </a:rPr>
              <a:t>samples = 668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9352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NUMBER OF TRAINING PASSENGERS in this node.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429000"/>
            <a:ext cx="2057400" cy="7498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0" y="3429000"/>
            <a:ext cx="2057400" cy="5486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95160" y="35021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E071"/>
                </a:solidFill>
                <a:latin typeface="Consolas"/>
              </a:rPr>
              <a:t>value = [411, 257]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7581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CLASS DISTRIBUTION: [class 0 count, class 1 count]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4251960"/>
            <a:ext cx="2057400" cy="7498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0" y="4251960"/>
            <a:ext cx="205740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95160" y="43251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Consolas"/>
              </a:rPr>
              <a:t>class =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5811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86A"/>
                </a:solidFill>
                <a:latin typeface="Calibri"/>
              </a:rPr>
              <a:t>MAJORITY CLASS — the prediction if we STOPPED here.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65176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0D2B1A"/>
                </a:solidFill>
                <a:latin typeface="Calibri"/>
              </a:rPr>
              <a:t>THE QUESTION being asked at this node.
Sex was encoded: female=0, male=1
Sex ≤ 0.5 means 'Is this passenger female?'
YES (≤0.5=female) → go LEFT  |  NO (&gt;0.5=male) → go RIGHT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660903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0D2B1A"/>
                </a:solidFill>
                <a:latin typeface="Calibri"/>
              </a:rPr>
              <a:t>IMPURITY of this node BEFORE splitting.
Value of 0.47 is close to 0.5 (maximum impurity).
This node is very MIXED — lots of both survivors and non-survivors.
The algorithm will split here to reduce this impurity.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267004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0D2B1A"/>
                </a:solidFill>
                <a:latin typeface="Calibri"/>
              </a:rPr>
              <a:t>NUMBER OF TRAINING PASSENGERS in this node.
668 out of 668 → this is the ROOT node (all data arrives here).
After each split, child nodes have fewer samples.
Leaf nodes may have just 10-20 samples (min_samples_leaf).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267919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0D2B1A"/>
                </a:solidFill>
                <a:latin typeface="Calibri"/>
              </a:rPr>
              <a:t>CLASS DISTRIBUTION: [class 0 count, class 1 count]
411 = did not survive (class 0)
257 = survived (class 1)
Total: 411 + 257 = 668 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268833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0D2B1A"/>
                </a:solidFill>
                <a:latin typeface="Calibri"/>
              </a:rPr>
              <a:t>MAJORITY CLASS — the prediction if we STOPPED here.
Since 411 &gt; 257, the majority didn't survive.
All leaf nodes end in a class prediction.
For leaf nodes, this IS the final prediction.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39" y="987552"/>
            <a:ext cx="425975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  <a:latin typeface="Calibri"/>
              </a:rPr>
              <a:t>THE QUESTION being asked at this node.
Sex was encoded: female=0, male=1
Sex ≤ 0.5 means 'Is this passenger female?'
YES (≤0.5=female) → go LEFT  |  NO (&gt;0.5=male) → go RIGHT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1810512"/>
            <a:ext cx="42519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  <a:latin typeface="Calibri"/>
              </a:rPr>
              <a:t>IMPURITY of this node BEFORE splitting.
Value of 0.47 is close to 0.5 (maximum impurity).
This node is very MIXED — lots of both survivors and non-survivors.
The algorithm will split here to reduce this impurity.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39" y="2633472"/>
            <a:ext cx="435119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  <a:latin typeface="Calibri"/>
              </a:rPr>
              <a:t>NUMBER OF TRAINING PASSENGERS in this node.
668 out of 668 → this is the ROOT node (all data arrives here).
After each split, child nodes have fewer samples.
Leaf nodes may have just 10-20 samples (</a:t>
            </a:r>
            <a:r>
              <a:rPr sz="950" b="0" i="0" dirty="0" err="1">
                <a:solidFill>
                  <a:srgbClr val="FFFFFF"/>
                </a:solidFill>
                <a:latin typeface="Calibri"/>
              </a:rPr>
              <a:t>min_samples_leaf</a:t>
            </a:r>
            <a:r>
              <a:rPr sz="950" b="0" i="0" dirty="0">
                <a:solidFill>
                  <a:srgbClr val="FFFFFF"/>
                </a:solidFill>
                <a:latin typeface="Calibri"/>
              </a:rPr>
              <a:t>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3456432"/>
            <a:ext cx="463473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  <a:latin typeface="Calibri"/>
              </a:rPr>
              <a:t>CLASS DISTRIBUTION: [class 0 count, class 1 count]
411 = did not survive (class 0)
257 = survived (class 1)
Total: 411 + 257 = 668 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39" y="4279392"/>
            <a:ext cx="47623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  <a:latin typeface="Calibri"/>
              </a:rPr>
              <a:t>MAJORITY CLASS — the prediction if we STOPPED here.
Since 411 &gt; 257, the majority didn't survive.
All leaf nodes end in a class prediction.
For leaf nodes, this IS the final prediction.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Feature Importance — What Did the Tree Learn?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Decision Trees rank features by how much they reduce impurity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33271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onsolas"/>
              </a:rPr>
              <a:t>feature_importances_  =  how much each feature reduced the weighted Gini across all splits  (sum = 1.0)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572768"/>
            <a:ext cx="4754880" cy="310896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6093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FFFFF"/>
                </a:solidFill>
                <a:latin typeface="Calibri"/>
              </a:rPr>
              <a:t>Sex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2763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400"/>
                </a:solidFill>
                <a:latin typeface="Calibri"/>
              </a:rPr>
              <a:t>31.2%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627631"/>
            <a:ext cx="192938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A886A"/>
                </a:solidFill>
                <a:latin typeface="Calibri"/>
              </a:rPr>
              <a:t>Most important — gender was the #1 factor in survival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002536"/>
            <a:ext cx="3474720" cy="31089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0391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FFFFF"/>
                </a:solidFill>
                <a:latin typeface="Calibri"/>
              </a:rPr>
              <a:t>Fare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205740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22.8%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5096" y="2057400"/>
            <a:ext cx="3611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Higher fare = wealthier = better lifeboat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432304"/>
            <a:ext cx="2773680" cy="310896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2468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FFFFF"/>
                </a:solidFill>
                <a:latin typeface="Calibri"/>
              </a:rPr>
              <a:t>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2440" y="248716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E071"/>
                </a:solidFill>
                <a:latin typeface="Calibri"/>
              </a:rPr>
              <a:t>18.2%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5096" y="2487168"/>
            <a:ext cx="3611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Children first — age &lt; 10 appears as split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2862072"/>
            <a:ext cx="2209800" cy="31089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28986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FFFFF"/>
                </a:solidFill>
                <a:latin typeface="Calibri"/>
              </a:rPr>
              <a:t>Pclass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8560" y="291693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Calibri"/>
              </a:rPr>
              <a:t>14.5%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5096" y="2916936"/>
            <a:ext cx="3611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Class 1 had 6× more lifeboats than Class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3291839"/>
            <a:ext cx="944880" cy="310896"/>
          </a:xfrm>
          <a:prstGeom prst="rect">
            <a:avLst/>
          </a:prstGeom>
          <a:solidFill>
            <a:srgbClr val="5A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332841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FFFFF"/>
                </a:solidFill>
                <a:latin typeface="Calibri"/>
              </a:rPr>
              <a:t>SibSp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3640" y="3346703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886A"/>
                </a:solidFill>
                <a:latin typeface="Calibri"/>
              </a:rPr>
              <a:t>6.2%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35096" y="3346703"/>
            <a:ext cx="3611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Small families had slight advantage in evacuation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3721607"/>
            <a:ext cx="624840" cy="310896"/>
          </a:xfrm>
          <a:prstGeom prst="rect">
            <a:avLst/>
          </a:prstGeom>
          <a:solidFill>
            <a:srgbClr val="5A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3758183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FFFFF"/>
                </a:solidFill>
                <a:latin typeface="Calibri"/>
              </a:rPr>
              <a:t>Parch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33600" y="3776471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886A"/>
                </a:solidFill>
                <a:latin typeface="Calibri"/>
              </a:rPr>
              <a:t>4.1%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35096" y="3776471"/>
            <a:ext cx="3611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Parents with children had prioritized access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4151376"/>
            <a:ext cx="274320" cy="310896"/>
          </a:xfrm>
          <a:prstGeom prst="rect">
            <a:avLst/>
          </a:prstGeom>
          <a:solidFill>
            <a:srgbClr val="5A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41879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FFFFF"/>
                </a:solidFill>
                <a:latin typeface="Calibri"/>
              </a:rPr>
              <a:t>Embarked_S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420624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886A"/>
                </a:solidFill>
                <a:latin typeface="Calibri"/>
              </a:rPr>
              <a:t>1.8%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35096" y="4206240"/>
            <a:ext cx="3611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886A"/>
                </a:solidFill>
                <a:latin typeface="Calibri"/>
              </a:rPr>
              <a:t>Southampton passengers had slight disadvantage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4581144"/>
            <a:ext cx="182880" cy="310896"/>
          </a:xfrm>
          <a:prstGeom prst="rect">
            <a:avLst/>
          </a:prstGeom>
          <a:solidFill>
            <a:srgbClr val="5A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46177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FFFFF"/>
                </a:solidFill>
                <a:latin typeface="Calibri"/>
              </a:rPr>
              <a:t>Embarked_Q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39" y="4636007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886A"/>
                </a:solidFill>
                <a:latin typeface="Calibri"/>
              </a:rPr>
              <a:t>1.2%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35096" y="4636007"/>
            <a:ext cx="3611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A886A"/>
                </a:solidFill>
                <a:latin typeface="Calibri"/>
              </a:rPr>
              <a:t>Very low — Queenstown port barely mattered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5047488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886A"/>
                </a:solidFill>
                <a:latin typeface="Consolas"/>
              </a:rPr>
              <a:t># Access feature importance in code: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FFC400"/>
                </a:solidFill>
                <a:latin typeface="Arial Black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51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Real-World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520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886A"/>
                </a:solidFill>
                <a:latin typeface="Calibri"/>
              </a:rPr>
              <a:t>Where Decision Trees are used in industry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401568"/>
            <a:ext cx="457200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Decision Trees in the Real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These algorithms make critical decisions in many industries every 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4206240" cy="126187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50292" cy="126187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9966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FFC400"/>
                </a:solidFill>
                <a:latin typeface="Calibri"/>
              </a:rPr>
              <a:t> Banking &amp; 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32588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Credit scoring: 'If income &lt; 30k AND debt &gt; 50k → HIGH RISK'
Loan approval decisions that must be explained to applicants
Fraud detection rules that compliance officers can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562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886A"/>
                </a:solidFill>
                <a:latin typeface="Calibri"/>
              </a:rPr>
              <a:t>Why DT? Regulators require explainable credit decisions by law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50008"/>
            <a:ext cx="4206240" cy="126187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2350008"/>
            <a:ext cx="50292" cy="1261872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238658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FF455A"/>
                </a:solidFill>
                <a:latin typeface="Calibri"/>
              </a:rPr>
              <a:t> Medical Diagnosis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71576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'If age &gt; 50 AND cholesterol &gt; 240 AND smoker → screen for heart disease'
Decision support systems in emergency triage
Diagnostic flowcharts that doctors already use manually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2461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886A"/>
                </a:solidFill>
                <a:latin typeface="Calibri"/>
              </a:rPr>
              <a:t>Why DT? Doctors need to understand and trust the recommendations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39896"/>
            <a:ext cx="4206240" cy="126187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739896"/>
            <a:ext cx="50292" cy="1261872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79" y="37764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4CE071"/>
                </a:solidFill>
                <a:latin typeface="Calibri"/>
              </a:rPr>
              <a:t> Customer Churn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105656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'If subscription &gt; 3 months AND last_login &gt; 30 days → at risk'
Priority call lists for customer retention teams
Automatic discount triggers based on behavior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6360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886A"/>
                </a:solidFill>
                <a:latin typeface="Calibri"/>
              </a:rPr>
              <a:t>Why DT? Business teams can act on the rules directly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36592" y="960120"/>
            <a:ext cx="4206240" cy="126187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36592" y="960120"/>
            <a:ext cx="50292" cy="12618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73752" y="9966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00C9B1"/>
                </a:solidFill>
                <a:latin typeface="Calibri"/>
              </a:rPr>
              <a:t> Legal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132588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'If transaction &gt; $10,000 AND country in high_risk_list → report'
Insurance policy eligibility assessment
Tax fraud risk scoring with explainable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18562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886A"/>
                </a:solidFill>
                <a:latin typeface="Calibri"/>
              </a:rPr>
              <a:t>Why DT? Legal requirements for explainable decisions (GDPR, Fair Credit)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2350008"/>
            <a:ext cx="4206240" cy="126187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36592" y="2350008"/>
            <a:ext cx="50292" cy="126187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73752" y="238658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FF7A00"/>
                </a:solidFill>
                <a:latin typeface="Calibri"/>
              </a:rPr>
              <a:t> Manufacturing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271576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'If temperature &gt; 85°C AND vibration &gt; 0.8Hz → maintenance alert'
Quality control: automatically classify defective products
Sensor-based fault detection in production 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3752" y="32461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886A"/>
                </a:solidFill>
                <a:latin typeface="Calibri"/>
              </a:rPr>
              <a:t>Why DT? Engineers can read and validate the decision rules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36592" y="3739896"/>
            <a:ext cx="4206240" cy="126187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36592" y="3739896"/>
            <a:ext cx="50292" cy="1261872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73752" y="37764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4CE071"/>
                </a:solidFill>
                <a:latin typeface="Calibri"/>
              </a:rPr>
              <a:t> Agriculture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73752" y="4105656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'If soil_pH &lt; 5.5 AND rainfall &lt; 30mm → add fertilizer'
Crop disease diagnosis from leaf appearance
Optimal harvest timing based on weather conditions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3752" y="46360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886A"/>
                </a:solidFill>
                <a:latin typeface="Calibri"/>
              </a:rPr>
              <a:t>Why DT? Farmers need simple, actionable, explainable advice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Complete Decision Tree Workflow —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The professional process from raw data to trained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4206240" cy="12070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50292" cy="1207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0515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9B1"/>
                </a:solidFill>
                <a:latin typeface="Calibri"/>
              </a:rPr>
              <a:t>1️⃣  Define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444752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What are you predicting? (Survived/Not? Price? Category?)
Which metric matters? (F1? Precision? Recall?)
→ Titanic: Binary classification, use F1-Score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59152"/>
            <a:ext cx="4206240" cy="12070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2359152"/>
            <a:ext cx="50292" cy="1207008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24048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E071"/>
                </a:solidFill>
                <a:latin typeface="Calibri"/>
              </a:rPr>
              <a:t>2️⃣  Prepare the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798064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Clean missing values. Encode categorical features.
NO scaling needed for Decision Trees!
→ Sex: female=0, male=1. Embarked: one-hot encoding.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12464"/>
            <a:ext cx="4206240" cy="12070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3712464"/>
            <a:ext cx="50292" cy="1207008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79" y="375818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400"/>
                </a:solidFill>
                <a:latin typeface="Calibri"/>
              </a:rPr>
              <a:t>3️⃣  Split Train/Test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151376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Use stratify=y to preserve class balance.
NEVER use test data for training!
→ train_test_split(X, y, test_size=0.25, stratify=y)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1005840"/>
            <a:ext cx="4206240" cy="12070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36592" y="1005840"/>
            <a:ext cx="50292" cy="120700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73752" y="10515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7A00"/>
                </a:solidFill>
                <a:latin typeface="Calibri"/>
              </a:rPr>
              <a:t>4️⃣  Start Simple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2" y="1444752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First: train with max_depth=3. Get a baseline score.
Then gradually increase depth and observe what changes.
→ This teaches you how sensitive the tree 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2359152"/>
            <a:ext cx="4206240" cy="12070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36592" y="2359152"/>
            <a:ext cx="50292" cy="1207008"/>
          </a:xfrm>
          <a:prstGeom prst="rect">
            <a:avLst/>
          </a:prstGeom>
          <a:solidFill>
            <a:srgbClr val="A0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73752" y="24048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05CF5"/>
                </a:solidFill>
                <a:latin typeface="Calibri"/>
              </a:rPr>
              <a:t>5️⃣  Tune Hyperparameters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2798064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Try max_depth: 2, 3, 4, 5, 6. Watch train vs test gap.
Add min_samples_leaf to smooth the tree further.
→ Use GridSearchCV for systematic tuning.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6592" y="3712464"/>
            <a:ext cx="4206240" cy="120700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36592" y="3712464"/>
            <a:ext cx="50292" cy="1207008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73752" y="375818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CE071"/>
                </a:solidFill>
                <a:latin typeface="Calibri"/>
              </a:rPr>
              <a:t>6️⃣  Evaluate &amp; Interpret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4151376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Read the classification_report. Check confusion matrix.
Visualize the tree — read the rules it learned!
→ Can you explain each prediction? You should be able to.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Decision Tree vs Other Models — Full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Understanding where DTs fit in the ML ecosystem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98755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400"/>
                </a:solidFill>
                <a:latin typeface="Calibri"/>
              </a:rPr>
              <a:t>Property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98755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400"/>
                </a:solidFill>
                <a:latin typeface="Calibri"/>
              </a:rPr>
              <a:t>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98755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400"/>
                </a:solidFill>
                <a:latin typeface="Calibri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98755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400"/>
                </a:solidFill>
                <a:latin typeface="Calibri"/>
              </a:rP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98755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400"/>
                </a:solidFill>
                <a:latin typeface="Calibri"/>
              </a:rPr>
              <a:t>KNN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98755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400"/>
                </a:solidFill>
                <a:latin typeface="Calibri"/>
              </a:rPr>
              <a:t>Log. Reg.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71600"/>
            <a:ext cx="8595360" cy="3840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44475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Accuracy (Titanic)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14447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82.5%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4447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81.6%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4447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82.5%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4447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78.9%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447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~80%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783080"/>
            <a:ext cx="8595360" cy="384048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1856231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Training 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185623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185623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185623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85623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185623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194560"/>
            <a:ext cx="8595360" cy="3840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226771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Prediction speed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22677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Very 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22677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22677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2677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Very fast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22677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606040"/>
            <a:ext cx="8595360" cy="384048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267919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Interpretable?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26791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E071"/>
                </a:solidFill>
                <a:latin typeface="Calibri"/>
              </a:rPr>
              <a:t>✅ Yes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26791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B4A"/>
                </a:solidFill>
                <a:latin typeface="Calibri"/>
              </a:rPr>
              <a:t>❌ 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26791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B4A"/>
                </a:solidFill>
                <a:latin typeface="Calibri"/>
              </a:rPr>
              <a:t>❌ 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26791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Partly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26791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E071"/>
                </a:solidFill>
                <a:latin typeface="Calibri"/>
              </a:rPr>
              <a:t>✅ 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017520"/>
            <a:ext cx="8595360" cy="3840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309067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Feature scaling?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91640" y="30906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B4A"/>
                </a:solidFill>
                <a:latin typeface="Calibri"/>
              </a:rPr>
              <a:t>❌ Not needed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30906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B4A"/>
                </a:solidFill>
                <a:latin typeface="Calibri"/>
              </a:rPr>
              <a:t>❌ Not needed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6360" y="30906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B4A"/>
                </a:solidFill>
                <a:latin typeface="Calibri"/>
              </a:rPr>
              <a:t>❌ Not needed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30906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E071"/>
                </a:solidFill>
                <a:latin typeface="Calibri"/>
              </a:rPr>
              <a:t>✅ Required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30906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E071"/>
                </a:solidFill>
                <a:latin typeface="Calibri"/>
              </a:rPr>
              <a:t>✅ Required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429000"/>
            <a:ext cx="8595360" cy="384048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350215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Handles nonlinear?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91640" y="35021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E071"/>
                </a:solidFill>
                <a:latin typeface="Calibri"/>
              </a:rPr>
              <a:t>✅ Yes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0440" y="35021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E071"/>
                </a:solidFill>
                <a:latin typeface="Calibri"/>
              </a:rPr>
              <a:t>✅ Yes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35021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E071"/>
                </a:solidFill>
                <a:latin typeface="Calibri"/>
              </a:rPr>
              <a:t>✅ Yes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35021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E071"/>
                </a:solidFill>
                <a:latin typeface="Calibri"/>
              </a:rPr>
              <a:t>✅ 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35021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B4A"/>
                </a:solidFill>
                <a:latin typeface="Calibri"/>
              </a:rPr>
              <a:t>❌ 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840480"/>
            <a:ext cx="8595360" cy="3840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391363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Overfits easily?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91640" y="391363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400"/>
                </a:solidFill>
                <a:latin typeface="Calibri"/>
              </a:rPr>
              <a:t>⚠️ Yes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20440" y="391363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Less so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66360" y="391363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Less so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391363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Yes (large K)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391363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251960"/>
            <a:ext cx="8595360" cy="384048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432511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Missing values?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91640" y="43251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Some support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20440" y="43251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Some support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66360" y="43251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E071"/>
                </a:solidFill>
                <a:latin typeface="Calibri"/>
              </a:rPr>
              <a:t>✅ Yes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92240" y="43251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B4A"/>
                </a:solidFill>
                <a:latin typeface="Calibri"/>
              </a:rPr>
              <a:t>❌ 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89520" y="43251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B4A"/>
                </a:solidFill>
                <a:latin typeface="Calibri"/>
              </a:rPr>
              <a:t>❌ 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65760" y="473659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A886A"/>
                </a:solidFill>
                <a:latin typeface="Calibri"/>
              </a:rPr>
              <a:t>Best for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91640" y="47365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Explainability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20440" y="47365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General use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66360" y="47365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Best accuracy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0" y="47365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Simple data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89520" y="47365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Linear data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00C9B1"/>
                </a:solidFill>
                <a:latin typeface="Arial Black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51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Summary &amp; Cheat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520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886A"/>
                </a:solidFill>
                <a:latin typeface="Calibri"/>
              </a:rPr>
              <a:t>Everything about Decision Trees on one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401568"/>
            <a:ext cx="45720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All Formulas — Quick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Everything you need to derive, build, and evaluate a Decision Tree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4206240" cy="71323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50292" cy="713232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04241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E071"/>
                </a:solidFill>
                <a:latin typeface="Calibri"/>
              </a:rPr>
              <a:t>Gini Impurity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316736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9B1"/>
                </a:solidFill>
                <a:latin typeface="Consolas"/>
              </a:rPr>
              <a:t>Gini(node) = 1 − Σ(pᵢ)²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51790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Range: 0 (pure) → 0.5 (max impurity)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10512"/>
            <a:ext cx="4206240" cy="71323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1810512"/>
            <a:ext cx="50292" cy="713232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184708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E071"/>
                </a:solidFill>
                <a:latin typeface="Calibri"/>
              </a:rPr>
              <a:t>Gini Cost (CART)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12140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9B1"/>
                </a:solidFill>
                <a:latin typeface="Consolas"/>
              </a:rPr>
              <a:t>Cost = (N_L/N)×Gini_L + (N_R/N)×Gini_R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2322576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Pick the split with LOWEST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15184"/>
            <a:ext cx="4206240" cy="71323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2615184"/>
            <a:ext cx="50292" cy="71323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79" y="2651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C400"/>
                </a:solidFill>
                <a:latin typeface="Calibri"/>
              </a:rPr>
              <a:t>Entropy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2926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9B1"/>
                </a:solidFill>
                <a:latin typeface="Consolas"/>
              </a:rPr>
              <a:t>E(S) = −Σ pᵢ × log₂(pᵢ)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1272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Range: 0 (pure) → 1 (max impurity)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19856"/>
            <a:ext cx="4206240" cy="71323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419856"/>
            <a:ext cx="50292" cy="71323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79" y="34564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C400"/>
                </a:solidFill>
                <a:latin typeface="Calibri"/>
              </a:rPr>
              <a:t>Information Gain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373075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9B1"/>
                </a:solidFill>
                <a:latin typeface="Consolas"/>
              </a:rPr>
              <a:t>IG(T,X) = E(T) − E(T,X)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39319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Pick the feature with HIGHEST gain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224528"/>
            <a:ext cx="4206240" cy="71323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" y="4224528"/>
            <a:ext cx="50292" cy="7132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79" y="426110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C9B1"/>
                </a:solidFill>
                <a:latin typeface="Calibri"/>
              </a:rPr>
              <a:t>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53542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9B1"/>
                </a:solidFill>
                <a:latin typeface="Consolas"/>
              </a:rPr>
              <a:t>Acc = (TP + TN) / 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473659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Overall correct predictions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36592" y="1005840"/>
            <a:ext cx="4206240" cy="71323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36592" y="1005840"/>
            <a:ext cx="50292" cy="71323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73752" y="104241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7A00"/>
                </a:solidFill>
                <a:latin typeface="Calibri"/>
              </a:rPr>
              <a:t>Precision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73752" y="1316736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9B1"/>
                </a:solidFill>
                <a:latin typeface="Consolas"/>
              </a:rPr>
              <a:t>Prec = TP / (TP + 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3752" y="151790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Quality of positive predictions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36592" y="1810512"/>
            <a:ext cx="4206240" cy="71323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1810512"/>
            <a:ext cx="50292" cy="713232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73752" y="184708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55A"/>
                </a:solidFill>
                <a:latin typeface="Calibri"/>
              </a:rPr>
              <a:t>Recall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212140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9B1"/>
                </a:solidFill>
                <a:latin typeface="Consolas"/>
              </a:rPr>
              <a:t>Recall = TP / (TP + FN)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73752" y="2322576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Coverage of actual positives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36592" y="2615184"/>
            <a:ext cx="4206240" cy="71323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736592" y="2615184"/>
            <a:ext cx="50292" cy="713232"/>
          </a:xfrm>
          <a:prstGeom prst="rect">
            <a:avLst/>
          </a:prstGeom>
          <a:solidFill>
            <a:srgbClr val="A0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73752" y="2651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05CF5"/>
                </a:solidFill>
                <a:latin typeface="Calibri"/>
              </a:rPr>
              <a:t>F1-Score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3752" y="2926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9B1"/>
                </a:solidFill>
                <a:latin typeface="Consolas"/>
              </a:rPr>
              <a:t>F1 = 2 × (P × R) / (P + 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73752" y="31272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Harmonic mean: balanced metric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36592" y="3419856"/>
            <a:ext cx="4206240" cy="71323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736592" y="3419856"/>
            <a:ext cx="50292" cy="713232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73752" y="34564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E071"/>
                </a:solidFill>
                <a:latin typeface="Calibri"/>
              </a:rPr>
              <a:t>Feature Importance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73752" y="373075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9B1"/>
                </a:solidFill>
                <a:latin typeface="Consolas"/>
              </a:rPr>
              <a:t>FI = Σ (weighted Gini reduction at node)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73752" y="39319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How much each feature reduced impurity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36592" y="4224528"/>
            <a:ext cx="4206240" cy="713232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736592" y="4224528"/>
            <a:ext cx="50292" cy="7132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73752" y="426110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C9B1"/>
                </a:solidFill>
                <a:latin typeface="Calibri"/>
              </a:rPr>
              <a:t>Proportion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73752" y="453542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9B1"/>
                </a:solidFill>
                <a:latin typeface="Consolas"/>
              </a:rPr>
              <a:t>pᵢ = count(class i) / count(total)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73752" y="473659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Used in Gini and Entropy formulas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05088" y="4846320"/>
            <a:ext cx="393192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4828032"/>
            <a:ext cx="39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1A"/>
                </a:solidFill>
                <a:latin typeface="Calibri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Key Concepts Cheat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886A"/>
                </a:solidFill>
                <a:latin typeface="Calibri"/>
              </a:rPr>
              <a:t>Every concept from this session — summarized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4206240" cy="603504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50292" cy="60350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9966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E071"/>
                </a:solidFill>
                <a:latin typeface="Calibri"/>
              </a:rPr>
              <a:t>Root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30759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Top node. The BEST first question. Only 1 per tree. Whole dataset arrives 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45920"/>
            <a:ext cx="4206240" cy="603504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645920"/>
            <a:ext cx="50292" cy="60350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824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Internal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99339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Decision point inside the tree. Asks a question, splits into 2 branches.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31720"/>
            <a:ext cx="4206240" cy="603504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2331720"/>
            <a:ext cx="50292" cy="60350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79" y="23682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alibri"/>
              </a:rPr>
              <a:t>Leaf Node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2679191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End point. No more splitting. This is the PREDICTION (class label).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17520"/>
            <a:ext cx="4206240" cy="603504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017520"/>
            <a:ext cx="50292" cy="60350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79" y="30540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  <a:latin typeface="Calibri"/>
              </a:rPr>
              <a:t>Depth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3364991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Number of levels. max_depth=4 allows 4 questions max.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03320"/>
            <a:ext cx="4206240" cy="603504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703320"/>
            <a:ext cx="50292" cy="60350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79" y="37398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E071"/>
                </a:solidFill>
                <a:latin typeface="Calibri"/>
              </a:rPr>
              <a:t>Gini Impurity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4050791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Measures how MIXED a node is. 0=pure, 0.5=maximum disorder.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389120"/>
            <a:ext cx="4206240" cy="603504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" y="4389120"/>
            <a:ext cx="50292" cy="60350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79" y="44256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Entropy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73659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Alternative impurity measure. Uses log₂. Range: 0 to 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960120"/>
            <a:ext cx="4206240" cy="603504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36592" y="960120"/>
            <a:ext cx="50292" cy="60350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73752" y="9966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alibri"/>
              </a:rPr>
              <a:t>Information Gain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3752" y="130759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Reduction in entropy after splitting. Pick highest gain feature.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36592" y="1645920"/>
            <a:ext cx="4206240" cy="603504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36592" y="1645920"/>
            <a:ext cx="50292" cy="603504"/>
          </a:xfrm>
          <a:prstGeom prst="rect">
            <a:avLst/>
          </a:prstGeom>
          <a:solidFill>
            <a:srgbClr val="A0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73752" y="16824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CF5"/>
                </a:solidFill>
                <a:latin typeface="Calibri"/>
              </a:rPr>
              <a:t>CART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73752" y="199339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Classification And Regression Tree. sklearn's default DT algorithm. Uses Gini.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36592" y="2331720"/>
            <a:ext cx="4206240" cy="603504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736592" y="2331720"/>
            <a:ext cx="50292" cy="603504"/>
          </a:xfrm>
          <a:prstGeom prst="rect">
            <a:avLst/>
          </a:prstGeom>
          <a:solidFill>
            <a:srgbClr val="FF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73752" y="23682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5A"/>
                </a:solidFill>
                <a:latin typeface="Calibri"/>
              </a:rPr>
              <a:t>Overfitting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3752" y="2679191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Tree memorizes training data. Train acc &gt;&gt; Test acc. Fix: max_depth.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36592" y="3017520"/>
            <a:ext cx="4206240" cy="603504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736592" y="3017520"/>
            <a:ext cx="50292" cy="60350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73752" y="30540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  <a:latin typeface="Calibri"/>
              </a:rPr>
              <a:t>Pruning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73752" y="3364991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Reducing tree complexity to avoid overfitting. Pre-prune: set max_depth beforehand.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36592" y="3703320"/>
            <a:ext cx="4206240" cy="603504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736592" y="3703320"/>
            <a:ext cx="50292" cy="60350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73752" y="37398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E071"/>
                </a:solidFill>
                <a:latin typeface="Calibri"/>
              </a:rPr>
              <a:t>Feature Importance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73752" y="4050791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Importance score for each feature. Sum = 1.0. Tracks Gini reduction.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36592" y="4389120"/>
            <a:ext cx="4206240" cy="603504"/>
          </a:xfrm>
          <a:prstGeom prst="rect">
            <a:avLst/>
          </a:prstGeom>
          <a:solidFill>
            <a:srgbClr val="14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736592" y="4389120"/>
            <a:ext cx="50292" cy="60350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73752" y="44256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Stratified Split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73752" y="473659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886A"/>
                </a:solidFill>
                <a:latin typeface="Calibri"/>
              </a:rPr>
              <a:t>train_test_split(stratify=y) → same class % in both train and test sets.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2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0" y="274320"/>
            <a:ext cx="411480" cy="411480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0" y="457200"/>
            <a:ext cx="292608" cy="2926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182880"/>
            <a:ext cx="347472" cy="34747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0" y="1097280"/>
            <a:ext cx="320040" cy="3200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0" y="914400"/>
            <a:ext cx="256032" cy="256032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80960" y="1463040"/>
            <a:ext cx="384048" cy="38404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0" y="1920240"/>
            <a:ext cx="274320" cy="27432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66560" y="2194560"/>
            <a:ext cx="329184" cy="32918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0" y="2743200"/>
            <a:ext cx="256032" cy="25603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8229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THANK YOU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66343"/>
            <a:ext cx="3840480" cy="54864"/>
          </a:xfrm>
          <a:prstGeom prst="rect">
            <a:avLst/>
          </a:prstGeom>
          <a:solidFill>
            <a:srgbClr val="4CE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7432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886A"/>
                </a:solidFill>
                <a:latin typeface="Calibri"/>
              </a:rPr>
              <a:t>BrainerX Academy  ·  Decision Trees — Complete Guide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90672"/>
            <a:ext cx="384048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3621</TotalTime>
  <Words>6919</Words>
  <Application>Microsoft Office PowerPoint</Application>
  <PresentationFormat>On-screen Show (16:9)</PresentationFormat>
  <Paragraphs>971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mansouri</cp:lastModifiedBy>
  <cp:revision>6</cp:revision>
  <dcterms:created xsi:type="dcterms:W3CDTF">2013-01-27T09:14:16Z</dcterms:created>
  <dcterms:modified xsi:type="dcterms:W3CDTF">2026-03-28T15:42:33Z</dcterms:modified>
  <cp:category/>
</cp:coreProperties>
</file>
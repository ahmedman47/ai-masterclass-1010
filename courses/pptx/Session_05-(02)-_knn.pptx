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0.72</c:v>
                </c:pt>
                <c:pt idx="1">
                  <c:v>0.74</c:v>
                </c:pt>
                <c:pt idx="2">
                  <c:v>0.8</c:v>
                </c:pt>
                <c:pt idx="3">
                  <c:v>0.81</c:v>
                </c:pt>
                <c:pt idx="4">
                  <c:v>0.86</c:v>
                </c:pt>
                <c:pt idx="5">
                  <c:v>0.85</c:v>
                </c:pt>
                <c:pt idx="6">
                  <c:v>0.87</c:v>
                </c:pt>
                <c:pt idx="7">
                  <c:v>0.85</c:v>
                </c:pt>
                <c:pt idx="8">
                  <c:v>0.84</c:v>
                </c:pt>
                <c:pt idx="9">
                  <c:v>0.83</c:v>
                </c:pt>
                <c:pt idx="10">
                  <c:v>0.82</c:v>
                </c:pt>
                <c:pt idx="11">
                  <c:v>0.81</c:v>
                </c:pt>
                <c:pt idx="12">
                  <c:v>0.8</c:v>
                </c:pt>
                <c:pt idx="13">
                  <c:v>0.79</c:v>
                </c:pt>
                <c:pt idx="14">
                  <c:v>0.78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425-491D-83DD-A7578EB2B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610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872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D22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9182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SESSION 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(KNN)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</a:rPr>
              <a:t>Classification  ·  Similarity  ·  Decision Boundaries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899AA"/>
                </a:solidFill>
              </a:rPr>
              <a:t>AI MASTER CLASS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</a:rPr>
              <a:t>What We'll Cover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155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115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is KNN?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The core intuition — learning by similarity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1148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5156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1155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1115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KNN Works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235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Step-by-step algorithm walkthrough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8600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5000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Distance Metrics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Euclidean, Manhattan &amp; more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1148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8600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35000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23560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Choosing 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2356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The most important hyperparameter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1148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2044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5844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3584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KNN in Python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scikit-learn implementation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1148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52044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5844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23560" y="3584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Pros &amp; Cons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2356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When to use KNN — and when NOT 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Quick Recap: Supervised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2286000"/>
          </a:xfrm>
          <a:prstGeom prst="rect">
            <a:avLst/>
          </a:prstGeom>
          <a:solidFill>
            <a:srgbClr val="112233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Training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Labeled examples — we know the correct answers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(e.g. spam / not spam emails)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9A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2286000"/>
          </a:xfrm>
          <a:prstGeom prst="rect">
            <a:avLst/>
          </a:prstGeom>
          <a:solidFill>
            <a:srgbClr val="112233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Model Training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The algorithm learns patterns from the labeled data to map inputs to outputs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192024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9A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51760" cy="2286000"/>
          </a:xfrm>
          <a:prstGeom prst="rect">
            <a:avLst/>
          </a:prstGeom>
          <a:solidFill>
            <a:srgbClr val="112233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051560"/>
            <a:ext cx="265176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600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Given NEW, unseen data — the model predicts the correct label or 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Two Types of Supervised Learning: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3840480" cy="731520"/>
          </a:xfrm>
          <a:prstGeom prst="rect">
            <a:avLst/>
          </a:prstGeom>
          <a:solidFill>
            <a:srgbClr val="0D1F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77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REGRESSION  </a:t>
            </a:r>
            <a:r>
              <a:rPr lang="en-US" sz="1200" dirty="0">
                <a:solidFill>
                  <a:srgbClr val="E8F4F8"/>
                </a:solidFill>
              </a:rPr>
              <a:t>Predicts a number  </a:t>
            </a:r>
            <a:r>
              <a:rPr lang="en-US" sz="1200" dirty="0">
                <a:solidFill>
                  <a:srgbClr val="8899AA"/>
                </a:solidFill>
              </a:rPr>
              <a:t>(e.g. house price: $350,000)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977640"/>
            <a:ext cx="3931920" cy="731520"/>
          </a:xfrm>
          <a:prstGeom prst="rect">
            <a:avLst/>
          </a:prstGeom>
          <a:solidFill>
            <a:srgbClr val="0D1F38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977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CLASSIFICATION  </a:t>
            </a:r>
            <a:r>
              <a:rPr lang="en-US" sz="1200" dirty="0">
                <a:solidFill>
                  <a:srgbClr val="E8F4F8"/>
                </a:solidFill>
              </a:rPr>
              <a:t>Predicts a category  </a:t>
            </a:r>
            <a:r>
              <a:rPr lang="en-US" sz="1200" dirty="0">
                <a:solidFill>
                  <a:srgbClr val="8899AA"/>
                </a:solidFill>
              </a:rPr>
              <a:t>(email: Spam / Not Spam)  KNN does this!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What is KNN?  The Core Intuition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0610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Real-Life Analogy:  </a:t>
            </a:r>
            <a:r>
              <a:rPr lang="en-US" sz="1600" i="1" dirty="0">
                <a:solidFill>
                  <a:srgbClr val="FFD166"/>
                </a:solidFill>
              </a:rPr>
              <a:t>"Tell me who your friends are, and I'll tell you who you are."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</a:rPr>
              <a:t>KNN classifies a new data point by looking at the K most similar (nearest) points in the training data, then taking a majority vote of their labels.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83464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New point arrives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We receive a data point with unknown label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8CAE4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154680" y="283464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1460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distances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40690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Calculate distance to ALL training points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8CAE4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303520" y="283464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Find K neighbors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40690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Select the K closest points (e.g. K=5)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8CAE4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452360" y="283464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1228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Vote!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40690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The majority class among K neighbors wins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KNN in Action — Visual Example (K = 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754880" cy="3840480"/>
          </a:xfrm>
          <a:prstGeom prst="rect">
            <a:avLst/>
          </a:prstGeom>
          <a:solidFill>
            <a:srgbClr val="06102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463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Feature 1  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 rot="16200000">
            <a:off x="-589788" y="1239012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Feature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5645" y="148681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0549" y="194767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5414" y="142097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0587" y="2342693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2211019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90472" y="280355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4974" y="1506986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750162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5069" y="2276856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14954" y="2737714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29484" y="2796826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145182"/>
            <a:ext cx="201168" cy="20116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2099462"/>
            <a:ext cx="292608" cy="292608"/>
          </a:xfrm>
          <a:prstGeom prst="ellipse">
            <a:avLst/>
          </a:prstGeom>
          <a:solidFill>
            <a:srgbClr val="FFD1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0994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63040" y="1367942"/>
            <a:ext cx="1591056" cy="1591056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D16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4480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166"/>
                </a:solidFill>
              </a:rPr>
              <a:t>K=3 circle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44805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44531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Class 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4480560"/>
            <a:ext cx="164592" cy="16459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44531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76F"/>
                </a:solidFill>
              </a:rPr>
              <a:t>Class 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Step by Step: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94960" y="1508760"/>
            <a:ext cx="347472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50876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Yellow point = NEW  </a:t>
            </a:r>
            <a:r>
              <a:rPr lang="en-US" sz="1100" dirty="0">
                <a:solidFill>
                  <a:srgbClr val="E8F4F8"/>
                </a:solidFill>
              </a:rPr>
              <a:t>Unknown data point we want to classify.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2148840"/>
            <a:ext cx="347472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14884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Draw K=3 circle  </a:t>
            </a:r>
            <a:r>
              <a:rPr lang="en-US" sz="1100" dirty="0">
                <a:solidFill>
                  <a:srgbClr val="E8F4F8"/>
                </a:solidFill>
              </a:rPr>
              <a:t>Capture exactly 3 nearest neighbors.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4960" y="2788920"/>
            <a:ext cx="347472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7889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Count: 2 blue (Class A)  </a:t>
            </a:r>
            <a:r>
              <a:rPr lang="en-US" sz="1100" dirty="0">
                <a:solidFill>
                  <a:srgbClr val="E8F4F8"/>
                </a:solidFill>
              </a:rPr>
              <a:t>Two teal neighbors inside the circle.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0" y="3429000"/>
            <a:ext cx="347472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34290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Count: 1 red (Class B)  </a:t>
            </a:r>
            <a:r>
              <a:rPr lang="en-US" sz="1100" dirty="0">
                <a:solidFill>
                  <a:srgbClr val="E8F4F8"/>
                </a:solidFill>
              </a:rPr>
              <a:t>One coral neighbor inside the circle.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94960" y="4069080"/>
            <a:ext cx="347472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406908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Majority vote: 2 vs 1  </a:t>
            </a:r>
            <a:r>
              <a:rPr lang="en-US" sz="1100" dirty="0">
                <a:solidFill>
                  <a:srgbClr val="E8F4F8"/>
                </a:solidFill>
              </a:rPr>
              <a:t>Result: classified as Class A!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Distance Metrics — How We Measure 'Closeness'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KNN's entire logic depends on distance. The most common metrics: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10515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73152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Euclidean Distance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</a:rPr>
              <a:t>The 'straight line' distance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Like measuring with a ruler on a map — as the crow flies.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4264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sqrt( (x2-x1)^2 + (y2-y1)^2 )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Best for: continuous numerical data (height, weight, age)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0665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A=(1,2)  B=(4,6) → d = sqrt(9+16) = 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8412480" cy="1051560"/>
          </a:xfrm>
          <a:prstGeom prst="rect">
            <a:avLst/>
          </a:prstGeom>
          <a:solidFill>
            <a:srgbClr val="1122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42032"/>
            <a:ext cx="73152" cy="10515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06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Manhattan Distance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2926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</a:rPr>
              <a:t>The 'city block' distance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Like a taxi in NYC — can only go up/down or left/right.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6151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|x2-x1| + |y2-y1|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944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Best for: grid-like data (pixels, text features, chess)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25526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A=(1,2)  B=(4,6) → d = 3 + 4 = 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9036" y="3730752"/>
            <a:ext cx="8412480" cy="1051560"/>
          </a:xfrm>
          <a:prstGeom prst="rect">
            <a:avLst/>
          </a:prstGeom>
          <a:solidFill>
            <a:srgbClr val="1122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30752"/>
            <a:ext cx="73152" cy="10515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Minkowski Distance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41148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</a:rPr>
              <a:t>A generalized form (p controls which type)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A dial that shifts between Manhattan and Euclidean distance.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38039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( |x2-x1|^p + |y2-y1|^p )^(1/p)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1330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p=1 → Manhattan   |   p=2 → Euclidean   |   tune p freely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93782" y="44372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when you want to tune the distance sensitivity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6749" y="484901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Important: Always NORMALIZE features before using KNN — otherwise large-scale features dominate all distance calculations!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Choosing K — The Most Important Decision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K is the number of nearest neighbors used to vote. It is a hyperparameter — chosen before training. Wrong K = poor model.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60320" cy="3200400"/>
          </a:xfrm>
          <a:prstGeom prst="rect">
            <a:avLst/>
          </a:prstGeom>
          <a:solidFill>
            <a:srgbClr val="1A0808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56032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 = 1  (Too Low)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</a:rPr>
              <a:t>OVERFITTING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Model memorises every training point.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Very sensitive to noise.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Works on training data but fails on new examples. Jagged, irregular boundaries.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3200400"/>
          </a:xfrm>
          <a:prstGeom prst="rect">
            <a:avLst/>
          </a:prstGeom>
          <a:solidFill>
            <a:srgbClr val="081A0D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K = 5 to 7  (Good)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BALANCED (usually best)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Smooth decision boundary.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Good generalization to new data.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The sweet spot for many real datasets — always verify with cross-validation!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560320" cy="3200400"/>
          </a:xfrm>
          <a:prstGeom prst="rect">
            <a:avLst/>
          </a:prstGeom>
          <a:solidFill>
            <a:srgbClr val="0A1A08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371600"/>
            <a:ext cx="2560320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K = 100  (Too High)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UNDERFITTING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Too many neighbors = biased toward majority class.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Decision boundary becomes overly smooth and flat.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Tip: Use ODD values of K for binary classification to avoid ties (K=3,5,7). Use Cross-Validation to find the best 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Feature Scaling — Why It's Critical for KNN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</a:rPr>
              <a:t>The Problem:  </a:t>
            </a:r>
            <a:r>
              <a:rPr lang="en-US" sz="1200" dirty="0">
                <a:solidFill>
                  <a:srgbClr val="E8F4F8"/>
                </a:solidFill>
              </a:rPr>
              <a:t>KNN uses distance. If Feature A ranges 0–1 and Feature B ranges 0–100,000 then Feature B completely dominates ALL distance calculations, making Feature A irrelevant!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Concrete Example: Predicting if someone buys a product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48840"/>
          <a:ext cx="8412480" cy="165735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Raw 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After Scaling (0–1)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scale?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25 years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0.25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Original range was 0–100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Income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$75,000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Original range was $0–$100,000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Past Purchases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3 items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0.30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Original range was 0–10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Two Common Scaling Methods:</a:t>
            </a:r>
            <a:endParaRPr lang="en-US" sz="1300" dirty="0"/>
          </a:p>
        </p:txBody>
      </p:sp>
      <p:sp>
        <p:nvSpPr>
          <p:cNvPr id="7" name="Shape 6"/>
          <p:cNvSpPr/>
          <p:nvPr/>
        </p:nvSpPr>
        <p:spPr>
          <a:xfrm>
            <a:off x="365760" y="4251960"/>
            <a:ext cx="402336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2519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Min-Max Normalization  </a:t>
            </a:r>
            <a:r>
              <a:rPr lang="en-US" sz="1100" dirty="0">
                <a:solidFill>
                  <a:srgbClr val="E8F4F8"/>
                </a:solidFill>
              </a:rPr>
              <a:t>→ scales to [0,1]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formula:  (x - min) / (max - min)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4251960"/>
            <a:ext cx="402336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42519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StandardScaler (Z-score)  </a:t>
            </a:r>
            <a:r>
              <a:rPr lang="en-US" sz="1100" dirty="0">
                <a:solidFill>
                  <a:srgbClr val="E8F4F8"/>
                </a:solidFill>
              </a:rPr>
              <a:t>→ mean=0, std=1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formula:  (x - mean) / std_deviation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KNN in Python — scikit-learn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4069080"/>
          </a:xfrm>
          <a:prstGeom prst="rect">
            <a:avLst/>
          </a:prstGeom>
          <a:solidFill>
            <a:srgbClr val="06101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Import libraries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79576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00784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Split into train/test sets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\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221992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train_test_split(X, y, test_size=0.2)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569464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Scale features (CRITICAL!)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916936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scaler.fit_transform(X_train)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090672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 = scaler.transform(X_test)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264408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438144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Create &amp; train KNN model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 = KNeighborsClassifier(n_neighbors=5)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785616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knn.fit(X_train, y_train)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959352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133088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Evaluate on test data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306824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= knn.score(X_test, y_test)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4754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print(f'Accuracy: {accuracy:.2f}')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23560" y="960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Breakdown: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23560" y="1417320"/>
            <a:ext cx="320040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1463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Imports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1719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sklearn gives us ready-made KNN tools — no need to code distance from scratch.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3560" y="2139696"/>
            <a:ext cx="320040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1854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Train/Test Split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2441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We hold back 20% of data to evaluate how well the model generalizes to NEW, unseen examples.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23560" y="2862072"/>
            <a:ext cx="320040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2907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Scaling (Critical!)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15000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fit_transform on train only. Use .transform() (not fit_transform) on test — avoid data leakage!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23560" y="3584448"/>
            <a:ext cx="320040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3630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n_neighbors=5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3886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.fit() stores training data — KNN is a lazy learner, zero computation at training time.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23560" y="4306824"/>
            <a:ext cx="320040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</a:rPr>
              <a:t>Evaluate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46085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.score() returns accuracy 0.0–1.0 on test set. Compare to baseline to judge real performance.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</a:rPr>
              <a:t>'Lazy Learner': KNN does ZERO computation during .fit() — it just stores the data. All work happens at prediction time.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Finding the Best K with Cross-Validation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We cannot just guess K — we systematically test multiple values and pick the one with best performance: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2057400"/>
          </a:xfrm>
          <a:prstGeom prst="rect">
            <a:avLst/>
          </a:prstGeom>
          <a:solidFill>
            <a:srgbClr val="06101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86484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k_values = range(1, 21)    # test K from 1 to 20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924812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accuracies = []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093976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263140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k_values: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knn = KNeighborsClassifier(n_neighbors=k)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601468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cross_val_score(knn, X, y, cv=5)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770632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accuracies.append(scores.mean())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939796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4663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best_k = k_values[accuracies.index(max(accuracies))]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7784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 vs. K value: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394960" y="1719072"/>
          <a:ext cx="3474720" cy="1664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5-Fold Cross-Validation?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Split training data into 5 equal parts. Each fold takes a turn as the test set (5 rounds total). Average the 5 accuracy scores.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297680"/>
            <a:ext cx="150876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297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Fold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(Train)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048256" y="4297680"/>
            <a:ext cx="1508760" cy="502920"/>
          </a:xfrm>
          <a:prstGeom prst="rect">
            <a:avLst/>
          </a:prstGeom>
          <a:solidFill>
            <a:srgbClr val="00B4D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48256" y="4297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Fold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(TEST)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730752" y="4297680"/>
            <a:ext cx="150876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30752" y="4297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Fold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(Train)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13248" y="4297680"/>
            <a:ext cx="150876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13248" y="4297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Fold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(Train)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095744" y="4297680"/>
            <a:ext cx="150876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95744" y="4297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Fold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(Train)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KNN for Regression — Not Just Classification!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</a:rPr>
              <a:t>KNN can predict numerical values too — instead of majority vote, it takes the AVERAGE of neighbor values.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240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</a:rPr>
                        <a:t>KNN Classification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</a:rPr>
                        <a:t>KNN Regression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Goal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Predict a CATEGORY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Predict a NUMBER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e.g.  Spam / Not Spam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e.g.  $350,000 house price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Prediction method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MAJORITY VOTE of K neighbors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AVERAGE of K neighbor values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sklearn class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KNeighborsClassifier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KNeighborsRegressor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Performance 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Accuracy, F1-score, ROC-AUC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RMSE, MAE, R-squared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KNN Regression — Python Code: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06101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KNeighborsRegressor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knn_reg = KNeighborsRegressor(n_neighbors=5)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knn_reg.fit(X_train, y_train)    predictions = knn_reg.predict(X_test)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9377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Example: Predict house price based on 5 nearest houses with known prices → average their prices =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Real-World Applications of KNN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737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🎬  Recommendation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Netflix / Spotify find users with similar tastes and recommend what similar users watched or listened to.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743200" cy="1737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🏥  Medical Diagnosis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Predict disease from patient symptoms. Patients with similar profiles likely have the same condition.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005840"/>
            <a:ext cx="2743200" cy="1737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✉️  Spam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5087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Classify email as spam / not spam. New email compared against thousands of labeled examples.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2743200" cy="1737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💳  Fraud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If a transaction looks very different from a user's usual patterns — it may be fraud.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926080"/>
            <a:ext cx="2743200" cy="1737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📈  Stock Prediction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42900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Find historical periods with similar patterns to current market data to predict next movement.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926080"/>
            <a:ext cx="2743200" cy="1737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🖼️  Image Recognition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42900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Compare pixel features of new image against labeled training images to classify objects.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</a:rPr>
              <a:t>KNN is especially popular in recommendation systems — the concept of 'similarity between users' maps directly to nearest-neighbor search.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KNN — Advantages &amp; Disadvantages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977640"/>
          </a:xfrm>
          <a:prstGeom prst="rect">
            <a:avLst/>
          </a:prstGeom>
          <a:solidFill>
            <a:srgbClr val="071A0D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  Simple &amp; Intuitive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Very easy to understand and explain to non-technical stakeholders.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03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  No Training Phase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468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KNN is a lazy learner — just stores data. Training time is essentially zero.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25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  Naturally Multiclass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Handles 3+ classes with no modifications needed whatsoever.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  Non-parametric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7124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No assumptions about data distribution. Handles non-linear decision boundaries.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  Easy to update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3342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Add new training examples without any retraining — just add to the dataset.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114800" cy="3977640"/>
          </a:xfrm>
          <a:prstGeom prst="rect">
            <a:avLst/>
          </a:prstGeom>
          <a:solidFill>
            <a:srgbClr val="1A0808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960120"/>
            <a:ext cx="411480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960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DISADVANTAGES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1581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</a:rPr>
              <a:t>  Slow at prediction 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18470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Must calculate distance to ALL training points for each new query. Scales as O(n).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203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</a:rPr>
              <a:t>  High memory usage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2468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Stores entire training dataset in memory — not scalable to millions of records.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825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</a:rPr>
              <a:t>  Sensitive to scale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30906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Features must be normalized or large-scale features dominate distances.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4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</a:rPr>
              <a:t>  Sensitive to noise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37124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Outliers and irrelevant features distort distance calculations badly.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</a:rPr>
              <a:t>  Curse of dimensionality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43342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Performance degrades sharply with many features — distances lose meaning.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Decision Guide — When Should You Use KNN?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USE KNN when: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Dataset is SMALL (&lt; 10,000 rows)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Features are meaningful and few (&lt; 20)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You want a simple, interpretable baseline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Data is well-labeled and cleaned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Non-linear decision boundaries exist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</a:rPr>
              <a:t>AVOID KNN when: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1463040"/>
            <a:ext cx="201168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Dataset has millions of rows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011680"/>
            <a:ext cx="201168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You have many features (100+)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560320"/>
            <a:ext cx="201168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Real-time prediction speed required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108960"/>
            <a:ext cx="201168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Data has many outliers or noise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657600"/>
            <a:ext cx="201168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Memory on your system is limited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976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Rule of Thumb:  </a:t>
            </a:r>
            <a:r>
              <a:rPr lang="en-US" sz="1200" dirty="0">
                <a:solidFill>
                  <a:srgbClr val="E8F4F8"/>
                </a:solidFill>
              </a:rPr>
              <a:t>Use KNN as a </a:t>
            </a:r>
            <a:r>
              <a:rPr lang="en-US" sz="1200" b="1" dirty="0">
                <a:solidFill>
                  <a:srgbClr val="FFD166"/>
                </a:solidFill>
              </a:rPr>
              <a:t>baseline model </a:t>
            </a:r>
            <a:r>
              <a:rPr lang="en-US" sz="1200" dirty="0">
                <a:solidFill>
                  <a:srgbClr val="E8F4F8"/>
                </a:solidFill>
              </a:rPr>
              <a:t>first. It is fast to set up and gives you a reference score. If it performs well — great! If not, upgrade to Random Forest, SVM, or Neural Networks which scale better.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Session Summary —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KNN classifies by similarity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Find K nearest neighbors in feature space → majority vote (classification) or average (regression).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0136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819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Distance is the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1214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Euclidean distance is most common. Always normalize/scale features — otherwise distances are meaningless.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841248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9689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615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 controls complexity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16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Small K → overfit (too complex). Large K → underfit (too simple). Use cross-validation to tune.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841248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9242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KNN is a 'lazy learner'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7124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Zero computation at training. All work at prediction time → fast to start, slow to predict at scale.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8412480" cy="685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8795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Scales poorly with size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507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For very large data or many features, prefer Random Forest, SVM, or deep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5029200" cy="502920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371600"/>
            <a:ext cx="3657600" cy="3657600"/>
          </a:xfrm>
          <a:prstGeom prst="ellipse">
            <a:avLst/>
          </a:prstGeom>
          <a:solidFill>
            <a:srgbClr val="06102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Great work!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</a:rPr>
              <a:t>You now understand KNN.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Coming up in Session 06: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</a:rPr>
              <a:t>📊  Decision Trees — if/else logic visualized as a tree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</a:rPr>
              <a:t>🌲  Random Forests — ensemble of many decision trees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484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</a:rPr>
              <a:t>📐  Model Evaluation — accuracy, precision, recall, F1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2286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628"/>
                </a:solidFill>
              </a:rPr>
              <a:t>AI MASTER CLASS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4855</TotalTime>
  <Words>2180</Words>
  <Application>Microsoft Office PowerPoint</Application>
  <PresentationFormat>On-screen Show (16:9)</PresentationFormat>
  <Paragraphs>298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Masterclass - Session 05: K-Nearest Neighbors</dc:title>
  <dc:subject>PptxGenJS Presentation</dc:subject>
  <dc:creator>PptxGenJS</dc:creator>
  <cp:lastModifiedBy>ahmed mansouri</cp:lastModifiedBy>
  <cp:revision>2</cp:revision>
  <dcterms:created xsi:type="dcterms:W3CDTF">2026-03-18T14:39:21Z</dcterms:created>
  <dcterms:modified xsi:type="dcterms:W3CDTF">2026-03-26T22:14:36Z</dcterms:modified>
</cp:coreProperties>
</file>
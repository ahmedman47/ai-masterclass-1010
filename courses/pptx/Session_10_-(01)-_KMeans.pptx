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C896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C896"/>
                </a:solidFill>
                <a:latin typeface="Arial"/>
              </a:rPr>
              <a:t>Inertia vs K  — Elbow Method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ln w="3810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2800</c:v>
                </c:pt>
                <c:pt idx="1">
                  <c:v>1600</c:v>
                </c:pt>
                <c:pt idx="2">
                  <c:v>800</c:v>
                </c:pt>
                <c:pt idx="3">
                  <c:v>620</c:v>
                </c:pt>
                <c:pt idx="4">
                  <c:v>560</c:v>
                </c:pt>
                <c:pt idx="5">
                  <c:v>520</c:v>
                </c:pt>
                <c:pt idx="6">
                  <c:v>495</c:v>
                </c:pt>
                <c:pt idx="7">
                  <c:v>475</c:v>
                </c:pt>
                <c:pt idx="8">
                  <c:v>462</c:v>
                </c:pt>
                <c:pt idx="9">
                  <c:v>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C4-424A-8E5F-FE7066089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8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0F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A8C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A8CC"/>
                </a:solidFill>
                <a:latin typeface="Arial"/>
              </a:rPr>
              <a:t>Avg Silhouette Score vs K  (higher = better, K=3 wins)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Silhouette</c:v>
                </c:pt>
              </c:strCache>
            </c:strRef>
          </c:tx>
          <c:spPr>
            <a:solidFill>
              <a:srgbClr val="00A8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73-4A99-B35D-E0CAB535FF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A73-4A99-B35D-E0CAB535FF7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A73-4A99-B35D-E0CAB535FF7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A73-4A99-B35D-E0CAB535FF7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A73-4A99-B35D-E0CAB535FF7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A73-4A99-B35D-E0CAB535FF7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A73-4A99-B35D-E0CAB535FF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0.52</c:v>
                </c:pt>
                <c:pt idx="1">
                  <c:v>0.71</c:v>
                </c:pt>
                <c:pt idx="2">
                  <c:v>0.64</c:v>
                </c:pt>
                <c:pt idx="3">
                  <c:v>0.57999999999999996</c:v>
                </c:pt>
                <c:pt idx="4">
                  <c:v>0.51</c:v>
                </c:pt>
                <c:pt idx="5">
                  <c:v>0.46</c:v>
                </c:pt>
                <c:pt idx="6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A73-4A99-B35D-E0CAB535FF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A38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0F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34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280160"/>
            <a:ext cx="4754880" cy="4754880"/>
          </a:xfrm>
          <a:prstGeom prst="ellipse">
            <a:avLst/>
          </a:prstGeom>
          <a:solidFill>
            <a:srgbClr val="0C2030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548640"/>
            <a:ext cx="3291840" cy="32918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108960"/>
            <a:ext cx="2011680" cy="2011680"/>
          </a:xfrm>
          <a:prstGeom prst="ellipse">
            <a:avLst/>
          </a:prstGeom>
          <a:solidFill>
            <a:srgbClr val="0C203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20040"/>
            <a:ext cx="182880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20040" y="179222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 ·  Centroids  ·  Inertia  ·  Elbow Method  ·  K-Means++  ·  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20724" y="405536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5044" y="378104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2164" y="442112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7924" y="414680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0804" y="3872484"/>
            <a:ext cx="118872" cy="1188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6644" y="3689604"/>
            <a:ext cx="118872" cy="1188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0964" y="4055364"/>
            <a:ext cx="118872" cy="1188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5284" y="3781044"/>
            <a:ext cx="118872" cy="1188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9524" y="4329684"/>
            <a:ext cx="118872" cy="1188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6724" y="4146804"/>
            <a:ext cx="118872" cy="1188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2564" y="387248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6884" y="423824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1204" y="396392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5444" y="451256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2644" y="432968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4752" y="3986784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26464" y="4078224"/>
            <a:ext cx="29260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36192" y="3968496"/>
            <a:ext cx="7315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3931920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B3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4023360"/>
            <a:ext cx="292608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3913632"/>
            <a:ext cx="7315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4114800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206240"/>
            <a:ext cx="292608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4096512"/>
            <a:ext cx="7315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1399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Intuition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grouping? Why do we need it?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28032" y="1399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K-Means Algorithm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— Initialize · Assign · Update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64008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0574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Deep Dive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 · Convergence proof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76E0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965960"/>
            <a:ext cx="64008" cy="914400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0574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28032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Numerical Example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by hand on real numbers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64008" cy="9144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Initialization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init fails &amp; how ++ fixes 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71800"/>
            <a:ext cx="64008" cy="914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632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28032" y="3410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— Elbow &amp; Silhouette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right number of clusters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77640"/>
            <a:ext cx="64008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690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38912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Variants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8912" y="4654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Weaknesses, Mini-Batch, Soft K-Means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77640"/>
            <a:ext cx="420624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7764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690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828032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28032" y="4654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full code + visualizations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Clustering? — The Big Intuition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03327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the task of grouping data points so that points in the same group are MORE similar to each other than to points in other groups — WITHOUT using any labels.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32461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74320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92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 Segmentation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240280"/>
            <a:ext cx="530352" cy="2377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494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2514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customers — each has age, income, purchase frequency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182112"/>
            <a:ext cx="457200" cy="237744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191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34564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groups emerge: Budget Shoppers · Premium Buyers · Occasional Visitors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69664"/>
            <a:ext cx="2578608" cy="694944"/>
          </a:xfrm>
          <a:prstGeom prst="rect">
            <a:avLst/>
          </a:prstGeom>
          <a:solidFill>
            <a:srgbClr val="060F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Target each group with a different marketing strategy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737360"/>
            <a:ext cx="2743200" cy="32461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737360"/>
            <a:ext cx="274320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792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 Expression Analysis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64408" y="2240280"/>
            <a:ext cx="530352" cy="2377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2494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514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genes measured across 200 patients — no disease labels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3182112"/>
            <a:ext cx="457200" cy="237744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191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82696" y="34564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emerge: subtypes with similar expression profiles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4169664"/>
            <a:ext cx="2578608" cy="694944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Each cluster may respond differently to treatment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737360"/>
            <a:ext cx="2743200" cy="32461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737360"/>
            <a:ext cx="274320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1792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News Article Grouping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44768" y="2240280"/>
            <a:ext cx="530352" cy="23774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2494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63056" y="25146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news articles — no categories assigned by humans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3182112"/>
            <a:ext cx="457200" cy="237744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191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63056" y="345643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emerge: Sports · Politics · Tech · Health · Finance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169664"/>
            <a:ext cx="2578608" cy="694944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4224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Automatically organize content without any manual tagging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K-Means Algorithm — Complete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52728" y="1024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settling into K new cities. Each person moves to whichever city is closest. Cities then relocate to the center of their population. People move again. Repeat until nobody changes cities.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87744"/>
            <a:ext cx="1609344" cy="233548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1609344" cy="56692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5564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23225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14447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 clusters K you want. This is a hyperparameter — you set it before running. We'll cover how to choose K optimally later.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1952" y="303580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93392" y="1987744"/>
            <a:ext cx="1609344" cy="233548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664208"/>
            <a:ext cx="1609344" cy="56692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2032" y="175564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66544" y="23225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84832" y="2706624"/>
            <a:ext cx="14447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K centroids randomly in the feature space. (K-Means++ places them smartly — reduces bad runs dramatically.)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21024" y="303580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12464" y="1987744"/>
            <a:ext cx="1609344" cy="233548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1664208"/>
            <a:ext cx="1609344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1104" y="175564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61104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785616" y="23225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03904" y="2706624"/>
            <a:ext cx="14447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data point xᵢ, compute distance to each centroid μₖ. Assign xᵢ to the cluster with the CLOSEST centroid.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0096" y="303580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1536" y="1987744"/>
            <a:ext cx="1609344" cy="233548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1664208"/>
            <a:ext cx="1609344" cy="5669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0176" y="175564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0176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04688" y="23225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22976" y="2706624"/>
            <a:ext cx="14447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centroid μₖ to the mean of all points currently assigned to cluster k: μₖ = (1/|Cₖ|) · Σᵢ∈Cₖ xᵢ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59168" y="303580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50608" y="1987744"/>
            <a:ext cx="1609344" cy="233548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0608" y="1664208"/>
            <a:ext cx="1609344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9248" y="175564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223760" y="23225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3→4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42048" y="2706624"/>
            <a:ext cx="144475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Assign + Update until no points change clusters (convergence), OR maximum iterations reached.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558550"/>
            <a:ext cx="8595360" cy="347472"/>
          </a:xfrm>
          <a:prstGeom prst="rect">
            <a:avLst/>
          </a:prstGeom>
          <a:solidFill>
            <a:srgbClr val="060F1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0427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step:  cᵢ = argmin_k ||xᵢ − μₖ||²     Update step:  μₖ = (1/|Cₖ|) · Σᵢ∈Cₖ xᵢ     Objective:  minimize J = Σₖ Σᵢ∈Cₖ ||xᵢ − μₖ||²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Iterations — Visual Step by Step (K=3)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centroids converge as K-Means runs through 4 iterations on the same dataset.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57400" cy="3767328"/>
          </a:xfrm>
          <a:prstGeom prst="rect">
            <a:avLst/>
          </a:prstGeom>
          <a:solidFill>
            <a:srgbClr val="060F1A"/>
          </a:solidFill>
          <a:ln w="19050">
            <a:solidFill>
              <a:srgbClr val="00A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2057400" cy="3474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0 — Initialize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7619" y="239572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555" y="317296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4" y="270662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306" y="36393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865" y="3017520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0112" y="239572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5735" y="208483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42923" y="28620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5671" y="2333549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1422" y="317296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6981" y="363931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9793" y="286207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7045" y="3328416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36917" y="317296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1294" y="2644445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4148" y="2011680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5860" y="2103120"/>
            <a:ext cx="29260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5588" y="1993392"/>
            <a:ext cx="7315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902" y="3877056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614" y="3968496"/>
            <a:ext cx="292608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342" y="3858768"/>
            <a:ext cx="7315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8206" y="2633472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29918" y="2724912"/>
            <a:ext cx="292608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9646" y="2615184"/>
            <a:ext cx="7315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5720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random centroids placed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0" y="1078992"/>
            <a:ext cx="2057400" cy="3767328"/>
          </a:xfrm>
          <a:prstGeom prst="rect">
            <a:avLst/>
          </a:prstGeom>
          <a:solidFill>
            <a:srgbClr val="060F1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1078992"/>
            <a:ext cx="20574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111556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— Assign + Update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02179" y="239572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32115" y="317296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80614" y="2706624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57866" y="3639312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3425" y="3017520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4672" y="239572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295" y="208483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37483" y="286207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60231" y="2333549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85982" y="317296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01541" y="36393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94353" y="28620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71605" y="332841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31477" y="317296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45854" y="2644445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96088" y="2913278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77800" y="3004718"/>
            <a:ext cx="29260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87528" y="2894990"/>
            <a:ext cx="7315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4331" y="2446934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B3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46043" y="2538374"/>
            <a:ext cx="292608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5771" y="2428646"/>
            <a:ext cx="7315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28389" y="3068726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10101" y="3160166"/>
            <a:ext cx="292608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9829" y="3050438"/>
            <a:ext cx="7315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45720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assigned, centroids shift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1078992"/>
            <a:ext cx="2057400" cy="3767328"/>
          </a:xfrm>
          <a:prstGeom prst="rect">
            <a:avLst/>
          </a:prstGeom>
          <a:solidFill>
            <a:srgbClr val="060F1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1078992"/>
            <a:ext cx="20574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111556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— Re-assign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996739" y="239572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6675" y="317296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75174" y="2706624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52426" y="3639312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67985" y="3017520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39232" y="239572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24855" y="208483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32043" y="286207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54791" y="2333549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80542" y="317296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96101" y="36393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88913" y="28620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66165" y="332841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6037" y="317296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40414" y="2644445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90648" y="2913278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72360" y="3004718"/>
            <a:ext cx="29260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82088" y="2894990"/>
            <a:ext cx="7315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40565" y="2496678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B3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822277" y="2588118"/>
            <a:ext cx="292608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32005" y="2478390"/>
            <a:ext cx="7315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30374" y="3056291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12086" y="3147731"/>
            <a:ext cx="292608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21814" y="3038003"/>
            <a:ext cx="7315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36592" y="45720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points switch clusters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858000" y="1078992"/>
            <a:ext cx="2057400" cy="3767328"/>
          </a:xfrm>
          <a:prstGeom prst="rect">
            <a:avLst/>
          </a:prstGeom>
          <a:solidFill>
            <a:srgbClr val="060F1A"/>
          </a:solidFill>
          <a:ln w="19050">
            <a:solidFill>
              <a:srgbClr val="76E07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58000" y="1078992"/>
            <a:ext cx="2057400" cy="347472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31152" y="1115568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 — Converged ✓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191299" y="239572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21235" y="3172968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469734" y="2706624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246986" y="3639312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562545" y="3017520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33792" y="239572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19415" y="208483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26603" y="2862072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9351" y="2333549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75102" y="3172968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90661" y="363931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83473" y="2862072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60725" y="332841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620597" y="3172968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34974" y="2644445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85208" y="2913278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266920" y="3004718"/>
            <a:ext cx="29260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76648" y="2894990"/>
            <a:ext cx="73152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35125" y="2496678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B3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16837" y="2588118"/>
            <a:ext cx="292608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26565" y="2478390"/>
            <a:ext cx="7315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24934" y="3056291"/>
            <a:ext cx="256032" cy="256032"/>
          </a:xfrm>
          <a:prstGeom prst="ellipse">
            <a:avLst/>
          </a:prstGeom>
          <a:solidFill>
            <a:srgbClr val="060F1A"/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06646" y="3147731"/>
            <a:ext cx="292608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16374" y="3038003"/>
            <a:ext cx="73152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31152" y="45720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changes — algorithm stops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914400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Cluster A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3108960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Cluster B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5303520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Cluster C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7132320" y="4937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✛  Centroid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— Objective Function (Inertia / WCSS)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minimizes the Within-Cluster Sum of Squares (WCSS), also called inertia.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914400"/>
          </a:xfrm>
          <a:prstGeom prst="rect">
            <a:avLst/>
          </a:prstGeom>
          <a:solidFill>
            <a:srgbClr val="060F1A"/>
          </a:solidFill>
          <a:ln w="317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 =  Σₖ₌₁ᴷ  Σᵢ∈Cₖ  || xᵢ  −  μₖ ||²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over all possible assignments C₁…Cₖ and all centroids μ₁…μₖ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11480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84832"/>
            <a:ext cx="64008" cy="9144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76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1328" y="2194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parameter you set before running. Controls complexity of the model.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11480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84832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176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70448" y="2194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points in cluster 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of indices i such that data point xᵢ is assigned to cluster 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411480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90672"/>
            <a:ext cx="64008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82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3200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 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vector in ℝᵈ — d-dimensional. Each sample in your dataset.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90672"/>
            <a:ext cx="411480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90672"/>
            <a:ext cx="64008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182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70448" y="3200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of cluster 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28032" y="3593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vector of all points in cluster k. Gets updated each iteration.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4096512"/>
            <a:ext cx="4114800" cy="9144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68880" y="4096512"/>
            <a:ext cx="64008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4187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||·||²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75888" y="42062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Euclidean distance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33472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coordinate differences: Σⱼ(xᵢⱼ − μₖⱼ)². Always non-negative.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 Always Converges — Proof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7670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guaranteed to converge in a finite number of steps. Here's why.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16767"/>
            <a:ext cx="8595360" cy="118872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16767"/>
            <a:ext cx="64008" cy="11887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908207"/>
            <a:ext cx="914400" cy="2743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0820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4752" y="908207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step never increases J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255679"/>
            <a:ext cx="3931920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29225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J(new assignment) ≤ J(old assignment)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908207"/>
            <a:ext cx="4069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reassigned to the NEAREST centroid. If a point moves to a closer centroid, its squared distance decreases. If it stays, distance is unchanged. So J can only decrease or stay the same.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115215"/>
            <a:ext cx="8595360" cy="1188720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15215"/>
            <a:ext cx="64008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206655"/>
            <a:ext cx="91440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0665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220665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step never increases J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" y="2554127"/>
            <a:ext cx="3931920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590703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mean minimizes sum of squared distances within a cluster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2206655"/>
            <a:ext cx="4069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set of points {x₁…xₙ}, the vector that minimizes Σᵢ||xᵢ − v||² is v = (1/n)Σᵢxᵢ = the mean. Setting μₖ to the mean is optimal — any other center would give higher cost.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13663"/>
            <a:ext cx="8595360" cy="118872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13663"/>
            <a:ext cx="64008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3505103"/>
            <a:ext cx="914400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0510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44752" y="35051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convergence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" y="3852575"/>
            <a:ext cx="3931920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889151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is monotonically non-increasing: J(t+1) ≤ J(t)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3505103"/>
            <a:ext cx="4069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possible assignments is finite (each of n points has K choices → Kⁿ states). Since J decreases at every step and is bounded below by 0, the algorithm must reach a fixed point (local minimum) in finitely many steps.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730399"/>
            <a:ext cx="8595360" cy="347472"/>
          </a:xfrm>
          <a:prstGeom prst="rect">
            <a:avLst/>
          </a:prstGeom>
          <a:solidFill>
            <a:srgbClr val="200A0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6697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Important: K-Means converges to a LOCAL minimum — not necessarily the global minimum. The result depends on the initial centroid placement. Always run multiple times with different seeds!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Numerical Example — Run K-Means by Hand (K=2)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 points in 2D. We will run K=2 K-Means step by step and compute everything numerically.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155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23544" y="11155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36192" y="11155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11155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Cluster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55848" y="11155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to μ₁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1416" y="11155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to μ₂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1155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Assign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93992" y="111556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44475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48132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" y="144475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148132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99616" y="144475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6192" y="148132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12264" y="1444752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148132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(K1)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9272" y="1444752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48132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1444752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148132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50408" y="1444752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148132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57416" y="1444752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148132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1883664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192024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6968" y="1883664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192024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99616" y="1883664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36192" y="192024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12264" y="1883664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19202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(K1)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19272" y="1883664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192024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34840" y="1883664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192024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50408" y="1883664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192024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57416" y="1883664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1920240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5915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6968" y="2322576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" y="235915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499616" y="2322576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36192" y="2359152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112264" y="2322576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235915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(K1)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19272" y="2322576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55848" y="23591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34840" y="2322576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71416" y="23591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550408" y="2322576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86984" y="2359152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757416" y="2322576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93992" y="2359152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2761488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2798064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86968" y="2761488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3544" y="2798064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499616" y="2761488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36192" y="2798064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112264" y="2761488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48840" y="279806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(K2)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319272" y="2761488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55848" y="27980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7.81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434840" y="2761488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71416" y="279806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550408" y="2761488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86984" y="2798064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757416" y="2761488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93992" y="2798064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4320" y="3200400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0896" y="3236976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86968" y="3200400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3544" y="3236976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499616" y="3200400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36192" y="3236976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112264" y="3200400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48840" y="323697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(K2)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319272" y="3200400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55848" y="323697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5.02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434840" y="3200400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71416" y="323697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5550408" y="3200400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86984" y="3236976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757416" y="3200400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93992" y="323697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74320" y="363931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367588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86968" y="363931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23544" y="367588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1499616" y="3639312"/>
            <a:ext cx="59436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36192" y="3675888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2112264" y="3639312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48840" y="36758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(K2)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3319272" y="3639312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55848" y="367588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4434840" y="3639312"/>
            <a:ext cx="109728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71416" y="367588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5550408" y="3639312"/>
            <a:ext cx="118872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586984" y="36758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757416" y="3639312"/>
            <a:ext cx="1234440" cy="42062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93992" y="367588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274320" y="4114800"/>
            <a:ext cx="8595360" cy="402336"/>
          </a:xfrm>
          <a:prstGeom prst="rect">
            <a:avLst/>
          </a:prstGeom>
          <a:solidFill>
            <a:srgbClr val="060F1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centroids:  μ₁(new) = mean(A,B) = ((1+1.5)/2, (1+2)/2) = (1.25, 1.5)     μ₂(new) = mean(C,D,E,F) = (4.0, 5.25)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274320" y="4608576"/>
            <a:ext cx="8595360" cy="365760"/>
          </a:xfrm>
          <a:prstGeom prst="rect">
            <a:avLst/>
          </a:prstGeom>
          <a:solidFill>
            <a:srgbClr val="0A1E0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= Σ‖xᵢ−μₖ‖² = ‖A−μ₁‖²+‖B−μ₁‖²+‖C−μ₂‖²+‖D−μ₂‖²+‖E−μ₂‖²+‖F−μ₂‖²  =  0.3125+1.0625+5.0+0.5625+0.5625+0.3125  =  7.81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6784848" y="14630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centroids: μ₁ = A = (1, 1)   and   μ₂ = D = (5, 7)     Distance = √[(x−μ₁ₓ)²+(x−μ₁ᵧ)²]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— Smarter Initialization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8840" y="5005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initialization can give terrible results. K-Means++ fixes this with a probabilistic distance-based seeding.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415"/>
            <a:ext cx="4160520" cy="1005840"/>
          </a:xfrm>
          <a:prstGeom prst="rect">
            <a:avLst/>
          </a:prstGeom>
          <a:solidFill>
            <a:srgbClr val="200A0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42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Problem with Random Init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175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centroids can be initialized in the same cluster → algorithm converges to a bad local minimum with very high inertia. You might need 100+ runs to get a good result.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415"/>
            <a:ext cx="41605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76E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88642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K-Means++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4608" y="1188175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centroids far apart from the start. Guarantees initial centroids cover different regions. Provably gives O(log K) competitive approximation ratio to the optimal solution.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74559"/>
            <a:ext cx="4206240" cy="1207008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74559"/>
            <a:ext cx="64008" cy="1207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084287"/>
            <a:ext cx="457200" cy="45720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8428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102575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first centroid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96351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μ₁ uniformly at random from all n data points. No preference — any point is equally likely.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974559"/>
            <a:ext cx="4206240" cy="1207008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74559"/>
            <a:ext cx="64008" cy="1207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084287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08428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102575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596351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remaining point xᵢ, compute D(xᵢ)² = min distance² from xᵢ to the nearest already-chosen centroid.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295"/>
            <a:ext cx="4206240" cy="1207008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91295"/>
            <a:ext cx="64008" cy="1207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401023"/>
            <a:ext cx="457200" cy="45720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40102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419311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proportionally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3913087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next centroid μₖ with probability proportional to D(xᵢ)². Farther points = higher chance of being selected.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291295"/>
            <a:ext cx="4206240" cy="120700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291295"/>
            <a:ext cx="64008" cy="120700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401023"/>
            <a:ext cx="457200" cy="457200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40102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419311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3913087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2–3 until all K centroids are chosen. Then run standard K-Means from these smart starting points.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657245"/>
            <a:ext cx="8595360" cy="402336"/>
          </a:xfrm>
          <a:prstGeom prst="rect">
            <a:avLst/>
          </a:prstGeom>
          <a:solidFill>
            <a:srgbClr val="060F1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02965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probability:  P(xᵢ chosen as next centroid) = D(xᵢ)² / Σⱼ D(xⱼ)²     Code:  KMeans(init='k-means++')  ← default in scikit-learn!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— The Elbow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688543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inertia versus K. The 'elbow' where the curve bends gives the optimal 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1480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9576"/>
            <a:ext cx="54864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795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inertia decreases with 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" y="147218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clusters always reduces inertia — at K=n (every point is its own cluster), inertia = 0. So we can't just minimize inertia.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057400"/>
            <a:ext cx="391363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93976"/>
            <a:ext cx="54864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0939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Elbow tells 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38658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elbow: adding K gives a BIG improvement. After the elbow: adding K gives diminishing returns — you're just splitting natural clusters.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391363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3008376"/>
            <a:ext cx="54864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083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elbow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" y="330098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K where the inertia curve sharply bends. Algorithmically: use 'kneedle' algorithm or compute second derivative to find max curvature.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886200"/>
            <a:ext cx="3913632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922776"/>
            <a:ext cx="54864" cy="2560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9227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elbow is ambiguous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" y="421538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curve is smooth with no clear elbow. Then combine with Silhouette Score (next slide) or domain knowledge.</a:t>
            </a:r>
            <a:endParaRPr lang="en-US" sz="10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617720" y="1024128"/>
          <a:ext cx="4251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833872" y="2395728"/>
            <a:ext cx="256032" cy="25603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2377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K=3 is the elbow!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3840480"/>
            <a:ext cx="4251960" cy="111556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3913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for choosing K: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73168" y="41879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Try K = 2 to √n (n = sample count)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73168" y="4332427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Combine Elbow + Silhouette + domain knowledge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73168" y="447690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 business use: often K = 3–8 is interpretable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73168" y="462137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Gap statistic: compares inertia to random 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Measuring Cluster Quality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from −1 to +1 for each point: how well does it fit in its own cluster vs the nearest other cluster?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841248"/>
          </a:xfrm>
          <a:prstGeom prst="rect">
            <a:avLst/>
          </a:prstGeom>
          <a:solidFill>
            <a:srgbClr val="060F1A"/>
          </a:solidFill>
          <a:ln w="317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 =  [ b(i) − a(i) ]  /  max( a(i) , b(i) 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 a(i) = avg distance from xᵢ to all other points in its own cluster     b(i) = avg distance from xᵢ to all points in the NEAREST other cluster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1444752"/>
          </a:xfrm>
          <a:prstGeom prst="rect">
            <a:avLst/>
          </a:prstGeom>
          <a:solidFill>
            <a:srgbClr val="0D2035"/>
          </a:solidFill>
          <a:ln w="25400">
            <a:solidFill>
              <a:srgbClr val="76E0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743200" cy="384048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≈ +1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clustered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7980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deep inside its own cluster and far from all other clusters. Ideal — this is what you want.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2011680"/>
            <a:ext cx="2743200" cy="1444752"/>
          </a:xfrm>
          <a:prstGeom prst="rect">
            <a:avLst/>
          </a:prstGeom>
          <a:solidFill>
            <a:srgbClr val="0D2035"/>
          </a:solidFill>
          <a:ln w="254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2011680"/>
            <a:ext cx="274320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≈ 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64408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boundary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27980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equally close to its own cluster and the next-nearest cluster. Could belong to either.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743200" cy="1444752"/>
          </a:xfrm>
          <a:prstGeom prst="rect">
            <a:avLst/>
          </a:prstGeom>
          <a:solidFill>
            <a:srgbClr val="0D2035"/>
          </a:solidFill>
          <a:ln w="254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011680"/>
            <a:ext cx="274320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≈ −1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44768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27980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is closer to a DIFFERENT cluster than its own. Indicates poor clustering — may need different K or algorithm.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3547872"/>
          <a:ext cx="548640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943600" y="3547872"/>
            <a:ext cx="288036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76E07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0" y="3547872"/>
            <a:ext cx="64008" cy="713232"/>
          </a:xfrm>
          <a:prstGeom prst="rect">
            <a:avLst/>
          </a:prstGeom>
          <a:solidFill>
            <a:srgbClr val="76E07A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08192" y="3639312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Silhouette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08192" y="395020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s(i) over all n points. Good clustering: &gt;0.5. Excellent: &gt;0.7.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943600" y="4352544"/>
            <a:ext cx="2880360" cy="7132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43600" y="4352544"/>
            <a:ext cx="64008" cy="7132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08192" y="44439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highest avg 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08192" y="4754880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that maximizes the mean Silhouette Score. More reliable than Elbow alone.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Limitations — When It Fails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658637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has strong assumptions. Understanding them prevents incorrect use.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1261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789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Assumes Spherical Clusters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081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uses Euclidean distance — it can only find roughly circular (hyperspherical) clusters. Elongated, crescent-shaped, or ring clusters will be split incorrectly.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9385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65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DBSCAN or Spectral Clustering for non-convex shapes.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87552"/>
            <a:ext cx="64008" cy="1261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789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Requires Feature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081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distance-based. A feature with range 0–100,000 completely dominates one with range 0–1. All clusters will be determined by the large-scale feature only.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9385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65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apply StandardScaler or MinMaxScaler before K-Means.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64008" cy="12618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505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Must Specify K in Advance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27797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guess the number of clusters before running. Wrong K gives meaningless clusters. There's no automatic K — you must use Elbow + Silhouette to decide.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3101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Elbow + Silhouette. Or use DBSCAN (no K needed).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3591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59152"/>
            <a:ext cx="64008" cy="12618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4505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Sensitive to Initialization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27797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random seeds give different results. Algorithm may converge to poor local minima. Standard practice: run with n_init=10 seeds, keep best result.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33101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K-Means++ initialization (default in scikit-learn).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307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30752"/>
            <a:ext cx="64008" cy="1261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221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Sensitive to Outliers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" y="41513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extreme outlier can pull a centroid far away from its true cluster center, ruining the cluster. The mean is not robust to outliers.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46817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9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 outliers first (Isolation Forest), or use K-Medoids (uses medians, not means).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730752"/>
            <a:ext cx="416052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30752"/>
            <a:ext cx="64008" cy="12618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8221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Assumes Equal-Size Clusters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28032" y="4151376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tends to create equal-size clusters. If your true clusters are very different in size or density, K-Means will split the large one and merge small ones.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4681728"/>
            <a:ext cx="3959352" cy="256032"/>
          </a:xfrm>
          <a:prstGeom prst="rect">
            <a:avLst/>
          </a:prstGeom>
          <a:solidFill>
            <a:srgbClr val="0A2010"/>
          </a:solidFill>
          <a:ln w="12700">
            <a:solidFill>
              <a:srgbClr val="76E0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47091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E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Gaussian Mixture Models (soft assignment with varying covariance).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Variants — Beyond the Classic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2801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K-Means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62456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small random batches of data (e.g. 1000 points) instead of the full dataset for each update step. Much faster on large datasets — often 2–10× speedup.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76479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n &gt; 100,000 samples. Slight accuracy tradeoff for huge speed gain.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2020824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039112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MiniBatchKMeans(n_clusters=3, batch_size=1000)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64008" cy="12801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5156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(PAM)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362456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the mean centroid, each cluster center must be an ACTUAL data point (the medoid). Much more robust to outliers than standard K-Means.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764792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Data has outliers. Also works on non-Euclidean distances (categorical data).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2020824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039112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sklearn_extra.cluster import KMedoids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50008"/>
            <a:ext cx="64008" cy="12801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4144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/ Fuzzy K-Means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2752344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belongs to each cluster with a DEGREE of membership (0 to 1). Points near borders get split membership. Implemented as Gaussian Mixture Models in sklearn.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154680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Data has overlapping natural clusters. Provides probability of belonging.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410712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42900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GaussianMixture(n_components=3, covariance_type='full')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350008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350008"/>
            <a:ext cx="64008" cy="12801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44144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K-Means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2752344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 cluster (all data). Repeatedly pick the cluster with highest inertia and split it into 2 using K-Means. Repeat until K clusters. Hierarchical approach.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154680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K is large. More stable results than standard K-Means. Good for large 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3410712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429000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BisectingKMeans(n_clusters=10)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39896"/>
            <a:ext cx="64008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83133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K-Means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" y="414223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cosine similarity instead of Euclidean distance. Data points are normalized to the unit sphere. Ideal for text data where direction matters more than magnitude.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544568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TF-IDF vectors, word embeddings, any unit-normalized high-D data.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4800600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481888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cosine distance: normalize first, then KMeans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739896"/>
            <a:ext cx="4160520" cy="128016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739896"/>
            <a:ext cx="64008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831336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K-Means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28032" y="414223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a high-dimensional feature space via kernel trick, then runs K-Means there. Can discover non-linear cluster boundaries like circles and crescents.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4544568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Best when: Non-convex clusters. But expensive O(n²). For small datasets only.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73168" y="4800600"/>
            <a:ext cx="3959352" cy="182880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481888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SpectralClustering(n_clusters=3, affinity='rbf')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in Python — Complete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5394960" cy="4114800"/>
          </a:xfrm>
          <a:prstGeom prst="rect">
            <a:avLst/>
          </a:prstGeom>
          <a:solidFill>
            <a:srgbClr val="050D1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014984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02336" y="1135685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402336" y="1256386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KMeans, MiniBatchKMeans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402336" y="1377086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402336" y="1497787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silhouette_score, davies_bouldin_score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402336" y="1618488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make_blobs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02336" y="1739189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402336" y="1859890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Generate / load data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402336" y="1980590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y_true = make_blobs(n_samples=500, centers=4, cluster_std=0.8, random_state=42)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02336" y="2101291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02336" y="2221992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ALWAYS scale features before K-Means!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02336" y="2342693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02336" y="2463394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02336" y="2584094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02336" y="2704795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Find optimal K using Elbow + Silhouette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02336" y="2825496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inertias, sil_scores = [], []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02336" y="2946197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K_range = range(2, 11)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02336" y="3066898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K_range: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02336" y="3187598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init='k-means++', n_init=10, random_state=42)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402336" y="3308299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km.fit(X_scaled)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402336" y="3429000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inertias.append(km.inertia_)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402336" y="3549701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sil_scores.append(silhouette_score(X_scaled, km.labels_))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02336" y="3670402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402336" y="3791102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Train final model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02336" y="3911803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best_k = 4  # from elbow + silhouette analysis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02336" y="4032504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KMeans(n_clusters=best_k, init='k-means++',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402336" y="4153205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n_init=10, max_iter=300, random_state=42)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02336" y="4273906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model.fit_predict(X_scaled)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402336" y="4394606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402336" y="4515307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Evaluate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402336" y="4636008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print(f'Inertia       : {model.inertia_:.2f}')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02336" y="4756709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print(f'Silhouette    : {silhouette_score(X_scaled, labels):.3f}')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402336" y="4877410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print(f'Davies-Bouldin: {davies_bouldin_score(X_scaled, labels):.3f}')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402336" y="4998110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402336" y="5118811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Cluster centers (in original scale)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402336" y="5239512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centers_orig = scaler.inverse_transform(model.cluster_centers_)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402336" y="5360213"/>
            <a:ext cx="5120640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print('Cluster centers:\n', centers_orig)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852160" y="960120"/>
            <a:ext cx="301752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52160" y="960120"/>
            <a:ext cx="64008" cy="9326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105156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n_init=10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016752" y="13624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 times with different seeds, keep the best result. Critical for avoiding bad local minima.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52160" y="1984248"/>
            <a:ext cx="301752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52160" y="1984248"/>
            <a:ext cx="64008" cy="93268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207568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init='k-means++'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016752" y="238658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K-Means++ (the default). Smarter init → faster convergence → better results.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52160" y="3008376"/>
            <a:ext cx="301752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852160" y="3008376"/>
            <a:ext cx="64008" cy="9326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09981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first!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016752" y="341071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distance-based. Unscaled features will completely break clustering. Non-negotiable.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52160" y="4032504"/>
            <a:ext cx="3017520" cy="93268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852160" y="4032504"/>
            <a:ext cx="64008" cy="93268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41239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cluster_centers_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016752" y="4434840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centroid positions in scaled space. Use inverse_transform to get original units back.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52160" y="5056632"/>
            <a:ext cx="3017520" cy="320040"/>
          </a:xfrm>
          <a:prstGeom prst="rect">
            <a:avLst/>
          </a:prstGeom>
          <a:solidFill>
            <a:srgbClr val="0A1E0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50932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&gt; 0.5 ✓   Davies-Bouldin &lt; 0.5 ✓   Well-clustered!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Real-World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61488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 Segmentation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RFM (Recency, Frequency, Monetary value) to personalize marketing. Each cluster gets a different campaign strategy.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96312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5328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K=4–8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60120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60120"/>
            <a:ext cx="2761488" cy="3657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 Compression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image pixel by its nearest cluster centroid color. K=16 colors can compress a 24-bit image by up to 50% with minimal quality loss.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2496312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5328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K=16–256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960120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960120"/>
            <a:ext cx="2761488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005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 Clustering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9632" y="1417320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news articles or research papers by topic. Feature vectors = TF-IDF. Each cluster becomes a 'topic'. Used in search engines and recommendation.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496312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5328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K=10–100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26664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26664"/>
            <a:ext cx="2761488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723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Genomics / Bioinformatics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483864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patients or genes by expression profiles → discover disease subtypes. Critical in precision medicine and drug discovery pipelines.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562856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5994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K=2–20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82112" y="3026664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3026664"/>
            <a:ext cx="2761488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0723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Geographic Segmentation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91840" y="3483864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GPS locations (stores, accidents, demand hotspots) for logistics optimization — place warehouses at cluster centroids to minimize delivery distance.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4562856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45994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K=5–50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3026664"/>
            <a:ext cx="2761488" cy="193852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3026664"/>
            <a:ext cx="2761488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07238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Cyber Attack Profiling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99632" y="3483864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network connection logs into 'normal behavior' groups. Connections that don't fit any cluster well become anomaly candidates for security review.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4562856"/>
            <a:ext cx="2596896" cy="274320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5994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K=3–10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K-Means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partitions by proximity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point to its nearest centroid. Recompute centroids as cluster means. Repeat. Converges to a local minimum of inertia WCSS.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A8CC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1170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2803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always converges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is monotonically non-increasing — both the assign step and update step can only reduce inertia. Finite assignments → finite convergence.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K-Means++ initialization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pure random init. K-Means++ seeds centroids by distance probability → O(log K) competitive guarantee. Default in sklearn.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58568"/>
            <a:ext cx="64008" cy="11704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2803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— always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Distance-based: StandardScaler is mandatory. Unscaled features completely dominate distance calculations and destroy clusters.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8C42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64008" cy="1170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891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with Elbow + Silhouette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Elbow: plot inertia vs K, find the bend. Silhouette: maximize avg s(i). Combine both + domain knowledge for best 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57016"/>
            <a:ext cx="64008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2803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clusters only · Sensitive to outliers · Needs K in advance · Local minimum. Use DBSCAN / GMM when these assumptions fail.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2030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1645920" cy="1645920"/>
          </a:xfrm>
          <a:prstGeom prst="ellipse">
            <a:avLst/>
          </a:prstGeom>
          <a:solidFill>
            <a:srgbClr val="0C203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4517136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4517136"/>
            <a:ext cx="109728" cy="1097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7136" y="4608576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486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320040" y="128016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master K-Means Clustering.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3496</Words>
  <Application>Microsoft Office PowerPoint</Application>
  <PresentationFormat>On-screen Show (16:9)</PresentationFormat>
  <Paragraphs>381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 — AI Master Class</dc:title>
  <dc:subject>PptxGenJS Presentation</dc:subject>
  <dc:creator>PptxGenJS</dc:creator>
  <cp:lastModifiedBy>ahmed mansouri</cp:lastModifiedBy>
  <cp:revision>2</cp:revision>
  <dcterms:created xsi:type="dcterms:W3CDTF">2026-04-04T22:45:25Z</dcterms:created>
  <dcterms:modified xsi:type="dcterms:W3CDTF">2026-04-06T21:06:18Z</dcterms:modified>
</cp:coreProperties>
</file>
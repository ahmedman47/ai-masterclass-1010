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3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05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10F9-3FDF-7A97-8C85-828BB85C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77436-98C3-8B1C-D358-F35A28D39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670D5-F12E-2A0F-BC67-4F4582FDC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E35FB-FB9E-E0D7-11CA-4286E1E45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9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E9C46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Activation Functions,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Weights &amp; Full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NN Training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D2BD"/>
                </a:solidFill>
              </a:rPr>
              <a:t>From a pixel entering the network to the final prediction — step by step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</a:rPr>
              <a:t>BrainerX AI Masterclass  ·  Session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What We'll Cover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D99AE"/>
                </a:solidFill>
              </a:rPr>
              <a:t>A complete, clear deep dive — no skipping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Are Weights?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</a:rPr>
              <a:t>The memory of the network — what they are, how they start, why they matter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Activation Functions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</a:rPr>
              <a:t>ReLU, Sigmoid, Softmax, Tanh — with graphs, math, and intuition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Forward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</a:rPr>
              <a:t>Step-by-step: image pixels → hidden layers →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926080"/>
            <a:ext cx="25603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Loss &amp; Backpropagation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</a:rPr>
              <a:t>How the network learns from its mistakes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25603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Training Example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</a:rPr>
              <a:t>A digit classifier: image in → prediction out, every step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/  What Are Weights?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The Simple Idea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A weight is just a number that controls how strongly one neuron influences the next.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Think of it like a volume knob: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• Weight = 2.0 → this signal is amplified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• Weight = 0.0 → this signal is ignored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• Weight = -1.5 → this signal is inverted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Bias — The Offset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The bias is an extra number added so the neuron can fire even when all inputs are 0. It shifts the activation threshold.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4023360"/>
          </a:xfrm>
          <a:prstGeom prst="rect">
            <a:avLst/>
          </a:prstGeom>
          <a:solidFill>
            <a:srgbClr val="EEF2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1051560"/>
            <a:ext cx="356616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051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output = w₁x₁ + w₂x₂ + w₃x₃ +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1920240"/>
            <a:ext cx="411480" cy="36576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</a:rPr>
              <a:t>0.8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2103120"/>
            <a:ext cx="77724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6F51"/>
                </a:solidFill>
              </a:rPr>
              <a:t>w₁=1.2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2468880"/>
            <a:ext cx="411480" cy="36576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468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</a:rPr>
              <a:t>0.3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651760"/>
            <a:ext cx="77724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6F51"/>
                </a:solidFill>
              </a:rPr>
              <a:t>w₂=0.7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3017520"/>
            <a:ext cx="411480" cy="36576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</a:rPr>
              <a:t>-0.5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3200400"/>
            <a:ext cx="77724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6F51"/>
                </a:solidFill>
              </a:rPr>
              <a:t>w₃=-0.9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228600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Σ+b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C46A"/>
                </a:solidFill>
              </a:rPr>
              <a:t>b=0.5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2606040"/>
            <a:ext cx="64008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359152"/>
            <a:ext cx="54864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2359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ŷ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352044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Calculation Example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x₁=0.8, w₁=1.2 → contribution = 0.96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x₂=0.3, w₂=0.7 → contribution = 0.21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x₃=-0.5, w₃=-0.9 → contribution = 0.45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b=0.5 → z = 0.96+0.21+0.45+0.5 = 2.12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/  How Weights Are Initialized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You can't start with all zeros — here's why, and what to do instead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91440" cy="1737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All Zeros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6F51"/>
                </a:solidFill>
              </a:rPr>
              <a:t>Symmetry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Every neuron computes the same output. Backprop gives the same gradient. All neurons learn the same thing → the network doesn't learn at all!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91440" cy="1737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Random Small Values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9396"/>
                </a:solidFill>
              </a:rPr>
              <a:t>Breaks Symmetry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105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Weights drawn from a normal distribution like N(0, 0.01). Each neuron starts different → they learn different features. But can still vanish with deep nets.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1148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08960"/>
            <a:ext cx="91440" cy="1737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Xavier / Glorot Init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93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C46A"/>
                </a:solidFill>
              </a:rPr>
              <a:t>Best for Sigmoid/Tanh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W ~ Uniform(−√(6/(nᵢₙ+nₒᵤₜ)), +√(6/(nᵢₙ+nₒᵤₜ)))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Scales by layer size to keep signal strength stable.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91440" cy="1737360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He Initialization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93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Best for ReLU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30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W ~ N(0, √(2/nᵢₙ))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Accounts for ReLU cutting half the values. Default in PyTorch Conv/Linear layers.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02  /  Why Do We Need Activation Functions?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The Core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Without activation functions, stacking layers of neurons is pointless — the whole network collapses into a single linear equation.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931920" cy="2606040"/>
          </a:xfrm>
          <a:prstGeom prst="rect">
            <a:avLst/>
          </a:prstGeom>
          <a:solidFill>
            <a:srgbClr val="FFF0E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</a:rPr>
              <a:t>WITHOUT Activation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Layer 1:  z₁ = W₁x + b₁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Layer 2:  z₂ = W₂z₁ + b₂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Substituting: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  z₂ = W₂(W₁x + b₁) + b₂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     = (W₂W₁)x + (W₂b₁+b₂)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= Still just one linear equation!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  No matter how many layers.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931920" cy="260604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</a:rPr>
              <a:t>WITH Activation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Layer 1:  a₁ = ReLU(W₁x + b₁)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Layer 2:  a₂ = ReLU(W₂a₁ + b₂)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Non-linearity is introduced!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Each layer can now learn to detect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curved boundaries, patterns, and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complex shapes in data.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D1B2A"/>
                </a:solidFill>
              </a:rPr>
              <a:t>→ This is what makes deep learning powerful.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/  ReLU — Rectified Linear Unit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The most widely used activation function in hidden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6858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C46A"/>
                </a:solidFill>
              </a:rPr>
              <a:t>f(x) = max(0, x)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49040" cy="27432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ReLU 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0" cy="19659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297680"/>
            <a:ext cx="34747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502920" y="4292670"/>
            <a:ext cx="13716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22960" y="2331719"/>
            <a:ext cx="1554479" cy="1965961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6F51"/>
                </a:solidFill>
              </a:rPr>
              <a:t>x &lt; 0: output =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9396"/>
                </a:solidFill>
              </a:rPr>
              <a:t>x &gt; 0: output = 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</a:rPr>
              <a:t>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Simple &amp; Fast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D2BD"/>
                </a:solidFill>
              </a:rPr>
              <a:t>Just one comparison: is x &gt; 0? Extremely cheap to compute.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Solves Vanishing Gradient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04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D2BD"/>
                </a:solidFill>
              </a:rPr>
              <a:t>Gradient is exactly 1 for positive values — doesn't shrink during backprop.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Sparse Activation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D2BD"/>
                </a:solidFill>
              </a:rPr>
              <a:t>Negative neurons output 0 → only relevant neurons fire. Like biological neurons.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Dying ReLU Problem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D2BD"/>
                </a:solidFill>
              </a:rPr>
              <a:t>If a neuron always gets negative input, its gradient = 0 forever. Solution: Leaky ReLU (f(x) = max(0.01x, x)).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663440"/>
            <a:ext cx="420624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663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</a:rPr>
              <a:t>PyTorch: torch.nn.ReLU()  or  F.relu(x)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02  /  Sigmoid — Squash to (0, 1)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</a:rPr>
              <a:t>σ(x) = 1 / (1 + e⁻ˣ)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931920" cy="2926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2057400"/>
            <a:ext cx="0" cy="246888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36576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069080"/>
            <a:ext cx="54864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931920"/>
            <a:ext cx="68580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611880"/>
            <a:ext cx="45720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246120"/>
            <a:ext cx="45720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880360"/>
            <a:ext cx="68580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560320"/>
            <a:ext cx="548640" cy="0"/>
          </a:xfrm>
          <a:prstGeom prst="line">
            <a:avLst/>
          </a:prstGeom>
          <a:noFill/>
          <a:ln w="381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2278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</a:rPr>
              <a:t>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2240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2278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0.5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When to Use Sigmoid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 Output layer for binary 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Is this email spam? Yes/No → output is a probability between 0 and 1.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 Outputs a probability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σ(-10)≈0  ·  σ(0)=0.5  ·  σ(10)≈1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Smooth, differentiable everywhere.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 Vanishing Gradient Problem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At extremes (x≪0 or x≫0), gradient ≈ 0.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Deep nets with sigmoid can stop learning. Use ReLU for hidden layers instead.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206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 Not Zero-Centered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Outputs always positive (0 to 1), which can cause zig-zag weight updates. Tanh fixes this.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736592"/>
            <a:ext cx="4206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736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</a:rPr>
              <a:t>PyTorch: torch.nn.Sigmoid()  or  torch.sigmoid(x)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02  /  Softmax — Multi-Class Probabilities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Always used in the OUTPUT layer when there are 3+ classes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Softmax(xᵢ) = eˣⁱ / (eˣ¹ + eˣ² + … + eˣⁿ)     →     All outputs sum to 1.0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Concrete Example: Classifying digits 0–9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560320" cy="25603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99AE"/>
                </a:solidFill>
              </a:rPr>
              <a:t>Raw Scores (logits)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Digit 3:  4.2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Digit 7:  2.1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Digit 1:  0.5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Others:  ~-1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520440"/>
            <a:ext cx="640080" cy="0"/>
          </a:xfrm>
          <a:prstGeom prst="line">
            <a:avLst/>
          </a:prstGeom>
          <a:noFill/>
          <a:ln w="3175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108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C46A"/>
                </a:solidFill>
              </a:rPr>
              <a:t>e^x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9C46A"/>
                </a:solidFill>
              </a:rPr>
              <a:t>then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9C46A"/>
                </a:solidFill>
              </a:rPr>
              <a:t>normalize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2286000"/>
            <a:ext cx="2743200" cy="25603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99AE"/>
                </a:solidFill>
              </a:rPr>
              <a:t>After Softmax (probabilities)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9396"/>
                </a:solidFill>
              </a:rPr>
              <a:t>Digit 3:  0.86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3090672"/>
            <a:ext cx="1965960" cy="731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Digit 7:  0.09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547872"/>
            <a:ext cx="205740" cy="73152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</a:rPr>
              <a:t>Digit 1:  0.03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4005072"/>
            <a:ext cx="685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4114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</a:rPr>
              <a:t>Others:  0.02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86200" y="4462272"/>
            <a:ext cx="4572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C653"/>
                </a:solidFill>
              </a:rPr>
              <a:t>Sum = 1.0 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2286000"/>
            <a:ext cx="2194560" cy="25603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Rules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Always used LAST layer for multi-class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3136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Output = probability for each class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3483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All outputs sum to exactly 1.0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Biggest logit → highest probability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Paired with Cross-Entropy loss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526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</a:rPr>
              <a:t>› </a:t>
            </a:r>
            <a:r>
              <a:rPr lang="en-US" sz="1000" dirty="0">
                <a:solidFill>
                  <a:srgbClr val="94D2BD"/>
                </a:solidFill>
              </a:rPr>
              <a:t>Never use in hidden layers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EFE27-34B4-4DDE-797D-8DF8F1F1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1D457-BC1A-08CC-3E10-0F1F9FDDA45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DB1DE3-9412-DF2A-DABE-85EE0AE9835C}"/>
              </a:ext>
            </a:extLst>
          </p:cNvPr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02  /  Tanh &amp; Comparison Summary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D119A4-5E37-E4A8-6AB9-2539DA25D0A8}"/>
              </a:ext>
            </a:extLst>
          </p:cNvPr>
          <p:cNvSpPr/>
          <p:nvPr/>
        </p:nvSpPr>
        <p:spPr>
          <a:xfrm>
            <a:off x="365760" y="914400"/>
            <a:ext cx="39319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2256ED-7FC5-5A7C-CB49-F91794807E77}"/>
              </a:ext>
            </a:extLst>
          </p:cNvPr>
          <p:cNvSpPr/>
          <p:nvPr/>
        </p:nvSpPr>
        <p:spPr>
          <a:xfrm>
            <a:off x="365760" y="914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tanh(x) = (eˣ − e⁻ˣ) / (eˣ + e⁻ˣ)   →   output ∈ (−1, +1)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6B992E-C4B5-12B6-5C25-FFDEF3A9DD85}"/>
              </a:ext>
            </a:extLst>
          </p:cNvPr>
          <p:cNvSpPr/>
          <p:nvPr/>
        </p:nvSpPr>
        <p:spPr>
          <a:xfrm>
            <a:off x="365760" y="1600200"/>
            <a:ext cx="3931920" cy="22860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27462C-4BCC-DFFB-6C25-E5991A09A6AF}"/>
              </a:ext>
            </a:extLst>
          </p:cNvPr>
          <p:cNvSpPr/>
          <p:nvPr/>
        </p:nvSpPr>
        <p:spPr>
          <a:xfrm>
            <a:off x="2331720" y="1783080"/>
            <a:ext cx="0" cy="201168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6A06E9-7DC6-E83B-191F-73614CAC5DAB}"/>
              </a:ext>
            </a:extLst>
          </p:cNvPr>
          <p:cNvSpPr/>
          <p:nvPr/>
        </p:nvSpPr>
        <p:spPr>
          <a:xfrm>
            <a:off x="548640" y="2743200"/>
            <a:ext cx="36576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9BDF04-0BC8-488D-63AD-29946CBF72F0}"/>
              </a:ext>
            </a:extLst>
          </p:cNvPr>
          <p:cNvSpPr/>
          <p:nvPr/>
        </p:nvSpPr>
        <p:spPr>
          <a:xfrm>
            <a:off x="640080" y="3520440"/>
            <a:ext cx="54864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D98A1F-681A-8841-41DB-25FB7BE603D3}"/>
              </a:ext>
            </a:extLst>
          </p:cNvPr>
          <p:cNvSpPr/>
          <p:nvPr/>
        </p:nvSpPr>
        <p:spPr>
          <a:xfrm>
            <a:off x="1188720" y="3246120"/>
            <a:ext cx="59436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81FDF91-3282-2B20-526D-BBBA75AF4044}"/>
              </a:ext>
            </a:extLst>
          </p:cNvPr>
          <p:cNvSpPr/>
          <p:nvPr/>
        </p:nvSpPr>
        <p:spPr>
          <a:xfrm>
            <a:off x="1783080" y="3200400"/>
            <a:ext cx="54864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A798A6E-58E0-94B7-E5BF-E330A8035986}"/>
              </a:ext>
            </a:extLst>
          </p:cNvPr>
          <p:cNvSpPr/>
          <p:nvPr/>
        </p:nvSpPr>
        <p:spPr>
          <a:xfrm>
            <a:off x="2331720" y="2743200"/>
            <a:ext cx="54864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55CC5BA-6D69-E7CA-60C9-36EC44D18950}"/>
              </a:ext>
            </a:extLst>
          </p:cNvPr>
          <p:cNvSpPr/>
          <p:nvPr/>
        </p:nvSpPr>
        <p:spPr>
          <a:xfrm>
            <a:off x="2880360" y="2286000"/>
            <a:ext cx="59436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0DF7524-3861-2D08-57D2-87FD7CD624EC}"/>
              </a:ext>
            </a:extLst>
          </p:cNvPr>
          <p:cNvSpPr/>
          <p:nvPr/>
        </p:nvSpPr>
        <p:spPr>
          <a:xfrm>
            <a:off x="3474720" y="2240280"/>
            <a:ext cx="548640" cy="0"/>
          </a:xfrm>
          <a:prstGeom prst="line">
            <a:avLst/>
          </a:prstGeom>
          <a:noFill/>
          <a:ln w="38100">
            <a:solidFill>
              <a:srgbClr val="7B2D8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C8971F-3D8D-D39B-6FA2-7B017D8D1FA9}"/>
              </a:ext>
            </a:extLst>
          </p:cNvPr>
          <p:cNvSpPr/>
          <p:nvPr/>
        </p:nvSpPr>
        <p:spPr>
          <a:xfrm>
            <a:off x="2377440" y="1874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+1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29EAC5-BCCA-B278-309A-6901A86B19CB}"/>
              </a:ext>
            </a:extLst>
          </p:cNvPr>
          <p:cNvSpPr/>
          <p:nvPr/>
        </p:nvSpPr>
        <p:spPr>
          <a:xfrm>
            <a:off x="2377440" y="34290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-1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D1C5655-D595-DEC3-1D6F-1B7E79CB6C16}"/>
              </a:ext>
            </a:extLst>
          </p:cNvPr>
          <p:cNvSpPr/>
          <p:nvPr/>
        </p:nvSpPr>
        <p:spPr>
          <a:xfrm>
            <a:off x="365760" y="3931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2D8B"/>
                </a:solidFill>
              </a:rPr>
              <a:t>tanh is zero-centered — better than Sigmoid for hidden layers!</a:t>
            </a:r>
            <a:endParaRPr lang="en-US" sz="1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B9345DA-BB42-4FDE-5025-58E0DB495E59}"/>
              </a:ext>
            </a:extLst>
          </p:cNvPr>
          <p:cNvSpPr/>
          <p:nvPr/>
        </p:nvSpPr>
        <p:spPr>
          <a:xfrm>
            <a:off x="36576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5C0F582-A07F-6294-94C0-DD762B7091CF}"/>
              </a:ext>
            </a:extLst>
          </p:cNvPr>
          <p:cNvSpPr/>
          <p:nvPr/>
        </p:nvSpPr>
        <p:spPr>
          <a:xfrm>
            <a:off x="42976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Softmax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02F0CBE-9B31-C738-2877-4B70587A6A65}"/>
              </a:ext>
            </a:extLst>
          </p:cNvPr>
          <p:cNvSpPr/>
          <p:nvPr/>
        </p:nvSpPr>
        <p:spPr>
          <a:xfrm>
            <a:off x="246888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331C6B1-D110-53A2-B4DC-DF2ED1D54886}"/>
              </a:ext>
            </a:extLst>
          </p:cNvPr>
          <p:cNvSpPr/>
          <p:nvPr/>
        </p:nvSpPr>
        <p:spPr>
          <a:xfrm>
            <a:off x="253288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(0, 1) sum=1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24E4C28-19CE-A190-B71B-BD67E9292888}"/>
              </a:ext>
            </a:extLst>
          </p:cNvPr>
          <p:cNvSpPr/>
          <p:nvPr/>
        </p:nvSpPr>
        <p:spPr>
          <a:xfrm>
            <a:off x="457200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A028D0A-89D7-782F-6AA6-FCC834DFA585}"/>
              </a:ext>
            </a:extLst>
          </p:cNvPr>
          <p:cNvSpPr/>
          <p:nvPr/>
        </p:nvSpPr>
        <p:spPr>
          <a:xfrm>
            <a:off x="463600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Multi-class output layer</a:t>
            </a:r>
            <a:endParaRPr lang="en-US" sz="10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09555B9-5C50-CB21-0F05-A99FA76E648E}"/>
              </a:ext>
            </a:extLst>
          </p:cNvPr>
          <p:cNvSpPr/>
          <p:nvPr/>
        </p:nvSpPr>
        <p:spPr>
          <a:xfrm>
            <a:off x="667512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E17C9E4-7AD4-47B1-B790-1B1B414EEF42}"/>
              </a:ext>
            </a:extLst>
          </p:cNvPr>
          <p:cNvSpPr/>
          <p:nvPr/>
        </p:nvSpPr>
        <p:spPr>
          <a:xfrm>
            <a:off x="673912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Not for hidden layers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2236115-3538-C0A2-A51B-9D71101C5D8C}"/>
              </a:ext>
            </a:extLst>
          </p:cNvPr>
          <p:cNvSpPr/>
          <p:nvPr/>
        </p:nvSpPr>
        <p:spPr>
          <a:xfrm>
            <a:off x="36576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3FC44A8-660A-E4A8-BFC5-A64B866E5541}"/>
              </a:ext>
            </a:extLst>
          </p:cNvPr>
          <p:cNvSpPr/>
          <p:nvPr/>
        </p:nvSpPr>
        <p:spPr>
          <a:xfrm>
            <a:off x="42976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Tanh</a:t>
            </a:r>
            <a:endParaRPr lang="en-US" sz="10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AEA4C432-DEA6-BD39-63A4-ED922979A818}"/>
              </a:ext>
            </a:extLst>
          </p:cNvPr>
          <p:cNvSpPr/>
          <p:nvPr/>
        </p:nvSpPr>
        <p:spPr>
          <a:xfrm>
            <a:off x="246888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DDEEF6A1-CBC2-EC32-56D6-F29798BBCEB9}"/>
              </a:ext>
            </a:extLst>
          </p:cNvPr>
          <p:cNvSpPr/>
          <p:nvPr/>
        </p:nvSpPr>
        <p:spPr>
          <a:xfrm>
            <a:off x="253288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(-1, +1)</a:t>
            </a:r>
            <a:endParaRPr lang="en-US" sz="10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60A439B-BAE2-7985-2FB2-6F23E1B52297}"/>
              </a:ext>
            </a:extLst>
          </p:cNvPr>
          <p:cNvSpPr/>
          <p:nvPr/>
        </p:nvSpPr>
        <p:spPr>
          <a:xfrm>
            <a:off x="457200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07CED3F2-6159-8F59-6F1F-07C79B4212D6}"/>
              </a:ext>
            </a:extLst>
          </p:cNvPr>
          <p:cNvSpPr/>
          <p:nvPr/>
        </p:nvSpPr>
        <p:spPr>
          <a:xfrm>
            <a:off x="463600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Hidden layers (zero-centered)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4CFEB66-B84D-DBF8-BE4D-34E86BF815B3}"/>
              </a:ext>
            </a:extLst>
          </p:cNvPr>
          <p:cNvSpPr/>
          <p:nvPr/>
        </p:nvSpPr>
        <p:spPr>
          <a:xfrm>
            <a:off x="667512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DB3E38F-C93A-BBCB-126A-F76880F5AF0E}"/>
              </a:ext>
            </a:extLst>
          </p:cNvPr>
          <p:cNvSpPr/>
          <p:nvPr/>
        </p:nvSpPr>
        <p:spPr>
          <a:xfrm>
            <a:off x="673912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Vanishing gradient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31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02  /  Tanh &amp; Comparison Summary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65760" y="21770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Activation Function Cheat Sheet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2542788"/>
            <a:ext cx="2084832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5427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542788"/>
            <a:ext cx="2084832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2532888" y="25427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Range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542788"/>
            <a:ext cx="2084832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25427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For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2542788"/>
            <a:ext cx="2084832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25427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890260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289026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ReLU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2890260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532888" y="289026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(0, +∞)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890260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36008" y="289026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Hidden layers — default choice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2890260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739128" y="289026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Dying ReLU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37732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" y="3237732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Sigmoid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237732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2532888" y="3237732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(0, 1)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237732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4636008" y="3237732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Binary output layer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3237732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2" name="Text 40"/>
          <p:cNvSpPr/>
          <p:nvPr/>
        </p:nvSpPr>
        <p:spPr>
          <a:xfrm>
            <a:off x="6739128" y="3237732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Vanishing gradient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Softmax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53288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(0, 1) sum=1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63600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Multi-class output layer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675120" y="5614416"/>
            <a:ext cx="208483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739128" y="561441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Not for hidden layers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Text 50"/>
          <p:cNvSpPr/>
          <p:nvPr/>
        </p:nvSpPr>
        <p:spPr>
          <a:xfrm>
            <a:off x="42976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Tanh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6888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253288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(-1, +1)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6" name="Text 54"/>
          <p:cNvSpPr/>
          <p:nvPr/>
        </p:nvSpPr>
        <p:spPr>
          <a:xfrm>
            <a:off x="463600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Hidden layers (zero-centered)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75120" y="5961888"/>
            <a:ext cx="2084832" cy="33832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8" name="Text 56"/>
          <p:cNvSpPr/>
          <p:nvPr/>
        </p:nvSpPr>
        <p:spPr>
          <a:xfrm>
            <a:off x="6739128" y="596188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Vanishing gradient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/  The Forward Pass — Step by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We'll classify a handwritten digit image from scratch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7830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280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Input: Flatten the 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9396"/>
                </a:solidFill>
              </a:rPr>
              <a:t>28×28 pixel image = 784 numbers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9396"/>
                </a:solidFill>
              </a:rPr>
              <a:t>Each pixel value: 0 (black) to 255 (white)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9396"/>
                </a:solidFill>
              </a:rPr>
              <a:t>Normalize: divide by 255 → values 0.0 to 1.0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9396"/>
                </a:solidFill>
              </a:rPr>
              <a:t>Input vector x has shape [784]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7830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2392" y="1280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Hidden Layer 1 (128 neurons)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190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9C46A"/>
                </a:solidFill>
              </a:rPr>
              <a:t>z¹ = W¹x + b¹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9C46A"/>
                </a:solidFill>
              </a:rPr>
              <a:t>W¹ shape: [128, 784] (128 × 784 = 100,352 weights!)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9C46A"/>
                </a:solidFill>
              </a:rPr>
              <a:t>b¹ shape: [128]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9C46A"/>
                </a:solidFill>
              </a:rPr>
              <a:t>a¹ = ReLU(z¹)  → 128 values, all ≥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5468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Hidden Layer 2 (64 neurons)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6F51"/>
                </a:solidFill>
              </a:rPr>
              <a:t>z² = W²a¹ + b²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6F51"/>
                </a:solidFill>
              </a:rPr>
              <a:t>W² shape: [64, 128]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6F51"/>
                </a:solidFill>
              </a:rPr>
              <a:t>b² shape: [64]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6F51"/>
                </a:solidFill>
              </a:rPr>
              <a:t>a² = ReLU(z²)  → 64 values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7830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94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2392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Layer (10 neurons)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z³ = W³a² + b³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W³ shape: [10, 64]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b³ shape: [10]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ŷ = Softmax(z³)  → 10 probabilities (one per digit)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/  Loss Functions — Measuring Mistakes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Cross-Entropy Loss (Classification)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L = − Σ  y_true × log(ŷ_predicted)     →     Penalizes wrong confident predictions HEAVILY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Intuition with Numbers: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1280160" cy="3931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500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label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2350008"/>
            <a:ext cx="2834640" cy="3931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23500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output (Softmax)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350008"/>
            <a:ext cx="1920240" cy="3931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35000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2350008"/>
            <a:ext cx="2103120" cy="3931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35000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614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Digit 3 (correct)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61488"/>
            <a:ext cx="2834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276148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P(3)=0.95, P(7)=0.05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61488"/>
            <a:ext cx="19202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76148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−log(0.95) = 0.05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2761488"/>
            <a:ext cx="21031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76148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Very small loss 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72968"/>
            <a:ext cx="1280160" cy="3931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17296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Digit 3 (correct)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3172968"/>
            <a:ext cx="2834640" cy="3931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1783080" y="317296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P(3)=0.51, P(7)=0.49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72968"/>
            <a:ext cx="1920240" cy="3931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17296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−log(0.51) = 0.67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172968"/>
            <a:ext cx="2103120" cy="3931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17296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Medium loss 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584448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Digit 3 (correct)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37360" y="3584448"/>
            <a:ext cx="2834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783080" y="35844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P(3)=0.05, P(7)=0.90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584448"/>
            <a:ext cx="19202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58444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−log(0.05) = 3.00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584448"/>
            <a:ext cx="21031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358444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Large loss 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51960"/>
            <a:ext cx="4114800" cy="685800"/>
          </a:xfrm>
          <a:prstGeom prst="rect">
            <a:avLst/>
          </a:prstGeom>
          <a:solidFill>
            <a:srgbClr val="EEF2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27939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MSE Loss (Regression)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L = (1/n) Σ (y − ŷ)²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For continuous outputs (predict house price, temperature)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51960"/>
            <a:ext cx="4114800" cy="685800"/>
          </a:xfrm>
          <a:prstGeom prst="rect">
            <a:avLst/>
          </a:prstGeom>
          <a:solidFill>
            <a:srgbClr val="EEF2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427939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The goal of training: minimize the loss!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Optimizer adjusts weights to find the lowest point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of the loss landscape — like rolling a ball downhill.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/  Backpropagation — How the Network Learns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The chain rule of calculus, applied layer by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9611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" cy="89611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Compute the Loss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6F51"/>
                </a:solidFill>
              </a:rPr>
              <a:t>L = CrossEntropy(ŷ, y_true)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1887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Compare prediction to ground truth. Get a number that measures how wrong we are.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9611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057400"/>
            <a:ext cx="411480" cy="8961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5740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Gradient at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414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C46A"/>
                </a:solidFill>
              </a:rPr>
              <a:t>∂L/∂ŷ = ŷ − y_true  (for cross-entropy)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1488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How much did each output neuron contribute to the error?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89611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17520"/>
            <a:ext cx="411480" cy="89611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01752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 Rule — Layer by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401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9396"/>
                </a:solidFill>
              </a:rPr>
              <a:t>∂L/∂W² = ∂L/∂a² × ∂a²/∂z² × ∂z²/∂W²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1089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Multiply gradients backwards through the network using the chain rule.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977640"/>
            <a:ext cx="411480" cy="896112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97764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 Weights (Gradient Descent)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3616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W  ←  W − η × ∂L/∂W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0690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D2BD"/>
                </a:solidFill>
              </a:rPr>
              <a:t>Move every weight slightly in the direction that reduces the loss. η = learning rate.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C46A"/>
                </a:solidFill>
              </a:rPr>
              <a:t>Repeat forward pass + backprop for every batch × every epoch until loss is minimized.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/  Full Training Example: Digit Classifier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The Complete Picture — One Training Step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99AE"/>
                </a:solidFill>
              </a:rPr>
              <a:t>Input: image of digit '3'   |   True label: class index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37160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28×28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pixels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19456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737360"/>
            <a:ext cx="1371600" cy="914400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Flatten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784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numbers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37360"/>
            <a:ext cx="1371600" cy="914400"/>
          </a:xfrm>
          <a:prstGeom prst="rect">
            <a:avLst/>
          </a:prstGeom>
          <a:solidFill>
            <a:srgbClr val="E9C46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128 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37360"/>
            <a:ext cx="1371600" cy="914400"/>
          </a:xfrm>
          <a:prstGeom prst="rect">
            <a:avLst/>
          </a:prstGeom>
          <a:solidFill>
            <a:srgbClr val="E76F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 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37360"/>
            <a:ext cx="1371600" cy="91440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194560"/>
            <a:ext cx="2743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737360"/>
            <a:ext cx="1371600" cy="914400"/>
          </a:xfrm>
          <a:prstGeom prst="rect">
            <a:avLst/>
          </a:prstGeom>
          <a:solidFill>
            <a:srgbClr val="94D2B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Entropy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Detailed Values — Following One Sample Through the Network: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8412480" cy="2926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Input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32918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x = [0.0, 0.12, 0.87, 0.95, 0.78, ...  0.0]    shape: [784]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59359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93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Layer 1 (partial)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35935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z¹[0] = 0.23×0.0 + 0.87×0.12 + (−0.34)×0.87 + … + b¹[0] = 0.42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a¹[0] = ReLU(0.42) = 0.42    ← positive, passes through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95344"/>
            <a:ext cx="8412480" cy="2926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Layer 1 (partial)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8953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z¹[5] = … = −0.71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a¹[5] = ReLU(−0.71) = 0.0    ← negative, blocked (dead for this input)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97096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97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Output (Softmax)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419709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z³ = [−1.2,  0.3,  0.8,  3.1,  −0.4,  0.1, …]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ŷ  = [0.01, 0.04, 0.07,  0.85, 0.02,  …]    ← class 3 wins with 85%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98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Loss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44988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L = −log(ŷ[3]) = −log(0.85) = 0.163    ← small, model is mostly right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800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 After 100 epochs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2024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Loss drops from ~2.3 → ~0.08    |    Accuracy: 10% → 97%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/  PyTorch Code: The Full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Real code — from image to prediction, training loop included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931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torch.nn as nn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0243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057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Define the Model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422769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DigitNet(nn.Module):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73645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24521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75397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self.fc1 = nn.Linear(784, 128)  # Layer 1: 784→128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26273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self.fc2 = nn.Linear(128, 64)   # Layer 2: 128→64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177149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self.fc3 = nn.Linear(64, 10)    # Output:  64→10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28025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478901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x.view(-1, 784)             # Flatten image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29777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F.relu(self.fc1(x))         # Layer 1 + ReLU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80653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F.relu(self.fc2(x))         # Layer 2 + ReLU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931529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self.fc3(x)              # Raw logits (Softmax inside loss)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082405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33281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384157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DigitNet()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535033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torch.optim.Adam(model.parameters(), lr=0.001)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685909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 = nn.CrossEntropyLoss()  # Applies Softmax internally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36785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87661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138537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model(images)             # Forward pass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289413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criterion(pred, labels)   # Compute loss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440289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            # Clear old gradients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91165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          # Backpropagation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742041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optimizer.step()                 # Update weights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883773"/>
            <a:ext cx="8595360" cy="20116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83773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That's the entire loop: Forward → Loss → Backprop → Update. Repeat until accuracy is high.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A939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69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Weights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Numbers that multiply inputs — the memory of the network. Initialized randomly, updated by backprop.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069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Activation Functions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3990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Introduce non-linearity. ReLU for hidden layers, Sigmoid for binary output, Softmax for multi-class output.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95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Forward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Data flows: Input → weighted sums → activations → output. One matrix multiply + activation per layer.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58568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95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Loss Function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697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Measures the mistake. Cross-entropy for classification. Minimizing loss IS the goal of training.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941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Backpropagation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959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Chain rule flowing backwards. Computes how much each weight contributed to the error.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57016"/>
            <a:ext cx="4114800" cy="11704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6941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Training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9959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Forward → Loss → Backward → Update. Repeat for many epochs until loss is low and accuracy is high.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C46A"/>
                </a:solidFill>
              </a:rPr>
              <a:t>"Understanding what happens inside each layer is what separates a user from a builder."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2468</Words>
  <Application>Microsoft Office PowerPoint</Application>
  <PresentationFormat>On-screen Show (16:9)</PresentationFormat>
  <Paragraphs>346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Dive: Weights, Activation Functions &amp; Neural Network Training</dc:title>
  <dc:subject>PptxGenJS Presentation</dc:subject>
  <dc:creator>PptxGenJS</dc:creator>
  <cp:lastModifiedBy>ahmed mansouri</cp:lastModifiedBy>
  <cp:revision>2</cp:revision>
  <dcterms:created xsi:type="dcterms:W3CDTF">2026-04-17T21:29:39Z</dcterms:created>
  <dcterms:modified xsi:type="dcterms:W3CDTF">2026-04-21T16:01:35Z</dcterms:modified>
</cp:coreProperties>
</file>
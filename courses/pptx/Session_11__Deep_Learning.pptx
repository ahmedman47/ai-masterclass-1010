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7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08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097280"/>
            <a:ext cx="4114800" cy="41148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2011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Introduction to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5C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Neurons to Intelligence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Neural Nets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39319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Math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Hands-on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39319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Roadmap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DB8"/>
                </a:solidFill>
              </a:rPr>
              <a:t>BrainerX AI Masterclass  ·  Ahmed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Today's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What is Deep Learning?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Definition, history &amp; the big picture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30552"/>
            <a:ext cx="54864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176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The Building Block: Neurons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Perceptron, activation functions, layers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26664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2666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0723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Neural Network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198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Forward pass, backprop, loss functions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2277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22776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227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9684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Key Deep Learning Techniques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315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Regularization, optimization, dropout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2344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23444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2344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Major Architectures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CNN, RNN, Transformers, GANs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13055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130552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1305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2176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Real-World Applications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523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CV, NLP, healthcare, science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02666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026664"/>
            <a:ext cx="54864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02666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94960" y="30723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Learning Roadmap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4198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How to master deep learning step by step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What is Deep Learning?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474720"/>
          </a:xfrm>
          <a:prstGeom prst="rect">
            <a:avLst/>
          </a:prstGeom>
          <a:solidFill>
            <a:srgbClr val="EEF4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411057"/>
            <a:ext cx="7132320" cy="2926080"/>
          </a:xfrm>
          <a:prstGeom prst="rect">
            <a:avLst/>
          </a:prstGeom>
          <a:solidFill>
            <a:srgbClr val="E0EA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737360"/>
            <a:ext cx="5669280" cy="2286000"/>
          </a:xfrm>
          <a:prstGeom prst="rect">
            <a:avLst/>
          </a:prstGeom>
          <a:solidFill>
            <a:srgbClr val="1A2B5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695" y="110053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Artificial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5422" y="14153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920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Deep Learning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5C3FF"/>
                </a:solidFill>
              </a:rPr>
              <a:t>Multi-layer neural networks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5C3FF"/>
                </a:solidFill>
              </a:rPr>
              <a:t>that learn hierarchical features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5C3FF"/>
                </a:solidFill>
              </a:rPr>
              <a:t>automatically from raw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</a:rPr>
              <a:t> Deep Learning is a subfield of ML using artificial neural networks with many layers — inspired by the human brain.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Why is Deep Learning Powerful Now?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80467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715768"/>
            <a:ext cx="237744" cy="23774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1097280"/>
            <a:ext cx="9144" cy="1618488"/>
          </a:xfrm>
          <a:prstGeom prst="rect">
            <a:avLst/>
          </a:prstGeom>
          <a:solidFill>
            <a:srgbClr val="9CA3AF">
              <a:alpha val="30000"/>
            </a:srgbClr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965" y="97222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A3AF"/>
                </a:solidFill>
              </a:rPr>
              <a:t>1943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" y="106070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McCulloch-Pitts Neuron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2715768"/>
            <a:ext cx="237744" cy="237744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9172" y="2953512"/>
            <a:ext cx="9144" cy="731520"/>
          </a:xfrm>
          <a:prstGeom prst="rect">
            <a:avLst/>
          </a:prstGeom>
          <a:solidFill>
            <a:srgbClr val="9CA3AF">
              <a:alpha val="30000"/>
            </a:srgbClr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A3AF"/>
                </a:solidFill>
              </a:rPr>
              <a:t>1958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3474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Perceptron by Rosenblatt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9624" y="271576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3924" y="1097280"/>
            <a:ext cx="9144" cy="1618488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2744" y="992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1986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46704" y="10730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Backpropagation popularized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94376" y="271576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8676" y="2953512"/>
            <a:ext cx="9144" cy="731520"/>
          </a:xfrm>
          <a:prstGeom prst="rect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</a:rPr>
              <a:t>2012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6494" y="355083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AlexNet wins ImageNet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(Deep Learning era starts)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39128" y="2715768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3428" y="1097280"/>
            <a:ext cx="9144" cy="161848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9141" y="9722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2017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113358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Attention Is All You Need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(Transformers born)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2715768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8180" y="2953512"/>
            <a:ext cx="9144" cy="73152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2022+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66437" y="353254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ChatGPT · GPT-4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Stable Diffusion · Gemini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2606040" cy="7315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251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 Big 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55371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Millions of labeled examples available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4251960"/>
            <a:ext cx="2606040" cy="7315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4251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 GPU Power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55371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1000x faster training with modern hardware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4251960"/>
            <a:ext cx="2606040" cy="7315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0" y="4251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Better Algorithms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455371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Adam, BatchNorm, Dropout, Residuals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Building Block: Artificial Neuron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w1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1527048"/>
            <a:ext cx="1234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w2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1560" y="2212848"/>
            <a:ext cx="1234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w3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1560" y="2898648"/>
            <a:ext cx="1234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w4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1560" y="3584448"/>
            <a:ext cx="1234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1737360"/>
            <a:ext cx="1280160" cy="1280160"/>
          </a:xfrm>
          <a:prstGeom prst="ellipse">
            <a:avLst/>
          </a:prstGeom>
          <a:solidFill>
            <a:srgbClr val="1A2B5F"/>
          </a:solidFill>
          <a:ln w="31750">
            <a:solidFill>
              <a:srgbClr val="06B6D4"/>
            </a:solidFill>
            <a:prstDash val="solid"/>
          </a:ln>
          <a:effectLst>
            <a:outerShdw blurRad="254000" dist="63500" dir="8100000" algn="bl" rotWithShape="0">
              <a:srgbClr val="1A2B5F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0" y="1737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Σ + f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66160" y="2377440"/>
            <a:ext cx="73152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084832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ŷ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1188720"/>
            <a:ext cx="36576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f( Σ wᵢxᵢ + b 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12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Common Activation Functions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12080" y="2606040"/>
            <a:ext cx="3657600" cy="502920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ReLU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x)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Hidden layers (default)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3172968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1729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Sigmoid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1729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1/(1+e⁻ˣ)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1729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Binary output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2080" y="3739896"/>
            <a:ext cx="3657600" cy="502920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73989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Softmax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7398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eˣⁱ / Σeˣʲ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373989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Multi-class output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2080" y="4306824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430682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Tanh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4306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tanh(x)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430682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Normalized hidden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Neural Network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26464" y="2084832"/>
            <a:ext cx="177393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2084832"/>
            <a:ext cx="1773936" cy="38862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2084832"/>
            <a:ext cx="1773936" cy="116586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2084832"/>
            <a:ext cx="1773936" cy="194310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2862072"/>
            <a:ext cx="177393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6464" y="2862072"/>
            <a:ext cx="177393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6464" y="2862072"/>
            <a:ext cx="1773936" cy="38862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6464" y="2862072"/>
            <a:ext cx="1773936" cy="116586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6464" y="3639312"/>
            <a:ext cx="177393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6464" y="3639312"/>
            <a:ext cx="177393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6464" y="3639312"/>
            <a:ext cx="177393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6464" y="3639312"/>
            <a:ext cx="1773936" cy="38862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69621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696212"/>
            <a:ext cx="1499616" cy="7772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696212"/>
            <a:ext cx="1499616" cy="155448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696212"/>
            <a:ext cx="1499616" cy="233172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247345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247345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2473452"/>
            <a:ext cx="1499616" cy="7772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12464" y="2473452"/>
            <a:ext cx="1499616" cy="155448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12464" y="325069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325069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12464" y="325069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3250692"/>
            <a:ext cx="1499616" cy="7772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12464" y="402793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12464" y="402793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2464" y="402793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12464" y="4027932"/>
            <a:ext cx="149961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24144" y="1696212"/>
            <a:ext cx="1591056" cy="7772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24144" y="1696212"/>
            <a:ext cx="1591056" cy="155448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24144" y="2473452"/>
            <a:ext cx="159105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24144" y="2473452"/>
            <a:ext cx="1591056" cy="77724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24144" y="3250692"/>
            <a:ext cx="159105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24144" y="3250692"/>
            <a:ext cx="159105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24144" y="4027932"/>
            <a:ext cx="159105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24144" y="4027932"/>
            <a:ext cx="1591056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1828800"/>
            <a:ext cx="512064" cy="51206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2606040"/>
            <a:ext cx="512064" cy="51206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3383280"/>
            <a:ext cx="512064" cy="51206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Layer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0" y="1440180"/>
            <a:ext cx="512064" cy="512064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2217420"/>
            <a:ext cx="512064" cy="512064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2994660"/>
            <a:ext cx="512064" cy="512064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3771900"/>
            <a:ext cx="512064" cy="512064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</a:rPr>
              <a:t>Hidden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</a:rPr>
              <a:t>Layer 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212080" y="1440180"/>
            <a:ext cx="512064" cy="51206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12080" y="2217420"/>
            <a:ext cx="512064" cy="51206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12080" y="2994660"/>
            <a:ext cx="512064" cy="51206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3771900"/>
            <a:ext cx="512064" cy="51206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Hidden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Layer 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0" y="2217420"/>
            <a:ext cx="512064" cy="512064"/>
          </a:xfrm>
          <a:prstGeom prst="ellipse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2994660"/>
            <a:ext cx="512064" cy="512064"/>
          </a:xfrm>
          <a:prstGeom prst="ellipse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</a:rPr>
              <a:t>Layer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092440" y="1005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 Forward Pass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92440" y="13990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Data flows left → right through the network computing predictions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092440" y="200253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 Backpropagation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92440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Error gradient flows right → left updating weights via chain rule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092440" y="29580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Loss Function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92440" y="33192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MSE for regression · Cross-Entropy for classification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092440" y="3977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Optimizer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92440" y="4279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SGD · Adam · RMSprop update weights to minimize loss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How Networks Learn: Training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4747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Forward Pass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Network → Prediction 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188720"/>
            <a:ext cx="34747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188720"/>
            <a:ext cx="64008" cy="1371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18872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46E5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Compute Loss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Loss(ŷ, y_true)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834640"/>
            <a:ext cx="34747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283464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8346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76072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Backpropagation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 for every weight via chain rule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34747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346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Update Weights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← w − η · ∂L/∂w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1874520"/>
            <a:ext cx="12801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0" y="256032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0480" y="3520440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03120" y="2560320"/>
            <a:ext cx="0" cy="27432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↑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74720" y="2240280"/>
            <a:ext cx="2194560" cy="457200"/>
          </a:xfrm>
          <a:prstGeom prst="rect">
            <a:avLst/>
          </a:prstGeom>
          <a:solidFill>
            <a:srgbClr val="1A2B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Repeat × Epochs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solidFill>
            <a:srgbClr val="EEF4FF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</a:rPr>
              <a:t> Loss decreases over epochs as weights improve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Key Deep Learning Techniques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Regularization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L1 / L2 weight penalties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Reduces overfitting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Keeps weights small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7432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Dropout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Randomly zero out neurons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975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Forces redundant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395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Rate: 0.2 – 0.5 typical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9728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Batch Normalization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Normalize layer inputs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975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Faster training, stable gradients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95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Acts as mild regularizer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6324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SGD: classic, momentum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Adam: adaptive lr per param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361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RMSprop: non-stationary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063240"/>
            <a:ext cx="274320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Learning 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Too high → diverge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Too low → slow/stuck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4361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Schedulers: cosine, step, warmup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3063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306324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Augmentation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Flip, rotate, crop, noise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Artificially grow dataset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361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›  </a:t>
            </a:r>
            <a:r>
              <a:rPr lang="en-US" sz="1000" dirty="0">
                <a:solidFill>
                  <a:srgbClr val="374151"/>
                </a:solidFill>
              </a:rPr>
              <a:t>Reduces overfitting greatly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Major Deep Learning Architectures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659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5F"/>
                </a:solidFill>
              </a:rPr>
              <a:t>Convolutional Neural Network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Use Case: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Computer Vision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How: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Local filters detect edges → shapes → objects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4041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Examples: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ResNet, VGG, EfficientNet, YOLO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87168" y="109728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097280"/>
            <a:ext cx="196596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RNN/LSTM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7168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78608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5F"/>
                </a:solidFill>
              </a:rPr>
              <a:t>Recurrent / Long Short-Term Memory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Use Case: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78608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Sequences &amp; Time Series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78608" y="3310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How: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78608" y="3520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Hidden state carries memory across time steps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78608" y="4041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Examples: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78608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Text generation, speech, ECG analysis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54296" y="109728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54296" y="1097280"/>
            <a:ext cx="19659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54296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45736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5F"/>
                </a:solidFill>
              </a:rPr>
              <a:t>Self-Attention based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45736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Use Case: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45736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NLP &amp; Beyond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45736" y="3310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How: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45736" y="3520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Attention scores relate every token to every other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45736" y="4041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Examples: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45736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BERT, GPT, ViT, Whisper, CLIP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21424" y="109728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21424" y="1097280"/>
            <a:ext cx="1965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GAN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21424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912864" y="2194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5F"/>
                </a:solidFill>
              </a:rPr>
              <a:t>Generative Adversarial Network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12864" y="2788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Use Case: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12864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Generative AI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12864" y="3310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How: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12864" y="3520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Generator vs Discriminator adversarial training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12864" y="4041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Examples: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12864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StyleGAN, CycleGAN, Pix2Pix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Real-World Applications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Healthcare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81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Cancer detection in histopathology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19751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Medical image diagnosis (MRI/CT)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3682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Drug discovery &amp; genomics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4300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234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Computer Vision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581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Object detection (YOLO, DETR)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19751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Face recognition &amp; 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23682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Autonomous driving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14300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234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Natural 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581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ChatGPT, Gemini, LLaMA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19751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Machine translation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0" y="23682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Sentiment &amp; summarization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0632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154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Audio &amp; Speech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Speech-to-text (Whisper)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3895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Music generation (Jukebox)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Voice cloning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30632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40480" y="3154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Science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AlphaFold protein folding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0" y="3895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Climate modeling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0" y="42885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Particle physics (CERN)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30632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72200" y="30632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766560" y="3154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Gaming &amp; RL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AlphaGo / AlphaZero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3895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Game AI (StarCraft, DOTA)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42885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• </a:t>
            </a:r>
            <a:r>
              <a:rPr lang="en-US" sz="950" dirty="0">
                <a:solidFill>
                  <a:srgbClr val="374151"/>
                </a:solidFill>
              </a:rPr>
              <a:t>Robot locomotion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Behind Deep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 Algebra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46888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Wx +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Weights W are matrices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z = Wx + b  (matrix mul.)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Efficient on GPU with BLAS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Calculus &amp; Gradients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1645920"/>
            <a:ext cx="246888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 = ∂L/∂y · ∂y/∂w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Chain rule: ∂L/∂w = ∂L/∂y · ∂y/∂w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Gradient = direction of steepest ascent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We descend: w -= lr · grad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09728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09728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Probability &amp; Stats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246888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H(y, ŷ) = -Σ y log(ŷ)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Cross-entropy: -Σ y log(ŷ)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Softmax → probability distribution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›  </a:t>
            </a:r>
            <a:r>
              <a:rPr lang="en-US" sz="1050" dirty="0">
                <a:solidFill>
                  <a:srgbClr val="374151"/>
                </a:solidFill>
              </a:rPr>
              <a:t>KL divergence for generative models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  You don't need to be a math PhD — intuition + practice + libraries (PyTorch/TF) handle the hard parts!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Tools &amp;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3716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Models &amp; APIs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2618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2618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GPT-4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2618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2618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Gemini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2618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2618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Claude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12618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2618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HuggingFace Hub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92808"/>
            <a:ext cx="1371600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928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High-Level Frameworks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2011680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0116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Keras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011680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0116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FastAI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2011680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0116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Hugging Face Transformers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2011680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0116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Lightning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64261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642616"/>
            <a:ext cx="13716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6426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Core Frameworks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0" y="2761488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2761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PyTorch (most popular)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66160" y="2761488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2761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TensorFlow / Keras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2761488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761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JAX / Flax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39242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392424"/>
            <a:ext cx="1371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39242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Math / Compute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0" y="3511296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0" y="35112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CUDA (NVIDIA GPU)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66160" y="3511296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35112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NumPy / SciPy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03520" y="3511296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5112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BLAS / cuBLAS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142232"/>
            <a:ext cx="137160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1422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Hardware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0" y="4261104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0" y="42611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GPU (RTX, A100, H100)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66160" y="4261104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42611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TPU (Google)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4261104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42611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Apple Silicon MPS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Your Deep Learning Roadmap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6596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1600200" cy="256032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⏱ 4–6 weeks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Python · NumPy · Pandas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Linear algebra &amp; calculus refresher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ML basics (regression, classification)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4023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Scikit-learn projects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109728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097280"/>
            <a:ext cx="1965960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50592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Deep Learning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33472" y="1764792"/>
            <a:ext cx="1600200" cy="256032"/>
          </a:xfrm>
          <a:prstGeom prst="rect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764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</a:rPr>
              <a:t>⏱ 6–8 weeks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1031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PyTorch fundamentals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FNNs from scratch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CNNs for image tasks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4023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Backprop &amp; optimizers deep dive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6864" y="109728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097280"/>
            <a:ext cx="19659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26864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Advanced Architectures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9744" y="1764792"/>
            <a:ext cx="160020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1764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⏱ 8–10 weeks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6592" y="21031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RNNs · LSTMs · GRUs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Transformers &amp; Attention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36592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Transfer Learning &amp; Fine-tuning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4023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GANs &amp; VAEs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03136" y="109728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1097280"/>
            <a:ext cx="196596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Phase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03136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Applied &amp; Research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86016" y="1764792"/>
            <a:ext cx="1600200" cy="256032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86016" y="1764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⏱ Ongoing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12864" y="21031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Pick a domain (NLP/CV/Med)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2864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Kaggle competitions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12864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Read &amp; reproduce papers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12864" y="4023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r>
              <a:rPr lang="en-US" sz="950" dirty="0">
                <a:solidFill>
                  <a:srgbClr val="374151"/>
                </a:solidFill>
              </a:rPr>
              <a:t>Build &amp; deploy projects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 &amp; How to Solve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430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Problem: Overfitting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✅  Dropout · L2 reg · More data · Early stopping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430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Problem: Vanishing Gradients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5819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✅  ReLU · Batch norm · Residual connections · LSTM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377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Problem: Slow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163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✅  GPU/TPU · Mixed precision · Larger batch size · Better optimizer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377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Problem: Not Enough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8163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✅  Data augmentation · Transfer learning · Synthetic data · GANs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6118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584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Problem: Hyperparameter Hell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✅  Grid/random search · Optuna · Learning rate finder · WandB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6118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Problem: Black Box Problem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507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✅  SHAP · Grad-CAM · Attention maps · LIME explanations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 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</a:rPr>
              <a:t>  </a:t>
            </a:r>
            <a:r>
              <a:rPr lang="en-US" sz="1150" dirty="0">
                <a:solidFill>
                  <a:srgbClr val="FFFFFF"/>
                </a:solidFill>
              </a:rPr>
              <a:t>Deep Learning = multi-layer neural networks learning hierarchical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</a:rPr>
              <a:t>  </a:t>
            </a:r>
            <a:r>
              <a:rPr lang="en-US" sz="1150" dirty="0">
                <a:solidFill>
                  <a:srgbClr val="FFFFFF"/>
                </a:solidFill>
              </a:rPr>
              <a:t>Three pillars of the DL revolution: Big Data, GPU Power, Better Algorithms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</a:rPr>
              <a:t>  </a:t>
            </a:r>
            <a:r>
              <a:rPr lang="en-US" sz="1150" dirty="0">
                <a:solidFill>
                  <a:srgbClr val="FFFFFF"/>
                </a:solidFill>
              </a:rPr>
              <a:t>Core loop: Forward pass → Loss → Backprop → Update weights (repeat)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76809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718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</a:rPr>
              <a:t>  </a:t>
            </a:r>
            <a:r>
              <a:rPr lang="en-US" sz="1150" dirty="0">
                <a:solidFill>
                  <a:srgbClr val="FFFFFF"/>
                </a:solidFill>
              </a:rPr>
              <a:t>CNNs for images, Transformers for sequences, GANs for generation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661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</a:rPr>
              <a:t>  </a:t>
            </a:r>
            <a:r>
              <a:rPr lang="en-US" sz="1150" dirty="0">
                <a:solidFill>
                  <a:srgbClr val="FFFFFF"/>
                </a:solidFill>
              </a:rPr>
              <a:t>PyTorch is your best friend — learn it deeply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76809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05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</a:rPr>
              <a:t>  </a:t>
            </a:r>
            <a:r>
              <a:rPr lang="en-US" sz="1150" dirty="0">
                <a:solidFill>
                  <a:srgbClr val="FFFFFF"/>
                </a:solidFill>
              </a:rPr>
              <a:t>The roadmap: Foundations → Core DL → Advanced Architectures → Applied Research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681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5C3FF"/>
                </a:solidFill>
              </a:rPr>
              <a:t>"The best time to start learning Deep Learning was yesterday. The second best time is now."  —  BrainerX AI Masterclass 🎯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&amp; Pre-Trained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202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Large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(ImageNet, Wikipedia)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143000"/>
            <a:ext cx="192024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143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15727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Pre-Training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(millions of steps)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143000"/>
            <a:ext cx="1920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43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15727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Pre-Trained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Model Weights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20840" y="1143000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143000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143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15727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Your Task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</a:rPr>
              <a:t>(Fine-Tuning)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560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Why Transfer Learning?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2944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You don't need millions of examples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3741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Training from scratch is expensive (days/weeks on GPU)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38039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Pre-trained models already know edges, shapes, language patterns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233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Fine-tune in hours instead of training weeks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5603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Fine-Tuning Strategies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2944368"/>
            <a:ext cx="3977640" cy="384048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944368"/>
            <a:ext cx="45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944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Feature Extraction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2944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Freeze all layers, train only the head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374136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374136"/>
            <a:ext cx="457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374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Partial Fine-Tune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33741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Unfreeze last N layers + new head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803904"/>
            <a:ext cx="3977640" cy="384048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803904"/>
            <a:ext cx="45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8039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Full Fine-Tuning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38039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Update all weights (needs more data)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233672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23367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4233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LoRA / Adapters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4233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Inject tiny trainable modules (LLM era)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</a:rPr>
              <a:t>  Famous pre-trained models:  ResNet-50  ·  VGG-16  ·  EfficientNet  ·  BERT  ·  GPT-2  ·  ViT  ·  CLIP  ·  Whisper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&amp; Transformers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  The Core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Instead of reading a sentence word-by-word in order, Attention lets the model look at ALL words simultaneously and decide which ones matter most for each prediction.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078992"/>
            <a:ext cx="4389120" cy="1554480"/>
          </a:xfrm>
          <a:prstGeom prst="rect">
            <a:avLst/>
          </a:prstGeom>
          <a:solidFill>
            <a:srgbClr val="1A2B5F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143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Scaled Dot-Product Attention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5361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= softmax( QKᵀ / √dₖ ) · 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9568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C3FF"/>
                </a:solidFill>
              </a:rPr>
              <a:t>Q = Query  ·  K = Key  ·  V =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C3FF"/>
                </a:solidFill>
              </a:rPr>
              <a:t>dₖ = key dimension (scaling prevents gradient vanishing)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Transformer Building Blocks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1572768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200400"/>
            <a:ext cx="157276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" y="3639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Multi-Head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Attention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" y="411480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Run attention in parallel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across multiple subspaces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39112" y="3200400"/>
            <a:ext cx="1572768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39112" y="3200400"/>
            <a:ext cx="1572768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12264" y="3639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</a:rPr>
              <a:t>Add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</a:rPr>
              <a:t>Norm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12264" y="411480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Residual connection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Layer normalization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58184" y="3200400"/>
            <a:ext cx="1572768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58184" y="3200400"/>
            <a:ext cx="157276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31336" y="3639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Feed-Forward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31336" y="411480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Two linear layers with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ReLU in between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77256" y="3200400"/>
            <a:ext cx="1572768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7256" y="3200400"/>
            <a:ext cx="157276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77256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50408" y="3639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Positional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Encoding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0408" y="411480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Injects word order info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(no recurrence needed)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96328" y="3200400"/>
            <a:ext cx="1572768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96328" y="3200400"/>
            <a:ext cx="157276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69480" y="3639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Encoder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Decoder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411480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BERT=Encoder only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GPT=Decoder only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Classification Metrics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006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Regression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023360" cy="521208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Total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508760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Balanced classes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023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2084832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2084832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Cost of false positives 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60904"/>
            <a:ext cx="4023360" cy="521208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60904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Recall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17320" y="2660904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2660904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Cost of false negatives 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4023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3697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F1-Score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3236976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2·P·R / (P+R)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3236976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Imbalanced datasets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813048"/>
            <a:ext cx="4023360" cy="521208"/>
          </a:xfrm>
          <a:prstGeom prst="rect">
            <a:avLst/>
          </a:prstGeom>
          <a:solidFill>
            <a:srgbClr val="EEF4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13048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AUC-ROC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3813048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under ROC curve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381304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Binary classification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1508760"/>
            <a:ext cx="4023360" cy="521208"/>
          </a:xfrm>
          <a:prstGeom prst="rect">
            <a:avLst/>
          </a:prstGeom>
          <a:solidFill>
            <a:srgbClr val="E6FAF8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50876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MAE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15087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|y − ŷ|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69480" y="1508760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Robust to outliers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084832"/>
            <a:ext cx="4023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084832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MSE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23560" y="208483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(y − ŷ)²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2084832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Penalizes large errors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660904"/>
            <a:ext cx="4023360" cy="521208"/>
          </a:xfrm>
          <a:prstGeom prst="rect">
            <a:avLst/>
          </a:prstGeom>
          <a:solidFill>
            <a:srgbClr val="E6FAF8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660904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RMSE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23560" y="266090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√MSE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69480" y="2660904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Same unit as target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236976"/>
            <a:ext cx="4023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36976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R²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23560" y="32369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SS_res/SS_tot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9480" y="3236976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% variance explained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480560"/>
            <a:ext cx="8503920" cy="53035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0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</a:rPr>
              <a:t>📉  Underfitting: High train &amp; val loss — model too simple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1840" y="4480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 Good Fit: Low train loss, low val loss — goal!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4480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</a:rPr>
              <a:t>📈  Overfitting: Low train loss, high val loss — memorizing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 Production 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08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087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Collect · Clean · Label · Augment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508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97280"/>
            <a:ext cx="150876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5819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</a:rPr>
              <a:t>Train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Experiment tracking · Hyperparameter tuning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46E5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097280"/>
            <a:ext cx="1508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097280"/>
            <a:ext cx="1508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15819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Evaluate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22192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Metrics · Bias checks · Explainability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57800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097280"/>
            <a:ext cx="1508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097280"/>
            <a:ext cx="1508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15819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Deploy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9552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REST API · Docker · Cloud (AWS/GCP/Azure)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95160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23760" y="1097280"/>
            <a:ext cx="15087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1A2B5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097280"/>
            <a:ext cx="15087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9480" y="15819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Monitor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96912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</a:rPr>
              <a:t>Data drift · Model decay · Retraining triggers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3154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Key MLOps &amp; Deployment Tools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3547872"/>
            <a:ext cx="4206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47872"/>
            <a:ext cx="457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4787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Experiment Tracking: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37360" y="35478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MLflow · Weights &amp; Biases · Neptune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547872"/>
            <a:ext cx="4206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547872"/>
            <a:ext cx="45720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54787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Model Serving: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5478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FastAPI · TorchServe · TF Serving · Triton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142232"/>
            <a:ext cx="4206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142232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422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Containerization: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37360" y="41422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Docker · Kubernetes · AWS SageMaker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142232"/>
            <a:ext cx="4206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14223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Monitoring: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72200" y="41422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Evidently · Grafana · Prometheus · Arize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We'll Learn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A5FA"/>
                </a:solidFill>
              </a:rPr>
              <a:t>—  BrainerX AI Masterclass Full Curriculum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51560"/>
            <a:ext cx="54864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5156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115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Python &amp; ML Foundations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356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NumPy · Pandas · Matplotlib · Scikit-learn · ML theory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105156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8304" y="1051560"/>
            <a:ext cx="54864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05156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85232" y="1115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Neural Networks from Scratch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85232" y="14356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Perceptron · FNN · Backprop · PyTorch basics · First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01168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011680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0116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0756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Convolutional Neural Networks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395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Conv layers · Pooling · ResNet · EfficientNet · Image projects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18304" y="201168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201168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0116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85232" y="20756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Sequence Models &amp; NLP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395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RNN · LSTM · GRU · Tokenization · Text classification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297180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971800"/>
            <a:ext cx="54864" cy="841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9718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3035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Transformers &amp; LLMs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3355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Attention · BERT · GPT · Fine-tuning · Prompt engineering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297180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2971800"/>
            <a:ext cx="54864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29718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85232" y="3035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Generative AI &amp; Advanced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3355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GANs · VAEs · Diffusion models · Stable Diffusion basics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93192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931920"/>
            <a:ext cx="54864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9319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" y="39959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  Applied Deep Learning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43159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Healthcare AI · Computer Vision projects · Kaggle competitions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18304" y="3931920"/>
            <a:ext cx="420624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3931920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9319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85232" y="39959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  Deployment &amp; MLOps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85232" y="43159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FastAPI · Docker · WandB · Cloud deployment · Production tips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4818888"/>
            <a:ext cx="8631936" cy="274320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  </a:t>
            </a:r>
            <a:r>
              <a:rPr lang="en-US" sz="1000" dirty="0">
                <a:solidFill>
                  <a:srgbClr val="FFFFFF"/>
                </a:solidFill>
              </a:rPr>
              <a:t>Every module includes hands-on projects, code walkthroughs, and real datasets — Let's build together!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1976</Words>
  <Application>Microsoft Office PowerPoint</Application>
  <PresentationFormat>On-screen Show (16:9)</PresentationFormat>
  <Paragraphs>446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subject>PptxGenJS Presentation</dc:subject>
  <dc:creator>BrainerX AI Masterclass</dc:creator>
  <cp:lastModifiedBy>ahmed mansouri</cp:lastModifiedBy>
  <cp:revision>3</cp:revision>
  <dcterms:created xsi:type="dcterms:W3CDTF">2026-04-12T20:30:54Z</dcterms:created>
  <dcterms:modified xsi:type="dcterms:W3CDTF">2026-04-14T10:29:17Z</dcterms:modified>
</cp:coreProperties>
</file>
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381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754880" cy="4754880"/>
          </a:xfrm>
          <a:prstGeom prst="ellipse">
            <a:avLst/>
          </a:prstGeom>
          <a:solidFill>
            <a:srgbClr val="120820"/>
          </a:solidFill>
          <a:ln w="25400">
            <a:solidFill>
              <a:srgbClr val="9C6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-640080"/>
            <a:ext cx="3291840" cy="32918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20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194560" cy="2194560"/>
          </a:xfrm>
          <a:prstGeom prst="ellipse">
            <a:avLst/>
          </a:prstGeom>
          <a:solidFill>
            <a:srgbClr val="1A100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18872" cy="257175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1750"/>
            <a:ext cx="118872" cy="257175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92608"/>
            <a:ext cx="1920240" cy="34747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2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84124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320040" y="16642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Hierarchical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0040" y="22494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0040" y="303580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 ·  Hierarchies  ·  Dendrograms  ·  Any-Shape Clusters  ·  No K Needed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511296"/>
            <a:ext cx="1335024" cy="301752"/>
          </a:xfrm>
          <a:prstGeom prst="rect">
            <a:avLst/>
          </a:prstGeom>
          <a:solidFill>
            <a:srgbClr val="0D2035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511296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46504" y="3511296"/>
            <a:ext cx="1335024" cy="301752"/>
          </a:xfrm>
          <a:prstGeom prst="rect">
            <a:avLst/>
          </a:prstGeom>
          <a:solidFill>
            <a:srgbClr val="0D2035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46504" y="3511296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&amp; minPts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2968" y="3511296"/>
            <a:ext cx="1335024" cy="301752"/>
          </a:xfrm>
          <a:prstGeom prst="rect">
            <a:avLst/>
          </a:prstGeom>
          <a:solidFill>
            <a:srgbClr val="0D2035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3511296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99432" y="3511296"/>
            <a:ext cx="1335024" cy="301752"/>
          </a:xfrm>
          <a:prstGeom prst="rect">
            <a:avLst/>
          </a:prstGeom>
          <a:solidFill>
            <a:srgbClr val="0D2035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511296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3511296"/>
            <a:ext cx="1335024" cy="301752"/>
          </a:xfrm>
          <a:prstGeom prst="rect">
            <a:avLst/>
          </a:prstGeom>
          <a:solidFill>
            <a:srgbClr val="0D2035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25896" y="3511296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52360" y="3511296"/>
            <a:ext cx="1335024" cy="301752"/>
          </a:xfrm>
          <a:prstGeom prst="rect">
            <a:avLst/>
          </a:prstGeom>
          <a:solidFill>
            <a:srgbClr val="0D2035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3511296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324" y="-13725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422219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422219"/>
            <a:ext cx="64008" cy="7132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495371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49537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 Isn't Enough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80626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shapes and noise problems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422219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422219"/>
            <a:ext cx="64008" cy="7132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495371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58384" y="49537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Core Concepts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58384" y="80626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· minPts · Core / Border / Noise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226891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226891"/>
            <a:ext cx="64008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300043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" y="1300043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Algorithm &amp; Math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1610939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+ density reachability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26891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26891"/>
            <a:ext cx="64008" cy="7132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300043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58384" y="1300043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Numerical Example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58384" y="1610939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DBSCAN by hand on real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031563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031563"/>
            <a:ext cx="64008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104715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210471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Parameters &amp; Tips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9264" y="2415611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ε and minPts correctly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031563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031563"/>
            <a:ext cx="64008" cy="7132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104715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58384" y="210471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vs K-Means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58384" y="2415611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head-to-head comparison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836235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836235"/>
            <a:ext cx="64008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909387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9264" y="290938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Intro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9264" y="3220283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vs Divisive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836235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836235"/>
            <a:ext cx="64008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909387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58384" y="290938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Dendrogram Explained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58384" y="3220283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&amp; cut a dendrogram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640907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3640907"/>
            <a:ext cx="64008" cy="7132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714059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9264" y="371405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Methods Deep Dive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9264" y="4024955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· Complete · Average · Ward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640907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640907"/>
            <a:ext cx="64008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3714059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58384" y="371405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Numerical Example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58384" y="4024955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full merge sequence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445579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74320" y="4445579"/>
            <a:ext cx="64008" cy="713232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4518731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69264" y="451873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— Both Methods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69264" y="482962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implementation + visualization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4445579"/>
            <a:ext cx="420624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4445579"/>
            <a:ext cx="64008" cy="7132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4518731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358384" y="451873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Your Algorithm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358384" y="482962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 when to use which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 Isn't Enough — The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02740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" y="75357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makes strong assumptions that fail in real data. DBSCAN and Hierarchical clustering solve these problems.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64008" cy="1828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416052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Non-Spherical Clusters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904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assumes clusters are round blobs. Real data has spirals, crescents, rings, elongated shapes. K-Means will incorrectly split any non-convex cluster into pieces.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359152"/>
            <a:ext cx="3959352" cy="402336"/>
          </a:xfrm>
          <a:prstGeom prst="rect">
            <a:avLst/>
          </a:prstGeom>
          <a:solidFill>
            <a:srgbClr val="06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95728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Two interlocking crescents → K-Means always fails. DBSCAN finds them perfectly.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16052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24128"/>
            <a:ext cx="64008" cy="1828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24128"/>
            <a:ext cx="4160520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0789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Noise &amp; Outliers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481328"/>
            <a:ext cx="3904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forces EVERY point into a cluster — even obvious outliers. One extreme outlier pulls the centroid away from the true cluster center, corrupting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73168" y="2359152"/>
            <a:ext cx="3959352" cy="402336"/>
          </a:xfrm>
          <a:prstGeom prst="rect">
            <a:avLst/>
          </a:prstGeom>
          <a:solidFill>
            <a:srgbClr val="060F1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395728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 network log with 99% normal traffic and 1% attacks → K-Means cannot separate them.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80944"/>
            <a:ext cx="416052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80944"/>
            <a:ext cx="64008" cy="18288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80944"/>
            <a:ext cx="4160520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Must Specify 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438144"/>
            <a:ext cx="3904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requires you to choose K before running. Wrong K = meaningless clusters. There's no way to know K without running the algorithm multiple times.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4315968"/>
            <a:ext cx="3959352" cy="402336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352544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Customer data may have 3 or 7 or 12 natural segments. How do you know?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80944"/>
            <a:ext cx="416052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980944"/>
            <a:ext cx="64008" cy="1828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980944"/>
            <a:ext cx="4160520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Equal-Density Assumption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3438144"/>
            <a:ext cx="3904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creates similarly-sized clusters. Real clusters have very different densities: a dense city center vs. sparse suburban area would be merged into one cluster.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73168" y="4315968"/>
            <a:ext cx="3959352" cy="402336"/>
          </a:xfrm>
          <a:prstGeom prst="rect">
            <a:avLst/>
          </a:prstGeom>
          <a:solidFill>
            <a:srgbClr val="060F1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352544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Geographic data: DBSCAN naturally finds dense urban clusters + sparse rural areas.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20820"/>
          </a:solidFill>
          <a:ln w="25400">
            <a:solidFill>
              <a:srgbClr val="9C6F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640080"/>
            <a:ext cx="3474720" cy="34747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20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31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Spatial Clustering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331012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Applications with Noise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39136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clusters of ANY shape · Labels outliers · No K required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Core Concepts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38328" y="6537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parameters define everything: ε (epsilon) controls neighborhood size, minPts controls density threshold.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566928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city at night seen from above. Dense neighborhoods are clusters. Isolated houses in the countryside are noise. DBSCAN finds the neighborhoods by local density — not by distance to a center.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82496"/>
            <a:ext cx="4160520" cy="1042416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82496"/>
            <a:ext cx="64008" cy="1042416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9888" y="17922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(Neighborhood Radius)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139696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radius around each point that defines its 'neighborhood'. Any point within ε distance is a neighbor. You set this — it controls how tight clusters need to be.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50545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Use k-NN distance plot to find a good ε automatically.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816352"/>
            <a:ext cx="4160520" cy="1042416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16352"/>
            <a:ext cx="64008" cy="10424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07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89888" y="29260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Points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273552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number of points (including the point itself) within ε distance to classify a point as a 'core point'. Controls minimum density to form a cluster.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63931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minPts ≥ d+1 where d = number of dimensions. For 2D: minPts=3.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950208"/>
            <a:ext cx="4160520" cy="1042416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50208"/>
            <a:ext cx="64008" cy="1042416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41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9888" y="405993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407408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that has at least minPts neighbors within its ε-neighborhood. Core points are the 'dense interior' of clusters. They can expand the cluster to their neighbors.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477316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Core points are always assigned to a cluster — never labeled as noise.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682496"/>
            <a:ext cx="4160520" cy="1042416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682496"/>
            <a:ext cx="64008" cy="104241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773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79008" y="17922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139696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fewer than minPts neighbors within ε, but is within ε of a Core point. Sits on the cluster edge. Belongs to the cluster but cannot expand it further.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250545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Border points near multiple clusters are assigned to the first cluster found.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816352"/>
            <a:ext cx="4160520" cy="1042416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816352"/>
            <a:ext cx="64008" cy="10424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9077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−1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779008" y="29260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/ Outlier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28032" y="3273552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Core point AND not within ε of any Core point. Labeled −1 in sklearn. These are genuine outliers — DBSCAN automatically separates them, which K-Means cannot do.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28032" y="363931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DBSCAN superpower: outlier detection comes for free!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Visualizing Point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67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point types shown for a cluster with ε=1.0, minPts=4. Each colored circle shows a neighborhood.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04982"/>
            <a:ext cx="5303520" cy="3931920"/>
          </a:xfrm>
          <a:prstGeom prst="rect">
            <a:avLst/>
          </a:prstGeom>
          <a:solidFill>
            <a:srgbClr val="060F1A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9642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ε-Neighborhood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1682222"/>
            <a:ext cx="2468880" cy="2468880"/>
          </a:xfrm>
          <a:prstGeom prst="ellipse">
            <a:avLst/>
          </a:prstGeom>
          <a:solidFill>
            <a:srgbClr val="1A0A30">
              <a:alpha val="80000"/>
            </a:srgbClr>
          </a:solidFill>
          <a:ln w="19050">
            <a:solidFill>
              <a:srgbClr val="9C6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2619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2779502"/>
            <a:ext cx="274320" cy="274320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80693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53312" y="2166854"/>
            <a:ext cx="219456" cy="21945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6352" y="2075414"/>
            <a:ext cx="219456" cy="21945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1872" y="3081254"/>
            <a:ext cx="219456" cy="21945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53512" y="3264134"/>
            <a:ext cx="219456" cy="21945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8767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0" y="2276582"/>
            <a:ext cx="274320" cy="274320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1636502"/>
            <a:ext cx="1554480" cy="1554480"/>
          </a:xfrm>
          <a:prstGeom prst="ellipse">
            <a:avLst/>
          </a:prstGeom>
          <a:solidFill>
            <a:srgbClr val="0D2035">
              <a:alpha val="40000"/>
            </a:srgbClr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1252454"/>
            <a:ext cx="219456" cy="21945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128903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4269974"/>
            <a:ext cx="219456" cy="21945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3065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4269974"/>
            <a:ext cx="219456" cy="21945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3065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53712" y="1343894"/>
            <a:ext cx="219456" cy="21945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138047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7114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910054"/>
            <a:ext cx="164592" cy="164592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89176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45920" y="4910054"/>
            <a:ext cx="164592" cy="1645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7088" y="489176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4910054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7248" y="489176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(−1)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06240" y="4910054"/>
            <a:ext cx="164592" cy="16459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489176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ε-neighborhood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60720" y="904982"/>
            <a:ext cx="3108960" cy="39319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0448" y="1042142"/>
            <a:ext cx="64008" cy="27432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98464" y="104214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Density-Reachable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98464" y="1353038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 is DDR from q if p is in ε(q) and q is a core point. Captures the 'neighbor' relationship.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70448" y="1929110"/>
            <a:ext cx="2907792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70448" y="1974830"/>
            <a:ext cx="64008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98464" y="197483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Density-Reachable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98464" y="2285726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DR from q if there is a chain p₁→p₂→…→pₙ where each step is DDR. Captures connected paths through dense areas.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70448" y="2861798"/>
            <a:ext cx="2907792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70448" y="2907518"/>
            <a:ext cx="64008" cy="274320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98464" y="290751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Density-Connected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98464" y="321841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q are DC if there exists a point o such that both p and q are density-reachable from o. Defines the cluster relationship.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70448" y="3794486"/>
            <a:ext cx="2907792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70448" y="3840206"/>
            <a:ext cx="64008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98464" y="3840206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Definition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98464" y="4151102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C is a maximal set of density-connected points. Every point in C is density-reachable from every core point in 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324" y="21515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Algorithm — Complete Step-by-Step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506147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O(n log n) with spatial index (k-d tree). O(n²) naive. Space: O(n).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18068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18068"/>
            <a:ext cx="64008" cy="93268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82660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82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8277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all as Unvisited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15698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every point is marked UNVISITED. No cluster assignments yet. Create a visited[] array and labels[] array, all empty.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42196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42196"/>
            <a:ext cx="64008" cy="9326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906788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06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85192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unvisited point 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18110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any unvisited point p. Mark it as visited. This prevents re-processing and ensures we visit every point exactly once.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66324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66324"/>
            <a:ext cx="64008" cy="932688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930916"/>
            <a:ext cx="457200" cy="457200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30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87605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ε-neighborhood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205236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all points within ε distance of p: N(p) = {q | dist(p,q) ≤ ε}. This is the query step — typically uses a k-d tree for speed.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790452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90452"/>
            <a:ext cx="64008" cy="9326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955044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955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390018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|N(p)| &lt; minPts?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229364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neighborhood is too small: mark p as NOISE (label −1). But note: a noise point can later become a border point if a core point reaches it.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718068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718068"/>
            <a:ext cx="64008" cy="9326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882660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882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8277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a Core Point!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115698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|N(p)| ≥ minPts: create new cluster C. Add p to C. Now expand the cluster by exploring all neighbors of 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742196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742196"/>
            <a:ext cx="64008" cy="9326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1906788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906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94960" y="185192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cluster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2181108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neighbor q in N(p): if q is unvisited, visit it. If |N(q)| ≥ minPts, add N(q) to the expansion queue. Add q to cluster C.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766324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766324"/>
            <a:ext cx="64008" cy="93268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2930916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930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94960" y="287605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done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94960" y="3205236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expanding until no more unvisited points in the queue. Then return to step 2 and pick the next unvisited point from the dataset.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790452"/>
            <a:ext cx="420624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3790452"/>
            <a:ext cx="64008" cy="932688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3955044"/>
            <a:ext cx="457200" cy="457200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955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94960" y="390018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visited → done!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94960" y="4229364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terminates when every point has been visited. Result: each point has a label (0,1,2… for clusters or −1 for noise).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787148"/>
            <a:ext cx="8595360" cy="347472"/>
          </a:xfrm>
          <a:prstGeom prst="rect">
            <a:avLst/>
          </a:prstGeom>
          <a:solidFill>
            <a:srgbClr val="060F1A"/>
          </a:solidFill>
          <a:ln w="19050">
            <a:solidFill>
              <a:srgbClr val="9C6F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8328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(default):  dist(p,q) = √[ Σⱼ(pⱼ−qⱼ)² ]     Works with any distance metric: Manhattan, Cosine, Haversine (GPS) — set metric= in sklearn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828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Numerical Example — Run by Hand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663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8 points in 2D. Parameters: ε = 2.0, minPts = 3.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50334"/>
            <a:ext cx="8595360" cy="329184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77776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87552" y="77776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63040" y="77776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38528" y="777766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within ε=2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82896" y="777766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|N|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04104" y="77776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minPts?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45352" y="777766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69480" y="77776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097806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134382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0976" y="1097806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113438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26464" y="1097806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113438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01952" y="1097806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1134382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P2, P3, P8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097806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134382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67528" y="1097806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04104" y="11343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76" y="1097806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113438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32904" y="1097806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1134382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1545862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1582438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" y="1545862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158243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26464" y="1545862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3040" y="158243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01952" y="1545862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38528" y="1582438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 P3, P8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1545862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1582438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67528" y="1545862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04104" y="158243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08776" y="1545862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158243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32904" y="1545862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158243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1993918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03049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50976" y="1993918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" y="203049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426464" y="1993918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63040" y="203049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901952" y="1993918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38528" y="203049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 P2, P8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1993918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2030494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67528" y="1993918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04104" y="203049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08776" y="1993918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45352" y="2030494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32904" y="1993918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69480" y="203049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2441974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247855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50976" y="2441974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7552" y="247855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426464" y="2441974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63040" y="247855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901952" y="2441974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38528" y="247855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 P2, P3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2441974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2478550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367528" y="2441974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04104" y="247855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✓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08776" y="2441974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45352" y="247855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232904" y="2441974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9480" y="247855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74320" y="2890030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0896" y="2926606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50976" y="2890030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7552" y="292660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426464" y="2890030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463040" y="292660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901952" y="2890030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38528" y="292660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P5, P6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846320" y="2890030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82896" y="2926606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367528" y="2890030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04104" y="292660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208776" y="2890030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45352" y="292660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232904" y="2890030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480" y="2926606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74320" y="3338086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3374662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950976" y="3338086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87552" y="337466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1426464" y="3338086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463040" y="337466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901952" y="3338086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938528" y="3374662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P4, P6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4846320" y="3338086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82896" y="3374662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367528" y="3338086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404104" y="337466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6208776" y="3338086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245352" y="337466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232904" y="3338086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69480" y="3374662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74320" y="3786142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10896" y="3822718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50976" y="3786142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87552" y="382271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1426464" y="3786142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463040" y="382271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901952" y="3786142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938528" y="3822718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P4, P5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846320" y="3786142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882896" y="3822718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5367528" y="3786142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404104" y="382271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6208776" y="3786142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245352" y="382271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7232904" y="3786142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269480" y="382271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274320" y="4234198"/>
            <a:ext cx="658368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10896" y="427077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950976" y="4234198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87552" y="427077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1426464" y="4234198"/>
            <a:ext cx="45720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463040" y="427077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901952" y="4234198"/>
            <a:ext cx="292608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938528" y="427077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(none)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4846320" y="4234198"/>
            <a:ext cx="50292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882896" y="4270774"/>
            <a:ext cx="448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5367528" y="4234198"/>
            <a:ext cx="82296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404104" y="427077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6208776" y="4234198"/>
            <a:ext cx="10058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245352" y="4270774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7232904" y="4234198"/>
            <a:ext cx="1234440" cy="4297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269480" y="4270774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274320" y="4737118"/>
            <a:ext cx="8595360" cy="347472"/>
          </a:xfrm>
          <a:prstGeom prst="rect">
            <a:avLst/>
          </a:prstGeom>
          <a:solidFill>
            <a:srgbClr val="0A0A20"/>
          </a:solidFill>
          <a:ln w="19050">
            <a:solidFill>
              <a:srgbClr val="9C6FD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57200" y="477369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Cluster 1 = {P1, P2, P3, P8}     Cluster 2 = {P4, P5, P6}     Noise = {P7 labeled −1}     Two dense groups discovered automatically!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9543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ε and minPts — The Science Behind the Parameters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parameters = wrong clusters. Here's how to choose them correctly.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minPts: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10698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 ≥ d + 1 (where d = number of features). For 2D data: use 3 or 4. For higher dimensions (d≥10): use 2×d or more. Larger minPts = more robust to noise but may miss small clusters.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160520" cy="32461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37360"/>
            <a:ext cx="4160520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ε — The k-NN Distance Plot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194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the k-th nearest neighbor distance for every point (k = minPts − 1)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852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Sort all distances in ascending order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3236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Plot them — the curve has a characteristic 'knee'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6210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ε value at the knee is your optimal threshold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4050792"/>
            <a:ext cx="3840480" cy="804672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431596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NearestNeighbors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nbrs = NearestNeighbors(n_neighbors=4).fit(X)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dists, _ = nbrs.kneighbors(X)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plt.plot(sorted(dists[:,-1]))  # look for knee!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737360"/>
            <a:ext cx="416052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737360"/>
            <a:ext cx="64008" cy="7132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82880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too SMALL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213969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become noise. Clusters are fragmented into many tiny pieces. Model is too strict — misses real structure.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542032"/>
            <a:ext cx="416052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542032"/>
            <a:ext cx="64008" cy="713232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63347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just RIGHT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29443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clusters form. Noise points are genuine outliers. Core/border/noise split matches the real data structure.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346704"/>
            <a:ext cx="416052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346704"/>
            <a:ext cx="64008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4381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too LARGE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37490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merges into 1 giant cluster. No structure detected. Model is too lenient — ignores all density variation.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4151376"/>
            <a:ext cx="416052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4151376"/>
            <a:ext cx="64008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424281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minPts 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455371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minPts → stricter definition of 'dense' → more noise points → larger clusters with stronger cores.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419" y="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vs K-Means — Complete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525235"/>
            <a:ext cx="2103120" cy="374904"/>
          </a:xfrm>
          <a:prstGeom prst="rect">
            <a:avLst/>
          </a:prstGeom>
          <a:solidFill>
            <a:srgbClr val="0A1828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61811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525235"/>
            <a:ext cx="3108960" cy="374904"/>
          </a:xfrm>
          <a:prstGeom prst="rect">
            <a:avLst/>
          </a:prstGeom>
          <a:solidFill>
            <a:srgbClr val="1A303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561811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525235"/>
            <a:ext cx="3108960" cy="374904"/>
          </a:xfrm>
          <a:prstGeom prst="rect">
            <a:avLst/>
          </a:prstGeom>
          <a:solidFill>
            <a:srgbClr val="1A103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561811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09283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45859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K?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909283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945859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set before running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909283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945859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found automatically 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293331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329907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shape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1293331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329907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293331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329907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 ✅ (convex, ring, crescent)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677379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713955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1677379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1713955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all into clusters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77840" y="1677379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713955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as noise −1 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061427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098003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density?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2061427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098003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similar density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2061427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098003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varying density ✅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2445475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482051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23160" y="2445475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482051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O(n·K·iter) — very fast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77840" y="2445475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482051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with k-d tree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2829523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866099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23160" y="2829523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2866099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 — tiny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77840" y="2829523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2866099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stores neighbors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213571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250147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Deterministic?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23160" y="3213571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250147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(depends on init)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77840" y="3213571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3250147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(same result every run) ✅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597619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634195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423160" y="3597619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3634195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77840" y="3597619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634195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3981667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018243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dimensions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423160" y="3981667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14600" y="4018243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577840" y="3981667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4018243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(curse of dim.)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" y="4365715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402291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423160" y="4365715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14600" y="4402291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(centroids are intuitive)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577840" y="4365715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4402291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(density concept)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74320" y="4749763"/>
            <a:ext cx="210312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4786339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423160" y="4749763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14600" y="4786339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blobs, known K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577840" y="4749763"/>
            <a:ext cx="3108960" cy="37490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0" y="4786339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shapes, unknown K, noisy data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1000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640080"/>
            <a:ext cx="3474720" cy="34747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A1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31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7249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35112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tree of clusters — choose K AFTER seeing the full picture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108" y="-1828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— Two Opposite Strategies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5419" y="4846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create the same dendrogram but from opposite ends. Agglomerative is by far the most common.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4641"/>
            <a:ext cx="8595360" cy="54864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9505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Agglomerative = biologists classifying species from individual animals up to kingdoms. Divisive = splitting a school into grades, then classes, then groups.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41297"/>
            <a:ext cx="4160520" cy="33375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41297"/>
            <a:ext cx="4160520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9616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AGGLOMERATIVE (Bottom-Up)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044217"/>
            <a:ext cx="292608" cy="2926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4421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062505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n clusters (each point = 1 cluster)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2583713"/>
            <a:ext cx="292608" cy="2926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58371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602001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2 closest clusters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123209"/>
            <a:ext cx="292608" cy="2926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232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141497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them into 1 (n−1 clusters now)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3662705"/>
            <a:ext cx="292608" cy="2926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66270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680993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1 cluster remains (root)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4202201"/>
            <a:ext cx="292608" cy="2926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2022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220489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dendrogram at chosen height → K clusters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" y="4787417"/>
            <a:ext cx="3922776" cy="201168"/>
          </a:xfrm>
          <a:prstGeom prst="rect">
            <a:avLst/>
          </a:prstGeom>
          <a:solidFill>
            <a:srgbClr val="1A10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796561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sklearn: AgglomerativeClustering(n_clusters=3, linkage='ward')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541297"/>
            <a:ext cx="4160520" cy="33375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541297"/>
            <a:ext cx="4160520" cy="384048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159616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DIVISIVE (Top-Down)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044217"/>
            <a:ext cx="292608" cy="292608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04421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062505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 cluster (entire dataset)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73752" y="2583713"/>
            <a:ext cx="292608" cy="292608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58371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2602001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cluster to split (highest diameter)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73752" y="3123209"/>
            <a:ext cx="292608" cy="292608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1232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141497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2-means or bisection to split 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73752" y="3662705"/>
            <a:ext cx="292608" cy="292608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66270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3680993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2 sub-clusters (total +1 cluster now)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73752" y="4202201"/>
            <a:ext cx="292608" cy="292608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42022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4220489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K clusters or all singletons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37176" y="4787417"/>
            <a:ext cx="3922776" cy="201168"/>
          </a:xfrm>
          <a:prstGeom prst="rect">
            <a:avLst/>
          </a:prstGeom>
          <a:solidFill>
            <a:srgbClr val="0A1A00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796561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D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sklearn: BisectingKMeans(n_clusters=3)  — divisive approach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624" y="91440"/>
            <a:ext cx="902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Methods — How Do We Measure Distance Between Clusters?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6324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linkage method defines what 'distance between two clusters' means. It is the most critical hyperparameter.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9202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5156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380744"/>
            <a:ext cx="3904488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17320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d(A,B) = min{ dist(a,b) : a∈A, b∈B 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728216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minimum distance between ANY pair of points across the two clusters. The 'most optimistic' measure.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093976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find elongated, chain-like clusters. Handles non-convex shapes.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331720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Chaining effect: long chains form as clusters gradually merge. Very sensitive to noise and outliers.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587752"/>
            <a:ext cx="3959352" cy="219456"/>
          </a:xfrm>
          <a:prstGeom prst="rect">
            <a:avLst/>
          </a:prstGeom>
          <a:solidFill>
            <a:srgbClr val="0A1810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6060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When clusters have irregular shapes and no noise.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160520" cy="192024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60120"/>
            <a:ext cx="64008" cy="19202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05156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Linkage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28032" y="1380744"/>
            <a:ext cx="3904488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417320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d(A,B) = max{ dist(a,b) : a∈A, b∈B 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1728216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maximum distance between ANY pair. The 'most pessimistic' measure — two clusters are only close if ALL their points are close.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2093976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Creates compact, tightly-bounded clusters. Very robust to outliers and noise.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28032" y="2331720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Biased toward creating clusters of similar diameter. Can split large natural clusters.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73168" y="2587752"/>
            <a:ext cx="3959352" cy="219456"/>
          </a:xfrm>
          <a:prstGeom prst="rect">
            <a:avLst/>
          </a:prstGeom>
          <a:solidFill>
            <a:srgbClr val="0A1810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6060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When you want compact, roughly equal-sized clusters.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008376"/>
            <a:ext cx="4160520" cy="1920240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08376"/>
            <a:ext cx="64008" cy="1920240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09981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Linkage (UPGMA)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8912" y="3429000"/>
            <a:ext cx="3904488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465576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D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d(A,B) = (1/|A||B|) · Σₐ∈A Σᵦ∈B dist(a,b)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" y="3776472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average distance between ALL pairs of points across the two clusters. A compromise between Single and Complete.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" y="4142232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Balanced — less prone to chaining than Single, less biased than Complete. Works well in practice.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4379976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More computationally expensive. Results depend heavily on the scale of the data.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4636008"/>
            <a:ext cx="3959352" cy="219456"/>
          </a:xfrm>
          <a:prstGeom prst="rect">
            <a:avLst/>
          </a:prstGeom>
          <a:solidFill>
            <a:srgbClr val="0A1810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65429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General purpose — good first choice when unsure.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008376"/>
            <a:ext cx="4160520" cy="1920240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008376"/>
            <a:ext cx="64008" cy="19202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09981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28032" y="3429000"/>
            <a:ext cx="3904488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465576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SSₐ₊ᵦ − SSₐ − SSᵦ  (increase in within-cluster SS)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3776472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the two clusters that minimize the increase in total within-cluster variance (sum of squared distances to centroids). Minimizes inertia.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28032" y="4142232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Creates compact, equal-variance clusters. Often gives the best practical results. Most popular choice.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28032" y="4379976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Assumes spherical clusters. Only defined for Euclidean distance (not cosine or other metrics).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636008"/>
            <a:ext cx="3959352" cy="219456"/>
          </a:xfrm>
          <a:prstGeom prst="rect">
            <a:avLst/>
          </a:prstGeom>
          <a:solidFill>
            <a:srgbClr val="0A1810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465429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Default choice for most real-world tabular data problems.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101" y="88751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Dendrogram — Reading &amp; Cutting the Tree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07807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dendrogram encodes the FULL clustering hierarchy. You choose K by where you 'cut' the tree.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846320" cy="3931920"/>
          </a:xfrm>
          <a:prstGeom prst="rect">
            <a:avLst/>
          </a:prstGeom>
          <a:solidFill>
            <a:srgbClr val="060F1A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— 7 samples, Ward linkage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82880" cy="1828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82880" cy="1828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4434840"/>
            <a:ext cx="182880" cy="1828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4434840"/>
            <a:ext cx="182880" cy="1828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4434840"/>
            <a:ext cx="182880" cy="182880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4434840"/>
            <a:ext cx="182880" cy="182880"/>
          </a:xfrm>
          <a:prstGeom prst="ellipse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211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4434840"/>
            <a:ext cx="182880" cy="18288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4434840"/>
            <a:ext cx="182880" cy="18288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46634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384048" cy="27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23360"/>
            <a:ext cx="27432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023360"/>
            <a:ext cx="27432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931920"/>
            <a:ext cx="475488" cy="27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931920"/>
            <a:ext cx="27432" cy="59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3931920"/>
            <a:ext cx="27432" cy="59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291840"/>
            <a:ext cx="886968" cy="27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291840"/>
            <a:ext cx="27432" cy="7315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3291840"/>
            <a:ext cx="27432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3840480"/>
            <a:ext cx="749808" cy="27432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3840480"/>
            <a:ext cx="27432" cy="685800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840480"/>
            <a:ext cx="27432" cy="685800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0" y="3749040"/>
            <a:ext cx="658368" cy="274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3749040"/>
            <a:ext cx="27432" cy="77724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749040"/>
            <a:ext cx="27432" cy="77724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2971800"/>
            <a:ext cx="1344168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0" y="2971800"/>
            <a:ext cx="27432" cy="868680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51960" y="2971800"/>
            <a:ext cx="27432" cy="77724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65860" y="1508760"/>
            <a:ext cx="2441448" cy="27432"/>
          </a:xfrm>
          <a:prstGeom prst="rect">
            <a:avLst/>
          </a:prstGeom>
          <a:solidFill>
            <a:srgbClr val="B8D0E8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5860" y="1508760"/>
            <a:ext cx="27432" cy="1783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89020" y="1508760"/>
            <a:ext cx="27432" cy="1463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1828800"/>
            <a:ext cx="4617720" cy="27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16276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K=2 (cut here)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8620" y="3118104"/>
            <a:ext cx="46177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56355" y="2931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K=3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 rot="16200000">
            <a:off x="105156" y="1705356"/>
            <a:ext cx="795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height (distance)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21808" y="1005840"/>
            <a:ext cx="35204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321808" y="1005840"/>
            <a:ext cx="64008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109728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merge distance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0" y="1417320"/>
            <a:ext cx="3264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y-position of each horizontal bar = the distance (or dissimilarity) at which those clusters merged. Higher = more different.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21808" y="1993392"/>
            <a:ext cx="35204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321808" y="1993392"/>
            <a:ext cx="64008" cy="914400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208483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bars = natural cuts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0" y="2404872"/>
            <a:ext cx="3264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vertical lines before the next merge mean clusters that were quite different when joined. These are the natural cutting points.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21808" y="2980944"/>
            <a:ext cx="35204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321808" y="2980944"/>
            <a:ext cx="64008" cy="9144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307238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the tree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0" y="3392424"/>
            <a:ext cx="3264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 cut at height h gives K clusters = number of vertical lines it crosses. Move the cut up → fewer clusters. Down → more clusters.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321808" y="3968496"/>
            <a:ext cx="35204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321808" y="3968496"/>
            <a:ext cx="64008" cy="9144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0" y="405993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Cophenetic correlation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86400" y="4379976"/>
            <a:ext cx="3264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the dendrogram preserves pairwise distances. &gt;0.75 = good. Use to compare linkage methods for your data.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79" y="182880"/>
            <a:ext cx="89207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— Numerical Example (Single Linkage)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92608" y="649224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points in 1D. Trace every merge step. Distances: d(A,B)=1, d(A,C)=4, d(A,D)=6, d(A,E)=9, d(B,C)=3, d(B,D)=5, d(B,E)=8, d(C,D)=2, d(C,E)=5, d(D,E)=3.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Points: A=1, B=2, C=5, D=7, E=10  (1D data, Single linkage = minimum distance between clusters)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786384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8992" y="1444752"/>
            <a:ext cx="786384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83664" y="1444752"/>
            <a:ext cx="786384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88336" y="1444752"/>
            <a:ext cx="786384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1444752"/>
            <a:ext cx="786384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444752"/>
            <a:ext cx="786384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847088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18836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78992" y="1847088"/>
            <a:ext cx="786384" cy="384048"/>
          </a:xfrm>
          <a:prstGeom prst="rect">
            <a:avLst/>
          </a:prstGeom>
          <a:solidFill>
            <a:srgbClr val="0D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18836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83664" y="1847088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18836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88336" y="1847088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6624" y="18836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93008" y="1847088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18836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1847088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18836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249424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22860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78992" y="2249424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22860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83664" y="2249424"/>
            <a:ext cx="786384" cy="384048"/>
          </a:xfrm>
          <a:prstGeom prst="rect">
            <a:avLst/>
          </a:prstGeom>
          <a:solidFill>
            <a:srgbClr val="0D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01952" y="22860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88336" y="2249424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06624" y="22860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93008" y="2249424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11296" y="22860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2249424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22860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2651760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78992" y="2651760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83664" y="2651760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01952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88336" y="2651760"/>
            <a:ext cx="786384" cy="384048"/>
          </a:xfrm>
          <a:prstGeom prst="rect">
            <a:avLst/>
          </a:prstGeom>
          <a:solidFill>
            <a:srgbClr val="0D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06624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93008" y="2651760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11296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97680" y="2651760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15968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3054096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30906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78992" y="3054096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" y="30906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883664" y="3054096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01952" y="30906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688336" y="3054096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06624" y="30906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93008" y="3054096"/>
            <a:ext cx="786384" cy="384048"/>
          </a:xfrm>
          <a:prstGeom prst="rect">
            <a:avLst/>
          </a:prstGeom>
          <a:solidFill>
            <a:srgbClr val="0D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11296" y="30906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297680" y="3054096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15968" y="30906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4320" y="3456432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2608" y="34930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78992" y="3456432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97280" y="34930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883664" y="3456432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01952" y="34930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688336" y="3456432"/>
            <a:ext cx="786384" cy="384048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06624" y="34930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493008" y="3456432"/>
            <a:ext cx="786384" cy="384048"/>
          </a:xfrm>
          <a:prstGeom prst="rect">
            <a:avLst/>
          </a:prstGeom>
          <a:solidFill>
            <a:srgbClr val="0A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11296" y="34930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297680" y="3456432"/>
            <a:ext cx="786384" cy="384048"/>
          </a:xfrm>
          <a:prstGeom prst="rect">
            <a:avLst/>
          </a:prstGeom>
          <a:solidFill>
            <a:srgbClr val="0D1A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15968" y="34930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74320" y="3986784"/>
            <a:ext cx="2057400" cy="96012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74320" y="3986784"/>
            <a:ext cx="2057400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6576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+ B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365760" y="4535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d(A,B)=1 is minimum in matrix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65760" y="47183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cluster {AB}. Distance {AB}→C = min(d(A,C),d(B,C)) = min(4,3) = 3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468880" y="3986784"/>
            <a:ext cx="2057400" cy="960120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468880" y="3986784"/>
            <a:ext cx="2057400" cy="256032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6032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256032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 + D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2560320" y="4535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d(C,D)=2 is new minimum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2560320" y="47183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cluster {CD}. Distance {AB}→{CD} = min(d(A,C),d(A,D),d(B,C),d(B,D)) = min(4,6,3,5) = 3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663440" y="3986784"/>
            <a:ext cx="2057400" cy="960120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663440" y="3986784"/>
            <a:ext cx="205740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5488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475488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{AB}+{CD}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54880" y="4535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d({AB},{CD})=3 and d({CD},E)=3 tie! Take first.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54880" y="47183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cluster {ABCD}. Distance {ABCD}→E = min(3,5) = 3 (single linkage tracks min)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858000" y="3986784"/>
            <a:ext cx="2057400" cy="96012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6858000" y="3986784"/>
            <a:ext cx="2057400" cy="2560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4944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694944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{ABCD}+E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6949440" y="4535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clusters remain, d=3 → forced merge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949440" y="47183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cluster {ABCDE}. Dendrogram complete! Heights: 1,2,3,3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937760" y="1444752"/>
            <a:ext cx="3840480" cy="2450592"/>
          </a:xfrm>
          <a:prstGeom prst="rect">
            <a:avLst/>
          </a:prstGeom>
          <a:solidFill>
            <a:srgbClr val="060F1A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74920" y="15087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Heights (for dendrogram):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074920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A+B merged → height = 1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5074920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C+D merged → height = 2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5074920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{AB}+{CD} → height = 3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5074920" y="3255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+E (root) → height = 3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5074920" y="3749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K=2 clusters: cut above height 2 → {A,B,C,D} and {E}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11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DBSCAN &amp; Hierarchical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7596" y="610493"/>
            <a:ext cx="4251960" cy="4114800"/>
          </a:xfrm>
          <a:prstGeom prst="rect">
            <a:avLst/>
          </a:prstGeom>
          <a:solidFill>
            <a:srgbClr val="050D1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5612" y="66535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 DBSCAN ═══════════════════════════════════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395612" y="81166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DBSCAN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395612" y="95796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395612" y="110426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395612" y="125057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395612" y="139687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features — critical for DBSCAN!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395612" y="154318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95612" y="168948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395612" y="183578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395612" y="198209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ε using k-NN distance plot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95612" y="212839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NearestNeighbors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395612" y="227470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nbrs = NearestNeighbors(n_neighbors=4).fit(X_scaled)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395612" y="242100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dists, _ = nbrs.kneighbors(X_scaled)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95612" y="256730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sorted(dists[:,-1]) and find the knee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395612" y="271361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395612" y="285991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DBSCAN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95612" y="300622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DBSCAN(eps=0.5, min_samples=5)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395612" y="315252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db.fit_predict(X_scaled)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395612" y="329882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95612" y="344513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Analyse results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395612" y="359143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n_clusters = len(set(labels)) - (1 if -1 in labels else 0)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395612" y="373774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n_noise = list(labels).count(-1)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95612" y="388404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print(f'Clusters: {n_clusters}')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395612" y="403034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print(f'Noise pts: {n_noise}')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395612" y="417665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395612" y="432295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 samples mask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395612" y="446926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core_mask = np.zeros_like(labels, dtype=bool)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395612" y="461556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core_mask[db.core_sample_indices_] = True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4656716" y="610493"/>
            <a:ext cx="4251960" cy="4114800"/>
          </a:xfrm>
          <a:prstGeom prst="rect">
            <a:avLst/>
          </a:prstGeom>
          <a:solidFill>
            <a:srgbClr val="050D1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4732" y="66535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 HIERARCHICAL ════════════════════════════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4784732" y="81166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AgglomerativeClustering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4784732" y="95796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scipy.cluster.hierarchy import dendrogram, linkage</a:t>
            </a:r>
            <a:endParaRPr lang="en-US" sz="810" dirty="0"/>
          </a:p>
        </p:txBody>
      </p:sp>
      <p:sp>
        <p:nvSpPr>
          <p:cNvPr id="37" name="Text 35"/>
          <p:cNvSpPr/>
          <p:nvPr/>
        </p:nvSpPr>
        <p:spPr>
          <a:xfrm>
            <a:off x="4784732" y="110426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scipy.spatial.distance import pdist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4784732" y="125057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4784732" y="139687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full linkage matrix (for dendrogram)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4784732" y="154318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linkage(X_scaled, method='ward')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4784732" y="168948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dendrogram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4784732" y="183578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dendrogram(Z, truncate_mode='level', p=5)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4784732" y="198209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4784732" y="212839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with chosen K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4784732" y="227470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9D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 = AgglomerativeClustering(</a:t>
            </a:r>
            <a:endParaRPr lang="en-US" sz="810" dirty="0"/>
          </a:p>
        </p:txBody>
      </p:sp>
      <p:sp>
        <p:nvSpPr>
          <p:cNvPr id="46" name="Text 44"/>
          <p:cNvSpPr/>
          <p:nvPr/>
        </p:nvSpPr>
        <p:spPr>
          <a:xfrm>
            <a:off x="4784732" y="242100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n_clusters=3,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4784732" y="256730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linkage='ward',   # best default</a:t>
            </a:r>
            <a:endParaRPr lang="en-US" sz="810" dirty="0"/>
          </a:p>
        </p:txBody>
      </p:sp>
      <p:sp>
        <p:nvSpPr>
          <p:cNvPr id="48" name="Text 46"/>
          <p:cNvSpPr/>
          <p:nvPr/>
        </p:nvSpPr>
        <p:spPr>
          <a:xfrm>
            <a:off x="4784732" y="271361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metric='euclidean')</a:t>
            </a:r>
            <a:endParaRPr lang="en-US" sz="810" dirty="0"/>
          </a:p>
        </p:txBody>
      </p:sp>
      <p:sp>
        <p:nvSpPr>
          <p:cNvPr id="49" name="Text 47"/>
          <p:cNvSpPr/>
          <p:nvPr/>
        </p:nvSpPr>
        <p:spPr>
          <a:xfrm>
            <a:off x="4784732" y="285991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labels_hc = hc.fit_predict(X_scaled)</a:t>
            </a:r>
            <a:endParaRPr lang="en-US" sz="810" dirty="0"/>
          </a:p>
        </p:txBody>
      </p:sp>
      <p:sp>
        <p:nvSpPr>
          <p:cNvPr id="50" name="Text 48"/>
          <p:cNvSpPr/>
          <p:nvPr/>
        </p:nvSpPr>
        <p:spPr>
          <a:xfrm>
            <a:off x="4784732" y="300622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51" name="Text 49"/>
          <p:cNvSpPr/>
          <p:nvPr/>
        </p:nvSpPr>
        <p:spPr>
          <a:xfrm>
            <a:off x="4784732" y="315252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specifying K — use distance threshold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4784732" y="329882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hc_auto = AgglomerativeClustering(</a:t>
            </a:r>
            <a:endParaRPr lang="en-US" sz="810" dirty="0"/>
          </a:p>
        </p:txBody>
      </p:sp>
      <p:sp>
        <p:nvSpPr>
          <p:cNvPr id="53" name="Text 51"/>
          <p:cNvSpPr/>
          <p:nvPr/>
        </p:nvSpPr>
        <p:spPr>
          <a:xfrm>
            <a:off x="4784732" y="344513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n_clusters=None,</a:t>
            </a:r>
            <a:endParaRPr lang="en-US" sz="810" dirty="0"/>
          </a:p>
        </p:txBody>
      </p:sp>
      <p:sp>
        <p:nvSpPr>
          <p:cNvPr id="54" name="Text 52"/>
          <p:cNvSpPr/>
          <p:nvPr/>
        </p:nvSpPr>
        <p:spPr>
          <a:xfrm>
            <a:off x="4784732" y="359143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distance_threshold=5.0)</a:t>
            </a:r>
            <a:endParaRPr lang="en-US" sz="810" dirty="0"/>
          </a:p>
        </p:txBody>
      </p:sp>
      <p:sp>
        <p:nvSpPr>
          <p:cNvPr id="55" name="Text 53"/>
          <p:cNvSpPr/>
          <p:nvPr/>
        </p:nvSpPr>
        <p:spPr>
          <a:xfrm>
            <a:off x="4784732" y="373774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labels_auto = hc_auto.fit_predict(X_scaled)</a:t>
            </a:r>
            <a:endParaRPr lang="en-US" sz="810" dirty="0"/>
          </a:p>
        </p:txBody>
      </p:sp>
      <p:sp>
        <p:nvSpPr>
          <p:cNvPr id="56" name="Text 54"/>
          <p:cNvSpPr/>
          <p:nvPr/>
        </p:nvSpPr>
        <p:spPr>
          <a:xfrm>
            <a:off x="4784732" y="3884045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10" dirty="0"/>
          </a:p>
        </p:txBody>
      </p:sp>
      <p:sp>
        <p:nvSpPr>
          <p:cNvPr id="57" name="Text 55"/>
          <p:cNvSpPr/>
          <p:nvPr/>
        </p:nvSpPr>
        <p:spPr>
          <a:xfrm>
            <a:off x="4784732" y="4030349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Cophenetic correlation — measure tree quality</a:t>
            </a:r>
            <a:endParaRPr lang="en-US" sz="810" dirty="0"/>
          </a:p>
        </p:txBody>
      </p:sp>
      <p:sp>
        <p:nvSpPr>
          <p:cNvPr id="58" name="Text 56"/>
          <p:cNvSpPr/>
          <p:nvPr/>
        </p:nvSpPr>
        <p:spPr>
          <a:xfrm>
            <a:off x="4784732" y="417665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scipy.cluster.hierarchy import cophenet</a:t>
            </a:r>
            <a:endParaRPr lang="en-US" sz="810" dirty="0"/>
          </a:p>
        </p:txBody>
      </p:sp>
      <p:sp>
        <p:nvSpPr>
          <p:cNvPr id="59" name="Text 57"/>
          <p:cNvSpPr/>
          <p:nvPr/>
        </p:nvSpPr>
        <p:spPr>
          <a:xfrm>
            <a:off x="4784732" y="4322957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c, _ = cophenet(Z, pdist(X_scaled))</a:t>
            </a:r>
            <a:endParaRPr lang="en-US" sz="810" dirty="0"/>
          </a:p>
        </p:txBody>
      </p:sp>
      <p:sp>
        <p:nvSpPr>
          <p:cNvPr id="60" name="Text 58"/>
          <p:cNvSpPr/>
          <p:nvPr/>
        </p:nvSpPr>
        <p:spPr>
          <a:xfrm>
            <a:off x="4784732" y="4469261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9D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print(f'Cophenetic r: {c:.3f}')  # want &gt; 0.75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267596" y="4789301"/>
            <a:ext cx="8595360" cy="256032"/>
          </a:xfrm>
          <a:prstGeom prst="rect">
            <a:avLst/>
          </a:prstGeom>
          <a:solidFill>
            <a:srgbClr val="0A0A2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0476" y="4816733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scikit-learn scipy  |  Both use StandardScaler first  |  DBSCAN labels_ has −1 for noise  |  Ward linkage needs Euclidean distance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-968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Decision Guide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470647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DBSCAN vs Hierarchical — which fits YOUR problem?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3294" y="691712"/>
            <a:ext cx="1920240" cy="384048"/>
          </a:xfrm>
          <a:prstGeom prst="rect">
            <a:avLst/>
          </a:prstGeom>
          <a:solidFill>
            <a:srgbClr val="0A1828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446" y="72828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19254" y="691712"/>
            <a:ext cx="2286000" cy="384048"/>
          </a:xfrm>
          <a:prstGeom prst="rect">
            <a:avLst/>
          </a:prstGeom>
          <a:solidFill>
            <a:srgbClr val="1A2838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2406" y="7282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2686" y="691712"/>
            <a:ext cx="2286000" cy="384048"/>
          </a:xfrm>
          <a:prstGeom prst="rect">
            <a:avLst/>
          </a:prstGeom>
          <a:solidFill>
            <a:srgbClr val="1A0A2A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5838" y="7282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46118" y="691712"/>
            <a:ext cx="2286000" cy="384048"/>
          </a:xfrm>
          <a:prstGeom prst="rect">
            <a:avLst/>
          </a:prstGeom>
          <a:solidFill>
            <a:srgbClr val="1A10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9270" y="7282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3294" y="107576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446" y="111233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K?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19254" y="10757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2406" y="11123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(before run)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2686" y="10757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5838" y="11123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automatic 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6118" y="10757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9270" y="11123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(cut dendro)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3294" y="144152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446" y="147809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shape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19254" y="144152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2406" y="14780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only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32686" y="144152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5838" y="14780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 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46118" y="144152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9270" y="14780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 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3294" y="180728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6446" y="184385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19254" y="180728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2406" y="18438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forces all in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2686" y="180728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5838" y="18438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labels −1 ✅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46118" y="180728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9270" y="18438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3294" y="217304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446" y="22096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19254" y="217304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2406" y="220961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O(n·K·iter) fast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32686" y="217304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5838" y="220961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moderate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46118" y="217304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9270" y="220961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 log n) slow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53294" y="253880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6446" y="257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19254" y="253880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2406" y="25753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 tiny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432686" y="253880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05838" y="25753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46118" y="253880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9270" y="25753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distance matrix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53294" y="290456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6446" y="294113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Deterministic?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19254" y="29045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2406" y="2941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(init varies)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432686" y="29045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05838" y="2941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✅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746118" y="29045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9270" y="2941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✅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53294" y="327032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6446" y="330689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density?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119254" y="327032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92406" y="33068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432686" y="327032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05838" y="33068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if very different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746118" y="327032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19270" y="33068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53294" y="363608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6446" y="367265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119254" y="363608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92406" y="36726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(centroids)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432686" y="363608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05838" y="36726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746118" y="363608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19270" y="36726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✅ (tree)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53294" y="400184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6446" y="40384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data size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119254" y="400184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2406" y="403841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(millions OK)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432686" y="400184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05838" y="403841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(&lt;100k)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746118" y="400184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19270" y="403841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Small-Medium (&lt;10k)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53294" y="436760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6446" y="44041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scaling?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119254" y="436760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92406" y="4404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432686" y="436760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05838" y="4404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746118" y="436760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19270" y="4404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153294" y="4733360"/>
            <a:ext cx="192024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26446" y="476993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119254" y="47333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192406" y="47699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K, compact blobs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432686" y="47333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05838" y="47699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K, noise, shapes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746118" y="4733360"/>
            <a:ext cx="2286000" cy="365760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19270" y="47699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needed, small data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704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needs no 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parameters: ε (neighborhood radius) and minPts (density threshold). Finds clusters of ANY shape. Automatically labels outliers as −1.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64008" cy="1170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28032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point types in DBSCAN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points (dense centers) · Border points (cluster edges) · Noise points (genuine outliers). Only core points expand clusters.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69D9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58568"/>
            <a:ext cx="64008" cy="1170432"/>
          </a:xfrm>
          <a:prstGeom prst="rect">
            <a:avLst/>
          </a:prstGeom>
          <a:solidFill>
            <a:srgbClr val="69D97A"/>
          </a:solidFill>
          <a:ln w="12700">
            <a:solidFill>
              <a:srgbClr val="69D9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ε with k-NN plot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k-th nearest neighbor distances sorted. The 'knee' in the curve is your optimal ε. minPts = d+1 for d-dimensional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258568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58568"/>
            <a:ext cx="6400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28032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builds a tree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merges bottom-up. Each merge recorded in a dendrogram. You choose K AFTER seeing the full picture — maximum flexibility.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64008" cy="1170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8912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is the default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within-cluster variance at each merge. Creates compact equal-size clusters. Best for most tabular data. Only works with Euclidean.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557016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57016"/>
            <a:ext cx="64008" cy="1170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28032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dendrogram bars = K cuts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vertical lines before a merge = natural cluster boundary. Cut there. Cophenetic correlation &gt; 0.75 = good dendrogram quality.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257175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118872" cy="257175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120820"/>
          </a:solidFill>
          <a:ln w="25400">
            <a:solidFill>
              <a:srgbClr val="9C6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-457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20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3200400"/>
            <a:ext cx="1645920" cy="1645920"/>
          </a:xfrm>
          <a:prstGeom prst="ellipse">
            <a:avLst/>
          </a:prstGeom>
          <a:solidFill>
            <a:srgbClr val="1A100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master DBSCAN &amp; Hierarchical Clustering.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3912</Words>
  <Application>Microsoft Office PowerPoint</Application>
  <PresentationFormat>On-screen Show (16:9)</PresentationFormat>
  <Paragraphs>563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DBSCAN &amp; Hierarchical Clustering — AI Master Class</dc:title>
  <dc:subject>PptxGenJS Presentation</dc:subject>
  <dc:creator>PptxGenJS</dc:creator>
  <cp:lastModifiedBy>ahmed mansouri</cp:lastModifiedBy>
  <cp:revision>3</cp:revision>
  <dcterms:created xsi:type="dcterms:W3CDTF">2026-04-06T01:00:41Z</dcterms:created>
  <dcterms:modified xsi:type="dcterms:W3CDTF">2026-04-14T16:47:31Z</dcterms:modified>
</cp:coreProperties>
</file>
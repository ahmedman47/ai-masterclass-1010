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3" r:id="rId18"/>
    <p:sldId id="274" r:id="rId19"/>
    <p:sldId id="275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67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87605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65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-2011680"/>
            <a:ext cx="5943600" cy="5943600"/>
          </a:xfrm>
          <a:prstGeom prst="ellipse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1097280"/>
            <a:ext cx="4114800" cy="411480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FFD740"/>
          </a:solidFill>
          <a:ln w="12700">
            <a:solidFill>
              <a:srgbClr val="FFD7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457200"/>
            <a:ext cx="2286000" cy="384048"/>
          </a:xfrm>
          <a:prstGeom prst="rect">
            <a:avLst/>
          </a:prstGeom>
          <a:solidFill>
            <a:srgbClr val="FFD740"/>
          </a:solidFill>
          <a:ln w="12700">
            <a:solidFill>
              <a:srgbClr val="FFD7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45720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0D2B6E"/>
                </a:solidFill>
              </a:rPr>
              <a:t>SESSION 04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00584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Back!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502920" y="178308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D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 to Supervised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502920" y="242316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502920" y="329184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BBDEFB"/>
                </a:solidFill>
              </a:rPr>
              <a:t>Types of ML  ·  Regression  ·  Classification  ·  Vocabulary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" y="4663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BBDEFB"/>
                </a:solidFill>
              </a:rPr>
              <a:t>AI MASTER CLASS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565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D740"/>
                </a:solidFill>
              </a:rPr>
              <a:t>What We'll Learn Today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4160520" cy="1143000"/>
          </a:xfrm>
          <a:prstGeom prst="rect">
            <a:avLst/>
          </a:prstGeom>
          <a:solidFill>
            <a:srgbClr val="0A2A6E"/>
          </a:solidFill>
          <a:ln w="12700">
            <a:solidFill>
              <a:srgbClr val="2979FF"/>
            </a:solidFill>
            <a:prstDash val="solid"/>
          </a:ln>
          <a:effectLst>
            <a:outerShdw blurRad="101600" dist="38100" dir="8100000" algn="bl" rotWithShape="0">
              <a:srgbClr val="000033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60120"/>
            <a:ext cx="82296" cy="1143000"/>
          </a:xfrm>
          <a:prstGeom prst="rect">
            <a:avLst/>
          </a:prstGeom>
          <a:solidFill>
            <a:srgbClr val="FFD740"/>
          </a:solidFill>
          <a:ln w="12700">
            <a:solidFill>
              <a:srgbClr val="FFD7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51560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D740"/>
                </a:solidFill>
              </a:rPr>
              <a:t>01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69848" y="105156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Types of Machine Learning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69848" y="15087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CAF9"/>
                </a:solidFill>
              </a:rPr>
              <a:t>Supervised vs Unsupervised — what makes them different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960120"/>
            <a:ext cx="4160520" cy="1143000"/>
          </a:xfrm>
          <a:prstGeom prst="rect">
            <a:avLst/>
          </a:prstGeom>
          <a:solidFill>
            <a:srgbClr val="0A2A6E"/>
          </a:solidFill>
          <a:ln w="12700">
            <a:solidFill>
              <a:srgbClr val="2979FF"/>
            </a:solidFill>
            <a:prstDash val="solid"/>
          </a:ln>
          <a:effectLst>
            <a:outerShdw blurRad="101600" dist="38100" dir="8100000" algn="bl" rotWithShape="0">
              <a:srgbClr val="000033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960120"/>
            <a:ext cx="82296" cy="1143000"/>
          </a:xfrm>
          <a:prstGeom prst="rect">
            <a:avLst/>
          </a:prstGeom>
          <a:solidFill>
            <a:srgbClr val="FFD740"/>
          </a:solidFill>
          <a:ln w="12700">
            <a:solidFill>
              <a:srgbClr val="FFD7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051560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D740"/>
                </a:solidFill>
              </a:rPr>
              <a:t>02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504688" y="105156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Supervised Learning Overview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504688" y="15087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CAF9"/>
                </a:solidFill>
              </a:rPr>
              <a:t>The full pipeline: data → model → predictions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2286000"/>
            <a:ext cx="4160520" cy="1143000"/>
          </a:xfrm>
          <a:prstGeom prst="rect">
            <a:avLst/>
          </a:prstGeom>
          <a:solidFill>
            <a:srgbClr val="0A2A6E"/>
          </a:solidFill>
          <a:ln w="12700">
            <a:solidFill>
              <a:srgbClr val="2979FF"/>
            </a:solidFill>
            <a:prstDash val="solid"/>
          </a:ln>
          <a:effectLst>
            <a:outerShdw blurRad="101600" dist="38100" dir="8100000" algn="bl" rotWithShape="0">
              <a:srgbClr val="000033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286000"/>
            <a:ext cx="82296" cy="1143000"/>
          </a:xfrm>
          <a:prstGeom prst="rect">
            <a:avLst/>
          </a:prstGeom>
          <a:solidFill>
            <a:srgbClr val="FFD740"/>
          </a:solidFill>
          <a:ln w="12700">
            <a:solidFill>
              <a:srgbClr val="FFD74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377440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D740"/>
                </a:solidFill>
              </a:rPr>
              <a:t>03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069848" y="237744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Regression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69848" y="28346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CAF9"/>
                </a:solidFill>
              </a:rPr>
              <a:t>When the answer is a number — predicting continuous values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2286000"/>
            <a:ext cx="4160520" cy="1143000"/>
          </a:xfrm>
          <a:prstGeom prst="rect">
            <a:avLst/>
          </a:prstGeom>
          <a:solidFill>
            <a:srgbClr val="0A2A6E"/>
          </a:solidFill>
          <a:ln w="12700">
            <a:solidFill>
              <a:srgbClr val="2979FF"/>
            </a:solidFill>
            <a:prstDash val="solid"/>
          </a:ln>
          <a:effectLst>
            <a:outerShdw blurRad="101600" dist="38100" dir="8100000" algn="bl" rotWithShape="0">
              <a:srgbClr val="000033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2286000"/>
            <a:ext cx="82296" cy="1143000"/>
          </a:xfrm>
          <a:prstGeom prst="rect">
            <a:avLst/>
          </a:prstGeom>
          <a:solidFill>
            <a:srgbClr val="FFD740"/>
          </a:solidFill>
          <a:ln w="12700">
            <a:solidFill>
              <a:srgbClr val="FFD74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2377440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D740"/>
                </a:solidFill>
              </a:rPr>
              <a:t>04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5504688" y="237744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Classification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504688" y="28346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CAF9"/>
                </a:solidFill>
              </a:rPr>
              <a:t>When the answer is a category — spam, not spam, species…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" y="3611880"/>
            <a:ext cx="4160520" cy="1143000"/>
          </a:xfrm>
          <a:prstGeom prst="rect">
            <a:avLst/>
          </a:prstGeom>
          <a:solidFill>
            <a:srgbClr val="0A2A6E"/>
          </a:solidFill>
          <a:ln w="12700">
            <a:solidFill>
              <a:srgbClr val="2979FF"/>
            </a:solidFill>
            <a:prstDash val="solid"/>
          </a:ln>
          <a:effectLst>
            <a:outerShdw blurRad="101600" dist="38100" dir="8100000" algn="bl" rotWithShape="0">
              <a:srgbClr val="000033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" y="3611880"/>
            <a:ext cx="82296" cy="1143000"/>
          </a:xfrm>
          <a:prstGeom prst="rect">
            <a:avLst/>
          </a:prstGeom>
          <a:solidFill>
            <a:srgbClr val="FFD740"/>
          </a:solidFill>
          <a:ln w="12700">
            <a:solidFill>
              <a:srgbClr val="FFD74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3703320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D740"/>
                </a:solidFill>
              </a:rPr>
              <a:t>05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1069848" y="370332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Machine Learning Vocabulary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69848" y="41605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CAF9"/>
                </a:solidFill>
              </a:rPr>
              <a:t>Target, Features, Example, Label — the language of ML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54880" y="3611880"/>
            <a:ext cx="4160520" cy="1143000"/>
          </a:xfrm>
          <a:prstGeom prst="rect">
            <a:avLst/>
          </a:prstGeom>
          <a:solidFill>
            <a:srgbClr val="0A2A6E"/>
          </a:solidFill>
          <a:ln w="12700">
            <a:solidFill>
              <a:srgbClr val="2979FF"/>
            </a:solidFill>
            <a:prstDash val="solid"/>
          </a:ln>
          <a:effectLst>
            <a:outerShdw blurRad="101600" dist="38100" dir="8100000" algn="bl" rotWithShape="0">
              <a:srgbClr val="000033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3611880"/>
            <a:ext cx="82296" cy="1143000"/>
          </a:xfrm>
          <a:prstGeom prst="rect">
            <a:avLst/>
          </a:prstGeom>
          <a:solidFill>
            <a:srgbClr val="FFD740"/>
          </a:solidFill>
          <a:ln w="12700">
            <a:solidFill>
              <a:srgbClr val="FFD74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37760" y="3703320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D740"/>
                </a:solidFill>
              </a:rPr>
              <a:t>06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5504688" y="370332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The Iris Dataset Deep Dive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504688" y="41605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CAF9"/>
                </a:solidFill>
              </a:rPr>
              <a:t>Walk through a real dataset and identify all vocabulary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565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D740"/>
                </a:solidFill>
              </a:rPr>
              <a:t>The Big Picture — What is Machine Learning?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8503920" cy="777240"/>
          </a:xfrm>
          <a:prstGeom prst="rect">
            <a:avLst/>
          </a:prstGeom>
          <a:solidFill>
            <a:srgbClr val="0A2A6E"/>
          </a:solidFill>
          <a:ln w="25400">
            <a:solidFill>
              <a:srgbClr val="FFD7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8321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D740"/>
                </a:solidFill>
              </a:rPr>
              <a:t>Machine Learning:</a:t>
            </a:r>
            <a:r>
              <a:rPr lang="en-US" sz="1400" dirty="0">
                <a:solidFill>
                  <a:srgbClr val="FFFFFF"/>
                </a:solidFill>
              </a:rPr>
              <a:t>  A way to teach computers to learn from data — without being explicitly programmed for every scenario.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20040" y="1874520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Traditional Programming  vs  Machine Learning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" y="2286000"/>
            <a:ext cx="4023360" cy="2468880"/>
          </a:xfrm>
          <a:prstGeom prst="rect">
            <a:avLst/>
          </a:prstGeom>
          <a:solidFill>
            <a:srgbClr val="1040A0"/>
          </a:solidFill>
          <a:ln w="12700">
            <a:solidFill>
              <a:srgbClr val="FF525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2286000"/>
            <a:ext cx="4023360" cy="411480"/>
          </a:xfrm>
          <a:prstGeom prst="rect">
            <a:avLst/>
          </a:prstGeom>
          <a:solidFill>
            <a:srgbClr val="FF5252"/>
          </a:solidFill>
          <a:ln w="12700">
            <a:solidFill>
              <a:srgbClr val="FF525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22860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Traditional Programming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2770632"/>
            <a:ext cx="37033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D740"/>
                </a:solidFill>
              </a:rPr>
              <a:t>Input + Rules  →  Output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You write every rule manually: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BBD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income &gt; 50k AND age &gt; 30
  THEN approve loan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0CAF9"/>
                </a:solidFill>
              </a:rPr>
              <a:t>Problem: impossible to write rules for complex tasks like recognising faces or understanding speech.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00600" y="2286000"/>
            <a:ext cx="4023360" cy="2468880"/>
          </a:xfrm>
          <a:prstGeom prst="rect">
            <a:avLst/>
          </a:prstGeom>
          <a:solidFill>
            <a:srgbClr val="1040A0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00600" y="2286000"/>
            <a:ext cx="4023360" cy="411480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22860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2B6E"/>
                </a:solidFill>
              </a:rPr>
              <a:t>Machine Learning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37760" y="2770632"/>
            <a:ext cx="37033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D740"/>
                </a:solidFill>
              </a:rPr>
              <a:t>Input + Output  →  Rules (learned!)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You feed examples, the algorithm discovers patterns: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BBD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1000 approved loans + features
→ model learns rules by itself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0CAF9"/>
                </a:solidFill>
              </a:rPr>
              <a:t>Works for complex tasks — images, text, fraud detection, medical diagnosis, and much more!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343400" y="3200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FFD740"/>
                </a:solidFill>
              </a:rPr>
              <a:t>→</a:t>
            </a:r>
            <a:endParaRPr lang="en-US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565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D740"/>
                </a:solidFill>
              </a:rPr>
              <a:t>Types of Machine Learning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8503920" cy="548640"/>
          </a:xfrm>
          <a:prstGeom prst="rect">
            <a:avLst/>
          </a:prstGeom>
          <a:solidFill>
            <a:srgbClr val="0A2A6E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740"/>
                </a:solidFill>
              </a:rPr>
              <a:t>The single most important question: Do we have LABELS (correct answers) in our data?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600200"/>
            <a:ext cx="4023360" cy="3246120"/>
          </a:xfrm>
          <a:prstGeom prst="rect">
            <a:avLst/>
          </a:prstGeom>
          <a:solidFill>
            <a:srgbClr val="0A2A6E"/>
          </a:solidFill>
          <a:ln w="25400">
            <a:solidFill>
              <a:srgbClr val="00E676"/>
            </a:solidFill>
            <a:prstDash val="solid"/>
          </a:ln>
          <a:effectLst>
            <a:outerShdw blurRad="101600" dist="38100" dir="8100000" algn="bl" rotWithShape="0">
              <a:srgbClr val="000033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600200"/>
            <a:ext cx="4023360" cy="502920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46304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2B6E"/>
                </a:solidFill>
              </a:rPr>
              <a:t>SUPERVISED LEARNING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176272"/>
            <a:ext cx="370332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0E676"/>
                </a:solidFill>
              </a:rPr>
              <a:t>Data has KNOWN outcomes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Each training example has a label — the correct answer is already known.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FD740"/>
                </a:solidFill>
              </a:rPr>
              <a:t>Examples: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BBDEFB"/>
                </a:solidFill>
              </a:rPr>
              <a:t>• Email labeled spam / not spam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BBDEFB"/>
                </a:solidFill>
              </a:rPr>
              <a:t>• House with known sale price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BBDEFB"/>
                </a:solidFill>
              </a:rPr>
              <a:t>• Patient with confirmed diagnosis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BBDEFB"/>
                </a:solidFill>
              </a:rPr>
              <a:t>• Photo labeled 'cat' or 'dog'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0CAF9"/>
                </a:solidFill>
              </a:rPr>
              <a:t>Why: We want the model to learn to predict these labels for NEW, unseen data.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00600" y="1600200"/>
            <a:ext cx="4023360" cy="3246120"/>
          </a:xfrm>
          <a:prstGeom prst="rect">
            <a:avLst/>
          </a:prstGeom>
          <a:solidFill>
            <a:srgbClr val="0A2A6E"/>
          </a:solidFill>
          <a:ln w="25400">
            <a:solidFill>
              <a:srgbClr val="CE93D8"/>
            </a:solidFill>
            <a:prstDash val="solid"/>
          </a:ln>
          <a:effectLst>
            <a:outerShdw blurRad="101600" dist="38100" dir="8100000" algn="bl" rotWithShape="0">
              <a:srgbClr val="000033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00600" y="1600200"/>
            <a:ext cx="4023360" cy="502920"/>
          </a:xfrm>
          <a:prstGeom prst="rect">
            <a:avLst/>
          </a:prstGeom>
          <a:solidFill>
            <a:srgbClr val="CE93D8"/>
          </a:solidFill>
          <a:ln w="12700">
            <a:solidFill>
              <a:srgbClr val="CE93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160020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2B6E"/>
                </a:solidFill>
              </a:rPr>
              <a:t>UNSUPERVISED LEARNING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37760" y="2176272"/>
            <a:ext cx="370332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CE93D8"/>
                </a:solidFill>
              </a:rPr>
              <a:t>Data has UNKNOWN outcomes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No labels. The algorithm must discover hidden structure or patterns on its own.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FD740"/>
                </a:solidFill>
              </a:rPr>
              <a:t>Examples: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BBDEFB"/>
                </a:solidFill>
              </a:rPr>
              <a:t>• Group customers by behaviour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BBDEFB"/>
                </a:solidFill>
              </a:rPr>
              <a:t>• Detect unusual network traffic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BBDEFB"/>
                </a:solidFill>
              </a:rPr>
              <a:t>• Compress images (find structure)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BBDEFB"/>
                </a:solidFill>
              </a:rPr>
              <a:t>• Recommend products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0CAF9"/>
                </a:solidFill>
              </a:rPr>
              <a:t>Why: Many real-world problems have no labels — labeling data is expensive and slow.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343400" y="3017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D740"/>
                </a:solidFill>
              </a:rPr>
              <a:t>vs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565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D740"/>
                </a:solidFill>
              </a:rPr>
              <a:t>Supervised vs Unsupervised — Real-Life Analogies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8503920" cy="1828800"/>
          </a:xfrm>
          <a:prstGeom prst="rect">
            <a:avLst/>
          </a:prstGeom>
          <a:solidFill>
            <a:srgbClr val="0A2A6E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60120"/>
            <a:ext cx="82296" cy="1828800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51560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E676"/>
                </a:solidFill>
              </a:rPr>
              <a:t>🎓  Supervised Learning  —  Learning with a teacher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2920" y="146304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Scenario:  A student studies past exam papers that include the ANSWERS. They learn: 'This type of question → this type of answer.'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214884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0CAF9"/>
                </a:solidFill>
              </a:rPr>
              <a:t>In ML:  The model learns from labeled data (questions = features, answers = labels).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2971800"/>
            <a:ext cx="8503920" cy="1828800"/>
          </a:xfrm>
          <a:prstGeom prst="rect">
            <a:avLst/>
          </a:prstGeom>
          <a:solidFill>
            <a:srgbClr val="0A2A6E"/>
          </a:solidFill>
          <a:ln w="12700">
            <a:solidFill>
              <a:srgbClr val="CE93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2971800"/>
            <a:ext cx="82296" cy="1828800"/>
          </a:xfrm>
          <a:prstGeom prst="rect">
            <a:avLst/>
          </a:prstGeom>
          <a:solidFill>
            <a:srgbClr val="CE93D8"/>
          </a:solidFill>
          <a:ln w="12700">
            <a:solidFill>
              <a:srgbClr val="CE93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3063240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E93D8"/>
                </a:solidFill>
              </a:rPr>
              <a:t>🗺️  Unsupervised Learning  —  Exploring without a guide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02920" y="347472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Scenario:  A tourist arrives in a city with no map. They walk around and naturally notice: there's a shopping area, a quiet residential zone, a busy market zone — they discover structure themselves.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416052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0CAF9"/>
                </a:solidFill>
              </a:rPr>
              <a:t>In ML:  The algorithm finds natural groups or patterns in data with no labels provided.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4663440"/>
            <a:ext cx="8503920" cy="347472"/>
          </a:xfrm>
          <a:prstGeom prst="rect">
            <a:avLst/>
          </a:prstGeom>
          <a:solidFill>
            <a:srgbClr val="0D2A7A"/>
          </a:solidFill>
          <a:ln w="12700">
            <a:solidFill>
              <a:srgbClr val="FFD74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4663440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D740"/>
                </a:solidFill>
              </a:rPr>
              <a:t>Key insight: Supervised learning is more common in practice — it's more accurate when labels are available. This entire session focuses on it.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565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D740"/>
                </a:solidFill>
              </a:rPr>
              <a:t>Supervised Learning — The Full Pipeline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EF5FF"/>
                </a:solidFill>
              </a:rPr>
              <a:t>Every supervised learning project follows the same 3-stage pipeline: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691640"/>
            <a:ext cx="594360" cy="594360"/>
          </a:xfrm>
          <a:prstGeom prst="ellipse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6916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2B6E"/>
                </a:solidFill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51560" y="167335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E676"/>
                </a:solidFill>
              </a:rPr>
              <a:t>📚  Training Phase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051560" y="2148840"/>
            <a:ext cx="2560320" cy="914400"/>
          </a:xfrm>
          <a:prstGeom prst="rect">
            <a:avLst/>
          </a:prstGeom>
          <a:solidFill>
            <a:srgbClr val="1040A0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21945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E676"/>
                </a:solidFill>
              </a:rPr>
              <a:t>Labeled Training Data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43000" y="249631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BDEFB"/>
                </a:solidFill>
              </a:rPr>
              <a:t>Data points WITH known answers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BDEFB"/>
                </a:solidFill>
              </a:rPr>
              <a:t>(e.g. 1,000 emails labeled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BDEFB"/>
                </a:solidFill>
              </a:rPr>
              <a:t>spam / not spam)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0" y="23317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FFD740"/>
                </a:solidFill>
              </a:rPr>
              <a:t>→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4251960" y="2148840"/>
            <a:ext cx="1280160" cy="914400"/>
          </a:xfrm>
          <a:prstGeom prst="rect">
            <a:avLst/>
          </a:prstGeom>
          <a:solidFill>
            <a:srgbClr val="FFD740"/>
          </a:solidFill>
          <a:ln w="12700">
            <a:solidFill>
              <a:srgbClr val="FFD7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51960" y="2194560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2B6E"/>
                </a:solidFill>
              </a:rPr>
              <a:t>🤖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D2B6E"/>
                </a:solidFill>
              </a:rPr>
              <a:t>MODEL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577840" y="23317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FFD740"/>
                </a:solidFill>
              </a:rPr>
              <a:t>→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6172200" y="2148840"/>
            <a:ext cx="2560320" cy="914400"/>
          </a:xfrm>
          <a:prstGeom prst="rect">
            <a:avLst/>
          </a:prstGeom>
          <a:solidFill>
            <a:srgbClr val="1040A0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63640" y="21945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E676"/>
                </a:solidFill>
              </a:rPr>
              <a:t>MODEL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63640" y="249631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BDEFB"/>
                </a:solidFill>
              </a:rPr>
              <a:t>Algorithm learns patterns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BDEFB"/>
                </a:solidFill>
              </a:rPr>
              <a:t>from the labeled examples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BDEFB"/>
                </a:solidFill>
              </a:rPr>
              <a:t>and stores them internally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3520440"/>
            <a:ext cx="594360" cy="594360"/>
          </a:xfrm>
          <a:prstGeom prst="ellipse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35204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2B6E"/>
                </a:solidFill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051560" y="350215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2A5F5"/>
                </a:solidFill>
              </a:rPr>
              <a:t>🔮  Prediction Phase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1051560" y="3977640"/>
            <a:ext cx="2560320" cy="914400"/>
          </a:xfrm>
          <a:prstGeom prst="rect">
            <a:avLst/>
          </a:prstGeom>
          <a:solidFill>
            <a:srgbClr val="1040A0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43000" y="40233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2A5F5"/>
                </a:solidFill>
              </a:rPr>
              <a:t>New Unlabeled Data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143000" y="432511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BDEFB"/>
                </a:solidFill>
              </a:rPr>
              <a:t>Fresh data points with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BDEFB"/>
                </a:solidFill>
              </a:rPr>
              <a:t>UNKNOWN labels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BDEFB"/>
                </a:solidFill>
              </a:rPr>
              <a:t>(e.g. a brand new email)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657600" y="41605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FFD740"/>
                </a:solidFill>
              </a:rPr>
              <a:t>→</a:t>
            </a:r>
            <a:endParaRPr lang="en-US" sz="2800" dirty="0"/>
          </a:p>
        </p:txBody>
      </p:sp>
      <p:sp>
        <p:nvSpPr>
          <p:cNvPr id="25" name="Shape 23"/>
          <p:cNvSpPr/>
          <p:nvPr/>
        </p:nvSpPr>
        <p:spPr>
          <a:xfrm>
            <a:off x="4251960" y="3977640"/>
            <a:ext cx="1280160" cy="914400"/>
          </a:xfrm>
          <a:prstGeom prst="rect">
            <a:avLst/>
          </a:prstGeom>
          <a:solidFill>
            <a:srgbClr val="FFD740"/>
          </a:solidFill>
          <a:ln w="12700">
            <a:solidFill>
              <a:srgbClr val="FFD74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51960" y="4023360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2B6E"/>
                </a:solidFill>
              </a:rPr>
              <a:t>🤖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D2B6E"/>
                </a:solidFill>
              </a:rPr>
              <a:t>MODEL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577840" y="41605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FFD740"/>
                </a:solidFill>
              </a:rPr>
              <a:t>→</a:t>
            </a:r>
            <a:endParaRPr lang="en-US" sz="2800" dirty="0"/>
          </a:p>
        </p:txBody>
      </p:sp>
      <p:sp>
        <p:nvSpPr>
          <p:cNvPr id="28" name="Shape 26"/>
          <p:cNvSpPr/>
          <p:nvPr/>
        </p:nvSpPr>
        <p:spPr>
          <a:xfrm>
            <a:off x="6172200" y="3977640"/>
            <a:ext cx="2560320" cy="914400"/>
          </a:xfrm>
          <a:prstGeom prst="rect">
            <a:avLst/>
          </a:prstGeom>
          <a:solidFill>
            <a:srgbClr val="1040A0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63640" y="40233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2A5F5"/>
                </a:solidFill>
              </a:rPr>
              <a:t>PREDICTIONS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263640" y="432511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BDEFB"/>
                </a:solidFill>
              </a:rPr>
              <a:t>The trained model applies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BDEFB"/>
                </a:solidFill>
              </a:rPr>
              <a:t>its learned patterns to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BDEFB"/>
                </a:solidFill>
              </a:rPr>
              <a:t>predict the label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20040" y="484632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D740"/>
                </a:solidFill>
              </a:rPr>
              <a:t>The key insight: training and prediction are SEPARATE phases. We train once on labeled data, then predict forever on new data.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565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D740"/>
                </a:solidFill>
              </a:rPr>
              <a:t>Two Types of Supervised Learning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EF5FF"/>
                </a:solidFill>
              </a:rPr>
              <a:t>The difference comes down to ONE question: What kind of answer are we predicting?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4023360" cy="3383280"/>
          </a:xfrm>
          <a:prstGeom prst="rect">
            <a:avLst/>
          </a:prstGeom>
          <a:solidFill>
            <a:srgbClr val="0A2A6E"/>
          </a:solidFill>
          <a:ln w="25400">
            <a:solidFill>
              <a:srgbClr val="FFD740"/>
            </a:solidFill>
            <a:prstDash val="solid"/>
          </a:ln>
          <a:effectLst>
            <a:outerShdw blurRad="101600" dist="38100" dir="8100000" algn="bl" rotWithShape="0">
              <a:srgbClr val="000033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417320"/>
            <a:ext cx="4023360" cy="502920"/>
          </a:xfrm>
          <a:prstGeom prst="rect">
            <a:avLst/>
          </a:prstGeom>
          <a:solidFill>
            <a:srgbClr val="FFD740"/>
          </a:solidFill>
          <a:ln w="12700">
            <a:solidFill>
              <a:srgbClr val="FFD7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41732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2B6E"/>
                </a:solidFill>
              </a:rPr>
              <a:t>REGRESSION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1993392"/>
            <a:ext cx="37033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D740"/>
                </a:solidFill>
              </a:rPr>
              <a:t>Predicts a NUMBER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The output is a continuous numerical value — it can be any number in a range.
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BBDEFB"/>
                </a:solidFill>
              </a:rPr>
              <a:t>Real-world examples: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EEF5FF"/>
                </a:solidFill>
              </a:rPr>
              <a:t>• House price → $347,500
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EF5FF"/>
                </a:solidFill>
              </a:rPr>
              <a:t>• Movie box-office revenue → $82M
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EF5FF"/>
                </a:solidFill>
              </a:rPr>
              <a:t>• Temperature tomorrow → 24.3°C
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EF5FF"/>
                </a:solidFill>
              </a:rPr>
              <a:t>• Patient's blood pressure → 128 mmHg
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EF5FF"/>
                </a:solidFill>
              </a:rPr>
              <a:t>• Time to run a marathon → 3h 42m</a:t>
            </a:r>
            <a:r>
              <a:rPr lang="en-US" sz="1100" dirty="0">
                <a:solidFill>
                  <a:srgbClr val="EEF5FF"/>
                </a:solidFill>
              </a:rPr>
              <a:t>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0CAF9"/>
                </a:solidFill>
              </a:rPr>
              <a:t>Why useful: Any time we need a precise quantity, not just a category.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00600" y="1417320"/>
            <a:ext cx="4023360" cy="3383280"/>
          </a:xfrm>
          <a:prstGeom prst="rect">
            <a:avLst/>
          </a:prstGeom>
          <a:solidFill>
            <a:srgbClr val="0A2A6E"/>
          </a:solidFill>
          <a:ln w="25400">
            <a:solidFill>
              <a:srgbClr val="42A5F5"/>
            </a:solidFill>
            <a:prstDash val="solid"/>
          </a:ln>
          <a:effectLst>
            <a:outerShdw blurRad="101600" dist="38100" dir="8100000" algn="bl" rotWithShape="0">
              <a:srgbClr val="000033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1417320"/>
            <a:ext cx="4023360" cy="502920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141732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2B6E"/>
                </a:solidFill>
              </a:rPr>
              <a:t>CLASSIFICATION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37760" y="1993392"/>
            <a:ext cx="37033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42A5F5"/>
                </a:solidFill>
              </a:rPr>
              <a:t>Predicts a CATEGORY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The output is one of a fixed set of named categories — a discrete choice, not a number.
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BBDEFB"/>
                </a:solidFill>
              </a:rPr>
              <a:t>Real-world examples: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EEF5FF"/>
                </a:solidFill>
              </a:rPr>
              <a:t>• Email → Spam OR Not Spam
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EF5FF"/>
                </a:solidFill>
              </a:rPr>
              <a:t>• Tumour → Malignant OR Benign
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EF5FF"/>
                </a:solidFill>
              </a:rPr>
              <a:t>• Iris flower → setosa / versicolor / virginica
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EF5FF"/>
                </a:solidFill>
              </a:rPr>
              <a:t>• Customer → Will churn OR Stay
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EF5FF"/>
                </a:solidFill>
              </a:rPr>
              <a:t>• Sentiment → Positive / Negative / Neutral</a:t>
            </a:r>
            <a:r>
              <a:rPr lang="en-US" sz="1100" dirty="0">
                <a:solidFill>
                  <a:srgbClr val="EEF5FF"/>
                </a:solidFill>
              </a:rPr>
              <a:t>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0CAF9"/>
                </a:solidFill>
              </a:rPr>
              <a:t>Why useful: Huge range of decision-making problems — is this safe? approved? fraud?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343400" y="2926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vs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565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D740"/>
                </a:solidFill>
              </a:rPr>
              <a:t>Regression — Predicting Numbers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EF5FF"/>
                </a:solidFill>
              </a:rPr>
              <a:t>Regression answers: "How much?" or "How many?" — the output is always a number.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353312"/>
            <a:ext cx="8503920" cy="1188720"/>
          </a:xfrm>
          <a:prstGeom prst="rect">
            <a:avLst/>
          </a:prstGeom>
          <a:solidFill>
            <a:srgbClr val="0A2A6E"/>
          </a:solidFill>
          <a:ln w="12700">
            <a:solidFill>
              <a:srgbClr val="FFD7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990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740"/>
                </a:solidFill>
              </a:rPr>
              <a:t>From the slides — Movie Revenue Regression: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Input features: </a:t>
            </a:r>
            <a:r>
              <a:rPr lang="en-US" sz="1200" dirty="0">
                <a:solidFill>
                  <a:srgbClr val="BBDEFB"/>
                </a:solidFill>
              </a:rPr>
              <a:t>budget, genre, cast, director, release date, marketing spend…    </a:t>
            </a:r>
            <a:r>
              <a:rPr lang="en-US" sz="1200" b="1" dirty="0">
                <a:solidFill>
                  <a:srgbClr val="FFFFFF"/>
                </a:solidFill>
              </a:rPr>
              <a:t>Output: </a:t>
            </a:r>
            <a:r>
              <a:rPr lang="en-US" sz="1200" dirty="0">
                <a:solidFill>
                  <a:srgbClr val="FFD740"/>
                </a:solidFill>
              </a:rPr>
              <a:t>Predicted box-office revenue ($)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26517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Why use Regression instead of Classification here?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3017520"/>
            <a:ext cx="3977640" cy="1783080"/>
          </a:xfrm>
          <a:prstGeom prst="rect">
            <a:avLst/>
          </a:prstGeom>
          <a:solidFill>
            <a:srgbClr val="1040A0"/>
          </a:solidFill>
          <a:ln w="12700">
            <a:solidFill>
              <a:srgbClr val="FF525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3017520"/>
            <a:ext cx="3977640" cy="384048"/>
          </a:xfrm>
          <a:prstGeom prst="rect">
            <a:avLst/>
          </a:prstGeom>
          <a:solidFill>
            <a:srgbClr val="FF5252"/>
          </a:solidFill>
          <a:ln w="12700">
            <a:solidFill>
              <a:srgbClr val="FF525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3017520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Classification would be WRONG here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456432"/>
            <a:ext cx="3749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EF5FF"/>
                </a:solidFill>
              </a:rPr>
              <a:t>If we said 'High / Medium / Low revenue' we LOSE precision.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EF5FF"/>
                </a:solidFill>
              </a:rPr>
              <a:t>$1M difference between predictions would matter to a studio. You can't capture that with a category.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46320" y="3017520"/>
            <a:ext cx="3977640" cy="1783080"/>
          </a:xfrm>
          <a:prstGeom prst="rect">
            <a:avLst/>
          </a:prstGeom>
          <a:solidFill>
            <a:srgbClr val="1040A0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46320" y="3017520"/>
            <a:ext cx="3977640" cy="384048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3017520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2B6E"/>
                </a:solidFill>
              </a:rPr>
              <a:t>Regression is CORRECT here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83480" y="3456432"/>
            <a:ext cx="3749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EF5FF"/>
                </a:solidFill>
              </a:rPr>
              <a:t>Regression gives the exact number: $82,450,000.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EF5FF"/>
                </a:solidFill>
              </a:rPr>
              <a:t>This precise value lets studios make real financial decisions — budgeting, marketing spend, theatre bookings.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0040" y="484632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740"/>
                </a:solidFill>
              </a:rPr>
              <a:t>Rule: If the output can be ANY value on a continuous scale → use Regression. If the output is one of N fixed categories → use Classification.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565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D740"/>
                </a:solidFill>
              </a:rPr>
              <a:t>Classification — Predicting Categories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EF5FF"/>
                </a:solidFill>
              </a:rPr>
              <a:t>Classification answers: "Which group does this belong to?" — the output is always one of a fixed set of labels.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353312"/>
            <a:ext cx="8503920" cy="914400"/>
          </a:xfrm>
          <a:prstGeom prst="rect">
            <a:avLst/>
          </a:prstGeom>
          <a:solidFill>
            <a:srgbClr val="0A2A6E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990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2A5F5"/>
                </a:solidFill>
              </a:rPr>
              <a:t>From the slides — Spam Email Classification: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Input: </a:t>
            </a:r>
            <a:r>
              <a:rPr lang="en-US" sz="1100" dirty="0">
                <a:solidFill>
                  <a:srgbClr val="BBDEFB"/>
                </a:solidFill>
              </a:rPr>
              <a:t>unlabeled emails (unknown if spam)  </a:t>
            </a:r>
            <a:r>
              <a:rPr lang="en-US" sz="1100" b="1" dirty="0">
                <a:solidFill>
                  <a:srgbClr val="FFFFFF"/>
                </a:solidFill>
              </a:rPr>
              <a:t>Training data: </a:t>
            </a:r>
            <a:r>
              <a:rPr lang="en-US" sz="1100" dirty="0">
                <a:solidFill>
                  <a:srgbClr val="BBDEFB"/>
                </a:solidFill>
              </a:rPr>
              <a:t>thousands of emails already labeled spam / not spam  </a:t>
            </a:r>
            <a:r>
              <a:rPr lang="en-US" sz="1100" b="1" dirty="0">
                <a:solidFill>
                  <a:srgbClr val="FFFFFF"/>
                </a:solidFill>
              </a:rPr>
              <a:t>Output: </a:t>
            </a:r>
            <a:r>
              <a:rPr lang="en-US" sz="1100" dirty="0">
                <a:solidFill>
                  <a:srgbClr val="FFD740"/>
                </a:solidFill>
              </a:rPr>
              <a:t>spam OR not spam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23774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Two sub-types of Classification: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2743200"/>
            <a:ext cx="3977640" cy="2148840"/>
          </a:xfrm>
          <a:prstGeom prst="rect">
            <a:avLst/>
          </a:prstGeom>
          <a:solidFill>
            <a:srgbClr val="1040A0"/>
          </a:solidFill>
          <a:ln w="12700">
            <a:solidFill>
              <a:srgbClr val="FFD74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2743200"/>
            <a:ext cx="3977640" cy="384048"/>
          </a:xfrm>
          <a:prstGeom prst="rect">
            <a:avLst/>
          </a:prstGeom>
          <a:solidFill>
            <a:srgbClr val="FFD740"/>
          </a:solidFill>
          <a:ln w="12700">
            <a:solidFill>
              <a:srgbClr val="FFD7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2743200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2B6E"/>
                </a:solidFill>
              </a:rPr>
              <a:t>Binary Classification (2 classes)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182112"/>
            <a:ext cx="37033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D740"/>
                </a:solidFill>
              </a:rPr>
              <a:t>Exactly 2 possible outputs: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EF5FF"/>
                </a:solidFill>
              </a:rPr>
              <a:t>• Spam  /  Not Spam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EF5FF"/>
                </a:solidFill>
              </a:rPr>
              <a:t>• Fraud  /  Not Fraud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EF5FF"/>
                </a:solidFill>
              </a:rPr>
              <a:t>• Malignant  /  Benign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EF5FF"/>
                </a:solidFill>
              </a:rPr>
              <a:t>• Win  /  Lose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0CAF9"/>
                </a:solidFill>
              </a:rPr>
              <a:t>Most common in practice. Simple and well-studied — many powerful algorithms.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46320" y="2743200"/>
            <a:ext cx="3977640" cy="2148840"/>
          </a:xfrm>
          <a:prstGeom prst="rect">
            <a:avLst/>
          </a:prstGeom>
          <a:solidFill>
            <a:srgbClr val="1040A0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46320" y="2743200"/>
            <a:ext cx="3977640" cy="384048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2743200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2B6E"/>
                </a:solidFill>
              </a:rPr>
              <a:t>Multi-class Classification (3+ classes)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83480" y="3182112"/>
            <a:ext cx="37033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42A5F5"/>
                </a:solidFill>
              </a:rPr>
              <a:t>3 or more possible outputs: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EF5FF"/>
                </a:solidFill>
              </a:rPr>
              <a:t>• Iris: setosa / versicolor / virginica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EF5FF"/>
                </a:solidFill>
              </a:rPr>
              <a:t>• Sentiment: Positive/Neutral/Negative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EF5FF"/>
                </a:solidFill>
              </a:rPr>
              <a:t>• Digit recognition: 0 through 9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EF5FF"/>
                </a:solidFill>
              </a:rPr>
              <a:t>• Disease type: A / B / C / D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0CAF9"/>
                </a:solidFill>
              </a:rPr>
              <a:t>Each data point gets exactly one label. The Iris dataset from these slides is multi-class.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565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D740"/>
                </a:solidFill>
              </a:rPr>
              <a:t>How to Choose: Regression or Classification?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EF5FF"/>
                </a:solidFill>
              </a:rPr>
              <a:t>The type of your TARGET VARIABLE (what you're predicting) tells you which to use: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0" y="1371600"/>
            <a:ext cx="3657600" cy="594360"/>
          </a:xfrm>
          <a:prstGeom prst="rect">
            <a:avLst/>
          </a:prstGeom>
          <a:solidFill>
            <a:srgbClr val="FFD740"/>
          </a:solidFill>
          <a:ln w="12700">
            <a:solidFill>
              <a:srgbClr val="FFD7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0" y="137160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2B6E"/>
                </a:solidFill>
              </a:rPr>
              <a:t>What TYPE is your target variable?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33172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D740"/>
                </a:solidFill>
              </a:rPr>
              <a:t>Is it a NUMBER?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0" y="233172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2A5F5"/>
                </a:solidFill>
              </a:rPr>
              <a:t>Is it a CATEGORY?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828800" y="19202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FFD740"/>
                </a:solidFill>
              </a:rPr>
              <a:t>↙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486400" y="19202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42A5F5"/>
                </a:solidFill>
              </a:rPr>
              <a:t>↘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320040" y="2743200"/>
            <a:ext cx="3931920" cy="548640"/>
          </a:xfrm>
          <a:prstGeom prst="rect">
            <a:avLst/>
          </a:prstGeom>
          <a:solidFill>
            <a:srgbClr val="FFD740"/>
          </a:solidFill>
          <a:ln w="12700">
            <a:solidFill>
              <a:srgbClr val="FFD7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74320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2B6E"/>
                </a:solidFill>
              </a:rPr>
              <a:t>→  Use REGRESSION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892040" y="2743200"/>
            <a:ext cx="3931920" cy="548640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274320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2B6E"/>
                </a:solidFill>
              </a:rPr>
              <a:t>→  Use CLASSIFICATION</a:t>
            </a:r>
            <a:endParaRPr lang="en-US" sz="1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429000"/>
          <a:ext cx="8503920" cy="164592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Problem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Target Variable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Type?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Algorithm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A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EF5FF"/>
                          </a:solidFill>
                        </a:rPr>
                        <a:t>Predict house sale price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EF5FF"/>
                          </a:solidFill>
                        </a:rPr>
                        <a:t>$247,000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EF5FF"/>
                          </a:solidFill>
                        </a:rPr>
                        <a:t>Number → Continuous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EF5FF"/>
                          </a:solidFill>
                        </a:rPr>
                        <a:t>REGRESSION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EF5FF"/>
                          </a:solidFill>
                        </a:rPr>
                        <a:t>Classify email as spam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EF5FF"/>
                          </a:solidFill>
                        </a:rPr>
                        <a:t>Spam / Not Spam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EF5FF"/>
                          </a:solidFill>
                        </a:rPr>
                        <a:t>Category → 2 classes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EF5FF"/>
                          </a:solidFill>
                        </a:rPr>
                        <a:t>CLASSIFICATION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EF5FF"/>
                          </a:solidFill>
                        </a:rPr>
                        <a:t>Forecast tomorrow's temp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EF5FF"/>
                          </a:solidFill>
                        </a:rPr>
                        <a:t>18.5°C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EF5FF"/>
                          </a:solidFill>
                        </a:rPr>
                        <a:t>Number → Continuous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EF5FF"/>
                          </a:solidFill>
                        </a:rPr>
                        <a:t>REGRESSION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EF5FF"/>
                          </a:solidFill>
                        </a:rPr>
                        <a:t>Identify iris flower species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EF5FF"/>
                          </a:solidFill>
                        </a:rPr>
                        <a:t>setosa / versicolor / virginica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EF5FF"/>
                          </a:solidFill>
                        </a:rPr>
                        <a:t>Category → 3 classes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EF5FF"/>
                          </a:solidFill>
                        </a:rPr>
                        <a:t>CLASSIFICATION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EF5FF"/>
                          </a:solidFill>
                        </a:rPr>
                        <a:t>Predict patient survival days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EF5FF"/>
                          </a:solidFill>
                        </a:rPr>
                        <a:t>127 days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EF5FF"/>
                          </a:solidFill>
                        </a:rPr>
                        <a:t>Number → Continuous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EF5FF"/>
                          </a:solidFill>
                        </a:rPr>
                        <a:t>REGRESSION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565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D740"/>
                </a:solidFill>
              </a:rPr>
              <a:t>Machine Learning Vocabulary — The 4 Essential Terms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EF5FF"/>
                </a:solidFill>
              </a:rPr>
              <a:t>Every ML practitioner uses the same vocabulary. Master these 4 terms and you'll understand any ML paper or conversation: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4160520" cy="1691640"/>
          </a:xfrm>
          <a:prstGeom prst="rect">
            <a:avLst/>
          </a:prstGeom>
          <a:solidFill>
            <a:srgbClr val="0A2A6E"/>
          </a:solidFill>
          <a:ln w="12700">
            <a:solidFill>
              <a:srgbClr val="FFD740"/>
            </a:solidFill>
            <a:prstDash val="solid"/>
          </a:ln>
          <a:effectLst>
            <a:outerShdw blurRad="101600" dist="38100" dir="8100000" algn="bl" rotWithShape="0">
              <a:srgbClr val="000033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417320"/>
            <a:ext cx="4160520" cy="411480"/>
          </a:xfrm>
          <a:prstGeom prst="rect">
            <a:avLst/>
          </a:prstGeom>
          <a:solidFill>
            <a:srgbClr val="FFD740"/>
          </a:solidFill>
          <a:ln w="12700">
            <a:solidFill>
              <a:srgbClr val="FFD7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417320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2B6E"/>
                </a:solidFill>
              </a:rPr>
              <a:t>TARGET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29768" y="18745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The column we want to predict — the 'answer' we're trying to learn.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29768" y="222199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FFD740"/>
                </a:solidFill>
              </a:rPr>
              <a:t>Also called: output, label column, dependent variable, response variable, y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29768" y="249631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BDEFB"/>
                </a:solidFill>
              </a:rPr>
              <a:t>In the iris dataset → the TARGET is the 'species' column (setosa / versicolor / virginica)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29768" y="278892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CAF9"/>
                </a:solidFill>
              </a:rPr>
              <a:t>Why: Without a target, we don't know WHAT to predict — it's the whole point of the exercise.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54880" y="1417320"/>
            <a:ext cx="4160520" cy="1691640"/>
          </a:xfrm>
          <a:prstGeom prst="rect">
            <a:avLst/>
          </a:prstGeom>
          <a:solidFill>
            <a:srgbClr val="0A2A6E"/>
          </a:solidFill>
          <a:ln w="12700">
            <a:solidFill>
              <a:srgbClr val="42A5F5"/>
            </a:solidFill>
            <a:prstDash val="solid"/>
          </a:ln>
          <a:effectLst>
            <a:outerShdw blurRad="101600" dist="38100" dir="8100000" algn="bl" rotWithShape="0">
              <a:srgbClr val="000033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417320"/>
            <a:ext cx="4160520" cy="411480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1417320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2B6E"/>
                </a:solidFill>
              </a:rPr>
              <a:t>FEATURES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64608" y="18745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All other columns — the properties used as INPUT to make the prediction.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64608" y="222199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2A5F5"/>
                </a:solidFill>
              </a:rPr>
              <a:t>Also called: input variables, predictors, independent variables, X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864608" y="249631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BDEFB"/>
                </a:solidFill>
              </a:rPr>
              <a:t>In iris → FEATURES are sepal length, sepal width, petal length, petal width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64608" y="278892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CAF9"/>
                </a:solidFill>
              </a:rPr>
              <a:t>Why: Features are the 'clues' the model uses. More relevant features = better predictions.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0040" y="3246120"/>
            <a:ext cx="4160520" cy="1691640"/>
          </a:xfrm>
          <a:prstGeom prst="rect">
            <a:avLst/>
          </a:prstGeom>
          <a:solidFill>
            <a:srgbClr val="0A2A6E"/>
          </a:solidFill>
          <a:ln w="12700">
            <a:solidFill>
              <a:srgbClr val="00E676"/>
            </a:solidFill>
            <a:prstDash val="solid"/>
          </a:ln>
          <a:effectLst>
            <a:outerShdw blurRad="101600" dist="38100" dir="8100000" algn="bl" rotWithShape="0">
              <a:srgbClr val="000033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3246120"/>
            <a:ext cx="4160520" cy="411480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3246120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2B6E"/>
                </a:solidFill>
              </a:rPr>
              <a:t>EXAMPLE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29768" y="37033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 single row of data — one individual data point in the dataset.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29768" y="405079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00E676"/>
                </a:solidFill>
              </a:rPr>
              <a:t>Also called: observation, instance, record, sample, data point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29768" y="432511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BDEFB"/>
                </a:solidFill>
              </a:rPr>
              <a:t>In iris → ONE EXAMPLE = one row: [6.7, 3.0, 5.2, 2.3, virginica]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29768" y="461772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CAF9"/>
                </a:solidFill>
              </a:rPr>
              <a:t>Why: The model learns from thousands of examples — more examples usually means a better model.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54880" y="3246120"/>
            <a:ext cx="4160520" cy="1691640"/>
          </a:xfrm>
          <a:prstGeom prst="rect">
            <a:avLst/>
          </a:prstGeom>
          <a:solidFill>
            <a:srgbClr val="0A2A6E"/>
          </a:solidFill>
          <a:ln w="12700">
            <a:solidFill>
              <a:srgbClr val="FF5252"/>
            </a:solidFill>
            <a:prstDash val="solid"/>
          </a:ln>
          <a:effectLst>
            <a:outerShdw blurRad="101600" dist="38100" dir="8100000" algn="bl" rotWithShape="0">
              <a:srgbClr val="000033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54880" y="3246120"/>
            <a:ext cx="4160520" cy="411480"/>
          </a:xfrm>
          <a:prstGeom prst="rect">
            <a:avLst/>
          </a:prstGeom>
          <a:solidFill>
            <a:srgbClr val="FF5252"/>
          </a:solidFill>
          <a:ln w="12700">
            <a:solidFill>
              <a:srgbClr val="FF525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3246120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2B6E"/>
                </a:solidFill>
              </a:rPr>
              <a:t>LABEL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864608" y="37033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The target value for a SINGLE example — the answer for that one specific row.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64608" y="405079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FF5252"/>
                </a:solidFill>
              </a:rPr>
              <a:t>Same as the target, but referring to one specific row rather than the whole column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864608" y="432511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BDEFB"/>
                </a:solidFill>
              </a:rPr>
              <a:t>In iris → the LABEL for the first row is 'virginica'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64608" y="461772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CAF9"/>
                </a:solidFill>
              </a:rPr>
              <a:t>Why: Labels are what make supervised learning 'supervised' — the teacher's answers that the model learns from.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565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D740"/>
                </a:solidFill>
              </a:rPr>
              <a:t>The Iris Dataset — A Classic ML Benchmark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EF5FF"/>
                </a:solidFill>
              </a:rPr>
              <a:t>The iris dataset is the 'Hello World' of machine learning — used in virtually every introductory ML course since 1936.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353312"/>
            <a:ext cx="1965960" cy="914400"/>
          </a:xfrm>
          <a:prstGeom prst="rect">
            <a:avLst/>
          </a:prstGeom>
          <a:solidFill>
            <a:srgbClr val="1040A0"/>
          </a:solidFill>
          <a:ln w="12700">
            <a:solidFill>
              <a:srgbClr val="FFD7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389888"/>
            <a:ext cx="1965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D740"/>
                </a:solidFill>
              </a:rPr>
              <a:t>150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320040" y="1883664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0CAF9"/>
                </a:solidFill>
              </a:rPr>
              <a:t>total examples (rows)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68880" y="1353312"/>
            <a:ext cx="1965960" cy="914400"/>
          </a:xfrm>
          <a:prstGeom prst="rect">
            <a:avLst/>
          </a:prstGeom>
          <a:solidFill>
            <a:srgbClr val="1040A0"/>
          </a:solidFill>
          <a:ln w="12700">
            <a:solidFill>
              <a:srgbClr val="FFD7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68880" y="1389888"/>
            <a:ext cx="1965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D740"/>
                </a:solidFill>
              </a:rPr>
              <a:t>4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2468880" y="1883664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0CAF9"/>
                </a:solidFill>
              </a:rPr>
              <a:t>features (columns)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17720" y="1353312"/>
            <a:ext cx="1965960" cy="914400"/>
          </a:xfrm>
          <a:prstGeom prst="rect">
            <a:avLst/>
          </a:prstGeom>
          <a:solidFill>
            <a:srgbClr val="1040A0"/>
          </a:solidFill>
          <a:ln w="12700">
            <a:solidFill>
              <a:srgbClr val="FFD7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7720" y="1389888"/>
            <a:ext cx="1965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D740"/>
                </a:solidFill>
              </a:rPr>
              <a:t>3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4617720" y="1883664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0CAF9"/>
                </a:solidFill>
              </a:rPr>
              <a:t>classes (species)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766560" y="1353312"/>
            <a:ext cx="1965960" cy="914400"/>
          </a:xfrm>
          <a:prstGeom prst="rect">
            <a:avLst/>
          </a:prstGeom>
          <a:solidFill>
            <a:srgbClr val="1040A0"/>
          </a:solidFill>
          <a:ln w="12700">
            <a:solidFill>
              <a:srgbClr val="FFD74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66560" y="1389888"/>
            <a:ext cx="1965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D740"/>
                </a:solidFill>
              </a:rPr>
              <a:t>50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6766560" y="1883664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0CAF9"/>
                </a:solidFill>
              </a:rPr>
              <a:t>examples per class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65760" y="237744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Sample rows from the Iris dataset: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2724912"/>
          <a:ext cx="8503920" cy="2103122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04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sepal length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sepal width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petal length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petal width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D740"/>
                          </a:solidFill>
                        </a:rPr>
                        <a:t>species  ← TARGET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4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EF5FF"/>
                          </a:solidFill>
                        </a:rPr>
                        <a:t>6.7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EF5FF"/>
                          </a:solidFill>
                        </a:rPr>
                        <a:t>3.0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EF5FF"/>
                          </a:solidFill>
                        </a:rPr>
                        <a:t>5.2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EF5FF"/>
                          </a:solidFill>
                        </a:rPr>
                        <a:t>2.3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E676"/>
                          </a:solidFill>
                        </a:rPr>
                        <a:t>virginica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4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EF5FF"/>
                          </a:solidFill>
                        </a:rPr>
                        <a:t>6.4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EF5FF"/>
                          </a:solidFill>
                        </a:rPr>
                        <a:t>2.8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EF5FF"/>
                          </a:solidFill>
                        </a:rPr>
                        <a:t>5.6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EF5FF"/>
                          </a:solidFill>
                        </a:rPr>
                        <a:t>2.1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E676"/>
                          </a:solidFill>
                        </a:rPr>
                        <a:t>virginica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04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EF5FF"/>
                          </a:solidFill>
                        </a:rPr>
                        <a:t>4.6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EF5FF"/>
                          </a:solidFill>
                        </a:rPr>
                        <a:t>3.4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EF5FF"/>
                          </a:solidFill>
                        </a:rPr>
                        <a:t>1.4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EF5FF"/>
                          </a:solidFill>
                        </a:rPr>
                        <a:t>0.3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D740"/>
                          </a:solidFill>
                        </a:rPr>
                        <a:t>setosa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04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EF5FF"/>
                          </a:solidFill>
                        </a:rPr>
                        <a:t>6.9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EF5FF"/>
                          </a:solidFill>
                        </a:rPr>
                        <a:t>3.1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EF5FF"/>
                          </a:solidFill>
                        </a:rPr>
                        <a:t>4.9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EF5FF"/>
                          </a:solidFill>
                        </a:rPr>
                        <a:t>1.5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2A5F5"/>
                          </a:solidFill>
                        </a:rPr>
                        <a:t>versicolor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04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EF5FF"/>
                          </a:solidFill>
                        </a:rPr>
                        <a:t>4.4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EF5FF"/>
                          </a:solidFill>
                        </a:rPr>
                        <a:t>2.9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EF5FF"/>
                          </a:solidFill>
                        </a:rPr>
                        <a:t>1.4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EF5FF"/>
                          </a:solidFill>
                        </a:rPr>
                        <a:t>0.2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D740"/>
                          </a:solidFill>
                        </a:rPr>
                        <a:t>setosa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04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EF5FF"/>
                          </a:solidFill>
                        </a:rPr>
                        <a:t>5.9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EF5FF"/>
                          </a:solidFill>
                        </a:rPr>
                        <a:t>3.0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EF5FF"/>
                          </a:solidFill>
                        </a:rPr>
                        <a:t>5.1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EF5FF"/>
                          </a:solidFill>
                        </a:rPr>
                        <a:t>1.8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E676"/>
                          </a:solidFill>
                        </a:rPr>
                        <a:t>virginica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320040" y="48920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2A5F5"/>
                </a:solidFill>
              </a:rPr>
              <a:t>← These 4 columns are the FEATURES (measurements in cm)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583680" y="48920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FFD740"/>
                </a:solidFill>
              </a:rPr>
              <a:t>This column is the TARGET →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565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D740"/>
                </a:solidFill>
              </a:rPr>
              <a:t>Vocabulary in Action — Identifying the TARGET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8503920" cy="594360"/>
          </a:xfrm>
          <a:prstGeom prst="rect">
            <a:avLst/>
          </a:prstGeom>
          <a:solidFill>
            <a:srgbClr val="0A2A6E"/>
          </a:solidFill>
          <a:ln w="25400">
            <a:solidFill>
              <a:srgbClr val="FFD7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D740"/>
                </a:solidFill>
              </a:rPr>
              <a:t>TARGET  </a:t>
            </a:r>
            <a:r>
              <a:rPr lang="en-US" sz="1300" dirty="0">
                <a:solidFill>
                  <a:srgbClr val="FFFFFF"/>
                </a:solidFill>
              </a:rPr>
              <a:t>= The column we want to PREDICT. In iris: the 'species' column — setosa, versicolor, or virginica.</a:t>
            </a:r>
            <a:endParaRPr lang="en-US" sz="1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600200"/>
          <a:ext cx="8503920" cy="192024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90CAF9"/>
                          </a:solidFill>
                        </a:rPr>
                        <a:t>sepal length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90CAF9"/>
                          </a:solidFill>
                        </a:rPr>
                        <a:t>sepal width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90CAF9"/>
                          </a:solidFill>
                        </a:rPr>
                        <a:t>petal length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90CAF9"/>
                          </a:solidFill>
                        </a:rPr>
                        <a:t>petal width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D740"/>
                          </a:solidFill>
                        </a:rPr>
                        <a:t>species  ★ TARGET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2E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90CAF9"/>
                          </a:solidFill>
                        </a:rPr>
                        <a:t>6.7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90CAF9"/>
                          </a:solidFill>
                        </a:rPr>
                        <a:t>3.0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90CAF9"/>
                          </a:solidFill>
                        </a:rPr>
                        <a:t>5.2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90CAF9"/>
                          </a:solidFill>
                        </a:rPr>
                        <a:t>2.3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D740"/>
                          </a:solidFill>
                        </a:rPr>
                        <a:t>virginica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E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90CAF9"/>
                          </a:solidFill>
                        </a:rPr>
                        <a:t>6.4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90CAF9"/>
                          </a:solidFill>
                        </a:rPr>
                        <a:t>2.8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90CAF9"/>
                          </a:solidFill>
                        </a:rPr>
                        <a:t>5.6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90CAF9"/>
                          </a:solidFill>
                        </a:rPr>
                        <a:t>2.1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D740"/>
                          </a:solidFill>
                        </a:rPr>
                        <a:t>virginica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E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90CAF9"/>
                          </a:solidFill>
                        </a:rPr>
                        <a:t>4.6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90CAF9"/>
                          </a:solidFill>
                        </a:rPr>
                        <a:t>3.4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90CAF9"/>
                          </a:solidFill>
                        </a:rPr>
                        <a:t>1.4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90CAF9"/>
                          </a:solidFill>
                        </a:rPr>
                        <a:t>0.3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D740"/>
                          </a:solidFill>
                        </a:rPr>
                        <a:t>setosa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E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90CAF9"/>
                          </a:solidFill>
                        </a:rPr>
                        <a:t>6.9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90CAF9"/>
                          </a:solidFill>
                        </a:rPr>
                        <a:t>3.1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90CAF9"/>
                          </a:solidFill>
                        </a:rPr>
                        <a:t>4.9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90CAF9"/>
                          </a:solidFill>
                        </a:rPr>
                        <a:t>1.5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D740"/>
                          </a:solidFill>
                        </a:rPr>
                        <a:t>versicolor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E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90CAF9"/>
                          </a:solidFill>
                        </a:rPr>
                        <a:t>4.4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90CAF9"/>
                          </a:solidFill>
                        </a:rPr>
                        <a:t>2.9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90CAF9"/>
                          </a:solidFill>
                        </a:rPr>
                        <a:t>1.4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90CAF9"/>
                          </a:solidFill>
                        </a:rPr>
                        <a:t>0.2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D740"/>
                          </a:solidFill>
                        </a:rPr>
                        <a:t>setosa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E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365760" y="363931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Why is species the TARGET?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65760" y="3995928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BDEFB"/>
                </a:solidFill>
              </a:rPr>
              <a:t>Because that is what we want to PREDICT for new flowers. If we have a new iris flower and measure its petals and sepals, we want to know: is this setosa, versicolor, or virginica? The model learns from the species labels in the training data and then predicts species for flowers it has never seen before.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20040" y="4828032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D7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Python:   X = df.drop('species', axis=1)    y = df['species']   → y is the target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565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D740"/>
                </a:solidFill>
              </a:rPr>
              <a:t>Vocabulary in Action — Identifying the FEATURES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8503920" cy="594360"/>
          </a:xfrm>
          <a:prstGeom prst="rect">
            <a:avLst/>
          </a:prstGeom>
          <a:solidFill>
            <a:srgbClr val="0A2A6E"/>
          </a:solidFill>
          <a:ln w="25400">
            <a:solidFill>
              <a:srgbClr val="42A5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2A5F5"/>
                </a:solidFill>
              </a:rPr>
              <a:t>FEATURES  </a:t>
            </a:r>
            <a:r>
              <a:rPr lang="en-US" sz="1300" dirty="0">
                <a:solidFill>
                  <a:srgbClr val="FFFFFF"/>
                </a:solidFill>
              </a:rPr>
              <a:t>= All the INPUT columns (non-target). In iris: sepal length, sepal width, petal length, petal width.</a:t>
            </a:r>
            <a:endParaRPr lang="en-US" sz="1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600200"/>
          <a:ext cx="8503920" cy="160020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42A5F5"/>
                          </a:solidFill>
                        </a:rPr>
                        <a:t>sepal length ★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42A5F5"/>
                          </a:solidFill>
                        </a:rPr>
                        <a:t>sepal width ★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42A5F5"/>
                          </a:solidFill>
                        </a:rPr>
                        <a:t>petal length ★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42A5F5"/>
                          </a:solidFill>
                        </a:rPr>
                        <a:t>petal width ★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90CAF9"/>
                          </a:solidFill>
                        </a:rPr>
                        <a:t>species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A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42A5F5"/>
                          </a:solidFill>
                        </a:rPr>
                        <a:t>6.7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42A5F5"/>
                          </a:solidFill>
                        </a:rPr>
                        <a:t>3.0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42A5F5"/>
                          </a:solidFill>
                        </a:rPr>
                        <a:t>5.2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42A5F5"/>
                          </a:solidFill>
                        </a:rPr>
                        <a:t>2.3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90CAF9"/>
                          </a:solidFill>
                        </a:rPr>
                        <a:t>virginica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42A5F5"/>
                          </a:solidFill>
                        </a:rPr>
                        <a:t>6.4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42A5F5"/>
                          </a:solidFill>
                        </a:rPr>
                        <a:t>2.8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42A5F5"/>
                          </a:solidFill>
                        </a:rPr>
                        <a:t>5.6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42A5F5"/>
                          </a:solidFill>
                        </a:rPr>
                        <a:t>2.1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90CAF9"/>
                          </a:solidFill>
                        </a:rPr>
                        <a:t>virginica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42A5F5"/>
                          </a:solidFill>
                        </a:rPr>
                        <a:t>4.6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42A5F5"/>
                          </a:solidFill>
                        </a:rPr>
                        <a:t>3.4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42A5F5"/>
                          </a:solidFill>
                        </a:rPr>
                        <a:t>1.4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42A5F5"/>
                          </a:solidFill>
                        </a:rPr>
                        <a:t>0.3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90CAF9"/>
                          </a:solidFill>
                        </a:rPr>
                        <a:t>setosa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42A5F5"/>
                          </a:solidFill>
                        </a:rPr>
                        <a:t>6.9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42A5F5"/>
                          </a:solidFill>
                        </a:rPr>
                        <a:t>3.1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42A5F5"/>
                          </a:solidFill>
                        </a:rPr>
                        <a:t>4.9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42A5F5"/>
                          </a:solidFill>
                        </a:rPr>
                        <a:t>1.5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90CAF9"/>
                          </a:solidFill>
                        </a:rPr>
                        <a:t>versicolor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365760" y="331012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Why do these 4 measurements work as features?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20040" y="3703320"/>
            <a:ext cx="4069080" cy="530352"/>
          </a:xfrm>
          <a:prstGeom prst="rect">
            <a:avLst/>
          </a:prstGeom>
          <a:solidFill>
            <a:srgbClr val="1040A0"/>
          </a:solidFill>
          <a:ln w="12700">
            <a:solidFill>
              <a:srgbClr val="2979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3703320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EF5FF"/>
                </a:solidFill>
              </a:rPr>
              <a:t>  They are MEASURABLE — you can measure any iris flower the same way, numerically.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617720" y="3703320"/>
            <a:ext cx="4069080" cy="530352"/>
          </a:xfrm>
          <a:prstGeom prst="rect">
            <a:avLst/>
          </a:prstGeom>
          <a:solidFill>
            <a:srgbClr val="1040A0"/>
          </a:solidFill>
          <a:ln w="12700">
            <a:solidFill>
              <a:srgbClr val="2979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54880" y="3703320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EF5FF"/>
                </a:solidFill>
              </a:rPr>
              <a:t>  They are PREDICTIVE — different species have measurably different petal/sepal sizes.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20040" y="4343400"/>
            <a:ext cx="4069080" cy="530352"/>
          </a:xfrm>
          <a:prstGeom prst="rect">
            <a:avLst/>
          </a:prstGeom>
          <a:solidFill>
            <a:srgbClr val="1040A0"/>
          </a:solidFill>
          <a:ln w="12700">
            <a:solidFill>
              <a:srgbClr val="2979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" y="4343400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EF5FF"/>
                </a:solidFill>
              </a:rPr>
              <a:t>  They are GENERALIZABLE — the same measurements work for new unseen flowers.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617720" y="4343400"/>
            <a:ext cx="4069080" cy="530352"/>
          </a:xfrm>
          <a:prstGeom prst="rect">
            <a:avLst/>
          </a:prstGeom>
          <a:solidFill>
            <a:srgbClr val="1040A0"/>
          </a:solidFill>
          <a:ln w="12700">
            <a:solidFill>
              <a:srgbClr val="2979FF"/>
            </a:solidFill>
            <a:prstDash val="solid"/>
          </a:ln>
        </p:spPr>
      </p:sp>
      <p:sp>
        <p:nvSpPr>
          <p:cNvPr id="6" name="Text 12"/>
          <p:cNvSpPr/>
          <p:nvPr/>
        </p:nvSpPr>
        <p:spPr>
          <a:xfrm>
            <a:off x="4754880" y="4343400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EF5FF"/>
                </a:solidFill>
              </a:rPr>
              <a:t>  If a feature did NOT vary between species, it would be USELESS — no predictive power.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565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D740"/>
                </a:solidFill>
              </a:rPr>
              <a:t>Vocabulary in Action — EXAMPLE and LABEL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8503920" cy="530352"/>
          </a:xfrm>
          <a:prstGeom prst="rect">
            <a:avLst/>
          </a:prstGeom>
          <a:solidFill>
            <a:srgbClr val="0A2A6E"/>
          </a:solidFill>
          <a:ln w="25400">
            <a:solidFill>
              <a:srgbClr val="00E67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E676"/>
                </a:solidFill>
              </a:rPr>
              <a:t>EXAMPLE  </a:t>
            </a:r>
            <a:r>
              <a:rPr lang="en-US" sz="1200" dirty="0">
                <a:solidFill>
                  <a:srgbClr val="FFFFFF"/>
                </a:solidFill>
              </a:rPr>
              <a:t>= A single ROW in the dataset — one complete data point (all features + label together).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20040" y="1508760"/>
            <a:ext cx="8503920" cy="530352"/>
          </a:xfrm>
          <a:prstGeom prst="rect">
            <a:avLst/>
          </a:prstGeom>
          <a:solidFill>
            <a:srgbClr val="0A2A6E"/>
          </a:solidFill>
          <a:ln w="25400">
            <a:solidFill>
              <a:srgbClr val="FF525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08760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5252"/>
                </a:solidFill>
              </a:rPr>
              <a:t>LABEL  </a:t>
            </a:r>
            <a:r>
              <a:rPr lang="en-US" sz="1200" dirty="0">
                <a:solidFill>
                  <a:srgbClr val="FFFFFF"/>
                </a:solidFill>
              </a:rPr>
              <a:t>= The TARGET VALUE for ONE specific example — the correct answer for that single row.</a:t>
            </a:r>
            <a:endParaRPr lang="en-US" sz="15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2103120"/>
          <a:ext cx="8503920" cy="155448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90CAF9"/>
                          </a:solidFill>
                        </a:rPr>
                        <a:t>sepal length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90CAF9"/>
                          </a:solidFill>
                        </a:rPr>
                        <a:t>sepal width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90CAF9"/>
                          </a:solidFill>
                        </a:rPr>
                        <a:t>petal length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90CAF9"/>
                          </a:solidFill>
                        </a:rPr>
                        <a:t>petal width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90CAF9"/>
                          </a:solidFill>
                        </a:rPr>
                        <a:t>species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A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E676"/>
                          </a:solidFill>
                        </a:rPr>
                        <a:t>6.7 ◄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E676"/>
                          </a:solidFill>
                        </a:rPr>
                        <a:t>3.0 ◄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E676"/>
                          </a:solidFill>
                        </a:rPr>
                        <a:t>5.2 ◄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E676"/>
                          </a:solidFill>
                        </a:rPr>
                        <a:t>2.3 ◄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5252"/>
                          </a:solidFill>
                        </a:rPr>
                        <a:t>virginica ★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0A0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EF5FF"/>
                          </a:solidFill>
                        </a:rPr>
                        <a:t>6.4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EF5FF"/>
                          </a:solidFill>
                        </a:rPr>
                        <a:t>2.8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EF5FF"/>
                          </a:solidFill>
                        </a:rPr>
                        <a:t>5.6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EF5FF"/>
                          </a:solidFill>
                        </a:rPr>
                        <a:t>2.1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90CAF9"/>
                          </a:solidFill>
                        </a:rPr>
                        <a:t>virginica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EF5FF"/>
                          </a:solidFill>
                        </a:rPr>
                        <a:t>4.6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EF5FF"/>
                          </a:solidFill>
                        </a:rPr>
                        <a:t>3.4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EF5FF"/>
                          </a:solidFill>
                        </a:rPr>
                        <a:t>1.4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EF5FF"/>
                          </a:solidFill>
                        </a:rPr>
                        <a:t>0.3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90CAF9"/>
                          </a:solidFill>
                        </a:rPr>
                        <a:t>setosa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EF5FF"/>
                          </a:solidFill>
                        </a:rPr>
                        <a:t>6.9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EF5FF"/>
                          </a:solidFill>
                        </a:rPr>
                        <a:t>3.1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EF5FF"/>
                          </a:solidFill>
                        </a:rPr>
                        <a:t>4.9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EF5FF"/>
                          </a:solidFill>
                        </a:rPr>
                        <a:t>1.5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90CAF9"/>
                          </a:solidFill>
                        </a:rPr>
                        <a:t>versicolor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320040" y="3749040"/>
            <a:ext cx="4023360" cy="1188720"/>
          </a:xfrm>
          <a:prstGeom prst="rect">
            <a:avLst/>
          </a:prstGeom>
          <a:solidFill>
            <a:srgbClr val="1040A0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379476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676"/>
                </a:solidFill>
              </a:rPr>
              <a:t>GREEN ROW = One EXAMPLE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57200" y="4114800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EF5FF"/>
                </a:solidFill>
              </a:rPr>
              <a:t>The entire row [6.7, 3.0, 5.2, 2.3, virginica] is ONE example — one iris flower measured in the field. The dataset has 150 such examples.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800600" y="3749040"/>
            <a:ext cx="4023360" cy="1188720"/>
          </a:xfrm>
          <a:prstGeom prst="rect">
            <a:avLst/>
          </a:prstGeom>
          <a:solidFill>
            <a:srgbClr val="1040A0"/>
          </a:solidFill>
          <a:ln w="12700">
            <a:solidFill>
              <a:srgbClr val="FF525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937760" y="379476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5252"/>
                </a:solidFill>
              </a:rPr>
              <a:t>STAR CELL = The LABEL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937760" y="4114800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EF5FF"/>
                </a:solidFill>
              </a:rPr>
              <a:t>The label for this example is 'virginica' — that is the confirmed species identity for THIS specific flower. This is what the model is trained to predict.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565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D740"/>
                </a:solidFill>
              </a:rPr>
              <a:t>All Four Vocabulary Terms — Side by Side</a:t>
            </a:r>
            <a:endParaRPr lang="en-US" sz="24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914400"/>
          <a:ext cx="8686800" cy="2935224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852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Term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E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What is it?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E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Other names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E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In Iris dataset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E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In Python (sklearn)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E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D740"/>
                          </a:solidFill>
                        </a:rPr>
                        <a:t>TARGET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EF5FF"/>
                          </a:solidFill>
                        </a:rPr>
                        <a:t>The column to predict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EF5FF"/>
                          </a:solidFill>
                        </a:rPr>
                        <a:t>output, y, label column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D740"/>
                          </a:solidFill>
                        </a:rPr>
                        <a:t>species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D74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y = df['species']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42A5F5"/>
                          </a:solidFill>
                        </a:rPr>
                        <a:t>FEATURES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EF5FF"/>
                          </a:solidFill>
                        </a:rPr>
                        <a:t>Input columns (all non-target)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EF5FF"/>
                          </a:solidFill>
                        </a:rPr>
                        <a:t>X, predictors, inputs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2A5F5"/>
                          </a:solidFill>
                        </a:rPr>
                        <a:t>sepal/petal length &amp; width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2A5F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 = df.drop('species',axis=1)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E676"/>
                          </a:solidFill>
                        </a:rPr>
                        <a:t>EXAMPLE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EF5FF"/>
                          </a:solidFill>
                        </a:rPr>
                        <a:t>One single row of data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EF5FF"/>
                          </a:solidFill>
                        </a:rPr>
                        <a:t>observation, instance, row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E676"/>
                          </a:solidFill>
                        </a:rPr>
                        <a:t>[6.7, 3.0, 5.2, 2.3, virginica]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E6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X.iloc[0]  (first row)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5252"/>
                          </a:solidFill>
                        </a:rPr>
                        <a:t>LABEL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EF5FF"/>
                          </a:solidFill>
                        </a:rPr>
                        <a:t>Target value for one example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EF5FF"/>
                          </a:solidFill>
                        </a:rPr>
                        <a:t>answer, ground truth, tag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5252"/>
                          </a:solidFill>
                        </a:rPr>
                        <a:t>'virginica' (for row 1)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525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y.iloc[0]  →  'virginica'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7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39319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How they relate to each other: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320040" y="4297680"/>
            <a:ext cx="8503920" cy="685800"/>
          </a:xfrm>
          <a:prstGeom prst="rect">
            <a:avLst/>
          </a:prstGeom>
          <a:solidFill>
            <a:srgbClr val="0A2A6E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4297680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DATASET</a:t>
            </a:r>
            <a:r>
              <a:rPr lang="en-US" sz="1300" dirty="0">
                <a:solidFill>
                  <a:srgbClr val="90CAF9"/>
                </a:solidFill>
              </a:rPr>
              <a:t> = many </a:t>
            </a:r>
            <a:r>
              <a:rPr lang="en-US" sz="1300" b="1" dirty="0">
                <a:solidFill>
                  <a:srgbClr val="00E676"/>
                </a:solidFill>
              </a:rPr>
              <a:t>EXAMPLES</a:t>
            </a:r>
            <a:r>
              <a:rPr lang="en-US" sz="1300" dirty="0">
                <a:solidFill>
                  <a:srgbClr val="90CAF9"/>
                </a:solidFill>
              </a:rPr>
              <a:t>  |  Each EXAMPLE has </a:t>
            </a:r>
            <a:r>
              <a:rPr lang="en-US" sz="1300" b="1" dirty="0">
                <a:solidFill>
                  <a:srgbClr val="42A5F5"/>
                </a:solidFill>
              </a:rPr>
              <a:t>FEATURES</a:t>
            </a:r>
            <a:r>
              <a:rPr lang="en-US" sz="1300" dirty="0">
                <a:solidFill>
                  <a:srgbClr val="90CAF9"/>
                </a:solidFill>
              </a:rPr>
              <a:t> + a </a:t>
            </a:r>
            <a:r>
              <a:rPr lang="en-US" sz="1300" b="1" dirty="0">
                <a:solidFill>
                  <a:srgbClr val="FF5252"/>
                </a:solidFill>
              </a:rPr>
              <a:t>LABEL</a:t>
            </a:r>
            <a:r>
              <a:rPr lang="en-US" sz="1300" dirty="0">
                <a:solidFill>
                  <a:srgbClr val="90CAF9"/>
                </a:solidFill>
              </a:rPr>
              <a:t>  |  The </a:t>
            </a:r>
            <a:r>
              <a:rPr lang="en-US" sz="1300" b="1" dirty="0">
                <a:solidFill>
                  <a:srgbClr val="FF5252"/>
                </a:solidFill>
              </a:rPr>
              <a:t>LABEL</a:t>
            </a:r>
            <a:r>
              <a:rPr lang="en-US" sz="1300" dirty="0">
                <a:solidFill>
                  <a:srgbClr val="90CAF9"/>
                </a:solidFill>
              </a:rPr>
              <a:t> column across ALL rows = the </a:t>
            </a:r>
            <a:r>
              <a:rPr lang="en-US" sz="1300" b="1" dirty="0">
                <a:solidFill>
                  <a:srgbClr val="FFD740"/>
                </a:solidFill>
              </a:rPr>
              <a:t>TARGET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565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D740"/>
                </a:solidFill>
              </a:rPr>
              <a:t>Common Mistakes in Supervised Learning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8503920" cy="914400"/>
          </a:xfrm>
          <a:prstGeom prst="rect">
            <a:avLst/>
          </a:prstGeom>
          <a:solidFill>
            <a:srgbClr val="0A2A6E"/>
          </a:solidFill>
          <a:ln w="12700">
            <a:solidFill>
              <a:srgbClr val="FF525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1498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5252"/>
                </a:solidFill>
              </a:rPr>
              <a:t>🔀  Confusing Regression and Classification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344168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EF5FF"/>
                </a:solidFill>
              </a:rPr>
              <a:t>Using a classifier when you need a number (or vice-versa). Always ask: is my target a number or a category?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663440" y="1051560"/>
            <a:ext cx="4023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E676"/>
                </a:solidFill>
              </a:rPr>
              <a:t>Fix: Look at your target column. If it has infinite possible values → Regression. If it has a small fixed set of values → Classification.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" y="1993392"/>
            <a:ext cx="8503920" cy="914400"/>
          </a:xfrm>
          <a:prstGeom prst="rect">
            <a:avLst/>
          </a:prstGeom>
          <a:solidFill>
            <a:srgbClr val="0A2A6E"/>
          </a:solidFill>
          <a:ln w="12700">
            <a:solidFill>
              <a:srgbClr val="FF525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04825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5252"/>
                </a:solidFill>
              </a:rPr>
              <a:t>📊  Too little training data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377440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EF5FF"/>
                </a:solidFill>
              </a:rPr>
              <a:t>A model trained on 10 examples of spam will fail on real email. You need enough labeled examples to cover the full range of variation.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663440" y="2084832"/>
            <a:ext cx="4023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E676"/>
                </a:solidFill>
              </a:rPr>
              <a:t>Fix: Rule of thumb: at least 10× more examples than features. More is always better for supervised learning.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3026664"/>
            <a:ext cx="8503920" cy="914400"/>
          </a:xfrm>
          <a:prstGeom prst="rect">
            <a:avLst/>
          </a:prstGeom>
          <a:solidFill>
            <a:srgbClr val="0A2A6E"/>
          </a:solidFill>
          <a:ln w="12700">
            <a:solidFill>
              <a:srgbClr val="FF525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08152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5252"/>
                </a:solidFill>
              </a:rPr>
              <a:t>🔒  Using the target as a feature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3410712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EF5FF"/>
                </a:solidFill>
              </a:rPr>
              <a:t>Including the target column in the feature set (data leakage). The model would 'cheat' — perfectly predicting what it already knows.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663440" y="3118104"/>
            <a:ext cx="4023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E676"/>
                </a:solidFill>
              </a:rPr>
              <a:t>Fix: Always drop the target column before passing features to the model. Use: X = df.drop('target', axis=1)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4059936"/>
            <a:ext cx="8503920" cy="914400"/>
          </a:xfrm>
          <a:prstGeom prst="rect">
            <a:avLst/>
          </a:prstGeom>
          <a:solidFill>
            <a:srgbClr val="0A2A6E"/>
          </a:solidFill>
          <a:ln w="12700">
            <a:solidFill>
              <a:srgbClr val="FF525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1148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5252"/>
                </a:solidFill>
              </a:rPr>
              <a:t>🌍  Non-representative training data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4443984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EF5FF"/>
                </a:solidFill>
              </a:rPr>
              <a:t>Training on data from one city and predicting for another. If patterns differ, the model will fail to generalize.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663440" y="4151376"/>
            <a:ext cx="4023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E676"/>
                </a:solidFill>
              </a:rPr>
              <a:t>Fix: Ensure your training data comes from the same distribution as future prediction data.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4818888"/>
            <a:ext cx="8503920" cy="292608"/>
          </a:xfrm>
          <a:prstGeom prst="rect">
            <a:avLst/>
          </a:prstGeom>
          <a:solidFill>
            <a:srgbClr val="0D2240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818888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42A5F5"/>
                </a:solidFill>
              </a:rPr>
              <a:t>Learning from mistakes is part of the process — even experienced data scientists make all of these!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565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D740"/>
                </a:solidFill>
              </a:rPr>
              <a:t>Session Summary — Everything in One Place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8503920" cy="621792"/>
          </a:xfrm>
          <a:prstGeom prst="rect">
            <a:avLst/>
          </a:prstGeom>
          <a:solidFill>
            <a:srgbClr val="0A2A6E"/>
          </a:solidFill>
          <a:ln w="12700">
            <a:solidFill>
              <a:srgbClr val="FFD7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84048" y="969264"/>
            <a:ext cx="475488" cy="475488"/>
          </a:xfrm>
          <a:prstGeom prst="ellipse">
            <a:avLst/>
          </a:prstGeom>
          <a:solidFill>
            <a:srgbClr val="FFD740"/>
          </a:solidFill>
          <a:ln w="12700">
            <a:solidFill>
              <a:srgbClr val="FFD7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9692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2B6E"/>
                </a:solidFill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9875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740"/>
                </a:solidFill>
              </a:rPr>
              <a:t>Machine Learning learns from data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1280160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CAF9"/>
                </a:solidFill>
              </a:rPr>
              <a:t>Instead of hand-coding rules, ML algorithms discover patterns automatically from labeled examples.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1627632"/>
            <a:ext cx="8503920" cy="621792"/>
          </a:xfrm>
          <a:prstGeom prst="rect">
            <a:avLst/>
          </a:prstGeom>
          <a:solidFill>
            <a:srgbClr val="0A2A6E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4048" y="1682496"/>
            <a:ext cx="475488" cy="475488"/>
          </a:xfrm>
          <a:prstGeom prst="ellipse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16824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2B6E"/>
                </a:solidFill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5840" y="170078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676"/>
                </a:solidFill>
              </a:rPr>
              <a:t>Supervised = labeled data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05840" y="1993392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CAF9"/>
                </a:solidFill>
              </a:rPr>
              <a:t>Every training example has a known correct answer (label). The model learns to predict these labels.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2340864"/>
            <a:ext cx="8503920" cy="621792"/>
          </a:xfrm>
          <a:prstGeom prst="rect">
            <a:avLst/>
          </a:prstGeom>
          <a:solidFill>
            <a:srgbClr val="0A2A6E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4048" y="2395728"/>
            <a:ext cx="475488" cy="475488"/>
          </a:xfrm>
          <a:prstGeom prst="ellipse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23957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2B6E"/>
                </a:solidFill>
              </a:rPr>
              <a:t>03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05840" y="241401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2A5F5"/>
                </a:solidFill>
              </a:rPr>
              <a:t>Regression predicts NUMBERS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05840" y="2706624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CAF9"/>
                </a:solidFill>
              </a:rPr>
              <a:t>Continuous output — house prices, temperatures, revenue. Output can be any value on a scale.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3054096"/>
            <a:ext cx="8503920" cy="621792"/>
          </a:xfrm>
          <a:prstGeom prst="rect">
            <a:avLst/>
          </a:prstGeom>
          <a:solidFill>
            <a:srgbClr val="0A2A6E"/>
          </a:solidFill>
          <a:ln w="12700">
            <a:solidFill>
              <a:srgbClr val="FF525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84048" y="3108960"/>
            <a:ext cx="475488" cy="475488"/>
          </a:xfrm>
          <a:prstGeom prst="ellipse">
            <a:avLst/>
          </a:prstGeom>
          <a:solidFill>
            <a:srgbClr val="FF5252"/>
          </a:solidFill>
          <a:ln w="12700">
            <a:solidFill>
              <a:srgbClr val="FF525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" y="31089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2B6E"/>
                </a:solidFill>
              </a:rPr>
              <a:t>04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05840" y="31272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5252"/>
                </a:solidFill>
              </a:rPr>
              <a:t>Classification predicts CATEGORIES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05840" y="3419856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CAF9"/>
                </a:solidFill>
              </a:rPr>
              <a:t>Discrete output — spam/not spam, species names, diagnosis. Output is one of N fixed labels.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3767328"/>
            <a:ext cx="8503920" cy="621792"/>
          </a:xfrm>
          <a:prstGeom prst="rect">
            <a:avLst/>
          </a:prstGeom>
          <a:solidFill>
            <a:srgbClr val="0A2A6E"/>
          </a:solidFill>
          <a:ln w="12700">
            <a:solidFill>
              <a:srgbClr val="CE93D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84048" y="3822192"/>
            <a:ext cx="475488" cy="475488"/>
          </a:xfrm>
          <a:prstGeom prst="ellipse">
            <a:avLst/>
          </a:prstGeom>
          <a:solidFill>
            <a:srgbClr val="CE93D8"/>
          </a:solidFill>
          <a:ln w="12700">
            <a:solidFill>
              <a:srgbClr val="CE93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4048" y="38221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2B6E"/>
                </a:solidFill>
              </a:rPr>
              <a:t>05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05840" y="38404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E93D8"/>
                </a:solidFill>
              </a:rPr>
              <a:t>4 essential vocabulary terms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05840" y="4133088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CAF9"/>
                </a:solidFill>
              </a:rPr>
              <a:t>Target (what to predict) · Features (inputs) · Example (one row) · Label (target for one example)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0040" y="4480560"/>
            <a:ext cx="8503920" cy="621792"/>
          </a:xfrm>
          <a:prstGeom prst="rect">
            <a:avLst/>
          </a:prstGeom>
          <a:solidFill>
            <a:srgbClr val="0A2A6E"/>
          </a:solidFill>
          <a:ln w="12700">
            <a:solidFill>
              <a:srgbClr val="FFD74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84048" y="4535424"/>
            <a:ext cx="475488" cy="475488"/>
          </a:xfrm>
          <a:prstGeom prst="ellipse">
            <a:avLst/>
          </a:prstGeom>
          <a:solidFill>
            <a:srgbClr val="FFD740"/>
          </a:solidFill>
          <a:ln w="12700">
            <a:solidFill>
              <a:srgbClr val="FFD74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84048" y="45354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2B6E"/>
                </a:solidFill>
              </a:rPr>
              <a:t>06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005840" y="455371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740"/>
                </a:solidFill>
              </a:rPr>
              <a:t>Pipeline: fit → predict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005840" y="4846320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CAF9"/>
                </a:solidFill>
              </a:rPr>
              <a:t>Train on labeled data with .fit(), then predict new labels on unseen data with .predict(). Two separate phases.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565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-1828800"/>
            <a:ext cx="6400800" cy="6400800"/>
          </a:xfrm>
          <a:prstGeom prst="ellipse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1097280"/>
            <a:ext cx="5029200" cy="502920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FFD740"/>
          </a:solidFill>
          <a:ln w="12700">
            <a:solidFill>
              <a:srgbClr val="FFD7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82296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FFFFFF"/>
                </a:solidFill>
              </a:rPr>
              <a:t>You now understand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02920" y="128016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D740"/>
                </a:solidFill>
              </a:rPr>
              <a:t>Supervised Learning!</a:t>
            </a:r>
            <a:endParaRPr lang="en-US" sz="3600" dirty="0"/>
          </a:p>
        </p:txBody>
      </p:sp>
      <p:sp>
        <p:nvSpPr>
          <p:cNvPr id="12" name="Shape 10"/>
          <p:cNvSpPr/>
          <p:nvPr/>
        </p:nvSpPr>
        <p:spPr>
          <a:xfrm>
            <a:off x="502920" y="4526280"/>
            <a:ext cx="2377440" cy="438912"/>
          </a:xfrm>
          <a:prstGeom prst="rect">
            <a:avLst/>
          </a:prstGeom>
          <a:solidFill>
            <a:srgbClr val="FFD740"/>
          </a:solidFill>
          <a:ln w="12700">
            <a:solidFill>
              <a:srgbClr val="FFD7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4526280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0D2B6E"/>
                </a:solidFill>
              </a:rPr>
              <a:t>AI MASTER CLASS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5134</TotalTime>
  <Words>2761</Words>
  <Application>Microsoft Office PowerPoint</Application>
  <PresentationFormat>On-screen Show (16:9)</PresentationFormat>
  <Paragraphs>440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Masterclass - Session 04: Intro to Supervised Learning</dc:title>
  <dc:subject>PptxGenJS Presentation</dc:subject>
  <dc:creator>PptxGenJS</dc:creator>
  <cp:lastModifiedBy>ahmed mansouri</cp:lastModifiedBy>
  <cp:revision>3</cp:revision>
  <dcterms:created xsi:type="dcterms:W3CDTF">2026-03-18T18:46:34Z</dcterms:created>
  <dcterms:modified xsi:type="dcterms:W3CDTF">2026-03-26T22:08:52Z</dcterms:modified>
</cp:coreProperties>
</file>
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2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Decision Tree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Step-by-Step Exercise with Math Calculations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5603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Play Tennis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5603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3200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Method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ID3 / Entropy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200400"/>
            <a:ext cx="25603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200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Goal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Classify Outlook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-14020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0 — The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34442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predict whether to PLAY TENNIS based on 4 weather features: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723632"/>
            <a:ext cx="1920240" cy="438912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236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Outlook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23160" y="723632"/>
            <a:ext cx="1920240" cy="438912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7236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723632"/>
            <a:ext cx="1920240" cy="438912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7236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Humidity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723632"/>
            <a:ext cx="1920240" cy="438912"/>
          </a:xfrm>
          <a:prstGeom prst="rect">
            <a:avLst/>
          </a:prstGeom>
          <a:solidFill>
            <a:srgbClr val="1A2E5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7236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Wind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636138"/>
              </p:ext>
            </p:extLst>
          </p:nvPr>
        </p:nvGraphicFramePr>
        <p:xfrm>
          <a:off x="274320" y="1198125"/>
          <a:ext cx="6766560" cy="37795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Humidity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Play Tennis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Sunny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Hot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Sunny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Hot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Overcast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Hot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Cool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Cool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Overcast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Cool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Sunny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Sunny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Cool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D10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D11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Sunny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Overcast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D13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Overcast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Hot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Weak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D14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Rain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Strong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247966" y="2398014"/>
            <a:ext cx="14859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C"/>
                </a:solidFill>
              </a:rPr>
              <a:t>Total: 14 days      ✅ Play = 9 (Yes)  ❌ No Play = 5 (No)  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A2E5C"/>
                </a:solidFill>
              </a:rPr>
              <a:t>   Target: Predict "Play Tennis"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 — What is Entropy?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51560"/>
          </a:xfrm>
          <a:prstGeom prst="rect">
            <a:avLst/>
          </a:prstGeom>
          <a:solidFill>
            <a:srgbClr val="1A2E5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Entropy Formula: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H(S) = − Σ  pᵢ · log₂(pᵢ)        where pᵢ = proportion of class i in dataset 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57400"/>
            <a:ext cx="265176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121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🔴  H = 0  →  Pure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4688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All examples belong to ONE class.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 uncertainty at all.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2057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057400"/>
            <a:ext cx="26517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2121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🟡  H = 1  →  Max Impure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27832" y="24688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Classes are perfectly mixed (50/50).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Maximum uncertainty.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57400"/>
            <a:ext cx="26517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2121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🔵  Goal: Minimize 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08192" y="24688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Decision Tree splits data 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reduce entropy as fast as possible.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8595360" cy="1481328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Calculating Root Entropy  H(S)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Dataset S has  9 Yes  and  5 No  →  Total = 14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p(Yes) = 9/14 = 0.643        p(No) = 5/14 = 0.357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16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H(S) = −(0.643 × log₂ 0.643) − (0.357 × log₂ 0.357)  =  −(0.643 × −0.637) − (0.357 × −1.486)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H(S) = 0.410 + 0.531  =  0.940 bits  ← This is our starting impurity!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Information Gain (IG)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1A2E5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IG(S, A) = H(S)  −  Σ  (|Sv| / |S|) × H(Sv)        We pick the attribute A with the HIGHEST IG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We will now compute IG for each of the 4 features: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1920240" cy="123444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2084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Outlook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423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EF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0.247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" y="27614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🥇 BEST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057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96312" y="2084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2423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0.029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96312" y="27614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🥉 3rd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057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2084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Humidity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152" y="2423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0.152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5152" y="27614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🥈 2nd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20574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93992" y="2084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Wind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3992" y="2423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0.048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93992" y="27614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4th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4015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C"/>
                </a:solidFill>
              </a:rPr>
              <a:t>How we compute IG for OUTLOOK (next slide):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201168" cy="2011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749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Split data by each value of Outlook: Sunny (5 days), Overcast (4 days), Rain (5 days)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201168" cy="2011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Compute entropy H for each subset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201168" cy="2011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42976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Compute weighted average: Σ (size_subset / total) × H(subset)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201168" cy="2011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4572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5720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IG = H(root) − weighted average = 0.940 − 0.693 = 0.247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Step 3 — IG Calculation: OUTLOOK (Detailed)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6517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41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☀️  Sunny  (5 days)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468880" cy="274320"/>
          </a:xfrm>
          <a:prstGeom prst="rect">
            <a:avLst/>
          </a:prstGeom>
          <a:solidFill>
            <a:srgbClr val="FFE4E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D1: No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2468880" cy="274320"/>
          </a:xfrm>
          <a:prstGeom prst="rect">
            <a:avLst/>
          </a:prstGeom>
          <a:solidFill>
            <a:srgbClr val="FFE4E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91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D2: No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2468880" cy="274320"/>
          </a:xfrm>
          <a:prstGeom prst="rect">
            <a:avLst/>
          </a:prstGeom>
          <a:solidFill>
            <a:srgbClr val="FF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01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D8: 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D9: Yes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23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D11: Yes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265176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529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Yes=2  No=3  Total=5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090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−(2/5)log₂(2/5) − (3/5)log₂(3/5)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319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−(0.4×−1.322) − (0.6×−0.737)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0.529 + 0.442  =  0.971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841248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841248"/>
            <a:ext cx="265176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841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🌥️  Overcast  (4 days)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1280160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D3: Yes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1591056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1591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D7: Yes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1901952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1901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D12: Yes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2212848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D13: Yes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54680" y="2852928"/>
            <a:ext cx="265176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28529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Yes=4  No=0  Total=4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3090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−(4/4)log₂(4/4) − 0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0" y="3319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−(1.0 × 0) − 0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0.000  ✅ Pure!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841248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841248"/>
            <a:ext cx="265176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841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🌧️  Rain  (5 days)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1280160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D4: 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0" y="1591056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0" y="1591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D5: Yes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1901952"/>
            <a:ext cx="2468880" cy="274320"/>
          </a:xfrm>
          <a:prstGeom prst="rect">
            <a:avLst/>
          </a:prstGeom>
          <a:solidFill>
            <a:srgbClr val="FFE4E1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1901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D6: No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26480" y="2212848"/>
            <a:ext cx="246888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</a:rPr>
              <a:t>D10: Yes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26480" y="2523744"/>
            <a:ext cx="2468880" cy="274320"/>
          </a:xfrm>
          <a:prstGeom prst="rect">
            <a:avLst/>
          </a:prstGeom>
          <a:solidFill>
            <a:srgbClr val="FFE4E1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2523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D14: No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35040" y="2852928"/>
            <a:ext cx="265176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6080760" y="28529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Yes=3  No=2  Total=5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80760" y="3090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−(3/5)log₂(3/5) − (2/5)log₂(2/5)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80760" y="3319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−(0.6×−0.737) − (0.4×−1.322)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8076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0.442 + 0.529  =  0.971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636008"/>
            <a:ext cx="8595360" cy="457200"/>
          </a:xfrm>
          <a:prstGeom prst="rect">
            <a:avLst/>
          </a:prstGeom>
          <a:solidFill>
            <a:srgbClr val="1A2E5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65760" y="46360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IG(Outlook) = 0.940  −  [(5/14)×0.971 + (4/14)×0.000 + (5/14)×0.971]  =  0.940 − 0.693  =  0.247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 — IG for Humidity &amp; Wind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686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💧 HUMIDITY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3977640" cy="2743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53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5C"/>
                </a:solidFill>
              </a:rPr>
              <a:t>High (7 days)   Yes=3  No=4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−(3/7)log₂(3/7)−(4/7)log₂(4/7)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92938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H(High)  = 0.985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862072"/>
            <a:ext cx="3977640" cy="2743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8620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5C"/>
                </a:solidFill>
              </a:rPr>
              <a:t>Normal (7 days)   Yes=6  No=1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18211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−(6/7)log₂(6/7)−(1/7)log₂(1/7)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4381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H(Normal)= 0.592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407408"/>
            <a:ext cx="41605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40740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IG(Humidity) = 0.940 − [(7/14)×0.985 + (7/14)×0.592] = 0.940 − 0.789 = 0.152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868680"/>
            <a:ext cx="416052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8686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🌬️ WIND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82312" y="1353312"/>
            <a:ext cx="3977640" cy="2743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1353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5C"/>
                </a:solidFill>
              </a:rPr>
              <a:t>Weak (8 days)   Yes=6  No=2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167335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−(6/8)log₂(6/8)−(2/8)log₂(2/8)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8888" y="192938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H(Weak)  = 0.811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82312" y="2862072"/>
            <a:ext cx="3977640" cy="2743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28620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5C"/>
                </a:solidFill>
              </a:rPr>
              <a:t>Strong (6 days)   Yes=3  No=3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318211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−(3/6)log₂(3/6)−(3/6)log₂(3/6)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4381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H(Strong)= 1.000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4407408"/>
            <a:ext cx="4160520" cy="32004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40740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IG(Wind) = 0.940 − [(8/14)×0.811 + (6/14)×1.000] = 0.940 − 0.892 = 0.048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 — Comparing All Information Gains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We computed IG for all 4 features. The root node split is chosen by highest IG: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21031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Subsets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Weighted Entropy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Information Gain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Sunny/Overcast/Rain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0.693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0.940 − 0.693 = 0.247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1st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0.940 − 0.788 = 0.152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2nd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/ Strong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0.940 − 0.892 = 0.048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Hot/Mild/Cool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0.940 − 0.911 = 0.029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3rd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1A2E5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7490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✅  VERDICT — ROOT NODE:</a:t>
            </a:r>
            <a:endParaRPr lang="en-US" sz="1600" dirty="0"/>
          </a:p>
        </p:txBody>
      </p:sp>
      <p:sp>
        <p:nvSpPr>
          <p:cNvPr id="5" name="Text 5"/>
          <p:cNvSpPr/>
          <p:nvPr/>
        </p:nvSpPr>
        <p:spPr>
          <a:xfrm>
            <a:off x="640080" y="40873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OUTLOOK wins with the highest IG = 0.247  →  It becomes the Root of our Decision Tree!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3708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F5"/>
                </a:solidFill>
              </a:rPr>
              <a:t>Each branch of Outlook (Sunny / Overcast / Rain) becomes a sub-node — we repeat the process!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</a:rPr>
              <a:t>Step 6 — Sunny Branch: Which Feature Next?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8503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Sunny subset: D1, D2, D8, D9, D11  →  Yes=2, No=3  →  H(Sunny) = 0.971 bits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We test remaining features: Temperature, Humidity, Wind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6517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508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Humidity (Sunny)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(D1,D2,D8): Yes=0, No=3 → H=0.000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(D9,D11): Yes=2, No=0 → H=0.000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944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0.971−[(3/5)×0+(2/5)×0] = 0.971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370832"/>
            <a:ext cx="2651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🥇 WINNER — Split on Humidity!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508760"/>
            <a:ext cx="2651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9544" y="1508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Temperature (Sunny)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27832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(D1,D2): Yes=0, No=2 → H=0.000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(D8): Yes=0, No=1 → H=0.000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27832" y="2944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(D9,D11): Yes=2, No=0 → H=0.000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27832" y="3447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0.971−0 = 0.571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5087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508760"/>
            <a:ext cx="2651760" cy="36576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23" name="Text 21"/>
          <p:cNvSpPr/>
          <p:nvPr/>
        </p:nvSpPr>
        <p:spPr>
          <a:xfrm>
            <a:off x="6089904" y="1508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Wind (Sunny)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08192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(D1,D8,D9): Yes=1, No=2 → H=0.918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08192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(D2,D11): Yes=1, No=1 → H=1.000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2944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0.971−[(3/5)×0.918+(2/5)×1] = 0.019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☀️ Sunny → split on HUMIDITY:  High → NO ✋  |  Normal → YES ✅  (Both pure leaves!)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Step 7 — Rain Branch: Which Feature Next?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8503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Rain subset: D4, D5, D6, D10, D14  →  Yes=3, No=2  →  H(Rain) = 0.971 bits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612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We test: Temperature, Humidity, Wind (same idea, but on this smaller subset)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5176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651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508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Wind (Rain)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(D4,D5,D10): Yes=3, No=0 → H=0.000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(D6,D14): Yes=0, No=2 → H=0.000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944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0.971−[(3/5)×0+(2/5)×0] = 0.971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325112"/>
            <a:ext cx="2651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25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🥇 WINNER — Split on Wind!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65176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508760"/>
            <a:ext cx="2651760" cy="36576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9544" y="1508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Humidity (Rain)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27832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(D4,D6,D14): Yes=1, No=2 → H=0.918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(D5,D10): Yes=2, No=0 → H=0.000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27832" y="2944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0.971−[(3/5)×0.918+0] = 0.420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508760"/>
            <a:ext cx="265176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508760"/>
            <a:ext cx="2651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089904" y="15087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Temperature (Rain)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08192" y="1938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(D4,D10,D14): Yes=2,No=1 → H=0.918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8192" y="24414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(D5,D6): Yes=1,No=1 → H=1.000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08192" y="29443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0.971−[(3/5)×0.918+(2/5)×1] = 0.020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0F2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4ED8"/>
                </a:solidFill>
              </a:rPr>
              <a:t>🌧️ Rain → split on WIND:  Weak → YES ✅  |  Strong → NO ✋  (Both pure leaves!)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Final Decision Tree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91840" y="896112"/>
            <a:ext cx="2560320" cy="6583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932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OUTLOOK?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2252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Root Node (IG=0.247)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0" cy="7772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5727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☀️ Sunny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68296"/>
            <a:ext cx="22860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HUMIDITY?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28900"/>
            <a:ext cx="2286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Sunny subset (IG=0.971)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0" cy="6858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" y="29443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High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" y="3611880"/>
            <a:ext cx="1051560" cy="502920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" y="36118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926080"/>
            <a:ext cx="0" cy="6858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9443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Normal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611880"/>
            <a:ext cx="1097280" cy="50292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YES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554480"/>
            <a:ext cx="0" cy="7772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15727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🌥️ Overcast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2331720"/>
            <a:ext cx="2011680" cy="50292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66160" y="2368296"/>
            <a:ext cx="20116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YES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2583180"/>
            <a:ext cx="20116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Always! (Pure, IG=0)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0" y="1554480"/>
            <a:ext cx="1508760" cy="77724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5727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🌧️ Rain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331720"/>
            <a:ext cx="2286000" cy="594360"/>
          </a:xfrm>
          <a:prstGeom prst="rect">
            <a:avLst/>
          </a:prstGeom>
          <a:solidFill>
            <a:srgbClr val="1D4ED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2368296"/>
            <a:ext cx="22860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WIND?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628900"/>
            <a:ext cx="2286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F5"/>
                </a:solidFill>
              </a:rPr>
              <a:t>Rain subset (IG=0.971)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0" cy="6858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9443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Weak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3611880"/>
            <a:ext cx="1097280" cy="502920"/>
          </a:xfrm>
          <a:prstGeom prst="rect">
            <a:avLst/>
          </a:prstGeom>
          <a:solidFill>
            <a:srgbClr val="16A34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49240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YES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2926080"/>
            <a:ext cx="0" cy="6858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29443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Strong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3611880"/>
            <a:ext cx="1143000" cy="502920"/>
          </a:xfrm>
          <a:prstGeom prst="rect">
            <a:avLst/>
          </a:prstGeom>
          <a:solidFill>
            <a:srgbClr val="DC262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26680" y="361188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NO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4297680"/>
            <a:ext cx="8595360" cy="8046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3251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📌 LEGEND: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645152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645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Decision Node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4645152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2350008" y="4645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Sub-decision (Sunny)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94760" y="4645152"/>
            <a:ext cx="201168" cy="2011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5" name="Text 43"/>
          <p:cNvSpPr/>
          <p:nvPr/>
        </p:nvSpPr>
        <p:spPr>
          <a:xfrm>
            <a:off x="4041648" y="4645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Sub-decision (Rain)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0" y="4645152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5733288" y="4645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Leaf: YES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178040" y="4645152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7424928" y="46451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Leaf: NO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&amp; Interpretation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C"/>
                </a:solidFill>
              </a:rPr>
              <a:t> Decision Rules Extracted from the Tree: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420624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42062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23444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🌥️  IF Outlook = Overcast  →  YES (Play Tennis)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8595360" cy="420624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19072"/>
            <a:ext cx="73152" cy="42062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71907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☀️  IF Outlook = Sunny  AND  Humidity = Normal  →  YES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03704"/>
            <a:ext cx="8595360" cy="420624"/>
          </a:xfrm>
          <a:prstGeom prst="rect">
            <a:avLst/>
          </a:prstGeom>
          <a:solidFill>
            <a:srgbClr val="FFE4E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03704"/>
            <a:ext cx="73152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220370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☀️  IF Outlook = Sunny  AND  Humidity = High   →  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420624"/>
          </a:xfrm>
          <a:prstGeom prst="rect">
            <a:avLst/>
          </a:prstGeom>
          <a:solidFill>
            <a:srgbClr val="CCFBF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88336"/>
            <a:ext cx="73152" cy="42062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6883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🌧️  IF Outlook = Rain   AND  Wind = Weak        →  YES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72968"/>
            <a:ext cx="8595360" cy="420624"/>
          </a:xfrm>
          <a:prstGeom prst="rect">
            <a:avLst/>
          </a:prstGeom>
          <a:solidFill>
            <a:srgbClr val="FFE4E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72968"/>
            <a:ext cx="73152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317296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🌧️  IF Outlook = Rain   AND  Wind = Strong      →  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4114800" cy="1261872"/>
          </a:xfrm>
          <a:prstGeom prst="rect">
            <a:avLst/>
          </a:prstGeom>
          <a:solidFill>
            <a:srgbClr val="1A2E5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🎯  Training Accuracy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4160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14 / 14 examples correctly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classified on training data!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3767328"/>
            <a:ext cx="4114800" cy="1261872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EF3C7"/>
                </a:solidFill>
              </a:rPr>
              <a:t>⚠️  Overfitting Warning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4160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Tree perfectly fits training data.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Use pruning or cross-validation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for real generalisation!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0789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0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01.  Entropy measures disorder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40817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H = 0 means pure class, H = 1 means maximum mix. Our root had H = 0.940.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023360" cy="10789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7315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060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02.  Information Gain guides splits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65192" y="140817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We always pick the attribute with the HIGHEST IG at each node.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23360" cy="10789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0280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295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03.  Root Node = Outlook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264261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IG = 0.247 was the best, so Outlook is the first question the tree asks.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240280"/>
            <a:ext cx="4023360" cy="10789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240280"/>
            <a:ext cx="7315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2295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04.  Recursive process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65192" y="264261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After splitting, repeat entropy/IG on each subset until we reach pure leaves.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4023360" cy="10789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74720"/>
            <a:ext cx="73152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05.  Leaves are final answers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" y="387705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YES/NO decisions — no more splitting needed when a node is pure.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474720"/>
            <a:ext cx="4023360" cy="107899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474720"/>
            <a:ext cx="73152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65192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06.  Result = 5 clean rules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65192" y="3877056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The tree produces human-readable IF-THEN rules anyone can follow.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Decision Trees are interpretable, powerful, and the foundation of Random Forests &amp; Gradient Boosting!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1888</Words>
  <Application>Microsoft Office PowerPoint</Application>
  <PresentationFormat>On-screen Show (16:9)</PresentationFormat>
  <Paragraphs>326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– Step-by-Step Exercise</dc:title>
  <dc:subject>PptxGenJS Presentation</dc:subject>
  <dc:creator>PptxGenJS</dc:creator>
  <cp:lastModifiedBy>ahmed mansouri</cp:lastModifiedBy>
  <cp:revision>3</cp:revision>
  <dcterms:created xsi:type="dcterms:W3CDTF">2026-03-27T17:26:00Z</dcterms:created>
  <dcterms:modified xsi:type="dcterms:W3CDTF">2026-03-28T15:46:44Z</dcterms:modified>
</cp:coreProperties>
</file>